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Descending overdue counts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60</c:v>
                </c:pt>
                <c:pt idx="2">
                  <c:v>76</c:v>
                </c:pt>
                <c:pt idx="3">
                  <c:v>92</c:v>
                </c:pt>
                <c:pt idx="4">
                  <c:v>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IES ACADEMY  • 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v2.2  ·  14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GenAI for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IES Academy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IES Academy course folder supplied by 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10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materials: trainer-supplied IES Academy folder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Personalisation, .Rules and Skills for Excel (Labs 3–6)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Interactive Dashboards with Custom Skills (Labs 7–8)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9–10)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10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Select actual sources in every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Work orders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IDs, status, category, site and current assignment.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Goal, context, source and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 Word, Excel, slides and draft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Leak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You are Northstar Water Services’ maintenance coordinator. A Q3 export contains repeated IDs and inconsistent category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Northstar_Clean_Work_Orders.xlsx and Northstar_Operations_Brief.docx, with reconciled counts, reporting scope and a source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Work_Order_ID rows; five canonical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Portfolio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= 48 Closed + 12 Cancelled + 60 backlog.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handoff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50; unassigned backlog 6; total cost S$35,827.50. Word agrees with Excel.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guessed owner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Blank assignments remain blank; proposals labelled unapproved.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Attach or select the actual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verified operations brief from Lab 1. You will turn it into an initial PowerPoint update, then prepare an Outlook reply to a synthetic maintenance thread.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Northstar_Initial_Update.pptx, an unsent Outlook draft and Northstar_Cross_App_Evidence.csv with Excel, Word, PowerPoint and Outlook figures reconciled.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Checks, Word brief, four-slide update and unsent Outlook draft share the same date and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Cross-app grounding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file or pasted verified evidence is provided in each app; no assumed shared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example.invalid recipient; nothing sent and no assignment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Personalisation, .Rules and Skills for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Account preferences, workbook conventions and reusable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Account preferences across workbooks; task-specific overrides.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.Rules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Visible column-A instructions travel with the workbook.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Pareto Skill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Create, install and apply verified contribution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Reporting Skill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Excel and PowerPoint use with input and rerun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Labs 3–4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Personalisation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Personalise Copilot in Excel for Consistent Service Reports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Workbook .Rules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Test Workbook .Rules for Water Service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Labs 5–6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Pareto Chart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 Custom Pareto Chart Skill and Apply It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Reporting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Create, Use and Improve the Maintenance Reporting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SCOPE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Four Scopes of Customisation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Personalisation: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.Rules: this workbook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Skill: repeated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Prompt: this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Copilot Personalisation stores account-level preferences for display, writing style and formula conventions.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S$ display and short explanations reduce repetitive requests without changing numeric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value of 35827.5 can display as S$35,827.50 or S$35,827.5000.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recurring display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them to the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two workbook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a specific request and restore.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Changing a number format does not change its numeric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Another user opening the file does not receive your account preferences.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Personalise Copilot in Excel for Consistent Service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Configure temporary account-level display and explanation preferences, test them in two copies of the same verified Northstar workbook, and distinguish preferences from workbook-specific definitions. A task-specific prompt can supersede Personalisation.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Northstar_Personalisation_Test.xlsx, a two-workbook preference comparison and a private note confirming settings restored.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Both copies retain120 unique IDs, original owners/statuses and exact cost 35827.50.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Display check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Saved S$ two-decimal/date/explanation preferences are checked in two workbooks; observed misses are recorded.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Specific request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output can show35,827.5000 without changing its value or the saved preferences.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Restoration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Previous account preferences restored; private baseline note stays outside public courseware.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WORKBOOK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Visible .Rules: Instructions Travel with the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Northstar reporting conventions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Preserve original IDs and current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Backlog excludes Closed and Cancelled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51959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Reporting date: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Formula rule reads Control!B2; Copilot uses the recalculated result on the next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visible worksheet named exactly .Rules, including the dot, supplies workbook-specific Copilot instructions in column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workbook can carry stable scope, status, cost-display and preservation instructions alongside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date rule returns Reporting date: 2026-09-30 from Control!B2.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visible sheet exactly .Rules.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Place one instruction per column-A cell.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 formula-driven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the next output and copied workbook.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Hidden .Rules is not used; keep the final sheet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No universal precedence among rules, preferences and Skills is assumed.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WORKBOOK .RULES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Create and Test Workbook .Rules for Water Service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Turn Northstar’s workbook conventions into a visible .Rules worksheet. Keep one rule per cell in column A, include a formula-driven reporting-date rule, test the output, and verify that the sheet travels with a copied workbook.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Northstar_Rules_Workbook.xlsx with visible .Rules column A, a checked Rules_Test output and a copied-workbook sharing check.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Recognition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Exactly .Rules; visible worksheet; instructions in column A, one idea per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Formula rule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Reporting-date formula recalculates and displays2026-09-30; no source values 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Output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total;60 backlog;50 overdue;30/48 on-time;S$35,827.50 at All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Workbook copy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Visible .Rules travels with the copy; account preferences are not exported.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PARETO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Overdue Contribution: 50 Work Orders, Five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categories first reach 80%. Equal counts use alphabetical ties. Contribution is not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Pareto contribution chart orders category counts from largest to smallest and adds a cumulative-percentage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turns a recurring grouping-and-charting method into reusable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Pump 18; Meter 12; Leak 8; Valve 8; Pipe 4: total 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source, population, date and grouping.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Count and sort with stable 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Calculate cumulative count / eligible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and verify an editable dual-axis chart.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Cumulative percentages are 36%, 60%, 76%, 92%, 100%.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Four of five categories first reach 80%; do not force an 80/20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CUSTOM PARETO CHART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 Custom Pareto Chart Skill and Apply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Author water-service-pareto/SKILL.md with Copilot, install it in Excel and apply it to the same overdue work-order queue. Build a descending count chart plus cumulative-percentage line, then check a controlled rerun and a second grouping.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water-service-pareto/SKILL.md, Northstar_Pareto.xlsx with Pareto_Job_Category and Pareto_Site, and a verified rerun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Eligible population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backlog50; no Closed or Cancelled records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Category counts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Pump Service=18; Meter Service=12; Leak Repair=8; Valve Repair=8; Pipe Replacement=4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Cumulative percentages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36%,60%,76%,92%,100%; Leak Repair precedes Valve Repair in the8-count 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and rerun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Editable columns plus cumulative line; right axis0%-100%; matching output replaced only after review, without duplicates.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and interpretation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original records preserved; Site grouping also totals50; no invented root cause.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REPORTING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Create, Use and Improve the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Reuse the Skill-authoring and installation method from Lab 5 to create maintenance-reporting. Apply it in Excel and PowerPoint, test missing inputs and a controlled rerun, then refine v2 using actual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Northstar_Skill_Report.xlsx with Maintenance_Summary and Assignment_Proposals, Northstar_Skill_Update.pptx, SKILL.md v2 and a before/after improvement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and PowerPoint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preserved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orders; current owner/status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on-time closed 30/48;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Improvement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Input guard and rerun tested; v1/v2 retained; PowerPoint four-slide output accurate.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Personalisation, .Rules, Pareto and reporting Skills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Interactive Dashboards with Custom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Create the Skill, build the dashboard and prove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Counts, backlog, overdue, on-time rate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Choose charts by maintenance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 filter scope for every chart and KPI.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Dashboard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Apply a Custom Interactive Dashboard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Interactive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the Dashboard Skill for Filters, Refresh and Safe Reruns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REUSABLE DASHBOARD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Interactive Dashboard Skill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Named source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Six shared-scope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Four filters + three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+ safe rerun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water-service-dashboard is a separate custom Skill whose instructions define inputs, six KPI formulas, four shared filter selectors, three editable charts and controlled output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reusable contract makes every KPI and chart obey the same AND filter logic and allows a safe refresh using table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Dashboard B2:B5 select site, category, status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Author and review the complete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 and verify the dashboard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Invoke a plan and build the reviewed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common filters, append refresh and reruns.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B7:B12 and all chart summaries use the identical selected rows.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122-row sandbox is separate from the untouched 120-row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CUSTOM DASHBOARD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and Apply a Custom Interactive Dashboard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Create water-service-dashboard/SKILL.md for the Northstar maintenance workflow, install it in Excel, then invoke it to plan and build an interactive dashboard. Six KPIs and three charts share four filter selections.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a Dashboard layout, six verified measures, three labelled charts and a measure dictionary ready for Lab 8 filters.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120; backlog 60; overdue 50; closed 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SLA and cost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30/48 = 62.5%;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count summaries each total 120; formulas reference tblWorkOrders.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Measures dictionary and source/date visible; no unsupported cause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plus All in other selectors isolates that 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slicer must connect to every intended PivotTable.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INTERACTIVE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Use the Dashboard Skill for Filters, Refresh and Safe Reruns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Lab 7 by making four dropdown selectors control every KPI and chart. Test a single site, a zero-denominator selection and a combined category/owner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four working filters plus Northstar_Dashboard_Refresh_Test.xlsx, filter evidence and a verified baseline snapshot for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Woodlands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24; backlog 8; overdue 7; closed 16; cost S$6,668.50; on-time 10/16.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Changing any of four filters affects all six KPI measures and all chart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Edge 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Closed -&gt; N/A; no rows -&gt; zero count/cost and N/A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 sandbox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total;49 closed;61 backlog;51 overdue;S$36,227.50;31/49 on-time.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Handoff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Return to 120-row untouched baseline; date and All scope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measures and three charts share four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Select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baseline dashboard from Topic 3. Build a slide evidence register and a Word presentation brief before asking PowerPoint Copilot for an eight-slide management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Northstar_Presentation_Brief.docx, Northstar_Management_Draft.pptx and a slide-by-slide evidence register tied to the 120-row dashboard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deck figure maps to the 120-row Lab 8 baseline and slide evidence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Eight-slide narrative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Observation -&gt; implication -&gt; proposed action -&gt; decision; no invented cause/savings.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semantics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charts exclude Closed/Cancelled; embedded/image copies labelled snapshot.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Refine the management deck using the same custom skill and reviewed dashboard evidence. Improve hierarchy, consistency and speaker notes, test the story in a short rehearsal, and prepare a reviewed Outlook handoff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Northstar_Management_Final.pptx/PDF, a rehearsal record, final evidence register and unsent Outlook handoff draft with accurate artifact links.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Presentation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slides and eight PDF pages; visible figures agree with verified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Readable chart labels, consistent design, evidence-specific notes and actual rehearsal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Final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Baseline dashboard, brief, deck and unsent draft agree; static snapshot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real email sent or work order reassigned; proposed actions remain proposed.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IES Academy course files and use the lab checkpoints to restart safely.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practising with the IES Academy course materials.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IES Academy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GenAI for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IES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GenAI for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