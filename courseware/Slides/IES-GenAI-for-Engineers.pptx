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Lst>
  <p:notesMasterIdLst>
    <p:notesMasterId r:id="rId2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notesMaster" Target="notesMasters/notesMaster1.xml"/><Relationship Id="rId217" Type="http://schemas.openxmlformats.org/officeDocument/2006/relationships/presProps" Target="presProps.xml"/><Relationship Id="rId218" Type="http://schemas.openxmlformats.org/officeDocument/2006/relationships/viewProps" Target="viewProps.xml"/><Relationship Id="rId219" Type="http://schemas.openxmlformats.org/officeDocument/2006/relationships/theme" Target="theme/theme1.xml"/><Relationship Id="rId2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LO1–LO4. Connect each outcome to the module and activity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LO5–LO7. Connect each outcome to the relevant demonstration, grounding and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directly to LO3. RISE is the main framework. E-MAP adds engineering detail inside Input and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RISE as Role, Input, Steps and Expectations. Keep each definition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role is a lens. Avoid implying certification, approval authority or independent professional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includes source, revision, range, units and exclusions. Naming the source reduces ambiguity.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are an ordered work request, not detailed button clicking. The detailed click path stays in the Learner Guide and lab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Expectations make the answer reviewable. Include the acceptance check before running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R, I, S and E in the displayed prompt. Then ask what is still missing for their own workplace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is a short quality loop. Do not keep adding words without a specific defect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15-minute methodology primer required by LO1. Explain that Copilot can help draft and calculate, while the engineer chooses the method and validates its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prospective: it asks what could go wrong. It is not proof that a listed cause has occurred. Use a concrete pump function as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intended function to failure, effect, possible cause and existing detection or prevention control. Correct learners who describe an effect as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higher detection rating means harder to detect in the supplied classroom scale. Scores require agreed criteria and evidence; Copilot must not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7 × 5 × 4. Explain that organisations may use severity gates or action-priority rules in addition to RPN.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FMEA concept section by naming the concrete deliverable and the mandatory human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treating Six Sigma as only a numerical target. For this course, DMAIC provides the structure for evidence-based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delivery case to name one output from each phase. A phase name alone is not a DMAIC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purpose of each tool and the evidence limit. A plausible hypothesis from Copilot must still be checked against process records or a controlled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both rates. State that the short pilot suggests improvement but does not establish which change caused it or whether it will persist.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time order. A histogram or average alone cannot show when the process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fault diagnosis. A stable chart is not proof that the product meets its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numerical example to show why conformance and statistical stability are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a high Cp or Cpk as automatic proof of quality. The monitoring shift means capability conclusions from the earlier baseline cannot describe the later period without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three quick questions: What question does the method answer? What output does it produce? What decision remains with the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five actions as three grouped stages: open/select, ask, inspect/check. Learners repeat this pattern in all three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authentic Microsoft 365 screenshot. Interface placement may vary by tenant. If Copilot cannot edit, ask it for the formulas and enter them manually, recording that fallback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1 prompt. Explain that Copilot reduces formula, flagging and chart setup work. The learner checks one point and does not accept a root-cause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2 prompt. Copilot drafts the table and calculations; the engineering team owns the scores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3 prompt. Keep the interpretation modest: the short pilot is evidence of a lower observed rate, not proof of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the one check they will perform in each lab before accepting the Copilot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1–4</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LO1</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Understand the engineering methodologies used as application contexts - explain what FMEA, Six Sigma (DMAIC) and Statistical Process Control (SPC) are, when each is used, and their key terms and outputs, before applying them in the labs.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LO2</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Automate engineering documentation (FMEA documents, technical specifications, Six Sigma/DMAIC reports, risk assessments, method statements, checklists, SOPs) with Microsoft 365 Copilot in Word, Excel and PowerPoint.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LO3</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prompt engineering frameworks (R.I.S.E., E-MAP) with iterative prompting to obtain accurate, verifiable engineering outputs.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LO4</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Build and deploy Copilot Agents (Copilot Studio agent builder) to automate multi-step engineering workflows such as FMEA generation and report writing.</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5–7</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11109960" cy="1051560"/>
          </a:xfrm>
          <a:prstGeom prst="rect">
            <a:avLst/>
          </a:prstGeom>
          <a:solidFill>
            <a:srgbClr val="EFF5F5"/>
          </a:solidFill>
          <a:ln w="12700">
            <a:solidFill>
              <a:srgbClr val="EFF5F5"/>
            </a:solidFill>
            <a:prstDash val="solid"/>
          </a:ln>
        </p:spPr>
      </p:sp>
      <p:sp>
        <p:nvSpPr>
          <p:cNvPr id="7" name="Text 5"/>
          <p:cNvSpPr/>
          <p:nvPr/>
        </p:nvSpPr>
        <p:spPr>
          <a:xfrm>
            <a:off x="704088" y="2825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LO5</a:t>
            </a:r>
            <a:endParaRPr lang="en-US" sz="1600" dirty="0"/>
          </a:p>
        </p:txBody>
      </p:sp>
      <p:sp>
        <p:nvSpPr>
          <p:cNvPr id="8" name="Text 6"/>
          <p:cNvSpPr/>
          <p:nvPr/>
        </p:nvSpPr>
        <p:spPr>
          <a:xfrm>
            <a:off x="704088" y="3200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Microsoft 365 reasoning agents (Researcher, Analyst) for standards research, technical comparisons and engineering data analysis.</a:t>
            </a:r>
            <a:endParaRPr lang="en-US" sz="1500" dirty="0"/>
          </a:p>
        </p:txBody>
      </p:sp>
      <p:sp>
        <p:nvSpPr>
          <p:cNvPr id="9" name="Shape 7"/>
          <p:cNvSpPr/>
          <p:nvPr/>
        </p:nvSpPr>
        <p:spPr>
          <a:xfrm>
            <a:off x="502920" y="3840480"/>
            <a:ext cx="11109960" cy="1051560"/>
          </a:xfrm>
          <a:prstGeom prst="rect">
            <a:avLst/>
          </a:prstGeom>
          <a:solidFill>
            <a:srgbClr val="EFF5F5"/>
          </a:solidFill>
          <a:ln w="12700">
            <a:solidFill>
              <a:srgbClr val="EFF5F5"/>
            </a:solidFill>
            <a:prstDash val="solid"/>
          </a:ln>
        </p:spPr>
      </p:sp>
      <p:sp>
        <p:nvSpPr>
          <p:cNvPr id="10" name="Text 8"/>
          <p:cNvSpPr/>
          <p:nvPr/>
        </p:nvSpPr>
        <p:spPr>
          <a:xfrm>
            <a:off x="704088" y="3968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LO6</a:t>
            </a:r>
            <a:endParaRPr lang="en-US" sz="1600" dirty="0"/>
          </a:p>
        </p:txBody>
      </p:sp>
      <p:sp>
        <p:nvSpPr>
          <p:cNvPr id="11" name="Text 9"/>
          <p:cNvSpPr/>
          <p:nvPr/>
        </p:nvSpPr>
        <p:spPr>
          <a:xfrm>
            <a:off x="704088" y="4343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Integrate SharePoint with Copilot as a grounded engineering knowledge base with cited, traceable answers.</a:t>
            </a:r>
            <a:endParaRPr lang="en-US" sz="1500" dirty="0"/>
          </a:p>
        </p:txBody>
      </p:sp>
      <p:sp>
        <p:nvSpPr>
          <p:cNvPr id="12" name="Shape 10"/>
          <p:cNvSpPr/>
          <p:nvPr/>
        </p:nvSpPr>
        <p:spPr>
          <a:xfrm>
            <a:off x="502920" y="4983480"/>
            <a:ext cx="11109960" cy="1051560"/>
          </a:xfrm>
          <a:prstGeom prst="rect">
            <a:avLst/>
          </a:prstGeom>
          <a:solidFill>
            <a:srgbClr val="EFF5F5"/>
          </a:solidFill>
          <a:ln w="12700">
            <a:solidFill>
              <a:srgbClr val="EFF5F5"/>
            </a:solidFill>
            <a:prstDash val="solid"/>
          </a:ln>
        </p:spPr>
      </p:sp>
      <p:sp>
        <p:nvSpPr>
          <p:cNvPr id="13" name="Text 11"/>
          <p:cNvSpPr/>
          <p:nvPr/>
        </p:nvSpPr>
        <p:spPr>
          <a:xfrm>
            <a:off x="704088" y="5111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LO7</a:t>
            </a:r>
            <a:endParaRPr lang="en-US" sz="1600" dirty="0"/>
          </a:p>
        </p:txBody>
      </p:sp>
      <p:sp>
        <p:nvSpPr>
          <p:cNvPr id="14" name="Text 12"/>
          <p:cNvSpPr/>
          <p:nvPr/>
        </p:nvSpPr>
        <p:spPr>
          <a:xfrm>
            <a:off x="704088" y="5486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the 7-Step AI Security Framework — data classification, data governance &amp; access control, secure prompting, output verification, human-in-the-loop sign-off, traceability &amp; audit, and security awareness &amp; incident response.</a:t>
            </a:r>
            <a:endParaRPr lang="en-US" sz="15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three small workbooks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contains only the data and prompt needed for that activity.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1 - 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Pump_Readings: 12 rows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2 - 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FMEA_Input: 4 rows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3 - 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Weekly_Data: 6 rows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LO3 in practice - write prompts engineers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Prompt engineering means giving Copilot enough structure to produce a useful draft and a visible way to check it.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Write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RISE to make the request clear.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Check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Compare the output with the source and one calculation.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Improve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Refine one weak instruction and rerun.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 four questions before you press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good engineering prompt answers four practical questions.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 - Role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perspective should Copilot use?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 - Input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exact evidence may it 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 - Steps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work must it perform, and in what order?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 - Expectations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output, limits and check must it satisfy?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 - Role sets the perspective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role guides vocabulary and viewpoint; it does not grant professional authority.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engineering data assistant.</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Too broad</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expert and decide if this is safe.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checks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The person remains accountable for the decision.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 - Input names the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Tell Copilot exactly what it may use and what it must preserve.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Source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only the named table PumpReadings.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Scope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Eight Baseline and four Monitoring rows.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Boundary</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invent missing data or alter source rows.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 - Steps make the work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Break the task into calculations and checks that a learner can follow.</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Calculate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Mean, sample standard deviation, UCL and LCL.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Apply</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Flag each Monitoring row against the limits.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Present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 a line chart and a short interpretation.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 - Expectations define a usable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the format, evidence standard, limits and acceptance test.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Format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Show formulas and return three sentences.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Constraint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claim a root cause or safety conclusion.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Acceptance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T10 must be checked against the LCL.</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From a vague request to a RISE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RISE version tells Copilot what to use, what to do and how the result will be checked.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Act as an engineering data assistant. Use only PumpReadings. Calculate the baseline mean and control limits, flag the monitoring rows, and create a line chart. Show formulas and give three cautious sentences. Do not claim a root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Weak request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Analyse this data.</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RISE adds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Role, source, steps and limits</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Acceptance 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Compare T10 with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is iterative - check, refine and rerun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strong first prompt saves time; checking and one focused revision improve reliability.</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Run the RISE prompt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Generate the first draft.</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 the evidence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Verify one formula, source row and conclusion.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Refine one gap</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Add the missing instruction and compare the new draft.</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Methodology primer · learn the method before using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DMAIC and SPC answer different engineering questions and produce different evidence.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could fail, what would happen and what needs attention?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Six Sigma / 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do we organise a process-improvement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process behaviour stable, or is there a signal to investigate?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preventive review of how a product, process or system could fail.</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Use before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Design release, process change, commissioning or maintenance planning.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 from</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defined function or process step and its intended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How might it fail, what is the effect, what could cause it and what controls exist?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prioritised review table with evidence gaps and proposed actions.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read one row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row keeps the function, failure mode, effect, cause and control separate.</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Function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Deliver chemical solution at the required flow.</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Failure mode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 delivers too little solution.</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Effect</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The receiving process gets an insufficient dose.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Possible cause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blocked strainer may restrict flow; evidence is still needed.</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Current 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delivery test can detect low output.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Severity, Occurrence and Detection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three ratings describe different questions; multiplying them gives a prioritisation aid called RPN.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Severity (S)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serious is the effect if the failure occurs?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Occurrence (O)</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failure mode or cause under the stated basis?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Detection (D)</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current control to miss it before the effect?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worked RPN and decision boundary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helps organise attention, but a lower number does not automatically mean acceptable risk.</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Worked row</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FM01: S 7 × O 5 × D 4 = RPN 140.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has S 9 and RPN 90; high severity still needs explicit review.</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Engineer checks</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Rating basis, evidence, existing controls and action effectiveness.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key output and what it cannot prove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output is a review record, not a diagnosis or approval.</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 output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Failure story, ratings, rationale, controls, evidence gaps, actions, owner and status.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 help</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Draft rows, check table completeness, calculate RPN and summarise priorities.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cannot decide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Whether a cause is true, a risk is acceptable or work is authorised.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Six Sigma and DMAIC · what they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Six Sigma is a disciplined approach to reducing variation and defects; DMAIC is its five-phase improvement cycle.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existing process has a measurable performance problem.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Focus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Define the problem, measure the baseline and test evidence before claiming improvement.</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traceable improvement story, tested change and control plan.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what each phase produces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phase creates an output needed by the next decision.</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Problem, customer need, scope and critical-to-quality measure.</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Operational definition, data-quality checks and baseline performance.</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Patterns, prioritised hypotheses and evidence gaps.</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controlled change to test and its predicted effect.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Metric, owner, frequency, signal rule and response plan.</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analysis tools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Pareto, fishbone and 5-Whys support analysis, but none proves a root cause by itself.</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Pareto chart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Which problem categories account for the largest share?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Fishbone diagram</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possible causes should the team consider across useful categories?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5-Whys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causal chain should be tested more deeply?</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worked rate comparison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defects with opportunities so periods of different length are comparable.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93 deviations ÷ 1,008 opportunities = 9.23%.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11 deviations ÷ 336 opportunities = 3.27%.</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Observed 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reduction of 5.95 percentage points; two simultaneous changes prevent causal attribution.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uses time-ordered data to distinguish routine variation from signals of process change.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process runs repeatedly and measurements are collected in sequence.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Ask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the current process behaving like the stable reference period?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control chart, signal interpretation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common cause and special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chart helps separate the usual pattern from evidence that something changed.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Common-cause variation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Small fluctuations produced by the current process system.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Special-cause signal</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unusual point or pattern that calls for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action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measurement, test conditions and equipment before assigning a cause.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control limits are not specification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states an external requirement.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Control limits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Calculated from a defined stable reference period; they show expected process variation.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Specification limits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Set by design, customer or regulatory requirements.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Example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59.5 L/h meets the fictional 58.9–65.1 L/h specification but is below the process control limit.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Cp and Cpk describe conditional capability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Capability indices compare process spread and centring with specifications only when their assumptions are reasonable.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Potential capability: specification width compared with estimated process spread.</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Cpk</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Actual centring: also considers how close the mean is to the nearest specification limit.</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Before interpreting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Check stability, measurement adequacy, distribution, independence and sufficient data.</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LO1 checkpoint · choose the method and name its output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Before the labs, learners should be able to explain the purpose, key terms and output of each method.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Preventive failure review → prioritised FMEA table and actions.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Improvement investigation → five-phase evidence trail and control plan.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Process monitoring → control chart, signal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Copilot in Excel: the same three stages every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follows one short workflow so you can focus on the engineering result.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Open and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Starter.xlsx and click in the named table.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 Copilot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Paste the supplied prompt and request formulas.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Inspect and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draft with one calculation you do yourself.</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Find Copilot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Open the prepared workbook first, select the source table, then open Copilot.</a:t>
            </a:r>
            <a:endParaRPr lang="en-US" sz="2100" dirty="0"/>
          </a:p>
        </p:txBody>
      </p:sp>
      <p:pic>
        <p:nvPicPr>
          <p:cNvPr id="6" name="Image 0" descr="Find Copilot in Excel">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Select the data</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Click any cell in the named table.</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Open Copilot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Use the Copilot button shown in Excel.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Paste one prompt</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Copy it from the Copilot_Prompt sheet.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SPC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the table, calculation rule, required chart and decision boundary.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PumpReadings. From the eight Baseline rows, calculate the mean, sample standard deviation, UCL and LCL. Flag T09-T12, create a line chart with the limits, and give a three-sentence interpretation. Show formulas. Do not claim a root cause or that the pump is safe.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PumpReadings: 12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Limits, flags, line chart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T10 against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the four supplied rows and ratings; ask Copilot to calculate and organise them.</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FMEAInput. Preserve the four rows and ratings. Calculate RPN = Severity x Occurrence x Detection, rank the rows, and flag Severity 9 or higher. Add one evidence request and action per row. Show the formula. Do not invent incidents or change ratings.</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FMEAInput: 4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RPN, rank, severity flag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FM01 = 140; FM04 S = 9</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DMAIC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two rates and a five-row improvement summary.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WeeklyData. Calculate deviations / opportunities for Baseline and Pilot. Create a five-row Define, Measure, Analyse, Improve, Control summary. Separate facts from hypotheses, show formulas, and state that the short pilot does not prove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WeeklyData: 6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and DMAIC summary</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9.0% and 3.5%</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LO2 checkpoint - draft, calculate,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workbook creation; the engineer checks the input, formula and meaning.</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builds limits and a chart; you verify a signal.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and ranks; you verify the RPN and severity gate.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rates and drafts the phases; you verify both rates.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baseline is eight readings; four later readings are checked against 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Average of T01-T08.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Mean plus or minus three sample standard deviations.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Monitoring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T09-T12 are checked for signals.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Three of the four monitoring readings fall below the calculated lower control limit.</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Eight readings average about 62.0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T09, T10 and T12 are below the LCL.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Meaning</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Investigate the change; the chart does not identify its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61.4-62.6 L/h, calculated from the eight Baseline readings.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one table, one prompt, one independent check.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T10 = 59.4 L/h with the LCL.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Chart, signal list and three-sentence interpretation.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four supplied rows, formula-based RPN and one severity gate.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 140; FM04 has Severity 9.</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Ranked table, evidence request and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deviations by opportunities so periods of different length are comparable.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pilot rate is lower; this does not prove why.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Pareto chart is optional after class; the one-day lab focuses on two rates and a short DMAIC summary.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focus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the Baseline and Pilot rates.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Optional extension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Group deviations by category and order them largest first.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count does not prove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six weekly rows, two rates and five DMAIC phases.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 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Five-row DMAIC summary and one evidence check.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Deep Dive: Copilot Agents &amp; Microsoft 365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bounded agents to repeat a useful engineering drafting pattern.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Assistant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Report Writer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 and Analyst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Deep Dive: SharePoint Integration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Retrieve approved engineering evidence and verify the citation.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Grounding</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Permissions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2800" b="1" dirty="0">
                <a:solidFill>
                  <a:srgbClr val="142C3E"/>
                </a:solidFill>
                <a:latin typeface="Aptos" pitchFamily="34" charset="0"/>
                <a:ea typeface="Aptos" pitchFamily="34" charset="-122"/>
                <a:cs typeface="Aptos" pitchFamily="34" charset="-120"/>
              </a:rPr>
              <a:t>Module 6 — AI Security: The 7-Step AI Security Framework &amp; Your Engineering AI Toolkit</a:t>
            </a:r>
            <a:endParaRPr lang="en-US" sz="28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 seven checks before an AI-assisted result is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Classify and govern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 securely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 and sign off</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engineering question and select the evidence.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right method and request a useful output.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Recalculate, trace and challenge unsupported claims.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Decide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Share the finding, limitation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Keep</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reusable prompt with clear constraints.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verification rule for numbers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small, approved workplace task.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Remember</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fluent answer is still a draft until checked.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214</Slides>
  <Notes>214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214</vt:i4>
      </vt:variant>
    </vt:vector>
  </HeadingPairs>
  <TitlesOfParts>
    <vt:vector size="2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2026-09-06T03:04:17Z</dcterms:created>
  <dcterms:modified xsi:type="dcterms:W3CDTF">2026-09-06T03:04:17Z</dcterms:modified>
</cp:coreProperties>
</file>