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One-day Copilot in Excel workshop: SPC, FMEA and DMAIC IES: Three connected labs Evidence: One realistic synthetic case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minutes of guided Excel practice; demonstrations cover the broader tools. Morning: Ecosystem · Prompting · Engineering methods Afternoon: Agents · SharePoint · Security Practice: Prepared workbook; three short exercises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engineer verifies the source, formula and interpretation. Suggest: Tables, formulas and charts Explain: Patterns and evidence gaps Review: You check calculations and claims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dosing skid; linked measurements and maintenance evidence. Target: 62.0 L/h in a standardised test Comparison: 58.9–65.1 L/h fictional specification Boundary: Not a chemical compliance limit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approved storage and confirm Copilot access. Workbook: Save a copy of Worked-Reference.xlsx Source: Select the relevant named table Copilot: Use the Excel side pane Fallback: Record manual formulas honestly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table, output and acceptance test. Role: Engineering data reviewer Input: Named Excel table and source revision Steps: Audit, calculate, chart, check Expected: Formula-based result with limitations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Specify what must be preserved. Source: RawTests remains unchanged Data: Units, time order and missingness Formula: Show rows and parameters Decision: No invented cause or approval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task and engineering assumptions explicit. RISE: Role · Input · Steps · Expectations E-MAP: Engineering · Metrics · Assumptions · Parameters Benefit: Less avoidable rework; easier verification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Trainer demonstration: preserve evidence while changing format. Input: CW-401 test finding and source ID Prompt: Draft observations, assumptions and review questions Constraint: Do not invent standards, tolerances or approval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Simulated personas expose questions, not independent approval. Reliability: What supports the mechanism? Operations: What is practical and missing? Safety: What consequence needs review?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short rounds keep the review focused. Position: Separate evidence-based concerns Challenge: One specific objection per lens Response: Cite mode and source record Moderator: Retain dissent and evidence gaps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Better prompting is measured at equal quality. Fidelity: Source facts preserved Arithmetic: Formulas independently checked Uncertainty: No invented cause or approval Effort: Draft plus review and correction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Understand the output before asking Copilot to interpret it. SPC: Variation over time; signal versus specification FMEA: Mode, effect, cause, control; S × O × D DMAIC: Define · Measure · Analyse · Improve · Control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prepared worked workbook; finish one small output per exercise. 11:45–12:10: SPC: one verified chart interpretation 12:10–12:30: FMEA: two checked rows and an evidence gap 12:30–12:50: DMAIC: rates, limitation and next evidence 12:50–13:00: Shared review; stop for lunch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from the workbook Prompts sheet into Copilot in Excel. Input: Select the named source table Review: Check the changed cells, formulas and claims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 limits reveal a change that requires investigation. LCL: 60.03757 L/h UCL: 63.96743 L/h Signal: 17 monitoring points below LCL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Requirements and observed behaviour answer different questions. Specification: 58.9–65.1 L/h for this teaching test Control limits: Estimated from the chosen baseline Interpretation: Neither alone establishes physical cause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from the workbook Prompts sheet into Copilot in Excel. Input: Select the named source table Review: Check the changed cells, formulas and claims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FM04 has S = 9 and still needs explicit review. FM01: Highest RPN 140 FM03: RPN 108 FM04: RPN 90; severity 9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Copy from the workbook Prompts sheet into Copilot in Excel. Input: Select the named source table Review: Check the changed cells, formulas and claims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eight-week log is separate from the120-test investigation. Baseline: 93 /1008 =9.22619% Pilot: 11 /336 =3.27381% Scope: Six baseline weeks; two pilot weeks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Category counts prioritise investigation; they do not prove causes. Total: 93 baseline deviations Top category: Low delivery 55 Top two: 71 /93 =76.34%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Rebuilding the full workbook is optional after class. SPC: Three-sentence chart interpretation FMEA: One evidence gap and action proposal DMAIC: Three-cell decision summary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Participants observe a prepared assistant; no agent-building lab. Instructions: Bounded role, inputs and output format Knowledge: Approved template and rating scales Test: One case, one failure and one correction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trainer shows the FMEA and report patterns. Input: Case facts and approved template Transform: Populate fields and identify gaps Review: Source checks and human release decision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source quality and arithmetic separately. Research: Which source supports the comparison? Analysis: Which table and formula support the result? Check: Open citations; recompute a selected value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workflow still needs ownership and evidence. Capture: Decision, action, owner and due date Draft: Map actions into a report template Release: Reviewer checks status and unresolved items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one answer back to an approved document. Retrieve: Find a passage in the scoped library Cite: Document, revision and location Verify: Open the source and check applicability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access and discuss governance; no site-building task. Scope: Approved training library Access: User permissions and document controls Boundary: Retrieved instructions do not override the task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Apply the framework to one displayed engineering claim. 1–2: Classify data; check governance and access 3–4: Prompt securely; verify outputs 5–6: Human sign-off; source and prompt audit trail 7: Recognise and report suspicious content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reusable prompt and one review rule are enough today. Prompt: Named evidence, explicit constraints, expected output Review rule: Recompute one value and open one source After class: Optional full workbook rebuild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result, one limitation and one next step. Recap: SPC · FMEA · DMAIC Judgement: What remains unproven? Next step: Choose one bounded workplace trial Follow the lesson-plan timebox. Do not add full workbook rebuilds to the class. Source: IES | Supplied lesson plan v2 | LP-aligned one-day delivery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One-day Copilot in Excel workshop: SPC, FMEA and DMAIC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3E"/>
          </a:solidFill>
          <a:ln w="7620">
            <a:solidFill>
              <a:srgbClr val="142C3E"/>
            </a:solidFill>
            <a:prstDash val="solid"/>
          </a:ln>
        </p:spPr>
      </p:sp>
      <p:pic>
        <p:nvPicPr>
          <p:cNvPr id="9" name="Image 0" descr="AI-generated conceptual fictional pump station and engineering recor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490472"/>
            <a:ext cx="6885432" cy="387522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42C3E"/>
          </a:solidFill>
          <a:ln w="7620">
            <a:solidFill>
              <a:srgbClr val="142C3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548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500" b="1" dirty="0">
                <a:solidFill>
                  <a:srgbClr val="58C5C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548640" y="15544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</a:t>
            </a:r>
            <a:endParaRPr lang="en-US" sz="40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Engineers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548640" y="3337560"/>
            <a:ext cx="4251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One-day Copilot in Excel workshop: SPC, FMEA and DMAIC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50292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BDE0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in Excel</a:t>
            </a:r>
            <a:endParaRPr lang="en-US" sz="18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BDE0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SPC • FMEA • DMAIC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48640" y="61722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BDE0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DAY  |  09:00–17:00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day, six LP modules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65 minutes of guided Excel practice; demonstrations cover the broader tools.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Morning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Ecosystem · Prompting · Engineering methods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Afternoon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· SharePoint · Security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workbook; three short exercises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Copilot contributes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engineer verifies the source, formula and interpretation.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30068" y="3246120"/>
            <a:ext cx="2752344" cy="0"/>
          </a:xfrm>
          <a:prstGeom prst="line">
            <a:avLst/>
          </a:prstGeom>
          <a:noFill/>
          <a:ln w="25400">
            <a:solidFill>
              <a:srgbClr val="087F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915668" y="2807208"/>
            <a:ext cx="877824" cy="877824"/>
          </a:xfrm>
          <a:prstGeom prst="ellipse">
            <a:avLst/>
          </a:prstGeom>
          <a:solidFill>
            <a:srgbClr val="087F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15668" y="280720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94360" y="404164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Suggest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94360" y="4910328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Tables, formulas and charts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533388" y="3246120"/>
            <a:ext cx="2752344" cy="0"/>
          </a:xfrm>
          <a:prstGeom prst="line">
            <a:avLst/>
          </a:prstGeom>
          <a:noFill/>
          <a:ln w="25400">
            <a:solidFill>
              <a:srgbClr val="087F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18988" y="2807208"/>
            <a:ext cx="877824" cy="877824"/>
          </a:xfrm>
          <a:prstGeom prst="ellipse">
            <a:avLst/>
          </a:prstGeom>
          <a:solidFill>
            <a:srgbClr val="087F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18988" y="280720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297680" y="404164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4297680" y="4910328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Patterns and evidence gaps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9322308" y="2807208"/>
            <a:ext cx="877824" cy="877824"/>
          </a:xfrm>
          <a:prstGeom prst="ellipse">
            <a:avLst/>
          </a:prstGeom>
          <a:solidFill>
            <a:srgbClr val="142C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2308" y="280720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001000" y="404164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8001000" y="4910328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check calculations and claims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CW-401 delivery-test case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dosing skid; linked measurements and maintenance evidence.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004</a:t>
            </a:r>
            <a:endParaRPr lang="en-US" sz="1100" dirty="0"/>
          </a:p>
        </p:txBody>
      </p:sp>
      <p:pic>
        <p:nvPicPr>
          <p:cNvPr id="8" name="Image 0" descr="AI-generated educational illustration; fictional system, not a construction draw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0"/>
            <a:ext cx="6080760" cy="342351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06640" y="267004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406640" y="308152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62.0 L/h in a standardised test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06640" y="38282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Comparison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7406640" y="423976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58.9–65.1 L/h fictional specification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406640" y="498652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406640" y="539800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chemical compliance limit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Excel for the session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approved storage and confirm Copilot access.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Workbook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Save a copy of Worked-Reference.xlsx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relevant named table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Excel side pane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17220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7336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manual formulas honestly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 workbook operation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 the table, output and acceptance test.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data reviewer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Excel table and source revision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Audit, calculate, chart, check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17220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7336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Formula-based result with limitations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Constraints make the result reviewable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Specify what must be preserved.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RawTests remains unchanged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Units, time order and missingness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rows and parameters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17220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7336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invented cause or approval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RISE and E-MAP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the task and engineering assumptions explicit.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· Input · Steps · Expectations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E-MAP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· Metrics · Assumptions · Parameters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avoidable rework; easier verification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note becomes a reviewable document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Trainer demonstration: preserve evidence while changing format.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009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CW-401 test finding and source ID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observations, assumptions and review questions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Constraint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invent standards, tolerances or approval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three review lenses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personas expose questions, not independent approval.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20440" cy="333756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Reliability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3154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supports the mechanism?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297680" y="2743200"/>
            <a:ext cx="3520440" cy="333756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34747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4480560" y="4206240"/>
            <a:ext cx="3154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is practical and missing?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092440" y="2743200"/>
            <a:ext cx="3520440" cy="333756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75320" y="34747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275320" y="4206240"/>
            <a:ext cx="3154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consequence needs review?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Debate without forcing agreement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short rounds keep the review focused.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67153" y="3246120"/>
            <a:ext cx="1826514" cy="0"/>
          </a:xfrm>
          <a:prstGeom prst="line">
            <a:avLst/>
          </a:prstGeom>
          <a:noFill/>
          <a:ln w="25400">
            <a:solidFill>
              <a:srgbClr val="087F8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452753" y="2807208"/>
            <a:ext cx="877824" cy="877824"/>
          </a:xfrm>
          <a:prstGeom prst="ellipse">
            <a:avLst/>
          </a:prstGeom>
          <a:solidFill>
            <a:srgbClr val="087F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52753" y="280720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94360" y="4041648"/>
            <a:ext cx="25946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594360" y="4910328"/>
            <a:ext cx="25946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evidence-based concerns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144643" y="3246120"/>
            <a:ext cx="1826514" cy="0"/>
          </a:xfrm>
          <a:prstGeom prst="line">
            <a:avLst/>
          </a:prstGeom>
          <a:noFill/>
          <a:ln w="25400">
            <a:solidFill>
              <a:srgbClr val="087F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30243" y="2807208"/>
            <a:ext cx="877824" cy="877824"/>
          </a:xfrm>
          <a:prstGeom prst="ellipse">
            <a:avLst/>
          </a:prstGeom>
          <a:solidFill>
            <a:srgbClr val="087F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30243" y="280720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371850" y="4041648"/>
            <a:ext cx="25946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Challenge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3371850" y="4910328"/>
            <a:ext cx="25946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specific objection per lens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7922133" y="3246120"/>
            <a:ext cx="1826514" cy="0"/>
          </a:xfrm>
          <a:prstGeom prst="line">
            <a:avLst/>
          </a:prstGeom>
          <a:noFill/>
          <a:ln w="25400">
            <a:solidFill>
              <a:srgbClr val="087F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007733" y="2807208"/>
            <a:ext cx="877824" cy="877824"/>
          </a:xfrm>
          <a:prstGeom prst="ellipse">
            <a:avLst/>
          </a:prstGeom>
          <a:solidFill>
            <a:srgbClr val="087F8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07733" y="280720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149340" y="4041648"/>
            <a:ext cx="25946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</a:t>
            </a:r>
            <a:endParaRPr lang="en-US" sz="2300" dirty="0"/>
          </a:p>
        </p:txBody>
      </p:sp>
      <p:sp>
        <p:nvSpPr>
          <p:cNvPr id="22" name="Text 20"/>
          <p:cNvSpPr/>
          <p:nvPr/>
        </p:nvSpPr>
        <p:spPr>
          <a:xfrm>
            <a:off x="6149340" y="4910328"/>
            <a:ext cx="25946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 mode and source record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9785223" y="2807208"/>
            <a:ext cx="877824" cy="877824"/>
          </a:xfrm>
          <a:prstGeom prst="ellipse">
            <a:avLst/>
          </a:prstGeom>
          <a:solidFill>
            <a:srgbClr val="142C3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5223" y="2807208"/>
            <a:ext cx="8778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926830" y="4041648"/>
            <a:ext cx="259461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Moderator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8926830" y="4910328"/>
            <a:ext cx="259461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Retain dissent and evidence gaps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the prompt with the result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prompting is measured at equal quality.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Fidelity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facts preserved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Arithmetic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Formulas independently checked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Uncertainty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invented cause or approval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17220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Effort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7336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plus review and correction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Methodology primer · 15 minutes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the output before asking Copilot to interpret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SPC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Variation over time; signal versus specification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FMEA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Mode, effect, cause, control; S × O × D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DMAIC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· Measure · Analyse · Improve · Control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guided exercises · 65 minutes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prepared worked workbook; finish one small output per exercise.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11:45–12:10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SPC: one verified chart interpretation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12:10–12:30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FMEA: two checked rows and an evidence gap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12:30–12:50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DMAIC: rates, limitation and next evidence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17220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12:50–13:00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7336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review; stop for lunch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SPC3 · Plot and interpret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from the workbook Prompts sheet into Copilot in Excel.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715768"/>
            <a:ext cx="7360920" cy="3511296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715768"/>
            <a:ext cx="7360920" cy="438912"/>
          </a:xfrm>
          <a:prstGeom prst="rect">
            <a:avLst/>
          </a:prstGeom>
          <a:solidFill>
            <a:srgbClr val="142C3E"/>
          </a:solidFill>
          <a:ln w="7620">
            <a:solidFill>
              <a:srgbClr val="142C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07208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COPY-READY PROMPT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689457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existing Analysis and SPC_Summary chart. Keep the prepared formulas and fixed baseline limits unchanged. Identify valid monitoring points outside the limits and check one example against the source row. Return only three sentences: observed signal, supporting evidence, and an unresolved limitation. Do not rebuild the chart or calculate capability.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93024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193024" y="3410712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named source table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93024" y="450799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193024" y="5084064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changed cells, formulas and claims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monitoring period shifts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limits reveal a change that requires investigation.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016</a:t>
            </a:r>
            <a:endParaRPr lang="en-US" sz="1100" dirty="0"/>
          </a:p>
        </p:txBody>
      </p:sp>
      <p:pic>
        <p:nvPicPr>
          <p:cNvPr id="8" name="Image 0" descr="AI-generated educational illustration; fictional system, not a construction draw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0"/>
            <a:ext cx="6080760" cy="342351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06640" y="267004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LCL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406640" y="308152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60.03757 L/h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06640" y="38282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UCL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7406640" y="423976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63.96743 L/h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406640" y="498652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406640" y="539800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monitoring points below LCL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Specifications and control limits differ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Requirements and observed behaviour answer different questions.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20440" cy="333756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Specification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3154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58.9–65.1 L/h for this teaching test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297680" y="2743200"/>
            <a:ext cx="3520440" cy="333756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34747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limits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4480560" y="4206240"/>
            <a:ext cx="3154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from the chosen baseline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092440" y="2743200"/>
            <a:ext cx="3520440" cy="333756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75320" y="29260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75320" y="34747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275320" y="4206240"/>
            <a:ext cx="3154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Neither alone establishes physical cause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FMEA2 · Calculate and prioritise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from the workbook Prompts sheet into Copilot in Excel.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715768"/>
            <a:ext cx="7360920" cy="3511296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715768"/>
            <a:ext cx="7360920" cy="438912"/>
          </a:xfrm>
          <a:prstGeom prst="rect">
            <a:avLst/>
          </a:prstGeom>
          <a:solidFill>
            <a:srgbClr val="142C3E"/>
          </a:solidFill>
          <a:ln w="7620">
            <a:solidFill>
              <a:srgbClr val="142C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07208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COPY-READY PROMPT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689457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prepared FMEA_Review. Check the RPN formulas for FM01 and FM04, preserving mode IDs and provisional scores. Explain why the severity-9 row still needs review. Return one evidence gap and one proposed action for FM01; keep residual ratings unassessed. Do not rebuild the table or chart.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93024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193024" y="3410712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named source table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93024" y="450799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193024" y="5084064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changed cells, formulas and claims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Severity review can outrank RPN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FM04 has S = 9 and still needs explicit review.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019</a:t>
            </a:r>
            <a:endParaRPr lang="en-US" sz="1100" dirty="0"/>
          </a:p>
        </p:txBody>
      </p:sp>
      <p:pic>
        <p:nvPicPr>
          <p:cNvPr id="8" name="Image 0" descr="AI-generated educational illustration; fictional system, not a construction draw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0"/>
            <a:ext cx="6080760" cy="342351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06640" y="267004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FM01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406640" y="308152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RPN 140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06640" y="38282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FM03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7406640" y="423976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RPN 108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406640" y="498652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FM04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406640" y="539800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RPN 90; severity 9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DMAIC1 · Define and measure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from the workbook Prompts sheet into Copilot in Excel.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715768"/>
            <a:ext cx="7360920" cy="3511296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2715768"/>
            <a:ext cx="7360920" cy="438912"/>
          </a:xfrm>
          <a:prstGeom prst="rect">
            <a:avLst/>
          </a:prstGeom>
          <a:solidFill>
            <a:srgbClr val="142C3E"/>
          </a:solidFill>
          <a:ln w="7620">
            <a:solidFill>
              <a:srgbClr val="142C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07208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COPY-READY PROMPT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6894576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prepared Rate_Comparison, WeeklyEvents and DMAIC tables. Check baseline and pilot rates using summed deviations divided by summed opportunities. Return three cells: measured change, limitation and next evidence. Do not create a full report or a new chart, and do not claim a causal effect from the short pilot.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193024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193024" y="3410712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named source table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93024" y="4507992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3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193024" y="5084064"/>
            <a:ext cx="34930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the changed cells, formulas and claims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rates when periods differ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eight-week log is separate from the120-test investigation.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3550920" cy="292608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200400"/>
            <a:ext cx="3185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7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85800" y="4599432"/>
            <a:ext cx="3185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93 /1008 =9.22619%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282440" y="2834640"/>
            <a:ext cx="3550920" cy="2926080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5320" y="3200400"/>
            <a:ext cx="3185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7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4465320" y="4599432"/>
            <a:ext cx="3185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/336 =3.27381%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61960" y="2834640"/>
            <a:ext cx="3550920" cy="2926080"/>
          </a:xfrm>
          <a:prstGeom prst="rect">
            <a:avLst/>
          </a:prstGeom>
          <a:solidFill>
            <a:srgbClr val="142C3E"/>
          </a:solidFill>
          <a:ln w="7620">
            <a:solidFill>
              <a:srgbClr val="142C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4840" y="3200400"/>
            <a:ext cx="3185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8244840" y="4599432"/>
            <a:ext cx="3185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Six baseline weeks; two pilot weeks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Pareto directs attention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counts prioritise investigation; they do not prove causes.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022</a:t>
            </a:r>
            <a:endParaRPr lang="en-US" sz="1100" dirty="0"/>
          </a:p>
        </p:txBody>
      </p:sp>
      <p:pic>
        <p:nvPicPr>
          <p:cNvPr id="8" name="Image 0" descr="AI-generated educational illustration; fictional system, not a construction draw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43200"/>
            <a:ext cx="6080760" cy="342351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06640" y="267004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406640" y="308152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93 baseline deviations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06640" y="38282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category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7406640" y="423976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delivery 55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406640" y="498652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two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406640" y="5398008"/>
            <a:ext cx="4251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8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 /93 =76.34%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Stop at the agreed output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Rebuilding the full workbook is optional after class.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SPC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Three-sentence chart interpretation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FMEA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evidence gap and action proposal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DMAIC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Three-cell decision summary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· trainer demonstration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Participants observe a prepared assistant; no agent-building lab.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role, inputs and output format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template and rating scales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one failure and one correction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a reviewed workflow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trainer shows the FMEA and report patterns.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Case facts and approved template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Populate fields and identify gaps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checks and human release decision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and analysis answer different questions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source quality and arithmetic separately.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source supports the comparison?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table and formula support the result?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citations; recompute a selected value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minutes to a reviewed report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workflow still needs ownership and evidence.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Decision, action, owner and due date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 actions into a report template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checks status and unresolved items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SharePoint grounding · demonstration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one answer back to an approved document.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028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a passage in the scoped library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Document, revision and location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source and check applicability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define the knowledge boundary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access and discuss governance; no site-building task.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029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training library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permissions and document controls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Retrieved instructions do not override the task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Seven checks before using an AI output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framework to one displayed engineering claim.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1–2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 data; check governance and access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3–4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securely; verify outputs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5–6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sign-off; source and prompt audit trail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617220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7336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7336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Recognise and report suspicious content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engineering AI toolkit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reusable prompt and one review rule are enough today.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evidence, explicit constraints, expected output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rule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Recompute one value and open one source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class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full workbook rebuild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417320" y="20116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GENAI FOR ENGINEERS  / 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713232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3400" b="1" dirty="0">
                <a:solidFill>
                  <a:srgbClr val="142C3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Closing · 16:45–17:00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02920" y="179222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0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result, one limitation and one next step.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02920" y="6446520"/>
            <a:ext cx="10424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900" dirty="0">
                <a:solidFill>
                  <a:srgbClr val="5065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IES | Supplied lesson plan v2 | LP-aligned one-day delivery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0" y="6428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0408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SPC · FMEA · DMAIC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73368" y="2862072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Judgement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373368" y="339242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remains unproven?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02920" y="4407408"/>
            <a:ext cx="5440680" cy="1490472"/>
          </a:xfrm>
          <a:prstGeom prst="rect">
            <a:avLst/>
          </a:prstGeom>
          <a:solidFill>
            <a:srgbClr val="EFF5F5"/>
          </a:solidFill>
          <a:ln w="7620">
            <a:solidFill>
              <a:srgbClr val="EFF5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4572000"/>
            <a:ext cx="5010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2200" b="1" dirty="0">
                <a:solidFill>
                  <a:srgbClr val="087F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4088" y="5102352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900" dirty="0">
                <a:solidFill>
                  <a:srgbClr val="1933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one bounded workplace trial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GenAI for Engineers</dc:title>
  <dc:subject>GenAI for Engineers</dc:subject>
  <dc:creator>IES</dc:creator>
  <cp:lastModifiedBy>IES</cp:lastModifiedBy>
  <cp:revision>1</cp:revision>
  <dcterms:created xsi:type="dcterms:W3CDTF">2026-09-05T16:35:21Z</dcterms:created>
  <dcterms:modified xsi:type="dcterms:W3CDTF">2026-09-05T16:35:21Z</dcterms:modified>
</cp:coreProperties>
</file>