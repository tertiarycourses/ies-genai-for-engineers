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Lst>
  <p:notesMasterIdLst>
    <p:notesMasterId r:id="rId20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notesMaster" Target="notesMasters/notesMaster1.xml"/><Relationship Id="rId209" Type="http://schemas.openxmlformats.org/officeDocument/2006/relationships/presProps" Target="presProps.xml"/><Relationship Id="rId210" Type="http://schemas.openxmlformats.org/officeDocument/2006/relationships/viewProps" Target="viewProps.xml"/><Relationship Id="rId211" Type="http://schemas.openxmlformats.org/officeDocument/2006/relationships/theme" Target="theme/theme1.xml"/><Relationship Id="rId2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LO1–LO4. Connect each outcome to the module and activity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LO5–LO7. Connect each outcome to the relevant demonstration, grounding and security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begins the 15-minute methodology primer required by LO1. Explain that Copilot can help draft and calculate, while the engineer chooses the method and validates its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FMEA is prospective: it asks what could go wrong. It is not proof that a listed cause has occurred. Use a concrete pump function as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from intended function to failure, effect, possible cause and existing detection or prevention control. Correct learners who describe an effect as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higher detection rating means harder to detect in the supplied classroom scale. Scores require agreed criteria and evidence; Copilot must not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7 × 5 × 4. Explain that organisations may use severity gates or action-priority rules in addition to RPN.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FMEA concept section by naming the concrete deliverable and the mandatory human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treating Six Sigma as only a numerical target. For this course, DMAIC provides the structure for evidence-based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delivery case to name one output from each phase. A phase name alone is not a DMAIC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purpose of each tool and the evidence limit. A plausible hypothesis from Copilot must still be checked against process records or a controlled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both rates. State that the short pilot suggests improvement but does not establish which change caused it or whether it will persist.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time order. A histogram or average alone cannot show when the process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not a fault diagnosis. A stable chart is not proof that the product meets its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numerical example to show why conformance and statistical stability are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a high Cp or Cpk as automatic proof of quality. The monitoring shift means capability conclusions from the earlier baseline cannot describe the later period without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three quick questions: What question does the method answer? What output does it produce? What decision remains with the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five actions as three grouped stages: open/select, ask, inspect/check. Learners repeat this pattern in all three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authentic Microsoft 365 screenshot. Interface placement may vary by tenant. If Copilot cannot edit, ask it for the formulas and enter them manually, recording that fallback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1 prompt. Explain that Copilot reduces formula, flagging and chart setup work. The learner checks one point and does not accept a root-cause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2 prompt. Copilot drafts the table and calculations; the engineering team owns the scores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3 prompt. Keep the interpretation modest: the short pilot is evidence of a lower observed rate, not proof of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name the one check they will perform in each lab before accepting the Copilot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trainer demonstration. Explain instructions as the task rules and knowledge as reference material. An agent still needs testing and human review. We do not ask learners to build or deploy agents today.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one run using an approved prepared agent. If unavailable, use a clearly labelled example response. Show one error or omission, adjust an instruction and compare. Never claim a recorded live run if using a worked example.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Trainer-Demonstrations/README.md for the full prompt. Open FMEA_Input, ScoringNote and Evidence. Test FM01 only. A normal Copilot prompt demonstrates the instruction if an agent is unavailable; identify the surface honestly.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response, not a recording of a live agent run. Open FM01 and the maintenance evidence. Ask learners to identify the fact, hypothesis and unanswered question.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short progress report from the pump case. Explain a minutes-to-actions-to-report workflow with the same fields. Do not imply that recurring automation has been deployed or that the assistant can approve work.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source note in Trainer-Demonstrations/README.md. Show how a report template makes the distinction between observed improvement and proven cause visible. Ask why changing an open review to completed would be an error.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Trainer-Demonstrations/TR-401-Training-Extract.pdf and read clause 1. Ask the follow-up about an approved limit: the correct answer is not specified. Demonstrate that a citation is useful only when the passage supports the answer.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shared workflow across all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session and point learners to the guides, labs and official Copilot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1–4</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LO1</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Understand the engineering methodologies used as application contexts - explain what FMEA, Six Sigma (DMAIC) and Statistical Process Control (SPC) are, when each is used, and their key terms and outputs, before applying them in the labs.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LO2</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Automate engineering documentation (FMEA documents, technical specifications, Six Sigma/DMAIC reports, risk assessments, method statements, checklists, SOPs) with Microsoft 365 Copilot in Word, Excel and PowerPoint.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LO3</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prompt engineering frameworks (R.I.S.E., E-MAP) with iterative prompting to obtain accurate, verifiable engineering outputs.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LO4</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Build and deploy Copilot Agents (Copilot Studio agent builder) to automate multi-step engineering workflows such as FMEA generation and report writing.</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5–7</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11109960" cy="1051560"/>
          </a:xfrm>
          <a:prstGeom prst="rect">
            <a:avLst/>
          </a:prstGeom>
          <a:solidFill>
            <a:srgbClr val="EFF5F5"/>
          </a:solidFill>
          <a:ln w="12700">
            <a:solidFill>
              <a:srgbClr val="EFF5F5"/>
            </a:solidFill>
            <a:prstDash val="solid"/>
          </a:ln>
        </p:spPr>
      </p:sp>
      <p:sp>
        <p:nvSpPr>
          <p:cNvPr id="7" name="Text 5"/>
          <p:cNvSpPr/>
          <p:nvPr/>
        </p:nvSpPr>
        <p:spPr>
          <a:xfrm>
            <a:off x="704088" y="2825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LO5</a:t>
            </a:r>
            <a:endParaRPr lang="en-US" sz="1600" dirty="0"/>
          </a:p>
        </p:txBody>
      </p:sp>
      <p:sp>
        <p:nvSpPr>
          <p:cNvPr id="8" name="Text 6"/>
          <p:cNvSpPr/>
          <p:nvPr/>
        </p:nvSpPr>
        <p:spPr>
          <a:xfrm>
            <a:off x="704088" y="3200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Microsoft 365 reasoning agents (Researcher, Analyst) for standards research, technical comparisons and engineering data analysis.</a:t>
            </a:r>
            <a:endParaRPr lang="en-US" sz="1500" dirty="0"/>
          </a:p>
        </p:txBody>
      </p:sp>
      <p:sp>
        <p:nvSpPr>
          <p:cNvPr id="9" name="Shape 7"/>
          <p:cNvSpPr/>
          <p:nvPr/>
        </p:nvSpPr>
        <p:spPr>
          <a:xfrm>
            <a:off x="502920" y="3840480"/>
            <a:ext cx="11109960" cy="1051560"/>
          </a:xfrm>
          <a:prstGeom prst="rect">
            <a:avLst/>
          </a:prstGeom>
          <a:solidFill>
            <a:srgbClr val="EFF5F5"/>
          </a:solidFill>
          <a:ln w="12700">
            <a:solidFill>
              <a:srgbClr val="EFF5F5"/>
            </a:solidFill>
            <a:prstDash val="solid"/>
          </a:ln>
        </p:spPr>
      </p:sp>
      <p:sp>
        <p:nvSpPr>
          <p:cNvPr id="10" name="Text 8"/>
          <p:cNvSpPr/>
          <p:nvPr/>
        </p:nvSpPr>
        <p:spPr>
          <a:xfrm>
            <a:off x="704088" y="3968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LO6</a:t>
            </a:r>
            <a:endParaRPr lang="en-US" sz="1600" dirty="0"/>
          </a:p>
        </p:txBody>
      </p:sp>
      <p:sp>
        <p:nvSpPr>
          <p:cNvPr id="11" name="Text 9"/>
          <p:cNvSpPr/>
          <p:nvPr/>
        </p:nvSpPr>
        <p:spPr>
          <a:xfrm>
            <a:off x="704088" y="4343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Integrate SharePoint with Copilot as a grounded engineering knowledge base with cited, traceable answers.</a:t>
            </a:r>
            <a:endParaRPr lang="en-US" sz="1500" dirty="0"/>
          </a:p>
        </p:txBody>
      </p:sp>
      <p:sp>
        <p:nvSpPr>
          <p:cNvPr id="12" name="Shape 10"/>
          <p:cNvSpPr/>
          <p:nvPr/>
        </p:nvSpPr>
        <p:spPr>
          <a:xfrm>
            <a:off x="502920" y="4983480"/>
            <a:ext cx="11109960" cy="1051560"/>
          </a:xfrm>
          <a:prstGeom prst="rect">
            <a:avLst/>
          </a:prstGeom>
          <a:solidFill>
            <a:srgbClr val="EFF5F5"/>
          </a:solidFill>
          <a:ln w="12700">
            <a:solidFill>
              <a:srgbClr val="EFF5F5"/>
            </a:solidFill>
            <a:prstDash val="solid"/>
          </a:ln>
        </p:spPr>
      </p:sp>
      <p:sp>
        <p:nvSpPr>
          <p:cNvPr id="13" name="Text 11"/>
          <p:cNvSpPr/>
          <p:nvPr/>
        </p:nvSpPr>
        <p:spPr>
          <a:xfrm>
            <a:off x="704088" y="5111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LO7</a:t>
            </a:r>
            <a:endParaRPr lang="en-US" sz="1600" dirty="0"/>
          </a:p>
        </p:txBody>
      </p:sp>
      <p:sp>
        <p:nvSpPr>
          <p:cNvPr id="14" name="Text 12"/>
          <p:cNvSpPr/>
          <p:nvPr/>
        </p:nvSpPr>
        <p:spPr>
          <a:xfrm>
            <a:off x="704088" y="5486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the 7-Step AI Security Framework — data classification, data governance &amp; access control, secure prompting, output verification, human-in-the-loop sign-off, traceability &amp; audit, and security awareness &amp; incident response.</a:t>
            </a:r>
            <a:endParaRPr lang="en-US" sz="15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 The Copilot Ecosystem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Understand the Microsoft 365 Copilot surfaces that support engineering work.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Chat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In-app Copilot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three small workbooks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contains only the data and prompt needed for that activity.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1 - 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Pump_Readings: 12 rows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2 - 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FMEA_Input: 4 rows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3 - 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Weekly_Data: 6 rows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 Prompting for Engineering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R.I.S.E. and E-MAP to produce clear, reviewable engineering drafts.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E-MAP</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Documents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 Engineering Methodology Primer &amp; Document Automation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Explain the methods before using Copilot to speed up their workbook outputs.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Six Sigma / DMAIC</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Methodology primer · learn the method before using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DMAIC and SPC answer different engineering questions and produce different evidence.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could fail, what would happen and what needs attention?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Six Sigma / 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do we organise a process-improvement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process behaviour stable, or is there a signal to investigate?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preventive review of how a product, process or system could fail.</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Use before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Design release, process change, commissioning or maintenance planning.</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Start from</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defined function or process step and its intended result.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How might it fail, what is the effect, what could cause it and what controls exist?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prioritised review table with evidence gaps and proposed actions.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read one row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useful row keeps the function, failure mode, effect, cause and control separate.</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Function</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Deliver chemical solution at the required flow.</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Failure mode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 delivers too little solution.</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Effect</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The receiving process gets an insufficient dose.</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Possible cause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blocked strainer may restrict flow; evidence is still needed.</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Current 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delivery test can detect low output.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Severity, Occurrence and Detection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three ratings describe different questions; multiplying them gives a prioritisation aid called RPN.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Severity (S)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serious is the effect if the failure occurs?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Occurrence (O)</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failure mode or cause under the stated basis?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Detection (D)</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current control to miss it before the effect?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worked RPN and decision boundary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RPN helps organise attention, but a lower number does not automatically mean acceptable risk.</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Worked row</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FM01: S 7 × O 5 × D 4 = RPN 140.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Severity gate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FM04 has S 9 and RPN 90; high severity still needs explicit review.</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Engineer checks</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Rating basis, evidence, existing controls and action effectiveness.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key output and what it cannot prove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output is a review record, not a diagnosis or approval.</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 output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Failure story, ratings, rationale, controls, evidence gaps, actions, owner and status.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 help</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Draft rows, check table completeness, calculate RPN and summarise priorities.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cannot decide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Whether a cause is true, a risk is acceptable or work is authorised.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Six Sigma and DMAIC · what they mean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Six Sigma is a disciplined approach to reducing variation and defects; DMAIC is its five-phase improvement cycle.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existing process has a measurable performance problem.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Focus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Define the problem, measure the baseline and test evidence before claiming improvement.</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traceable improvement story, tested change and control plan.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what each phase produces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phase creates an output needed by the next decision.</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Problem, customer need, scope and critical-to-quality measure.</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Operational definition, data-quality checks and baseline performance.</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Patterns, prioritised hypotheses and evidence gaps.</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controlled change to test and its predicted effect.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Metric, owner, frequency, signal rule and response plan.</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analysis tools answer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Pareto, fishbone and 5-Whys support analysis, but none proves a root cause by itself.</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Pareto chart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Which problem categories account for the largest share?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Fishbone diagram</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possible causes should the team consider across useful categories?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5-Whys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causal chain should be tested more deeply?</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worked rate comparison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Compare defects with opportunities so periods of different length are comparable.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Baseline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93 deviations ÷ 1,008 opportunities = 9.23%.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Pilot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11 deviations ÷ 336 opportunities = 3.27%.</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Observed change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reduction of 5.95 percentage points; two simultaneous changes prevent causal attribution.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uses time-ordered data to distinguish routine variation from signals of process change.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process runs repeatedly and measurements are collected in sequence.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Ask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the current process behaving like the stable reference period?</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control chart, signal interpretation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common cause and special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chart helps separate the usual pattern from evidence that something changed.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Common-cause variation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Small fluctuations produced by the current process system.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Special-cause signal</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unusual point or pattern that calls for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action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Check measurement, test conditions and equipment before assigning a cause.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control limits are not specification limits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describes process behaviour; the other states an external requirement.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Control limits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Calculated from a defined stable reference period; they show expected process variation.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Specification limits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Set by design, customer or regulatory requirements.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Example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59.5 L/h meets the fictional 58.9–65.1 L/h specification but is below the process control limit.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Cp and Cpk describe conditional capability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Capability indices compare process spread and centring with specifications only when their assumptions are reasonable.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Potential capability: specification width compared with estimated process spread.</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Cpk</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Actual centring: also considers how close the mean is to the nearest specification limit.</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Before interpreting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Check stability, measurement adequacy, distribution, independence and sufficient data.</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LO1 checkpoint · choose the method and name its output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Before the labs, learners should be able to explain the purpose, key terms and output of each method.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Preventive failure review → prioritised FMEA table and actions.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Improvement investigation → five-phase evidence trail and control plan.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Process monitoring → control chart, signal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Copilot in Excel: the same three stages every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follows one short workflow so you can focus on the engineering result.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Open and select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Starter.xlsx and click in the named table.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 Copilot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Paste the supplied prompt and request formulas.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Inspect and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draft with one calculation you do yourself.</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Find Copilot in Excel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Open the prepared workbook first, select the source table, then open Copilot.</a:t>
            </a:r>
            <a:endParaRPr lang="en-US" sz="2100" dirty="0"/>
          </a:p>
        </p:txBody>
      </p:sp>
      <p:pic>
        <p:nvPicPr>
          <p:cNvPr id="6" name="Image 0" descr="Find Copilot in Excel">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1. Select the data</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Click any cell in the named table.</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2. Open Copilot</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Use the Copilot button shown in Excel.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3. Paste one prompt</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Copy it from the Copilot_Prompt sheet.</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SPC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Give Copilot the table, calculation rule, required chart and decision boundary.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PumpReadings. From the eight Baseline rows, calculate the mean, sample standard deviation, UCL and LCL. Flag T09-T12, create a line chart with the limits, and give a three-sentence interpretation. Show formulas. Do not claim a root cause or that the pump is safe.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PumpReadings: 12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Limits, flags, line chart</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T10 against the LCL</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FMEA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the four supplied rows and ratings; ask Copilot to calculate and organise them.</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FMEAInput. Preserve the four rows and ratings. Calculate RPN = Severity x Occurrence x Detection, rank the rows, and flag Severity 9 or higher. Add one evidence request and action per row. Show the formula. Do not invent incidents or change ratings.</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FMEAInput: 4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RPN, rank, severity flag</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FM01 = 140; FM04 S = 9</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DMAIC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for two rates and a five-row improvement summary.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WeeklyData. Calculate deviations / opportunities for Baseline and Pilot. Create a five-row Define, Measure, Analyse, Improve, Control summary. Separate facts from hypotheses, show formulas, and state that the short pilot does not prove cause.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WeeklyData: 6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Rates and DMAIC summary</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9.0% and 3.5%</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LO2 checkpoint - draft, calculate, verify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workbook creation; the engineer checks the input, formula and meaning.</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builds limits and a chart; you verify a signal.</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and ranks; you verify the RPN and severity gate.</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rates and drafts the phases; you verify both rates.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what are we looking for in the pump data?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baseline is eight readings; four later readings are checked against 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Average of T01-T08.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Mean plus or minus three sample standard deviations.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Monitoring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T09-T12 are checked for signals.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Three of the four monitoring readings fall below the calculated lower control limit.</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Baseline</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Eight readings average about 62.0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T09, T10 and T12 are below the LCL.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Meaning</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Investigate the change; the chart does not identify its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61.4-62.6 L/h, calculated from the eight Baseline readings.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one table, one prompt, one independent check.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T10 = 59.4 L/h with the LCL.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Chart, signal list and three-sentence interpretation.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Failure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pump delivers too little liquid.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Effect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system receives less liquid than intended.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restriction may contribute; this needs evidence.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delivery test may detect the problem.</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four supplied rows, formula-based RPN and one severity gate.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 140; FM04 has Severity 9.</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Ranked table, evidence request and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the problem clearly.</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Count or calculate how often it happens.</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evidence to understand the pattern.</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Propose a change to test.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Monitor the result and decide what happens next.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Problem</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Delivery-test deviations are being recorded.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Measure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deviations with the number of test opportunities.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chart, event log and failure review.</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step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 a controlled follow-up and monitoring rule.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deviations by opportunities so periods of different length are comparable.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pilot rate is lower; this does not prove why.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Pareto chart is optional after class; the one-day lab focuses on two rates and a short DMAIC summary.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focus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the Baseline and Pilot rates.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Optional extension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Group deviations by category and order them largest first.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count does not prove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six weekly rows, two rates and five DMAIC phases.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 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Five-row DMAIC summary and one evidence check.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 Deep Dive: Copilot Agents &amp; Microsoft 365 Agents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bounded agents to repeat a useful engineering drafting pattern.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Assistant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Turn the reviewed FMEA workflow into instructions.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Report Writer</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a template-faithful progress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Researcher and Analyst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standards research with data analysis.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an agent, identify gaps and retain human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Turn the reviewed FMEA workflow into instructions.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a template-faithful progress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standards research with data analysis.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an agent, identify gaps and retain human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a Copilot agent useful for?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is a reusable assistant for a task you perform repeatedly.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Ordinary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You explain the task again each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task instructions and selected reference material are already prepared.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FMEA assistant uses an agreed template and rating guidance.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Watch a prepared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one input through to a checked answer.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Pump description, case records and rating guidance.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Agent draft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Failure modes, effects, possible causes and missing information.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Trainer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each statement match the supplied records?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reusable instruction for the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Show the instruction, then test it on just one failure mode.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Return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the failure, effect, possible cause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scores. Do not turn a possible cause into a fact.”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the FMEA assistant say?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question: “What is still unproven about the low-delivery failure?”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recorded lower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explanation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have contributed.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Still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Evidence about the removed strainer and the effects of the two changes.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assistant can reuse a template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turns recorded facts into a consistent report structure.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facts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action, owner and due date.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sections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Progress, outstanding issues and next actions.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that “proposed” has not become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draft that keeps an open issue visible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same three headings every time: status, evidence and next action.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Pilot delivery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Complete the removed-strainer review before claiming a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 Deep Dive: SharePoint Integration with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Retrieve approved engineering evidence and verify the citation.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Grounding</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Citations</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Permissions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source when the answer must be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grounded answer points back to the document or table used.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grounded answer against a real passage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supplied fictional document TR-401, revision 1.</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we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Clause 1 lists those four fields. It does not approve a delivery limit.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2800" b="1" dirty="0">
                <a:solidFill>
                  <a:srgbClr val="142C3E"/>
                </a:solidFill>
                <a:latin typeface="Aptos" pitchFamily="34" charset="0"/>
                <a:ea typeface="Aptos" pitchFamily="34" charset="-122"/>
                <a:cs typeface="Aptos" pitchFamily="34" charset="-120"/>
              </a:rPr>
              <a:t>Module 6 — AI Security: The 7-Step AI Security Framework &amp; Your Engineering AI Toolkit</a:t>
            </a:r>
            <a:endParaRPr lang="en-US" sz="28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 seven checks before an AI-assisted result is shared.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Classify and govern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 securely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Verify and sign off</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before you share an AI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short checklist to protect data, quality and accountability.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engineer productivity loop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Course summary · the engineer remains accountable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State the engineering question and select the evidence.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right method and request a useful output.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Recalculate, trace and challenge unsupported claims.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Decide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Share the finding, limitation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Thank you · take one checked workflow back to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Copilot to save time on the first draft, then apply your engineering judgement before release.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Keep</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reusable prompt with clear constraints.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verification rule for numbers and sources.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small, approved workplace task.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Remember</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fluent answer is still a draft until checked.</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206</Slides>
  <Notes>206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206</vt:i4>
      </vt:variant>
    </vt:vector>
  </HeadingPairs>
  <TitlesOfParts>
    <vt:vector size="20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2026-09-06T02:57:07Z</dcterms:created>
  <dcterms:modified xsi:type="dcterms:W3CDTF">2026-09-06T02:57:07Z</dcterms:modified>
</cp:coreProperties>
</file>