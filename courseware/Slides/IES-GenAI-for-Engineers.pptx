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445" r:id="rId196"/>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442" r:id="rId193"/>
    <p:sldId id="443" r:id="rId194"/>
    <p:sldId id="444" r:id="rId195"/>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slide" Target="slides/slide45.xml"/><Relationship Id="rId43" Type="http://schemas.openxmlformats.org/officeDocument/2006/relationships/slide" Target="slides/slide46.xml"/><Relationship Id="rId44" Type="http://schemas.openxmlformats.org/officeDocument/2006/relationships/slide" Target="slides/slide47.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slide" Target="slides/slide51.xml"/><Relationship Id="rId49" Type="http://schemas.openxmlformats.org/officeDocument/2006/relationships/slide" Target="slides/slide52.xml"/><Relationship Id="rId50" Type="http://schemas.openxmlformats.org/officeDocument/2006/relationships/slide" Target="slides/slide53.xml"/><Relationship Id="rId51" Type="http://schemas.openxmlformats.org/officeDocument/2006/relationships/slide" Target="slides/slide54.xml"/><Relationship Id="rId52" Type="http://schemas.openxmlformats.org/officeDocument/2006/relationships/slide" Target="slides/slide55.xml"/><Relationship Id="rId53" Type="http://schemas.openxmlformats.org/officeDocument/2006/relationships/slide" Target="slides/slide56.xml"/><Relationship Id="rId54" Type="http://schemas.openxmlformats.org/officeDocument/2006/relationships/slide" Target="slides/slide57.xml"/><Relationship Id="rId55" Type="http://schemas.openxmlformats.org/officeDocument/2006/relationships/slide" Target="slides/slide58.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6.xml"/><Relationship Id="rId74" Type="http://schemas.openxmlformats.org/officeDocument/2006/relationships/slide" Target="slides/slide77.xml"/><Relationship Id="rId75" Type="http://schemas.openxmlformats.org/officeDocument/2006/relationships/slide" Target="slides/slide78.xml"/><Relationship Id="rId76" Type="http://schemas.openxmlformats.org/officeDocument/2006/relationships/slide" Target="slides/slide79.xml"/><Relationship Id="rId77" Type="http://schemas.openxmlformats.org/officeDocument/2006/relationships/slide" Target="slides/slide80.xml"/><Relationship Id="rId78" Type="http://schemas.openxmlformats.org/officeDocument/2006/relationships/slide" Target="slides/slide81.xml"/><Relationship Id="rId79" Type="http://schemas.openxmlformats.org/officeDocument/2006/relationships/slide" Target="slides/slide82.xml"/><Relationship Id="rId80" Type="http://schemas.openxmlformats.org/officeDocument/2006/relationships/slide" Target="slides/slide83.xml"/><Relationship Id="rId81" Type="http://schemas.openxmlformats.org/officeDocument/2006/relationships/slide" Target="slides/slide84.xml"/><Relationship Id="rId82" Type="http://schemas.openxmlformats.org/officeDocument/2006/relationships/slide" Target="slides/slide85.xml"/><Relationship Id="rId83" Type="http://schemas.openxmlformats.org/officeDocument/2006/relationships/slide" Target="slides/slide86.xml"/><Relationship Id="rId84" Type="http://schemas.openxmlformats.org/officeDocument/2006/relationships/slide" Target="slides/slide87.xml"/><Relationship Id="rId85" Type="http://schemas.openxmlformats.org/officeDocument/2006/relationships/slide" Target="slides/slide88.xml"/><Relationship Id="rId86" Type="http://schemas.openxmlformats.org/officeDocument/2006/relationships/slide" Target="slides/slide89.xml"/><Relationship Id="rId87" Type="http://schemas.openxmlformats.org/officeDocument/2006/relationships/slide" Target="slides/slide90.xml"/><Relationship Id="rId88" Type="http://schemas.openxmlformats.org/officeDocument/2006/relationships/slide" Target="slides/slide91.xml"/><Relationship Id="rId89" Type="http://schemas.openxmlformats.org/officeDocument/2006/relationships/slide" Target="slides/slide92.xml"/><Relationship Id="rId90" Type="http://schemas.openxmlformats.org/officeDocument/2006/relationships/slide" Target="slides/slide93.xml"/><Relationship Id="rId91" Type="http://schemas.openxmlformats.org/officeDocument/2006/relationships/slide" Target="slides/slide94.xml"/><Relationship Id="rId92" Type="http://schemas.openxmlformats.org/officeDocument/2006/relationships/slide" Target="slides/slide95.xml"/><Relationship Id="rId93" Type="http://schemas.openxmlformats.org/officeDocument/2006/relationships/slide" Target="slides/slide96.xml"/><Relationship Id="rId94" Type="http://schemas.openxmlformats.org/officeDocument/2006/relationships/slide" Target="slides/slide97.xml"/><Relationship Id="rId95" Type="http://schemas.openxmlformats.org/officeDocument/2006/relationships/slide" Target="slides/slide98.xml"/><Relationship Id="rId96" Type="http://schemas.openxmlformats.org/officeDocument/2006/relationships/slide" Target="slides/slide99.xml"/><Relationship Id="rId97" Type="http://schemas.openxmlformats.org/officeDocument/2006/relationships/slide" Target="slides/slide100.xml"/><Relationship Id="rId98" Type="http://schemas.openxmlformats.org/officeDocument/2006/relationships/slide" Target="slides/slide101.xml"/><Relationship Id="rId99" Type="http://schemas.openxmlformats.org/officeDocument/2006/relationships/slide" Target="slides/slide102.xml"/><Relationship Id="rId100" Type="http://schemas.openxmlformats.org/officeDocument/2006/relationships/slide" Target="slides/slide103.xml"/><Relationship Id="rId101" Type="http://schemas.openxmlformats.org/officeDocument/2006/relationships/slide" Target="slides/slide104.xml"/><Relationship Id="rId102" Type="http://schemas.openxmlformats.org/officeDocument/2006/relationships/slide" Target="slides/slide105.xml"/><Relationship Id="rId103" Type="http://schemas.openxmlformats.org/officeDocument/2006/relationships/slide" Target="slides/slide106.xml"/><Relationship Id="rId104" Type="http://schemas.openxmlformats.org/officeDocument/2006/relationships/slide" Target="slides/slide107.xml"/><Relationship Id="rId105" Type="http://schemas.openxmlformats.org/officeDocument/2006/relationships/slide" Target="slides/slide108.xml"/><Relationship Id="rId106" Type="http://schemas.openxmlformats.org/officeDocument/2006/relationships/slide" Target="slides/slide109.xml"/><Relationship Id="rId107" Type="http://schemas.openxmlformats.org/officeDocument/2006/relationships/slide" Target="slides/slide110.xml"/><Relationship Id="rId108" Type="http://schemas.openxmlformats.org/officeDocument/2006/relationships/slide" Target="slides/slide111.xml"/><Relationship Id="rId109" Type="http://schemas.openxmlformats.org/officeDocument/2006/relationships/slide" Target="slides/slide112.xml"/><Relationship Id="rId110" Type="http://schemas.openxmlformats.org/officeDocument/2006/relationships/slide" Target="slides/slide113.xml"/><Relationship Id="rId111" Type="http://schemas.openxmlformats.org/officeDocument/2006/relationships/slide" Target="slides/slide114.xml"/><Relationship Id="rId112" Type="http://schemas.openxmlformats.org/officeDocument/2006/relationships/slide" Target="slides/slide115.xml"/><Relationship Id="rId113" Type="http://schemas.openxmlformats.org/officeDocument/2006/relationships/slide" Target="slides/slide116.xml"/><Relationship Id="rId114" Type="http://schemas.openxmlformats.org/officeDocument/2006/relationships/slide" Target="slides/slide117.xml"/><Relationship Id="rId115" Type="http://schemas.openxmlformats.org/officeDocument/2006/relationships/slide" Target="slides/slide118.xml"/><Relationship Id="rId116" Type="http://schemas.openxmlformats.org/officeDocument/2006/relationships/slide" Target="slides/slide119.xml"/><Relationship Id="rId117" Type="http://schemas.openxmlformats.org/officeDocument/2006/relationships/slide" Target="slides/slide120.xml"/><Relationship Id="rId118" Type="http://schemas.openxmlformats.org/officeDocument/2006/relationships/slide" Target="slides/slide121.xml"/><Relationship Id="rId119" Type="http://schemas.openxmlformats.org/officeDocument/2006/relationships/slide" Target="slides/slide122.xml"/><Relationship Id="rId120" Type="http://schemas.openxmlformats.org/officeDocument/2006/relationships/slide" Target="slides/slide123.xml"/><Relationship Id="rId121" Type="http://schemas.openxmlformats.org/officeDocument/2006/relationships/slide" Target="slides/slide124.xml"/><Relationship Id="rId122" Type="http://schemas.openxmlformats.org/officeDocument/2006/relationships/slide" Target="slides/slide125.xml"/><Relationship Id="rId123" Type="http://schemas.openxmlformats.org/officeDocument/2006/relationships/slide" Target="slides/slide126.xml"/><Relationship Id="rId124" Type="http://schemas.openxmlformats.org/officeDocument/2006/relationships/slide" Target="slides/slide127.xml"/><Relationship Id="rId125" Type="http://schemas.openxmlformats.org/officeDocument/2006/relationships/slide" Target="slides/slide128.xml"/><Relationship Id="rId126" Type="http://schemas.openxmlformats.org/officeDocument/2006/relationships/slide" Target="slides/slide129.xml"/><Relationship Id="rId127" Type="http://schemas.openxmlformats.org/officeDocument/2006/relationships/slide" Target="slides/slide130.xml"/><Relationship Id="rId128" Type="http://schemas.openxmlformats.org/officeDocument/2006/relationships/slide" Target="slides/slide131.xml"/><Relationship Id="rId129" Type="http://schemas.openxmlformats.org/officeDocument/2006/relationships/slide" Target="slides/slide132.xml"/><Relationship Id="rId130" Type="http://schemas.openxmlformats.org/officeDocument/2006/relationships/slide" Target="slides/slide133.xml"/><Relationship Id="rId131" Type="http://schemas.openxmlformats.org/officeDocument/2006/relationships/slide" Target="slides/slide134.xml"/><Relationship Id="rId132" Type="http://schemas.openxmlformats.org/officeDocument/2006/relationships/slide" Target="slides/slide135.xml"/><Relationship Id="rId133" Type="http://schemas.openxmlformats.org/officeDocument/2006/relationships/slide" Target="slides/slide136.xml"/><Relationship Id="rId134" Type="http://schemas.openxmlformats.org/officeDocument/2006/relationships/slide" Target="slides/slide137.xml"/><Relationship Id="rId135" Type="http://schemas.openxmlformats.org/officeDocument/2006/relationships/slide" Target="slides/slide138.xml"/><Relationship Id="rId136" Type="http://schemas.openxmlformats.org/officeDocument/2006/relationships/slide" Target="slides/slide139.xml"/><Relationship Id="rId137" Type="http://schemas.openxmlformats.org/officeDocument/2006/relationships/slide" Target="slides/slide140.xml"/><Relationship Id="rId138" Type="http://schemas.openxmlformats.org/officeDocument/2006/relationships/slide" Target="slides/slide141.xml"/><Relationship Id="rId139" Type="http://schemas.openxmlformats.org/officeDocument/2006/relationships/slide" Target="slides/slide142.xml"/><Relationship Id="rId140" Type="http://schemas.openxmlformats.org/officeDocument/2006/relationships/slide" Target="slides/slide143.xml"/><Relationship Id="rId141" Type="http://schemas.openxmlformats.org/officeDocument/2006/relationships/slide" Target="slides/slide144.xml"/><Relationship Id="rId142" Type="http://schemas.openxmlformats.org/officeDocument/2006/relationships/slide" Target="slides/slide145.xml"/><Relationship Id="rId143" Type="http://schemas.openxmlformats.org/officeDocument/2006/relationships/slide" Target="slides/slide146.xml"/><Relationship Id="rId144" Type="http://schemas.openxmlformats.org/officeDocument/2006/relationships/slide" Target="slides/slide147.xml"/><Relationship Id="rId145" Type="http://schemas.openxmlformats.org/officeDocument/2006/relationships/slide" Target="slides/slide148.xml"/><Relationship Id="rId146" Type="http://schemas.openxmlformats.org/officeDocument/2006/relationships/slide" Target="slides/slide149.xml"/><Relationship Id="rId147" Type="http://schemas.openxmlformats.org/officeDocument/2006/relationships/slide" Target="slides/slide150.xml"/><Relationship Id="rId148" Type="http://schemas.openxmlformats.org/officeDocument/2006/relationships/slide" Target="slides/slide151.xml"/><Relationship Id="rId149" Type="http://schemas.openxmlformats.org/officeDocument/2006/relationships/slide" Target="slides/slide152.xml"/><Relationship Id="rId150" Type="http://schemas.openxmlformats.org/officeDocument/2006/relationships/slide" Target="slides/slide153.xml"/><Relationship Id="rId151" Type="http://schemas.openxmlformats.org/officeDocument/2006/relationships/slide" Target="slides/slide154.xml"/><Relationship Id="rId152" Type="http://schemas.openxmlformats.org/officeDocument/2006/relationships/slide" Target="slides/slide155.xml"/><Relationship Id="rId153" Type="http://schemas.openxmlformats.org/officeDocument/2006/relationships/slide" Target="slides/slide156.xml"/><Relationship Id="rId154" Type="http://schemas.openxmlformats.org/officeDocument/2006/relationships/slide" Target="slides/slide157.xml"/><Relationship Id="rId155" Type="http://schemas.openxmlformats.org/officeDocument/2006/relationships/slide" Target="slides/slide158.xml"/><Relationship Id="rId156" Type="http://schemas.openxmlformats.org/officeDocument/2006/relationships/slide" Target="slides/slide159.xml"/><Relationship Id="rId157" Type="http://schemas.openxmlformats.org/officeDocument/2006/relationships/slide" Target="slides/slide160.xml"/><Relationship Id="rId158" Type="http://schemas.openxmlformats.org/officeDocument/2006/relationships/slide" Target="slides/slide161.xml"/><Relationship Id="rId159" Type="http://schemas.openxmlformats.org/officeDocument/2006/relationships/slide" Target="slides/slide162.xml"/><Relationship Id="rId160" Type="http://schemas.openxmlformats.org/officeDocument/2006/relationships/slide" Target="slides/slide163.xml"/><Relationship Id="rId161" Type="http://schemas.openxmlformats.org/officeDocument/2006/relationships/slide" Target="slides/slide164.xml"/><Relationship Id="rId162" Type="http://schemas.openxmlformats.org/officeDocument/2006/relationships/slide" Target="slides/slide165.xml"/><Relationship Id="rId163" Type="http://schemas.openxmlformats.org/officeDocument/2006/relationships/slide" Target="slides/slide166.xml"/><Relationship Id="rId164" Type="http://schemas.openxmlformats.org/officeDocument/2006/relationships/slide" Target="slides/slide167.xml"/><Relationship Id="rId165" Type="http://schemas.openxmlformats.org/officeDocument/2006/relationships/slide" Target="slides/slide168.xml"/><Relationship Id="rId166" Type="http://schemas.openxmlformats.org/officeDocument/2006/relationships/slide" Target="slides/slide169.xml"/><Relationship Id="rId167" Type="http://schemas.openxmlformats.org/officeDocument/2006/relationships/slide" Target="slides/slide170.xml"/><Relationship Id="rId168" Type="http://schemas.openxmlformats.org/officeDocument/2006/relationships/slide" Target="slides/slide171.xml"/><Relationship Id="rId169" Type="http://schemas.openxmlformats.org/officeDocument/2006/relationships/slide" Target="slides/slide172.xml"/><Relationship Id="rId170" Type="http://schemas.openxmlformats.org/officeDocument/2006/relationships/slide" Target="slides/slide173.xml"/><Relationship Id="rId171" Type="http://schemas.openxmlformats.org/officeDocument/2006/relationships/slide" Target="slides/slide174.xml"/><Relationship Id="rId172" Type="http://schemas.openxmlformats.org/officeDocument/2006/relationships/slide" Target="slides/slide175.xml"/><Relationship Id="rId173" Type="http://schemas.openxmlformats.org/officeDocument/2006/relationships/slide" Target="slides/slide176.xml"/><Relationship Id="rId174" Type="http://schemas.openxmlformats.org/officeDocument/2006/relationships/slide" Target="slides/slide177.xml"/><Relationship Id="rId175" Type="http://schemas.openxmlformats.org/officeDocument/2006/relationships/slide" Target="slides/slide178.xml"/><Relationship Id="rId176" Type="http://schemas.openxmlformats.org/officeDocument/2006/relationships/slide" Target="slides/slide179.xml"/><Relationship Id="rId177" Type="http://schemas.openxmlformats.org/officeDocument/2006/relationships/slide" Target="slides/slide180.xml"/><Relationship Id="rId178" Type="http://schemas.openxmlformats.org/officeDocument/2006/relationships/slide" Target="slides/slide181.xml"/><Relationship Id="rId179" Type="http://schemas.openxmlformats.org/officeDocument/2006/relationships/slide" Target="slides/slide182.xml"/><Relationship Id="rId180" Type="http://schemas.openxmlformats.org/officeDocument/2006/relationships/slide" Target="slides/slide183.xml"/><Relationship Id="rId181" Type="http://schemas.openxmlformats.org/officeDocument/2006/relationships/slide" Target="slides/slide184.xml"/><Relationship Id="rId182" Type="http://schemas.openxmlformats.org/officeDocument/2006/relationships/slide" Target="slides/slide185.xml"/><Relationship Id="rId183" Type="http://schemas.openxmlformats.org/officeDocument/2006/relationships/slide" Target="slides/slide186.xml"/><Relationship Id="rId184" Type="http://schemas.openxmlformats.org/officeDocument/2006/relationships/slide" Target="slides/slide187.xml"/><Relationship Id="rId185" Type="http://schemas.openxmlformats.org/officeDocument/2006/relationships/slide" Target="slides/slide188.xml"/><Relationship Id="rId186" Type="http://schemas.openxmlformats.org/officeDocument/2006/relationships/slide" Target="slides/slide189.xml"/><Relationship Id="rId187" Type="http://schemas.openxmlformats.org/officeDocument/2006/relationships/slide" Target="slides/slide190.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 Id="rId193" Type="http://schemas.openxmlformats.org/officeDocument/2006/relationships/slide" Target="slides/slide37.xml"/><Relationship Id="rId194" Type="http://schemas.openxmlformats.org/officeDocument/2006/relationships/slide" Target="slides/slide38.xml"/><Relationship Id="rId195" Type="http://schemas.openxmlformats.org/officeDocument/2006/relationships/slide" Target="slides/slide39.xml"/><Relationship Id="rId19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GenAI for Engineers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course outcomes in plain language. The full wording remains in the Learner Guide and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LO5–LO7 to the afternoon route: reasoning agents, SharePoint knowledge and a seven-step release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breaks at 11:15 and 15:15 and lunch at 13:00. The three guided Excel labs total 65 minutes inside Module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1.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technical model jargon. Use one example: a spreadsheet explanation is a generated draft that still needs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step consumes the most time in participants’ current work. Emphasise that review remains mandatory.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surfaces in the same sequence used during the course. Tool availability depends on the tenant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Chat · shape the question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Word is useful when document structure and controlled wording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in Excel · analyse structured data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slide is the final communication layer. Do not move unverified Excel claims into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privacy and recording policy. Use only approved meeting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5. Grounding improves relevance and traceability; it does not make every answer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4. An agent is useful when the same controlled task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choose the surface for two examples from their own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values are synthetic classroom data. The skid image is illustrative and the case does not represent a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learner will select one named table or source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one decision in their role that cannot be delegated to a draft generator.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 these three questions throughout the day. They are the simplest cross-module quality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paired access or worked examples if a licence issue cannot be resolved within the time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Run the 15-minute challenge from the supplied lesson plan. Do not assess writing style alone; compare evidence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one example of time saved and one claim that required engineering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2: better prompts reduce rework across every Copilot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2.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depend on good source data and verification. Do not promise automatic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prompt checklist. RISE and E-MAP organise these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letter before using the acronym. Learners will use the same framework in all three Excel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should shape vocabulary and viewpoint. Human responsibility remains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narrow evidence boundary reduces irrelevant or invented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order matters, number the steps. A structured sequence also makes agent workflows easier to 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often produces polished but unreviewable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Build one RISE prompt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rewriting the entire prompt after every run. One focused change makes improvement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E-MAP when technical context, calculation basis or operating boundaries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Engineering context prevents generic answers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which denominator applies before any percentage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hidden assumption can turn a correct calculation into a poor engineering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often distinguish engineering prompting from general writing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do not need to repeat labels mechanically. They must include the information each label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Constraints reduce ambiguity and protect meaning. They do not replace output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sentence a reviewer can actually test. The strong version names observable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four-part schema for reports, chart interpretations and agent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Citations must still be opened and checked against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ask for four generic experts. Give each persona one clear review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Multi-persona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debate improves the result because each role must respond to the other roles’ objections before the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Debate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Trainer-led demonstration from the lesson plan. Learners critique one generated requirement for measurability.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A finding needs a criterion. If no criterion is supplied, the output should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Copilot proposes a draft. The responsible organisation applies its approved risk matrix and sign-off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management slide focused on one decision. The detailed analysis remains in the workbook or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3: the learner must understand each engineering method before asking Copilot to produce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3.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sequence requested for the course. Each method answers a different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proactive. An FMEA row is not automatically an incident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failure mode, effect and cause distinct. The cause shown is a hypothesis unless evidence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row and ask learners to classify each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Detection score means difficult to detect. Rating scales and evidence basis must be agreed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RPN is ordinal prioritisation. Do not compare across unrelated scoring systems without checking the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multiplication alone cannot decide acceptability. The course uses Severity 9+ as a review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FM01 and FM04. Confirm RPN arithmetic and the severity gate. All ratings are synthetic classroom judgements.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populate residual scores before the action is implemented and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Copilot as an FMEA facilitator, not a risk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prompt · preserve the engineering record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11:45–12:05. Four minutes orient, ten minutes prompt and inspect, six minutes verify and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Six Sigma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DMAIC is an investigation structure. It does not prove improvement simply because all five headings are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strong problem statement describes the gap without embedding a guessed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denominator is essential when periods have different numbers of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support thinking. None proves a cause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delivery and test validity together are about 76% of 93 baseline deviations. Categories describe problems, not proven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Fishbone is also called Ishikawa. Label branches as hypotheses and attach evidence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is a guide, not a quota. Each link requires evidence; avoid blame-oriented chains.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pilot should isolate changes where practical. Two simultaneous changes weaken causal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more than a chart. It defines who watches, when, and what happens when the trigger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differs from relative reduction. Analyst later calculates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rapid assembly of a reviewable evidence trail, not automatic root-cause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prompt · facts before hypotheses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3.2 integrates the DMAIC summary, a basic SPC/Cp-Cpk read-out, and a checked Word/PowerPoint report. Use the small DMAIC and SPC workbooks as two practice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eight points form the classroom baseline. T09, T10 and T12 fall below the LCL.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diagnosis. Check measurement validity and operating conditions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the simplest one-point rule. Additional run rules are appendix reference and require an agreed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 can be stable but incapable, or unstable while individual results still meet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 (USL−LSL)/(6σ). Cpk is the smaller distance from mean to either specification divided by 3σ. Keep this qualitative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chart left to right. Keep the baseline limits fixed when evaluating monitoring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may choose the wrong standard deviation or recompute rolling limits unless the prompt is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prompt · make the baseline explicit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3.3 from the supplied Lesson Plan. Use the document-automation prompts and synthetic CW-401 evidence; the trainer may demonstrate if tenant time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4.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reusable configuration, not an autonomous approving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task is one-off or poorly defined, start with Copilot Chat and a good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directly addresses LO4: one agent automates a multi-step engineering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request a whole workbook when one row is enough for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missing-Detection test is essential. A safe agent asks instead of 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Templates reduce formatting variation but can also carry stale requirements; verify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gate visible in the agent instructions and output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audit record captures enough context to reproduce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placement varies. Follow the Learner Guide click path and use the prepared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Write narrow agent instructions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sources constrain context but do not override explicit safety and evidence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adding unnecessary connectors during a one-day course. The learning outcome is the multi-step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missing-data test is as important as a successful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broaden access merely because an agent is technically shareable.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Module 4 paired build from the lesson plan. Keep it within the 75-minute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compare actual behaviour against these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agent invents Detection, refine the instruction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This is trainer-led unless time allows paired inspection. It demonstrates the same agent pattern with a different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Each handoff needs a source, owner and status. Do not let uncertainty disappear between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handoff contract prevents free-form text from silently becoming authoritative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produce drafts. Open citations and reproduce important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fictional TR-401 extract so the citation check is safe and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prompt · technical comparison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reuses the six-row DMAIC workbook; this is not an additional lab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prompt · compare baseline and pilot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and relative reduction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5: SharePoint supplies governed organisational knowledge to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5.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relevance and traceability. It does not prove the source is current or the interpretation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prepared private site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unrelated and duplicate files outside the selected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and metadata help people as well as Copilot. Do not rely on AI to infer revision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with an appropriate learner account. Never widen permissions merely to make a demo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prepared site may be inspected instead of recreated. Do not change membership during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are synthetic. Confirm exact filenames and remove ambiguous duplicates from the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built-in agent action available in the tenant. Interface labels may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 evidence first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citation points to a passage that directly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negative test. “I cannot find it” is the correct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agent to distinguish file purposes, not to claim the workbooks prove the same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accept a citation that merely points to a related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creates the LO6 end-to-end workflow while preserving the human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The knowledge agent and document agent have separate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Module 5 directly to the seven-step security framework in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6: decide whether an AI-assisted output may be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6.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apply every step to the Module 5 SharePoint-agent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actual classification policy. The classroom sources are synthetic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site URL, folder, source filenames and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can be embedded in grounded documents. The agent should not obey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calculation and the missing TR-401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“human reviewed” label is insufficient. Record who reviewed what and on which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organisational retention and privacy rules. Do not retain sensitive content longer than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improvise incident handling. Follow the organisation’s established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16:15–16:35. Require evidence in all seven rows, then use ten minutes for the personal toolkit.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based on the full evidence record, not on confidence in fluent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closing: consolidate one reusable workflow for work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final full-course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where their evidence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Productivity means useful, checked output per unit of effort, not simply faster text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Learners consolidate these assets during the final ten minutes of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two or three participants to share their next action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Thank you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Quick-reference library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rating questions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worked check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Pareto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Fishbone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5-Whys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Control-chart signal rules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Cp and Cpk formulas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RISE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E-MAP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Word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Excel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PowerPoint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FMEA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DMAIC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SPC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SharePoint agent test prompts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Seven-step security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7FA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2.xml"/><Relationship Id="rId3"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slideLayout" Target="../slideLayouts/slideLayout2.xml"/><Relationship Id="rId3"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engineering-copilot-cover.png">    </p:cNvPr>
          <p:cNvPicPr>
            <a:picLocks noChangeAspect="1"/>
          </p:cNvPicPr>
          <p:nvPr/>
        </p:nvPicPr>
        <p:blipFill>
          <a:blip r:embed="rId1"/>
          <a:stretch>
            <a:fillRect/>
          </a:stretch>
        </p:blipFill>
        <p:spPr>
          <a:xfrm>
            <a:off x="5074920" y="0"/>
            <a:ext cx="7114032" cy="6858000"/>
          </a:xfrm>
          <a:prstGeom prst="rect">
            <a:avLst/>
          </a:prstGeom>
        </p:spPr>
      </p:pic>
      <p:sp>
        <p:nvSpPr>
          <p:cNvPr id="3" name="Shape 0"/>
          <p:cNvSpPr/>
          <p:nvPr/>
        </p:nvSpPr>
        <p:spPr>
          <a:xfrm>
            <a:off x="0" y="0"/>
            <a:ext cx="5669280" cy="6858000"/>
          </a:xfrm>
          <a:prstGeom prst="rect">
            <a:avLst/>
          </a:prstGeom>
          <a:solidFill>
            <a:srgbClr val="102B3E"/>
          </a:solidFill>
          <a:ln w="12700">
            <a:solidFill>
              <a:srgbClr val="102B3E"/>
            </a:solidFill>
            <a:prstDash val="solid"/>
          </a:ln>
        </p:spPr>
      </p:sp>
      <p:sp>
        <p:nvSpPr>
          <p:cNvPr id="4" name="Text 1"/>
          <p:cNvSpPr txBox="1"/>
          <p:nvPr/>
        </p:nvSpPr>
        <p:spPr>
          <a:xfrm>
            <a:off x="658368" y="502920"/>
            <a:ext cx="640080" cy="274320"/>
          </a:xfrm>
          <a:prstGeom prst="rect">
            <a:avLst/>
          </a:prstGeom>
          <a:noFill/>
          <a:ln/>
        </p:spPr>
        <p:txBody>
          <a:bodyPr wrap="square" lIns="0" tIns="0" rIns="0" bIns="0" rtlCol="0" anchor="ctr">
            <a:normAutofit/>
          </a:bodyPr>
          <a:lstStyle/>
          <a:p>
            <a:pPr algn="l" indent="0" marL="0">
              <a:buNone/>
            </a:pPr>
            <a:r>
              <a:rPr lang="en-US" sz="1800" b="1" dirty="0">
                <a:solidFill>
                  <a:srgbClr val="17A9B8"/>
                </a:solidFill>
                <a:latin typeface="Aptos" pitchFamily="34" charset="0"/>
                <a:ea typeface="Aptos" pitchFamily="34" charset="-122"/>
                <a:cs typeface="Aptos" pitchFamily="34" charset="-120"/>
              </a:rPr>
              <a:t>IES</a:t>
            </a:r>
            <a:endParaRPr lang="en-US" sz="1800" dirty="0"/>
          </a:p>
        </p:txBody>
      </p:sp>
      <p:sp>
        <p:nvSpPr>
          <p:cNvPr id="5" name="Text 2"/>
          <p:cNvSpPr txBox="1"/>
          <p:nvPr/>
        </p:nvSpPr>
        <p:spPr>
          <a:xfrm>
            <a:off x="658368" y="1600200"/>
            <a:ext cx="4389120" cy="960120"/>
          </a:xfrm>
          <a:prstGeom prst="rect">
            <a:avLst/>
          </a:prstGeom>
          <a:noFill/>
          <a:ln/>
        </p:spPr>
        <p:txBody>
          <a:bodyPr wrap="square" lIns="0" tIns="0" rIns="0" bIns="0" rtlCol="0" anchor="ctr">
            <a:normAutofit/>
          </a:bodyPr>
          <a:lstStyle/>
          <a:p>
            <a:pPr algn="l" indent="0" marL="0">
              <a:buNone/>
            </a:pPr>
            <a:r>
              <a:rPr lang="en-US" sz="3800" b="1" dirty="0">
                <a:solidFill>
                  <a:srgbClr val="FFFFFF"/>
                </a:solidFill>
                <a:latin typeface="Aptos" pitchFamily="34" charset="0"/>
                <a:ea typeface="Aptos" pitchFamily="34" charset="-122"/>
                <a:cs typeface="Aptos" pitchFamily="34" charset="-120"/>
              </a:rPr>
              <a:t>GenAI for Engineers</a:t>
            </a:r>
            <a:endParaRPr lang="en-US" sz="3800" dirty="0"/>
          </a:p>
        </p:txBody>
      </p:sp>
      <p:sp>
        <p:nvSpPr>
          <p:cNvPr id="6" name="Text 3"/>
          <p:cNvSpPr txBox="1"/>
          <p:nvPr/>
        </p:nvSpPr>
        <p:spPr>
          <a:xfrm>
            <a:off x="658368" y="2761488"/>
            <a:ext cx="4297680" cy="914400"/>
          </a:xfrm>
          <a:prstGeom prst="rect">
            <a:avLst/>
          </a:prstGeom>
          <a:noFill/>
          <a:ln/>
        </p:spPr>
        <p:txBody>
          <a:bodyPr wrap="square" lIns="0" tIns="0" rIns="0" bIns="0" rtlCol="0" anchor="t">
            <a:normAutofit/>
          </a:bodyPr>
          <a:lstStyle/>
          <a:p>
            <a:pPr algn="l" indent="0" marL="0">
              <a:buNone/>
            </a:pPr>
            <a:r>
              <a:rPr lang="en-US" sz="1900" dirty="0">
                <a:solidFill>
                  <a:srgbClr val="FFFFFF"/>
                </a:solidFill>
                <a:latin typeface="Aptos" pitchFamily="34" charset="0"/>
                <a:ea typeface="Aptos" pitchFamily="34" charset="-122"/>
                <a:cs typeface="Aptos" pitchFamily="34" charset="-120"/>
              </a:rPr>
              <a:t>Boosting productivity and engineering data analysis with Microsoft 365 Copilot</a:t>
            </a:r>
            <a:endParaRPr lang="en-US" sz="1900" dirty="0"/>
          </a:p>
        </p:txBody>
      </p:sp>
      <p:sp>
        <p:nvSpPr>
          <p:cNvPr id="7" name="Shape 4"/>
          <p:cNvSpPr/>
          <p:nvPr/>
        </p:nvSpPr>
        <p:spPr>
          <a:xfrm>
            <a:off x="713232" y="4169664"/>
            <a:ext cx="256032" cy="256032"/>
          </a:xfrm>
          <a:prstGeom prst="ellipse">
            <a:avLst/>
          </a:prstGeom>
          <a:solidFill>
            <a:srgbClr val="17A9B8"/>
          </a:solidFill>
          <a:ln w="12700">
            <a:solidFill>
              <a:srgbClr val="17A9B8"/>
            </a:solidFill>
            <a:prstDash val="solid"/>
          </a:ln>
        </p:spPr>
      </p:sp>
      <p:sp>
        <p:nvSpPr>
          <p:cNvPr id="8" name="Text 5"/>
          <p:cNvSpPr txBox="1"/>
          <p:nvPr/>
        </p:nvSpPr>
        <p:spPr>
          <a:xfrm>
            <a:off x="713232" y="4169664"/>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9" name="Text 6"/>
          <p:cNvSpPr txBox="1"/>
          <p:nvPr/>
        </p:nvSpPr>
        <p:spPr>
          <a:xfrm>
            <a:off x="1115568" y="4096512"/>
            <a:ext cx="3977640" cy="36576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Provider  ·  IES</a:t>
            </a:r>
            <a:endParaRPr lang="en-US" sz="1400" dirty="0"/>
          </a:p>
        </p:txBody>
      </p:sp>
      <p:sp>
        <p:nvSpPr>
          <p:cNvPr id="10" name="Shape 7"/>
          <p:cNvSpPr/>
          <p:nvPr/>
        </p:nvSpPr>
        <p:spPr>
          <a:xfrm>
            <a:off x="713232" y="4745736"/>
            <a:ext cx="256032" cy="256032"/>
          </a:xfrm>
          <a:prstGeom prst="ellipse">
            <a:avLst/>
          </a:prstGeom>
          <a:solidFill>
            <a:srgbClr val="17A9B8"/>
          </a:solidFill>
          <a:ln w="12700">
            <a:solidFill>
              <a:srgbClr val="17A9B8"/>
            </a:solidFill>
            <a:prstDash val="solid"/>
          </a:ln>
        </p:spPr>
      </p:sp>
      <p:sp>
        <p:nvSpPr>
          <p:cNvPr id="11" name="Text 8"/>
          <p:cNvSpPr txBox="1"/>
          <p:nvPr/>
        </p:nvSpPr>
        <p:spPr>
          <a:xfrm>
            <a:off x="713232" y="4745736"/>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2" name="Text 9"/>
          <p:cNvSpPr txBox="1"/>
          <p:nvPr/>
        </p:nvSpPr>
        <p:spPr>
          <a:xfrm>
            <a:off x="1115568" y="4672584"/>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Course  ·  One day · 09:00–17:00</a:t>
            </a:r>
            <a:endParaRPr lang="en-US" sz="1400" dirty="0"/>
          </a:p>
        </p:txBody>
      </p:sp>
      <p:sp>
        <p:nvSpPr>
          <p:cNvPr id="13" name="Shape 10"/>
          <p:cNvSpPr/>
          <p:nvPr/>
        </p:nvSpPr>
        <p:spPr>
          <a:xfrm>
            <a:off x="713232" y="5321808"/>
            <a:ext cx="256032" cy="256032"/>
          </a:xfrm>
          <a:prstGeom prst="ellipse">
            <a:avLst/>
          </a:prstGeom>
          <a:solidFill>
            <a:srgbClr val="17A9B8"/>
          </a:solidFill>
          <a:ln w="12700">
            <a:solidFill>
              <a:srgbClr val="17A9B8"/>
            </a:solidFill>
            <a:prstDash val="solid"/>
          </a:ln>
        </p:spPr>
      </p:sp>
      <p:sp>
        <p:nvSpPr>
          <p:cNvPr id="14" name="Text 11"/>
          <p:cNvSpPr txBox="1"/>
          <p:nvPr/>
        </p:nvSpPr>
        <p:spPr>
          <a:xfrm>
            <a:off x="713232" y="5321808"/>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15" name="Text 12"/>
          <p:cNvSpPr txBox="1"/>
          <p:nvPr/>
        </p:nvSpPr>
        <p:spPr>
          <a:xfrm>
            <a:off x="1115568" y="5248656"/>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Approach  ·  Understand → prompt → produce → verify</a:t>
            </a:r>
            <a:endParaRPr lang="en-US" sz="14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LO1–LO4</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Methods, documents, prompts and agents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Understand FMEA, Six Sigma DMAIC and SPC before applying them.</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Automate engineering documents with Microsoft 365 Copilot.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R.I.S.E. and E-MAP with iterative prompting.</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and deploy a multi-step Copilot Agent.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LO5–LO7</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Reasoning agents, SharePoint grounding and secure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9" name="Shape 7"/>
          <p:cNvSpPr/>
          <p:nvPr/>
        </p:nvSpPr>
        <p:spPr>
          <a:xfrm>
            <a:off x="1371600" y="1938528"/>
            <a:ext cx="10058400" cy="1328928"/>
          </a:xfrm>
          <a:prstGeom prst="roundRect">
            <a:avLst>
              <a:gd name="adj" fmla="val 5505"/>
            </a:avLst>
          </a:prstGeom>
          <a:solidFill>
            <a:srgbClr val="FFFFFF"/>
          </a:solidFill>
          <a:ln w="12700">
            <a:solidFill>
              <a:srgbClr val="C8D9DC"/>
            </a:solidFill>
            <a:prstDash val="solid"/>
          </a:ln>
        </p:spPr>
      </p:sp>
      <p:sp>
        <p:nvSpPr>
          <p:cNvPr id="10" name="Text 8"/>
          <p:cNvSpPr txBox="1"/>
          <p:nvPr/>
        </p:nvSpPr>
        <p:spPr>
          <a:xfrm>
            <a:off x="1627632" y="20482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11" name="Text 9"/>
          <p:cNvSpPr txBox="1"/>
          <p:nvPr/>
        </p:nvSpPr>
        <p:spPr>
          <a:xfrm>
            <a:off x="3246120" y="20482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for research and data analysis.</a:t>
            </a:r>
            <a:endParaRPr lang="en-US" sz="1600" dirty="0"/>
          </a:p>
        </p:txBody>
      </p:sp>
      <p:sp>
        <p:nvSpPr>
          <p:cNvPr id="12" name="Shape 10"/>
          <p:cNvSpPr/>
          <p:nvPr/>
        </p:nvSpPr>
        <p:spPr>
          <a:xfrm>
            <a:off x="640080" y="345948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4594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14" name="Shape 12"/>
          <p:cNvSpPr/>
          <p:nvPr/>
        </p:nvSpPr>
        <p:spPr>
          <a:xfrm>
            <a:off x="1371600" y="3386328"/>
            <a:ext cx="10058400" cy="1328928"/>
          </a:xfrm>
          <a:prstGeom prst="roundRect">
            <a:avLst>
              <a:gd name="adj" fmla="val 5505"/>
            </a:avLst>
          </a:prstGeom>
          <a:solidFill>
            <a:srgbClr val="FFFFFF"/>
          </a:solidFill>
          <a:ln w="12700">
            <a:solidFill>
              <a:srgbClr val="C8D9DC"/>
            </a:solidFill>
            <a:prstDash val="solid"/>
          </a:ln>
        </p:spPr>
      </p:sp>
      <p:sp>
        <p:nvSpPr>
          <p:cNvPr id="15" name="Text 13"/>
          <p:cNvSpPr txBox="1"/>
          <p:nvPr/>
        </p:nvSpPr>
        <p:spPr>
          <a:xfrm>
            <a:off x="1627632" y="34960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16" name="Text 14"/>
          <p:cNvSpPr txBox="1"/>
          <p:nvPr/>
        </p:nvSpPr>
        <p:spPr>
          <a:xfrm>
            <a:off x="3246120" y="34960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Integrate SharePoint as a cited engineering knowledge base.</a:t>
            </a:r>
            <a:endParaRPr lang="en-US" sz="1600" dirty="0"/>
          </a:p>
        </p:txBody>
      </p:sp>
      <p:sp>
        <p:nvSpPr>
          <p:cNvPr id="17" name="Shape 15"/>
          <p:cNvSpPr/>
          <p:nvPr/>
        </p:nvSpPr>
        <p:spPr>
          <a:xfrm>
            <a:off x="640080" y="49072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9072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19" name="Shape 17"/>
          <p:cNvSpPr/>
          <p:nvPr/>
        </p:nvSpPr>
        <p:spPr>
          <a:xfrm>
            <a:off x="1371600" y="4834128"/>
            <a:ext cx="10058400" cy="1328928"/>
          </a:xfrm>
          <a:prstGeom prst="roundRect">
            <a:avLst>
              <a:gd name="adj" fmla="val 5505"/>
            </a:avLst>
          </a:prstGeom>
          <a:solidFill>
            <a:srgbClr val="FFFFFF"/>
          </a:solidFill>
          <a:ln w="12700">
            <a:solidFill>
              <a:srgbClr val="C8D9DC"/>
            </a:solidFill>
            <a:prstDash val="solid"/>
          </a:ln>
        </p:spPr>
      </p:sp>
      <p:sp>
        <p:nvSpPr>
          <p:cNvPr id="20" name="Text 18"/>
          <p:cNvSpPr txBox="1"/>
          <p:nvPr/>
        </p:nvSpPr>
        <p:spPr>
          <a:xfrm>
            <a:off x="1627632" y="49438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21" name="Text 19"/>
          <p:cNvSpPr txBox="1"/>
          <p:nvPr/>
        </p:nvSpPr>
        <p:spPr>
          <a:xfrm>
            <a:off x="3246120" y="49438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the complete 7-Step AI Security Framework.</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Today’s route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modules follow the supplied lesson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852678"/>
          </a:xfrm>
          <a:prstGeom prst="roundRect">
            <a:avLst>
              <a:gd name="adj" fmla="val 8579"/>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09:00</a:t>
            </a:r>
            <a:endParaRPr lang="en-US" sz="1600" dirty="0"/>
          </a:p>
        </p:txBody>
      </p:sp>
      <p:sp>
        <p:nvSpPr>
          <p:cNvPr id="11" name="Text 9"/>
          <p:cNvSpPr txBox="1"/>
          <p:nvPr/>
        </p:nvSpPr>
        <p:spPr>
          <a:xfrm>
            <a:off x="78638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M1 · Copilot ecosystem</a:t>
            </a:r>
            <a:endParaRPr lang="en-US" sz="1400" dirty="0"/>
          </a:p>
        </p:txBody>
      </p:sp>
      <p:sp>
        <p:nvSpPr>
          <p:cNvPr id="12" name="Shape 10"/>
          <p:cNvSpPr/>
          <p:nvPr/>
        </p:nvSpPr>
        <p:spPr>
          <a:xfrm>
            <a:off x="4315968" y="2029968"/>
            <a:ext cx="3493008" cy="852678"/>
          </a:xfrm>
          <a:prstGeom prst="roundRect">
            <a:avLst>
              <a:gd name="adj" fmla="val 8579"/>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10:00</a:t>
            </a:r>
            <a:endParaRPr lang="en-US" sz="1600" dirty="0"/>
          </a:p>
        </p:txBody>
      </p:sp>
      <p:sp>
        <p:nvSpPr>
          <p:cNvPr id="16" name="Text 14"/>
          <p:cNvSpPr txBox="1"/>
          <p:nvPr/>
        </p:nvSpPr>
        <p:spPr>
          <a:xfrm>
            <a:off x="453542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M2 · Prompting</a:t>
            </a:r>
            <a:endParaRPr lang="en-US" sz="1400" dirty="0"/>
          </a:p>
        </p:txBody>
      </p:sp>
      <p:sp>
        <p:nvSpPr>
          <p:cNvPr id="17" name="Shape 15"/>
          <p:cNvSpPr/>
          <p:nvPr/>
        </p:nvSpPr>
        <p:spPr>
          <a:xfrm>
            <a:off x="8065008" y="2029968"/>
            <a:ext cx="3493008" cy="852678"/>
          </a:xfrm>
          <a:prstGeom prst="roundRect">
            <a:avLst>
              <a:gd name="adj" fmla="val 8579"/>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11:15</a:t>
            </a:r>
            <a:endParaRPr lang="en-US" sz="1600" dirty="0"/>
          </a:p>
        </p:txBody>
      </p:sp>
      <p:sp>
        <p:nvSpPr>
          <p:cNvPr id="21" name="Text 19"/>
          <p:cNvSpPr txBox="1"/>
          <p:nvPr/>
        </p:nvSpPr>
        <p:spPr>
          <a:xfrm>
            <a:off x="828446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22" name="Shape 20"/>
          <p:cNvSpPr/>
          <p:nvPr/>
        </p:nvSpPr>
        <p:spPr>
          <a:xfrm>
            <a:off x="566928" y="3102102"/>
            <a:ext cx="3493008" cy="852678"/>
          </a:xfrm>
          <a:prstGeom prst="roundRect">
            <a:avLst>
              <a:gd name="adj" fmla="val 8579"/>
            </a:avLst>
          </a:prstGeom>
          <a:solidFill>
            <a:srgbClr val="FFFFFF"/>
          </a:solidFill>
          <a:ln w="12700">
            <a:solidFill>
              <a:srgbClr val="C8D9DC"/>
            </a:solidFill>
            <a:prstDash val="solid"/>
          </a:ln>
        </p:spPr>
      </p:sp>
      <p:sp>
        <p:nvSpPr>
          <p:cNvPr id="23" name="Shape 21"/>
          <p:cNvSpPr/>
          <p:nvPr/>
        </p:nvSpPr>
        <p:spPr>
          <a:xfrm>
            <a:off x="749808" y="3275838"/>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11:30</a:t>
            </a:r>
            <a:endParaRPr lang="en-US" sz="1600" dirty="0"/>
          </a:p>
        </p:txBody>
      </p:sp>
      <p:sp>
        <p:nvSpPr>
          <p:cNvPr id="26" name="Text 24"/>
          <p:cNvSpPr txBox="1"/>
          <p:nvPr/>
        </p:nvSpPr>
        <p:spPr>
          <a:xfrm>
            <a:off x="78638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M3 · FMEA → DMAIC → SPC</a:t>
            </a:r>
            <a:endParaRPr lang="en-US" sz="1400" dirty="0"/>
          </a:p>
        </p:txBody>
      </p:sp>
      <p:sp>
        <p:nvSpPr>
          <p:cNvPr id="27" name="Shape 25"/>
          <p:cNvSpPr/>
          <p:nvPr/>
        </p:nvSpPr>
        <p:spPr>
          <a:xfrm>
            <a:off x="4315968" y="3102102"/>
            <a:ext cx="3493008" cy="852678"/>
          </a:xfrm>
          <a:prstGeom prst="roundRect">
            <a:avLst>
              <a:gd name="adj" fmla="val 8579"/>
            </a:avLst>
          </a:prstGeom>
          <a:solidFill>
            <a:srgbClr val="FFFFFF"/>
          </a:solidFill>
          <a:ln w="12700">
            <a:solidFill>
              <a:srgbClr val="C8D9DC"/>
            </a:solidFill>
            <a:prstDash val="solid"/>
          </a:ln>
        </p:spPr>
      </p:sp>
      <p:sp>
        <p:nvSpPr>
          <p:cNvPr id="28" name="Shape 26"/>
          <p:cNvSpPr/>
          <p:nvPr/>
        </p:nvSpPr>
        <p:spPr>
          <a:xfrm>
            <a:off x="4498848" y="3275838"/>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13:00</a:t>
            </a:r>
            <a:endParaRPr lang="en-US" sz="1600" dirty="0"/>
          </a:p>
        </p:txBody>
      </p:sp>
      <p:sp>
        <p:nvSpPr>
          <p:cNvPr id="31" name="Text 29"/>
          <p:cNvSpPr txBox="1"/>
          <p:nvPr/>
        </p:nvSpPr>
        <p:spPr>
          <a:xfrm>
            <a:off x="453542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Lunch</a:t>
            </a:r>
            <a:endParaRPr lang="en-US" sz="1400" dirty="0"/>
          </a:p>
        </p:txBody>
      </p:sp>
      <p:sp>
        <p:nvSpPr>
          <p:cNvPr id="32" name="Shape 30"/>
          <p:cNvSpPr/>
          <p:nvPr/>
        </p:nvSpPr>
        <p:spPr>
          <a:xfrm>
            <a:off x="8065008" y="3102102"/>
            <a:ext cx="3493008" cy="852678"/>
          </a:xfrm>
          <a:prstGeom prst="roundRect">
            <a:avLst>
              <a:gd name="adj" fmla="val 8579"/>
            </a:avLst>
          </a:prstGeom>
          <a:solidFill>
            <a:srgbClr val="FFFFFF"/>
          </a:solidFill>
          <a:ln w="12700">
            <a:solidFill>
              <a:srgbClr val="C8D9DC"/>
            </a:solidFill>
            <a:prstDash val="solid"/>
          </a:ln>
        </p:spPr>
      </p:sp>
      <p:sp>
        <p:nvSpPr>
          <p:cNvPr id="33" name="Shape 31"/>
          <p:cNvSpPr/>
          <p:nvPr/>
        </p:nvSpPr>
        <p:spPr>
          <a:xfrm>
            <a:off x="8247888" y="3275838"/>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14:00</a:t>
            </a:r>
            <a:endParaRPr lang="en-US" sz="1600" dirty="0"/>
          </a:p>
        </p:txBody>
      </p:sp>
      <p:sp>
        <p:nvSpPr>
          <p:cNvPr id="36" name="Text 34"/>
          <p:cNvSpPr txBox="1"/>
          <p:nvPr/>
        </p:nvSpPr>
        <p:spPr>
          <a:xfrm>
            <a:off x="828446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M4 · Agents</a:t>
            </a:r>
            <a:endParaRPr lang="en-US" sz="1400" dirty="0"/>
          </a:p>
        </p:txBody>
      </p:sp>
      <p:sp>
        <p:nvSpPr>
          <p:cNvPr id="37" name="Shape 35"/>
          <p:cNvSpPr/>
          <p:nvPr/>
        </p:nvSpPr>
        <p:spPr>
          <a:xfrm>
            <a:off x="566928" y="4174236"/>
            <a:ext cx="3493008" cy="852678"/>
          </a:xfrm>
          <a:prstGeom prst="roundRect">
            <a:avLst>
              <a:gd name="adj" fmla="val 8579"/>
            </a:avLst>
          </a:prstGeom>
          <a:solidFill>
            <a:srgbClr val="FFFFFF"/>
          </a:solidFill>
          <a:ln w="12700">
            <a:solidFill>
              <a:srgbClr val="C8D9DC"/>
            </a:solidFill>
            <a:prstDash val="solid"/>
          </a:ln>
        </p:spPr>
      </p:sp>
      <p:sp>
        <p:nvSpPr>
          <p:cNvPr id="38" name="Shape 36"/>
          <p:cNvSpPr/>
          <p:nvPr/>
        </p:nvSpPr>
        <p:spPr>
          <a:xfrm>
            <a:off x="749808" y="4347972"/>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15:15</a:t>
            </a:r>
            <a:endParaRPr lang="en-US" sz="1600" dirty="0"/>
          </a:p>
        </p:txBody>
      </p:sp>
      <p:sp>
        <p:nvSpPr>
          <p:cNvPr id="41" name="Text 39"/>
          <p:cNvSpPr txBox="1"/>
          <p:nvPr/>
        </p:nvSpPr>
        <p:spPr>
          <a:xfrm>
            <a:off x="78638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42" name="Shape 40"/>
          <p:cNvSpPr/>
          <p:nvPr/>
        </p:nvSpPr>
        <p:spPr>
          <a:xfrm>
            <a:off x="4315968" y="4174236"/>
            <a:ext cx="3493008" cy="852678"/>
          </a:xfrm>
          <a:prstGeom prst="roundRect">
            <a:avLst>
              <a:gd name="adj" fmla="val 8579"/>
            </a:avLst>
          </a:prstGeom>
          <a:solidFill>
            <a:srgbClr val="FFFFFF"/>
          </a:solidFill>
          <a:ln w="12700">
            <a:solidFill>
              <a:srgbClr val="C8D9DC"/>
            </a:solidFill>
            <a:prstDash val="solid"/>
          </a:ln>
        </p:spPr>
      </p:sp>
      <p:sp>
        <p:nvSpPr>
          <p:cNvPr id="43" name="Shape 41"/>
          <p:cNvSpPr/>
          <p:nvPr/>
        </p:nvSpPr>
        <p:spPr>
          <a:xfrm>
            <a:off x="4498848" y="4347972"/>
            <a:ext cx="411480" cy="411480"/>
          </a:xfrm>
          <a:prstGeom prst="ellipse">
            <a:avLst/>
          </a:prstGeom>
          <a:solidFill>
            <a:srgbClr val="2477B3"/>
          </a:solidFill>
          <a:ln w="12700">
            <a:solidFill>
              <a:srgbClr val="2477B3"/>
            </a:solidFill>
            <a:prstDash val="solid"/>
          </a:ln>
        </p:spPr>
      </p:sp>
      <p:sp>
        <p:nvSpPr>
          <p:cNvPr id="44" name="Text 42"/>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8</a:t>
            </a:r>
            <a:endParaRPr lang="en-US" sz="1500" dirty="0"/>
          </a:p>
        </p:txBody>
      </p:sp>
      <p:sp>
        <p:nvSpPr>
          <p:cNvPr id="45" name="Text 43"/>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15:30</a:t>
            </a:r>
            <a:endParaRPr lang="en-US" sz="1600" dirty="0"/>
          </a:p>
        </p:txBody>
      </p:sp>
      <p:sp>
        <p:nvSpPr>
          <p:cNvPr id="46" name="Text 44"/>
          <p:cNvSpPr txBox="1"/>
          <p:nvPr/>
        </p:nvSpPr>
        <p:spPr>
          <a:xfrm>
            <a:off x="453542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M5 · SharePoint</a:t>
            </a:r>
            <a:endParaRPr lang="en-US" sz="1400" dirty="0"/>
          </a:p>
        </p:txBody>
      </p:sp>
      <p:sp>
        <p:nvSpPr>
          <p:cNvPr id="47" name="Shape 45"/>
          <p:cNvSpPr/>
          <p:nvPr/>
        </p:nvSpPr>
        <p:spPr>
          <a:xfrm>
            <a:off x="8065008" y="4174236"/>
            <a:ext cx="3493008" cy="852678"/>
          </a:xfrm>
          <a:prstGeom prst="roundRect">
            <a:avLst>
              <a:gd name="adj" fmla="val 8579"/>
            </a:avLst>
          </a:prstGeom>
          <a:solidFill>
            <a:srgbClr val="FFFFFF"/>
          </a:solidFill>
          <a:ln w="12700">
            <a:solidFill>
              <a:srgbClr val="C8D9DC"/>
            </a:solidFill>
            <a:prstDash val="solid"/>
          </a:ln>
        </p:spPr>
      </p:sp>
      <p:sp>
        <p:nvSpPr>
          <p:cNvPr id="48" name="Shape 46"/>
          <p:cNvSpPr/>
          <p:nvPr/>
        </p:nvSpPr>
        <p:spPr>
          <a:xfrm>
            <a:off x="8247888" y="4347972"/>
            <a:ext cx="411480" cy="411480"/>
          </a:xfrm>
          <a:prstGeom prst="ellipse">
            <a:avLst/>
          </a:prstGeom>
          <a:solidFill>
            <a:srgbClr val="2E8B72"/>
          </a:solidFill>
          <a:ln w="12700">
            <a:solidFill>
              <a:srgbClr val="2E8B72"/>
            </a:solidFill>
            <a:prstDash val="solid"/>
          </a:ln>
        </p:spPr>
      </p:sp>
      <p:sp>
        <p:nvSpPr>
          <p:cNvPr id="49" name="Text 47"/>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9</a:t>
            </a:r>
            <a:endParaRPr lang="en-US" sz="1500" dirty="0"/>
          </a:p>
        </p:txBody>
      </p:sp>
      <p:sp>
        <p:nvSpPr>
          <p:cNvPr id="50" name="Text 48"/>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16:15</a:t>
            </a:r>
            <a:endParaRPr lang="en-US" sz="1600" dirty="0"/>
          </a:p>
        </p:txBody>
      </p:sp>
      <p:sp>
        <p:nvSpPr>
          <p:cNvPr id="51" name="Text 49"/>
          <p:cNvSpPr txBox="1"/>
          <p:nvPr/>
        </p:nvSpPr>
        <p:spPr>
          <a:xfrm>
            <a:off x="828446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M6 · Security</a:t>
            </a:r>
            <a:endParaRPr lang="en-US" sz="1400" dirty="0"/>
          </a:p>
        </p:txBody>
      </p:sp>
      <p:sp>
        <p:nvSpPr>
          <p:cNvPr id="52" name="Shape 50"/>
          <p:cNvSpPr/>
          <p:nvPr/>
        </p:nvSpPr>
        <p:spPr>
          <a:xfrm>
            <a:off x="566928" y="5246370"/>
            <a:ext cx="3493008" cy="852678"/>
          </a:xfrm>
          <a:prstGeom prst="roundRect">
            <a:avLst>
              <a:gd name="adj" fmla="val 8579"/>
            </a:avLst>
          </a:prstGeom>
          <a:solidFill>
            <a:srgbClr val="FFFFFF"/>
          </a:solidFill>
          <a:ln w="12700">
            <a:solidFill>
              <a:srgbClr val="C8D9DC"/>
            </a:solidFill>
            <a:prstDash val="solid"/>
          </a:ln>
        </p:spPr>
      </p:sp>
      <p:sp>
        <p:nvSpPr>
          <p:cNvPr id="53" name="Shape 51"/>
          <p:cNvSpPr/>
          <p:nvPr/>
        </p:nvSpPr>
        <p:spPr>
          <a:xfrm>
            <a:off x="749808" y="5420106"/>
            <a:ext cx="411480" cy="411480"/>
          </a:xfrm>
          <a:prstGeom prst="ellipse">
            <a:avLst/>
          </a:prstGeom>
          <a:solidFill>
            <a:srgbClr val="F4A62A"/>
          </a:solidFill>
          <a:ln w="12700">
            <a:solidFill>
              <a:srgbClr val="F4A62A"/>
            </a:solidFill>
            <a:prstDash val="solid"/>
          </a:ln>
        </p:spPr>
      </p:sp>
      <p:sp>
        <p:nvSpPr>
          <p:cNvPr id="54" name="Text 52"/>
          <p:cNvSpPr txBox="1"/>
          <p:nvPr/>
        </p:nvSpPr>
        <p:spPr>
          <a:xfrm>
            <a:off x="749808" y="542010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10</a:t>
            </a:r>
            <a:endParaRPr lang="en-US" sz="1500" dirty="0"/>
          </a:p>
        </p:txBody>
      </p:sp>
      <p:sp>
        <p:nvSpPr>
          <p:cNvPr id="55" name="Text 53"/>
          <p:cNvSpPr txBox="1"/>
          <p:nvPr/>
        </p:nvSpPr>
        <p:spPr>
          <a:xfrm>
            <a:off x="1280160" y="541096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16:45</a:t>
            </a:r>
            <a:endParaRPr lang="en-US" sz="1600" dirty="0"/>
          </a:p>
        </p:txBody>
      </p:sp>
      <p:sp>
        <p:nvSpPr>
          <p:cNvPr id="56" name="Text 54"/>
          <p:cNvSpPr txBox="1"/>
          <p:nvPr/>
        </p:nvSpPr>
        <p:spPr>
          <a:xfrm>
            <a:off x="786384" y="5959602"/>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Summary and close</a:t>
            </a:r>
            <a:endParaRPr lang="en-US" sz="1400" dirty="0"/>
          </a:p>
        </p:txBody>
      </p:sp>
      <p:sp>
        <p:nvSpPr>
          <p:cNvPr id="57" name="Text 5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1</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The Copilot Ecosystem for Engineers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Choose the right Copilot surface for the engineering job</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Distinguish GenAI, Copilot and an agent.</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Choose</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Choose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Chat, Word, Excel, PowerPoint and SharePoint to a task.</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Turn a messy pump problem into a clear brief.</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Verify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Verify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Keep evidence and engineering decisions visible.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AI, GenAI and Copilot are related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three simple definitions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AI</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Software performs tasks that usually need human judgement.</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Generative AI</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Creates a new draft from instructions and context.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Microsoft 365 Copilot</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Brings GenAI into work apps and organisational data.</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shortens repetitive preparation and first-draft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Locate relevant content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Turn notes into fields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Suggest formulas and summaries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Create a report or slide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evidence and approve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Microsoft 365 Copilot ecosystem</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Different surfaces support different engineering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Copilot Chat</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Questions and briefs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Word</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Specifications and reports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Excel</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Tables, formulas and charts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PowerPoint</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Management summaries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Repeatable workflows</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SharePoint</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Grounded knowledge</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Chat · shape the question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Chat when the output is an explanation, brief or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Chat when the output is an explanation, brief or plan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Messy fault notes and known facts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helps</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Organise facts, assumptions and open questions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Engineer checks</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invented values or conclusions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Word · draft structured documents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Move from source notes to an editable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Requirements or inspection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Sections, tone, limits and evidence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Spec, report, SOP or method statement</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Clauses, numbers and approvals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Excel · analyse structured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named tables, explicit formulas and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Prepare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Headers, units and table name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Calculation and chart instructions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Formulas, ranges and missing values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result independently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PowerPoint · communicate decisions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checked findings into a short audience-specific story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Message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decision or question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Two or three supporting facts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Chart, process or comparison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remains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Teams · turn discussion into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Convert meeting content into follow-up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Meeting</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Transcript or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Decisions and actions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wording with participants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 supply governed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knowledge base helps Copilot answer from controlled sources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Documents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Standards, manuals, reports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Permissions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may see each source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Searches the selected scope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Answer</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Returns citations to open and check</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Agents · reuse a multi-step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An agent combines instructions, knowledge and a repeatable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Collect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Required fields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Validate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Missing information</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Calculate or draft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Deliver</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Reusable output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Choose the surface from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what the engineer needs to produce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615440" cy="3959352"/>
          </a:xfrm>
          <a:prstGeom prst="roundRect">
            <a:avLst>
              <a:gd name="adj" fmla="val 4528"/>
            </a:avLst>
          </a:prstGeom>
          <a:solidFill>
            <a:srgbClr val="FFFFFF"/>
          </a:solidFill>
          <a:ln w="12700">
            <a:solidFill>
              <a:srgbClr val="C8D9DC"/>
            </a:solidFill>
            <a:prstDash val="solid"/>
          </a:ln>
        </p:spPr>
      </p:sp>
      <p:sp>
        <p:nvSpPr>
          <p:cNvPr id="8" name="Shape 6"/>
          <p:cNvSpPr/>
          <p:nvPr/>
        </p:nvSpPr>
        <p:spPr>
          <a:xfrm>
            <a:off x="566928" y="2057400"/>
            <a:ext cx="1615440"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 or brief</a:t>
            </a:r>
            <a:endParaRPr lang="en-US" sz="1700" dirty="0"/>
          </a:p>
        </p:txBody>
      </p:sp>
      <p:sp>
        <p:nvSpPr>
          <p:cNvPr id="10" name="Text 8"/>
          <p:cNvSpPr txBox="1"/>
          <p:nvPr/>
        </p:nvSpPr>
        <p:spPr>
          <a:xfrm>
            <a:off x="85953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Copilot Chat</a:t>
            </a:r>
            <a:endParaRPr lang="en-US" sz="1400" dirty="0"/>
          </a:p>
        </p:txBody>
      </p:sp>
      <p:sp>
        <p:nvSpPr>
          <p:cNvPr id="11" name="Shape 9"/>
          <p:cNvSpPr/>
          <p:nvPr/>
        </p:nvSpPr>
        <p:spPr>
          <a:xfrm>
            <a:off x="2438400" y="2057400"/>
            <a:ext cx="1615440" cy="3959352"/>
          </a:xfrm>
          <a:prstGeom prst="roundRect">
            <a:avLst>
              <a:gd name="adj" fmla="val 4528"/>
            </a:avLst>
          </a:prstGeom>
          <a:solidFill>
            <a:srgbClr val="FFFFFF"/>
          </a:solidFill>
          <a:ln w="12700">
            <a:solidFill>
              <a:srgbClr val="C8D9DC"/>
            </a:solidFill>
            <a:prstDash val="solid"/>
          </a:ln>
        </p:spPr>
      </p:sp>
      <p:sp>
        <p:nvSpPr>
          <p:cNvPr id="12" name="Shape 10"/>
          <p:cNvSpPr/>
          <p:nvPr/>
        </p:nvSpPr>
        <p:spPr>
          <a:xfrm>
            <a:off x="2438400" y="2057400"/>
            <a:ext cx="1615440" cy="109728"/>
          </a:xfrm>
          <a:prstGeom prst="rect">
            <a:avLst/>
          </a:prstGeom>
          <a:solidFill>
            <a:srgbClr val="2477B3"/>
          </a:solidFill>
          <a:ln w="12700">
            <a:solidFill>
              <a:srgbClr val="2477B3"/>
            </a:solidFill>
            <a:prstDash val="solid"/>
          </a:ln>
        </p:spPr>
      </p:sp>
      <p:sp>
        <p:nvSpPr>
          <p:cNvPr id="13" name="Text 11"/>
          <p:cNvSpPr txBox="1"/>
          <p:nvPr/>
        </p:nvSpPr>
        <p:spPr>
          <a:xfrm>
            <a:off x="2694432"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Editable report</a:t>
            </a:r>
            <a:endParaRPr lang="en-US" sz="1700" dirty="0"/>
          </a:p>
        </p:txBody>
      </p:sp>
      <p:sp>
        <p:nvSpPr>
          <p:cNvPr id="14" name="Text 12"/>
          <p:cNvSpPr txBox="1"/>
          <p:nvPr/>
        </p:nvSpPr>
        <p:spPr>
          <a:xfrm>
            <a:off x="2731008"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Word</a:t>
            </a:r>
            <a:endParaRPr lang="en-US" sz="1400" dirty="0"/>
          </a:p>
        </p:txBody>
      </p:sp>
      <p:sp>
        <p:nvSpPr>
          <p:cNvPr id="15" name="Shape 13"/>
          <p:cNvSpPr/>
          <p:nvPr/>
        </p:nvSpPr>
        <p:spPr>
          <a:xfrm>
            <a:off x="4309872" y="2057400"/>
            <a:ext cx="1615440" cy="3959352"/>
          </a:xfrm>
          <a:prstGeom prst="roundRect">
            <a:avLst>
              <a:gd name="adj" fmla="val 4528"/>
            </a:avLst>
          </a:prstGeom>
          <a:solidFill>
            <a:srgbClr val="FFFFFF"/>
          </a:solidFill>
          <a:ln w="12700">
            <a:solidFill>
              <a:srgbClr val="C8D9DC"/>
            </a:solidFill>
            <a:prstDash val="solid"/>
          </a:ln>
        </p:spPr>
      </p:sp>
      <p:sp>
        <p:nvSpPr>
          <p:cNvPr id="16" name="Shape 14"/>
          <p:cNvSpPr/>
          <p:nvPr/>
        </p:nvSpPr>
        <p:spPr>
          <a:xfrm>
            <a:off x="4309872" y="2057400"/>
            <a:ext cx="1615440" cy="109728"/>
          </a:xfrm>
          <a:prstGeom prst="rect">
            <a:avLst/>
          </a:prstGeom>
          <a:solidFill>
            <a:srgbClr val="F4A62A"/>
          </a:solidFill>
          <a:ln w="12700">
            <a:solidFill>
              <a:srgbClr val="F4A62A"/>
            </a:solidFill>
            <a:prstDash val="solid"/>
          </a:ln>
        </p:spPr>
      </p:sp>
      <p:sp>
        <p:nvSpPr>
          <p:cNvPr id="17" name="Text 15"/>
          <p:cNvSpPr txBox="1"/>
          <p:nvPr/>
        </p:nvSpPr>
        <p:spPr>
          <a:xfrm>
            <a:off x="4565904"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Calculation or chart</a:t>
            </a:r>
            <a:endParaRPr lang="en-US" sz="1700" dirty="0"/>
          </a:p>
        </p:txBody>
      </p:sp>
      <p:sp>
        <p:nvSpPr>
          <p:cNvPr id="18" name="Text 16"/>
          <p:cNvSpPr txBox="1"/>
          <p:nvPr/>
        </p:nvSpPr>
        <p:spPr>
          <a:xfrm>
            <a:off x="4602480"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Excel</a:t>
            </a:r>
            <a:endParaRPr lang="en-US" sz="1400" dirty="0"/>
          </a:p>
        </p:txBody>
      </p:sp>
      <p:sp>
        <p:nvSpPr>
          <p:cNvPr id="19" name="Shape 17"/>
          <p:cNvSpPr/>
          <p:nvPr/>
        </p:nvSpPr>
        <p:spPr>
          <a:xfrm>
            <a:off x="6181344" y="2057400"/>
            <a:ext cx="1615440" cy="3959352"/>
          </a:xfrm>
          <a:prstGeom prst="roundRect">
            <a:avLst>
              <a:gd name="adj" fmla="val 4528"/>
            </a:avLst>
          </a:prstGeom>
          <a:solidFill>
            <a:srgbClr val="FFFFFF"/>
          </a:solidFill>
          <a:ln w="12700">
            <a:solidFill>
              <a:srgbClr val="C8D9DC"/>
            </a:solidFill>
            <a:prstDash val="solid"/>
          </a:ln>
        </p:spPr>
      </p:sp>
      <p:sp>
        <p:nvSpPr>
          <p:cNvPr id="20" name="Shape 18"/>
          <p:cNvSpPr/>
          <p:nvPr/>
        </p:nvSpPr>
        <p:spPr>
          <a:xfrm>
            <a:off x="6181344" y="2057400"/>
            <a:ext cx="1615440" cy="109728"/>
          </a:xfrm>
          <a:prstGeom prst="rect">
            <a:avLst/>
          </a:prstGeom>
          <a:solidFill>
            <a:srgbClr val="2E8B72"/>
          </a:solidFill>
          <a:ln w="12700">
            <a:solidFill>
              <a:srgbClr val="2E8B72"/>
            </a:solidFill>
            <a:prstDash val="solid"/>
          </a:ln>
        </p:spPr>
      </p:sp>
      <p:sp>
        <p:nvSpPr>
          <p:cNvPr id="21" name="Text 19"/>
          <p:cNvSpPr txBox="1"/>
          <p:nvPr/>
        </p:nvSpPr>
        <p:spPr>
          <a:xfrm>
            <a:off x="6437376"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 story</a:t>
            </a:r>
            <a:endParaRPr lang="en-US" sz="1700" dirty="0"/>
          </a:p>
        </p:txBody>
      </p:sp>
      <p:sp>
        <p:nvSpPr>
          <p:cNvPr id="22" name="Text 20"/>
          <p:cNvSpPr txBox="1"/>
          <p:nvPr/>
        </p:nvSpPr>
        <p:spPr>
          <a:xfrm>
            <a:off x="6473952"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PowerPoint</a:t>
            </a:r>
            <a:endParaRPr lang="en-US" sz="1400" dirty="0"/>
          </a:p>
        </p:txBody>
      </p:sp>
      <p:sp>
        <p:nvSpPr>
          <p:cNvPr id="23" name="Shape 21"/>
          <p:cNvSpPr/>
          <p:nvPr/>
        </p:nvSpPr>
        <p:spPr>
          <a:xfrm>
            <a:off x="8052816" y="2057400"/>
            <a:ext cx="1615440" cy="3959352"/>
          </a:xfrm>
          <a:prstGeom prst="roundRect">
            <a:avLst>
              <a:gd name="adj" fmla="val 4528"/>
            </a:avLst>
          </a:prstGeom>
          <a:solidFill>
            <a:srgbClr val="FFFFFF"/>
          </a:solidFill>
          <a:ln w="12700">
            <a:solidFill>
              <a:srgbClr val="C8D9DC"/>
            </a:solidFill>
            <a:prstDash val="solid"/>
          </a:ln>
        </p:spPr>
      </p:sp>
      <p:sp>
        <p:nvSpPr>
          <p:cNvPr id="24" name="Shape 22"/>
          <p:cNvSpPr/>
          <p:nvPr/>
        </p:nvSpPr>
        <p:spPr>
          <a:xfrm>
            <a:off x="8052816" y="2057400"/>
            <a:ext cx="1615440" cy="109728"/>
          </a:xfrm>
          <a:prstGeom prst="rect">
            <a:avLst/>
          </a:prstGeom>
          <a:solidFill>
            <a:srgbClr val="078897"/>
          </a:solidFill>
          <a:ln w="12700">
            <a:solidFill>
              <a:srgbClr val="078897"/>
            </a:solidFill>
            <a:prstDash val="solid"/>
          </a:ln>
        </p:spPr>
      </p:sp>
      <p:sp>
        <p:nvSpPr>
          <p:cNvPr id="25" name="Text 23"/>
          <p:cNvSpPr txBox="1"/>
          <p:nvPr/>
        </p:nvSpPr>
        <p:spPr>
          <a:xfrm>
            <a:off x="8308848"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 workflow</a:t>
            </a:r>
            <a:endParaRPr lang="en-US" sz="1700" dirty="0"/>
          </a:p>
        </p:txBody>
      </p:sp>
      <p:sp>
        <p:nvSpPr>
          <p:cNvPr id="26" name="Text 24"/>
          <p:cNvSpPr txBox="1"/>
          <p:nvPr/>
        </p:nvSpPr>
        <p:spPr>
          <a:xfrm>
            <a:off x="8345424"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Agent</a:t>
            </a:r>
            <a:endParaRPr lang="en-US" sz="1400" dirty="0"/>
          </a:p>
        </p:txBody>
      </p:sp>
      <p:sp>
        <p:nvSpPr>
          <p:cNvPr id="27" name="Shape 25"/>
          <p:cNvSpPr/>
          <p:nvPr/>
        </p:nvSpPr>
        <p:spPr>
          <a:xfrm>
            <a:off x="9924288" y="2057400"/>
            <a:ext cx="1615440" cy="3959352"/>
          </a:xfrm>
          <a:prstGeom prst="roundRect">
            <a:avLst>
              <a:gd name="adj" fmla="val 4528"/>
            </a:avLst>
          </a:prstGeom>
          <a:solidFill>
            <a:srgbClr val="FFFFFF"/>
          </a:solidFill>
          <a:ln w="12700">
            <a:solidFill>
              <a:srgbClr val="C8D9DC"/>
            </a:solidFill>
            <a:prstDash val="solid"/>
          </a:ln>
        </p:spPr>
      </p:sp>
      <p:sp>
        <p:nvSpPr>
          <p:cNvPr id="28" name="Shape 26"/>
          <p:cNvSpPr/>
          <p:nvPr/>
        </p:nvSpPr>
        <p:spPr>
          <a:xfrm>
            <a:off x="9924288" y="2057400"/>
            <a:ext cx="1615440" cy="109728"/>
          </a:xfrm>
          <a:prstGeom prst="rect">
            <a:avLst/>
          </a:prstGeom>
          <a:solidFill>
            <a:srgbClr val="2477B3"/>
          </a:solidFill>
          <a:ln w="12700">
            <a:solidFill>
              <a:srgbClr val="2477B3"/>
            </a:solidFill>
            <a:prstDash val="solid"/>
          </a:ln>
        </p:spPr>
      </p:sp>
      <p:sp>
        <p:nvSpPr>
          <p:cNvPr id="29" name="Text 27"/>
          <p:cNvSpPr txBox="1"/>
          <p:nvPr/>
        </p:nvSpPr>
        <p:spPr>
          <a:xfrm>
            <a:off x="1018032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Cited internal answer</a:t>
            </a:r>
            <a:endParaRPr lang="en-US" sz="1700" dirty="0"/>
          </a:p>
        </p:txBody>
      </p:sp>
      <p:sp>
        <p:nvSpPr>
          <p:cNvPr id="30" name="Text 28"/>
          <p:cNvSpPr txBox="1"/>
          <p:nvPr/>
        </p:nvSpPr>
        <p:spPr>
          <a:xfrm>
            <a:off x="1021689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SharePoint agent</a:t>
            </a:r>
            <a:endParaRPr lang="en-US" sz="1400" dirty="0"/>
          </a:p>
        </p:txBody>
      </p:sp>
      <p:sp>
        <p:nvSpPr>
          <p:cNvPr id="31" name="Text 2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CW-401 training case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chemical dosing skid links the day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One chemical dosing skid links the day</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Duty</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consistently</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Concern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Some later tests are low</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Test readings, failure review and weekly deviations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Start with an evidence packet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works better when the scope is small and explicit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Pump readings</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12 time-ordered values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4 possible failure modes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Weekly data</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6 improvement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extract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Fictional recording requirements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helps with the work around a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to prepare evidence; keep approval with people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can</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Summarise, calculate, format, compare and draft.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must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Confirm sources, assumptions, formulas, meaning and release.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useful answer shows its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questions expose weak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Source</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Where did this claim come from?</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Check</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Can I reproduce the number?</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Boundary</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What does the evidence not prove?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1</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Your two class agents</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Ask them anything, all day, in your own words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12848"/>
            <a:ext cx="4892040" cy="310896"/>
          </a:xfrm>
          <a:prstGeom prst="rect">
            <a:avLst/>
          </a:prstGeom>
          <a:noFill/>
        </p:spPr>
        <p:txBody>
          <a:bodyPr wrap="square" lIns="0" rIns="0" tIns="0" bIns="0">
            <a:spAutoFit/>
          </a:bodyPr>
          <a:lstStyle/>
          <a:p>
            <a:pPr algn="l"/>
            <a:r>
              <a:rPr sz="1550" b="1">
                <a:solidFill>
                  <a:srgbClr val="FFFFFF"/>
                </a:solidFill>
                <a:latin typeface="Aptos"/>
              </a:rPr>
              <a:t>IES Engineering Methods Tutor</a:t>
            </a:r>
          </a:p>
        </p:txBody>
      </p:sp>
      <p:sp>
        <p:nvSpPr>
          <p:cNvPr id="10" name="TextBox 9"/>
          <p:cNvSpPr txBox="1"/>
          <p:nvPr/>
        </p:nvSpPr>
        <p:spPr>
          <a:xfrm>
            <a:off x="868680" y="2615184"/>
            <a:ext cx="4892040" cy="310896"/>
          </a:xfrm>
          <a:prstGeom prst="rect">
            <a:avLst/>
          </a:prstGeom>
          <a:noFill/>
        </p:spPr>
        <p:txBody>
          <a:bodyPr wrap="square" lIns="0" rIns="0" tIns="0" bIns="0">
            <a:spAutoFit/>
          </a:bodyPr>
          <a:lstStyle/>
          <a:p>
            <a:pPr algn="l"/>
            <a:r>
              <a:rPr sz="1200" b="0">
                <a:solidFill>
                  <a:srgbClr val="17A9B8"/>
                </a:solidFill>
                <a:latin typeface="Aptos"/>
              </a:rPr>
              <a:t>Explains the three methods this course uses.</a:t>
            </a:r>
          </a:p>
        </p:txBody>
      </p:sp>
      <p:sp>
        <p:nvSpPr>
          <p:cNvPr id="11" name="TextBox 10"/>
          <p:cNvSpPr txBox="1"/>
          <p:nvPr/>
        </p:nvSpPr>
        <p:spPr>
          <a:xfrm>
            <a:off x="868680" y="3054096"/>
            <a:ext cx="4892040" cy="201168"/>
          </a:xfrm>
          <a:prstGeom prst="rect">
            <a:avLst/>
          </a:prstGeom>
          <a:noFill/>
        </p:spPr>
        <p:txBody>
          <a:bodyPr wrap="square" lIns="0" rIns="0" tIns="0" bIns="0">
            <a:spAutoFit/>
          </a:bodyPr>
          <a:lstStyle/>
          <a:p>
            <a:pPr algn="l"/>
            <a:r>
              <a:rPr sz="1000" b="1">
                <a:solidFill>
                  <a:srgbClr val="17A9B8"/>
                </a:solidFill>
                <a:latin typeface="Aptos"/>
              </a:rPr>
              <a:t>TRY ASKING</a:t>
            </a:r>
          </a:p>
        </p:txBody>
      </p:sp>
      <p:sp>
        <p:nvSpPr>
          <p:cNvPr id="12" name="TextBox 11"/>
          <p:cNvSpPr txBox="1"/>
          <p:nvPr/>
        </p:nvSpPr>
        <p:spPr>
          <a:xfrm>
            <a:off x="868680" y="3346704"/>
            <a:ext cx="4892040" cy="310896"/>
          </a:xfrm>
          <a:prstGeom prst="rect">
            <a:avLst/>
          </a:prstGeom>
          <a:noFill/>
        </p:spPr>
        <p:txBody>
          <a:bodyPr wrap="square" lIns="0" rIns="0" tIns="0" bIns="0">
            <a:spAutoFit/>
          </a:bodyPr>
          <a:lstStyle/>
          <a:p>
            <a:pPr algn="l"/>
            <a:r>
              <a:rPr sz="1200" b="0">
                <a:solidFill>
                  <a:srgbClr val="FFFFFF"/>
                </a:solidFill>
                <a:latin typeface="Aptos"/>
              </a:rPr>
              <a:t>"Why is a high Detection score bad news?"</a:t>
            </a:r>
          </a:p>
        </p:txBody>
      </p:sp>
      <p:sp>
        <p:nvSpPr>
          <p:cNvPr id="13" name="TextBox 12"/>
          <p:cNvSpPr txBox="1"/>
          <p:nvPr/>
        </p:nvSpPr>
        <p:spPr>
          <a:xfrm>
            <a:off x="868680" y="3730752"/>
            <a:ext cx="4892040" cy="310896"/>
          </a:xfrm>
          <a:prstGeom prst="rect">
            <a:avLst/>
          </a:prstGeom>
          <a:noFill/>
        </p:spPr>
        <p:txBody>
          <a:bodyPr wrap="square" lIns="0" rIns="0" tIns="0" bIns="0">
            <a:spAutoFit/>
          </a:bodyPr>
          <a:lstStyle/>
          <a:p>
            <a:pPr algn="l"/>
            <a:r>
              <a:rPr sz="1200" b="0">
                <a:solidFill>
                  <a:srgbClr val="FFFFFF"/>
                </a:solidFill>
                <a:latin typeface="Aptos"/>
              </a:rPr>
              <a:t>"What is the difference between percentage points and percent?"</a:t>
            </a:r>
          </a:p>
        </p:txBody>
      </p:sp>
      <p:sp>
        <p:nvSpPr>
          <p:cNvPr id="14" name="TextBox 13"/>
          <p:cNvSpPr txBox="1"/>
          <p:nvPr/>
        </p:nvSpPr>
        <p:spPr>
          <a:xfrm>
            <a:off x="868680" y="4114800"/>
            <a:ext cx="4892040" cy="310896"/>
          </a:xfrm>
          <a:prstGeom prst="rect">
            <a:avLst/>
          </a:prstGeom>
          <a:noFill/>
        </p:spPr>
        <p:txBody>
          <a:bodyPr wrap="square" lIns="0" rIns="0" tIns="0" bIns="0">
            <a:spAutoFit/>
          </a:bodyPr>
          <a:lstStyle/>
          <a:p>
            <a:pPr algn="l"/>
            <a:r>
              <a:rPr sz="1200" b="0">
                <a:solidFill>
                  <a:srgbClr val="FFFFFF"/>
                </a:solidFill>
                <a:latin typeface="Aptos"/>
              </a:rPr>
              <a:t>"Why must control limits be frozen?"</a:t>
            </a:r>
          </a:p>
        </p:txBody>
      </p:sp>
      <p:sp>
        <p:nvSpPr>
          <p:cNvPr id="15" name="Rectangle 14"/>
          <p:cNvSpPr/>
          <p:nvPr/>
        </p:nvSpPr>
        <p:spPr>
          <a:xfrm>
            <a:off x="868680"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974336"/>
            <a:ext cx="4892040" cy="548640"/>
          </a:xfrm>
          <a:prstGeom prst="rect">
            <a:avLst/>
          </a:prstGeom>
          <a:noFill/>
        </p:spPr>
        <p:txBody>
          <a:bodyPr wrap="square" lIns="0" rIns="0" t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17" name="Rectangle 16"/>
          <p:cNvSpPr/>
          <p:nvPr/>
        </p:nvSpPr>
        <p:spPr>
          <a:xfrm>
            <a:off x="6291072"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2212848"/>
            <a:ext cx="4892040" cy="310896"/>
          </a:xfrm>
          <a:prstGeom prst="rect">
            <a:avLst/>
          </a:prstGeom>
          <a:noFill/>
        </p:spPr>
        <p:txBody>
          <a:bodyPr wrap="square" lIns="0" rIns="0" tIns="0" bIns="0">
            <a:spAutoFit/>
          </a:bodyPr>
          <a:lstStyle/>
          <a:p>
            <a:pPr algn="l"/>
            <a:r>
              <a:rPr sz="1550" b="1">
                <a:solidFill>
                  <a:srgbClr val="FFFFFF"/>
                </a:solidFill>
                <a:latin typeface="Aptos"/>
              </a:rPr>
              <a:t>IES AI Security Advisor</a:t>
            </a:r>
          </a:p>
        </p:txBody>
      </p:sp>
      <p:sp>
        <p:nvSpPr>
          <p:cNvPr id="19" name="TextBox 18"/>
          <p:cNvSpPr txBox="1"/>
          <p:nvPr/>
        </p:nvSpPr>
        <p:spPr>
          <a:xfrm>
            <a:off x="6592824" y="2615184"/>
            <a:ext cx="4892040" cy="310896"/>
          </a:xfrm>
          <a:prstGeom prst="rect">
            <a:avLst/>
          </a:prstGeom>
          <a:noFill/>
        </p:spPr>
        <p:txBody>
          <a:bodyPr wrap="square" lIns="0" rIns="0" tIns="0" bIns="0">
            <a:spAutoFit/>
          </a:bodyPr>
          <a:lstStyle/>
          <a:p>
            <a:pPr algn="l"/>
            <a:r>
              <a:rPr sz="1200" b="0">
                <a:solidFill>
                  <a:srgbClr val="17A9B8"/>
                </a:solidFill>
                <a:latin typeface="Aptos"/>
              </a:rPr>
              <a:t>Answers safe and accountable AI use questions.</a:t>
            </a:r>
          </a:p>
        </p:txBody>
      </p:sp>
      <p:sp>
        <p:nvSpPr>
          <p:cNvPr id="20" name="TextBox 19"/>
          <p:cNvSpPr txBox="1"/>
          <p:nvPr/>
        </p:nvSpPr>
        <p:spPr>
          <a:xfrm>
            <a:off x="6592824" y="3054096"/>
            <a:ext cx="4892040" cy="201168"/>
          </a:xfrm>
          <a:prstGeom prst="rect">
            <a:avLst/>
          </a:prstGeom>
          <a:noFill/>
        </p:spPr>
        <p:txBody>
          <a:bodyPr wrap="square" lIns="0" rIns="0" tIns="0" bIns="0">
            <a:spAutoFit/>
          </a:bodyPr>
          <a:lstStyle/>
          <a:p>
            <a:pPr algn="l"/>
            <a:r>
              <a:rPr sz="1000" b="1">
                <a:solidFill>
                  <a:srgbClr val="17A9B8"/>
                </a:solidFill>
                <a:latin typeface="Aptos"/>
              </a:rPr>
              <a:t>TRY ASKING</a:t>
            </a:r>
          </a:p>
        </p:txBody>
      </p:sp>
      <p:sp>
        <p:nvSpPr>
          <p:cNvPr id="21" name="TextBox 20"/>
          <p:cNvSpPr txBox="1"/>
          <p:nvPr/>
        </p:nvSpPr>
        <p:spPr>
          <a:xfrm>
            <a:off x="6592824" y="3346704"/>
            <a:ext cx="4892040" cy="310896"/>
          </a:xfrm>
          <a:prstGeom prst="rect">
            <a:avLst/>
          </a:prstGeom>
          <a:noFill/>
        </p:spPr>
        <p:txBody>
          <a:bodyPr wrap="square" lIns="0" rIns="0" tIns="0" bIns="0">
            <a:spAutoFit/>
          </a:bodyPr>
          <a:lstStyle/>
          <a:p>
            <a:pPr algn="l"/>
            <a:r>
              <a:rPr sz="1200" b="0">
                <a:solidFill>
                  <a:srgbClr val="FFFFFF"/>
                </a:solidFill>
                <a:latin typeface="Aptos"/>
              </a:rPr>
              <a:t>"Can I paste an NRIC into a prompt?"</a:t>
            </a:r>
          </a:p>
        </p:txBody>
      </p:sp>
      <p:sp>
        <p:nvSpPr>
          <p:cNvPr id="22" name="TextBox 21"/>
          <p:cNvSpPr txBox="1"/>
          <p:nvPr/>
        </p:nvSpPr>
        <p:spPr>
          <a:xfrm>
            <a:off x="6592824" y="3730752"/>
            <a:ext cx="4892040" cy="310896"/>
          </a:xfrm>
          <a:prstGeom prst="rect">
            <a:avLst/>
          </a:prstGeom>
          <a:noFill/>
        </p:spPr>
        <p:txBody>
          <a:bodyPr wrap="square" lIns="0" rIns="0" tIns="0" bIns="0">
            <a:spAutoFit/>
          </a:bodyPr>
          <a:lstStyle/>
          <a:p>
            <a:pPr algn="l"/>
            <a:r>
              <a:rPr sz="1200" b="0">
                <a:solidFill>
                  <a:srgbClr val="FFFFFF"/>
                </a:solidFill>
                <a:latin typeface="Aptos"/>
              </a:rPr>
              <a:t>"Who is accountable if the agent is wrong?"</a:t>
            </a:r>
          </a:p>
        </p:txBody>
      </p:sp>
      <p:sp>
        <p:nvSpPr>
          <p:cNvPr id="23" name="TextBox 22"/>
          <p:cNvSpPr txBox="1"/>
          <p:nvPr/>
        </p:nvSpPr>
        <p:spPr>
          <a:xfrm>
            <a:off x="6592824" y="4114800"/>
            <a:ext cx="4892040" cy="310896"/>
          </a:xfrm>
          <a:prstGeom prst="rect">
            <a:avLst/>
          </a:prstGeom>
          <a:noFill/>
        </p:spPr>
        <p:txBody>
          <a:bodyPr wrap="square" lIns="0" rIns="0" tIns="0" bIns="0">
            <a:spAutoFit/>
          </a:bodyPr>
          <a:lstStyle/>
          <a:p>
            <a:pPr algn="l"/>
            <a:r>
              <a:rPr sz="1200" b="0">
                <a:solidFill>
                  <a:srgbClr val="FFFFFF"/>
                </a:solidFill>
                <a:latin typeface="Aptos"/>
              </a:rPr>
              <a:t>"What happens to my prompt logs?"</a:t>
            </a:r>
          </a:p>
        </p:txBody>
      </p:sp>
      <p:sp>
        <p:nvSpPr>
          <p:cNvPr id="24" name="Rectangle 23"/>
          <p:cNvSpPr/>
          <p:nvPr/>
        </p:nvSpPr>
        <p:spPr>
          <a:xfrm>
            <a:off x="6592824"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2824" y="4974336"/>
            <a:ext cx="4892040" cy="548640"/>
          </a:xfrm>
          <a:prstGeom prst="rect">
            <a:avLst/>
          </a:prstGeom>
          <a:noFill/>
        </p:spPr>
        <p:txBody>
          <a:bodyPr wrap="square" lIns="0" rIns="0" t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26" name="TextBox 25"/>
          <p:cNvSpPr txBox="1"/>
          <p:nvPr/>
        </p:nvSpPr>
        <p:spPr>
          <a:xfrm>
            <a:off x="566928" y="5870448"/>
            <a:ext cx="11064240" cy="457200"/>
          </a:xfrm>
          <a:prstGeom prst="rect">
            <a:avLst/>
          </a:prstGeom>
          <a:noFill/>
        </p:spPr>
        <p:txBody>
          <a:bodyPr wrap="square" lIns="0" rIns="0" tIns="0" bIns="0">
            <a:spAutoFit/>
          </a:bodyPr>
          <a:lstStyle/>
          <a:p>
            <a:pPr algn="l"/>
            <a:r>
              <a:rPr sz="1250" b="0">
                <a:solidFill>
                  <a:srgbClr val="078897"/>
                </a:solidFill>
                <a:latin typeface="Aptos"/>
              </a:rPr>
              <a:t>Both agents are shared with the class. They teach and explain; they never approve an engineering decision.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1.1 · Onboarding and tool access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Verify access once before the practical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in to Microsoft 365</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Copilot Chat</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Confirm Copilot in Word and Excel</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Agents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Tell the trainer about any blocked surface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1.2 · AI versus Engineer challenge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same messy notes into a technical brief</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1.2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Turn the same messy notes into a technical brief</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Later pump tests are low; strainer changed; verification also performed.</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team</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Create facts, assumptions and questions.</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Manual team</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Structure the same brief without Copilot.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102B3E"/>
          </a:solidFill>
          <a:ln w="12700">
            <a:solidFill>
              <a:srgbClr val="102B3E"/>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Compare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Speed, completeness and unsupported claims.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Debrief · where was Copilot faster?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Productivity is useful only when the result survives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Fast</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Formatting, headings and possible questions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Needs review</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Units, causation, requirements and sign-off</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the surface, provide evidence, check the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Choose</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output to app</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Ground</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relevant sources</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Verify</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calculate and challenge</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2</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Prompting for Engineering Documents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R.I.S.E. + E-MAP turn vague requests into reviewable work</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Describe why prompt engineering improves productivity.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prompts with R.I.S.E. and E-MAP.</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Improve</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Improve</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Add constraints, examples and output formats.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Challenge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Challenge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multiple personas and a short debate to expose gaps.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engineering reduces avoidable rework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clear request improves the first draft and the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Faster</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Fewer clarification cycles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Consistent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Repeatable structure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Traceable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sources and checks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Safer</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Explicit boundaries and approval gates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principles for strong engineering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Build enough structure for a useful and testable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State the decision or output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Evidence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allowed sources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Context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Give system and units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 the work</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Constraints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Prevent harmful drift</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Check</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Define acceptance tests</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 the practical prompt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 · 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Useful 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 ·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Exact evidence and scope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 · 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limits and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 · Role sets perspective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role guides attention; it does not grant authority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Useful</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an FMEA facilitator and preserve supplied ratings.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Unsafe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the approving engineer and decide the system is safe.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 · Input names the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Tell Copilot exactly what it may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Source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Named table or document</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Rows, date range and revision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Units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L/h, bar, minutes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Preserve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alter source records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 · Steps make work traceable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Order calculations, comparisons and presentation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rows and gaps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 formula</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stated baseline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Present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Table or chart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 one validation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33</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 · Expectations define “done”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Specify format, quality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Format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Five-row table; three-sentence summary</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 source row or clause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infer root cause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Acceptance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number</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34</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one RISE prompt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Combine all four parts in a single request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data assistant. Use only PumpReadings. Calculate the baseline mean and control limits, flag monitoring rows, create a chart, show formulas, and state what the chart cannot prove.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Engineering data assistant</a:t>
            </a:r>
            <a:endParaRPr lang="en-US" sz="1300" dirty="0"/>
          </a:p>
        </p:txBody>
      </p:sp>
      <p:sp>
        <p:nvSpPr>
          <p:cNvPr id="14" name="Shape 12"/>
          <p:cNvSpPr/>
          <p:nvPr/>
        </p:nvSpPr>
        <p:spPr>
          <a:xfrm>
            <a:off x="8275320" y="3063240"/>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06324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297180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7" name="Text 15"/>
          <p:cNvSpPr txBox="1"/>
          <p:nvPr/>
        </p:nvSpPr>
        <p:spPr>
          <a:xfrm>
            <a:off x="8759952" y="329184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PumpReadings</a:t>
            </a:r>
            <a:endParaRPr lang="en-US" sz="1300" dirty="0"/>
          </a:p>
        </p:txBody>
      </p:sp>
      <p:sp>
        <p:nvSpPr>
          <p:cNvPr id="18" name="Shape 16"/>
          <p:cNvSpPr/>
          <p:nvPr/>
        </p:nvSpPr>
        <p:spPr>
          <a:xfrm>
            <a:off x="8275320" y="4023360"/>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02336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393192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21" name="Text 19"/>
          <p:cNvSpPr txBox="1"/>
          <p:nvPr/>
        </p:nvSpPr>
        <p:spPr>
          <a:xfrm>
            <a:off x="8759952" y="425196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Calculate, flag, chart</a:t>
            </a:r>
            <a:endParaRPr lang="en-US" sz="1300" dirty="0"/>
          </a:p>
        </p:txBody>
      </p:sp>
      <p:sp>
        <p:nvSpPr>
          <p:cNvPr id="22" name="Shape 20"/>
          <p:cNvSpPr/>
          <p:nvPr/>
        </p:nvSpPr>
        <p:spPr>
          <a:xfrm>
            <a:off x="8275320" y="4983480"/>
            <a:ext cx="365760" cy="365760"/>
          </a:xfrm>
          <a:prstGeom prst="ellipse">
            <a:avLst/>
          </a:prstGeom>
          <a:solidFill>
            <a:srgbClr val="078897"/>
          </a:solidFill>
          <a:ln w="12700">
            <a:solidFill>
              <a:srgbClr val="078897"/>
            </a:solidFill>
            <a:prstDash val="solid"/>
          </a:ln>
        </p:spPr>
      </p:sp>
      <p:sp>
        <p:nvSpPr>
          <p:cNvPr id="23" name="Text 21"/>
          <p:cNvSpPr txBox="1"/>
          <p:nvPr/>
        </p:nvSpPr>
        <p:spPr>
          <a:xfrm>
            <a:off x="8275320" y="498348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2"/>
          <p:cNvSpPr txBox="1"/>
          <p:nvPr/>
        </p:nvSpPr>
        <p:spPr>
          <a:xfrm>
            <a:off x="8759952" y="489204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25" name="Text 23"/>
          <p:cNvSpPr txBox="1"/>
          <p:nvPr/>
        </p:nvSpPr>
        <p:spPr>
          <a:xfrm>
            <a:off x="8759952" y="521208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Show formulas; no cause claim</a:t>
            </a:r>
            <a:endParaRPr lang="en-US" sz="13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35</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Weak prompt versus R.I.S.E.</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The same question, asked twice — and what changes in the answer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349240" cy="1874519"/>
          </a:xfrm>
          <a:prstGeom prst="rect">
            <a:avLst/>
          </a:prstGeom>
          <a:solidFill>
            <a:srgbClr val="EAF3F4"/>
          </a:solidFill>
          <a:ln w="12700">
            <a:solidFill>
              <a:srgbClr val="D8C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57984"/>
            <a:ext cx="4754880" cy="237744"/>
          </a:xfrm>
          <a:prstGeom prst="rect">
            <a:avLst/>
          </a:prstGeom>
          <a:noFill/>
        </p:spPr>
        <p:txBody>
          <a:bodyPr wrap="square" lIns="0" rIns="0" tIns="0" bIns="0">
            <a:spAutoFit/>
          </a:bodyPr>
          <a:lstStyle/>
          <a:p>
            <a:pPr algn="l"/>
            <a:r>
              <a:rPr sz="1200" b="1">
                <a:solidFill>
                  <a:srgbClr val="B33A3A"/>
                </a:solidFill>
                <a:latin typeface="Aptos"/>
              </a:rPr>
              <a:t>WEAK PROMPT</a:t>
            </a:r>
          </a:p>
        </p:txBody>
      </p:sp>
      <p:sp>
        <p:nvSpPr>
          <p:cNvPr id="10" name="TextBox 9"/>
          <p:cNvSpPr txBox="1"/>
          <p:nvPr/>
        </p:nvSpPr>
        <p:spPr>
          <a:xfrm>
            <a:off x="868680" y="2487168"/>
            <a:ext cx="4754880" cy="1188720"/>
          </a:xfrm>
          <a:prstGeom prst="rect">
            <a:avLst/>
          </a:prstGeom>
          <a:noFill/>
        </p:spPr>
        <p:txBody>
          <a:bodyPr wrap="square" lIns="0" rIns="0" tIns="0" bIns="0">
            <a:spAutoFit/>
          </a:bodyPr>
          <a:lstStyle/>
          <a:p>
            <a:pPr algn="l"/>
            <a:r>
              <a:rPr sz="1500" b="0">
                <a:solidFill>
                  <a:srgbClr val="102B3E"/>
                </a:solidFill>
                <a:latin typeface="Aptos"/>
              </a:rPr>
              <a:t>"Analyse this pump data and tell me</a:t>
            </a:r>
          </a:p>
          <a:p>
            <a:pPr algn="l"/>
            <a:r>
              <a:rPr sz="1500" b="0">
                <a:solidFill>
                  <a:srgbClr val="102B3E"/>
                </a:solidFill>
                <a:latin typeface="Aptos"/>
              </a:rPr>
              <a:t>if there is a problem."</a:t>
            </a:r>
          </a:p>
        </p:txBody>
      </p:sp>
      <p:sp>
        <p:nvSpPr>
          <p:cNvPr id="11" name="TextBox 10"/>
          <p:cNvSpPr txBox="1"/>
          <p:nvPr/>
        </p:nvSpPr>
        <p:spPr>
          <a:xfrm>
            <a:off x="566928" y="3968496"/>
            <a:ext cx="5349240" cy="1737360"/>
          </a:xfrm>
          <a:prstGeom prst="rect">
            <a:avLst/>
          </a:prstGeom>
          <a:noFill/>
        </p:spPr>
        <p:txBody>
          <a:bodyPr wrap="square" lIns="0" rIns="0" t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No stated method, so you cannot repeat it</a:t>
            </a:r>
          </a:p>
          <a:p>
            <a:pPr algn="l">
              <a:spcAft>
                <a:spcPts val="400"/>
              </a:spcAft>
            </a:pPr>
            <a:r>
              <a:rPr sz="1250" b="0">
                <a:solidFill>
                  <a:srgbClr val="536A78"/>
                </a:solidFill>
                <a:latin typeface="Aptos"/>
              </a:rPr>
              <a:t>·  Limits recalculated on the drifting data</a:t>
            </a:r>
          </a:p>
          <a:p>
            <a:pPr algn="l">
              <a:spcAft>
                <a:spcPts val="400"/>
              </a:spcAft>
            </a:pPr>
            <a:r>
              <a:rPr sz="1250" b="0">
                <a:solidFill>
                  <a:srgbClr val="536A78"/>
                </a:solidFill>
                <a:latin typeface="Aptos"/>
              </a:rPr>
              <a:t>·  A confident cause, with no evidence</a:t>
            </a:r>
          </a:p>
          <a:p>
            <a:pPr algn="l">
              <a:spcAft>
                <a:spcPts val="400"/>
              </a:spcAft>
            </a:pPr>
            <a:r>
              <a:rPr sz="1250" b="0">
                <a:solidFill>
                  <a:srgbClr val="536A78"/>
                </a:solidFill>
                <a:latin typeface="Aptos"/>
              </a:rPr>
              <a:t>·  No units, no formulas, nothing to check</a:t>
            </a:r>
          </a:p>
        </p:txBody>
      </p:sp>
      <p:sp>
        <p:nvSpPr>
          <p:cNvPr id="12" name="Rectangle 11"/>
          <p:cNvSpPr/>
          <p:nvPr/>
        </p:nvSpPr>
        <p:spPr>
          <a:xfrm>
            <a:off x="6291072" y="1975104"/>
            <a:ext cx="5349240" cy="1874519"/>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2157984"/>
            <a:ext cx="4754880" cy="237744"/>
          </a:xfrm>
          <a:prstGeom prst="rect">
            <a:avLst/>
          </a:prstGeom>
          <a:noFill/>
        </p:spPr>
        <p:txBody>
          <a:bodyPr wrap="square" lIns="0" rIns="0" tIns="0" bIns="0">
            <a:spAutoFit/>
          </a:bodyPr>
          <a:lstStyle/>
          <a:p>
            <a:pPr algn="l"/>
            <a:r>
              <a:rPr sz="1200" b="1">
                <a:solidFill>
                  <a:srgbClr val="17A9B8"/>
                </a:solidFill>
                <a:latin typeface="Aptos"/>
              </a:rPr>
              <a:t>R.I.S.E. PROMPT</a:t>
            </a:r>
          </a:p>
        </p:txBody>
      </p:sp>
      <p:sp>
        <p:nvSpPr>
          <p:cNvPr id="14" name="TextBox 13"/>
          <p:cNvSpPr txBox="1"/>
          <p:nvPr/>
        </p:nvSpPr>
        <p:spPr>
          <a:xfrm>
            <a:off x="6592824" y="2487168"/>
            <a:ext cx="4754880" cy="1234440"/>
          </a:xfrm>
          <a:prstGeom prst="rect">
            <a:avLst/>
          </a:prstGeom>
          <a:noFill/>
        </p:spPr>
        <p:txBody>
          <a:bodyPr wrap="square" lIns="0" rIns="0" tIns="0" bIns="0">
            <a:spAutoFit/>
          </a:bodyPr>
          <a:lstStyle/>
          <a:p>
            <a:pPr algn="l"/>
            <a:r>
              <a:rPr sz="1350" b="0">
                <a:solidFill>
                  <a:srgbClr val="FFFFFF"/>
                </a:solidFill>
                <a:latin typeface="Aptos"/>
              </a:rPr>
              <a:t>"Act as an SPC analyst. Use only</a:t>
            </a:r>
          </a:p>
          <a:p>
            <a:pPr algn="l"/>
            <a:r>
              <a:rPr sz="1350" b="0">
                <a:solidFill>
                  <a:srgbClr val="FFFFFF"/>
                </a:solidFill>
                <a:latin typeface="Aptos"/>
              </a:rPr>
              <a:t>SPCData. Calculate limits from the</a:t>
            </a:r>
          </a:p>
          <a:p>
            <a:pPr algn="l"/>
            <a:r>
              <a:rPr sz="1350" b="0">
                <a:solidFill>
                  <a:srgbClr val="FFFFFF"/>
                </a:solidFill>
                <a:latin typeface="Aptos"/>
              </a:rPr>
              <a:t>12 baseline subgroups, then freeze</a:t>
            </a:r>
          </a:p>
          <a:p>
            <a:pPr algn="l"/>
            <a:r>
              <a:rPr sz="1350" b="0">
                <a:solidFill>
                  <a:srgbClr val="FFFFFF"/>
                </a:solidFill>
                <a:latin typeface="Aptos"/>
              </a:rPr>
              <a:t>them. Show every formula."</a:t>
            </a:r>
          </a:p>
        </p:txBody>
      </p:sp>
      <p:sp>
        <p:nvSpPr>
          <p:cNvPr id="15" name="TextBox 14"/>
          <p:cNvSpPr txBox="1"/>
          <p:nvPr/>
        </p:nvSpPr>
        <p:spPr>
          <a:xfrm>
            <a:off x="6291072" y="3968496"/>
            <a:ext cx="5349240" cy="1737360"/>
          </a:xfrm>
          <a:prstGeom prst="rect">
            <a:avLst/>
          </a:prstGeom>
          <a:noFill/>
        </p:spPr>
        <p:txBody>
          <a:bodyPr wrap="square" lIns="0" rIns="0" t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A named method a reviewer can follow</a:t>
            </a:r>
          </a:p>
          <a:p>
            <a:pPr algn="l">
              <a:spcAft>
                <a:spcPts val="400"/>
              </a:spcAft>
            </a:pPr>
            <a:r>
              <a:rPr sz="1250" b="0">
                <a:solidFill>
                  <a:srgbClr val="536A78"/>
                </a:solidFill>
                <a:latin typeface="Aptos"/>
              </a:rPr>
              <a:t>·  Limits from the baseline only, frozen</a:t>
            </a:r>
          </a:p>
          <a:p>
            <a:pPr algn="l">
              <a:spcAft>
                <a:spcPts val="400"/>
              </a:spcAft>
            </a:pPr>
            <a:r>
              <a:rPr sz="1250" b="0">
                <a:solidFill>
                  <a:srgbClr val="536A78"/>
                </a:solidFill>
                <a:latin typeface="Aptos"/>
              </a:rPr>
              <a:t>·  A signal to investigate, not a cause</a:t>
            </a:r>
          </a:p>
          <a:p>
            <a:pPr algn="l">
              <a:spcAft>
                <a:spcPts val="400"/>
              </a:spcAft>
            </a:pPr>
            <a:r>
              <a:rPr sz="1250" b="0">
                <a:solidFill>
                  <a:srgbClr val="536A78"/>
                </a:solidFill>
                <a:latin typeface="Aptos"/>
              </a:rPr>
              <a:t>·  Formulas and units you can check by hand</a:t>
            </a:r>
          </a:p>
        </p:txBody>
      </p:sp>
      <p:sp>
        <p:nvSpPr>
          <p:cNvPr id="16" name="TextBox 15"/>
          <p:cNvSpPr txBox="1"/>
          <p:nvPr/>
        </p:nvSpPr>
        <p:spPr>
          <a:xfrm>
            <a:off x="566928" y="5870448"/>
            <a:ext cx="11064240" cy="457200"/>
          </a:xfrm>
          <a:prstGeom prst="rect">
            <a:avLst/>
          </a:prstGeom>
          <a:noFill/>
        </p:spPr>
        <p:txBody>
          <a:bodyPr wrap="square" lIns="0" rIns="0" tIns="0" bIns="0">
            <a:spAutoFit/>
          </a:bodyPr>
          <a:lstStyle/>
          <a:p>
            <a:pPr algn="l"/>
            <a:r>
              <a:rPr sz="1250" b="0">
                <a:solidFill>
                  <a:srgbClr val="078897"/>
                </a:solidFill>
                <a:latin typeface="Aptos"/>
              </a:rPr>
              <a:t>The difference is not politeness. Naming the evidence and the steps is what makes the answer reviewable — and what stops the model inventing the part you did not specify.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What E-MAP adds on top of R.I.S.E.</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Engineering context, Metrics, Assumptions, Parameters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ounded Rectangle 7"/>
          <p:cNvSpPr/>
          <p:nvPr/>
        </p:nvSpPr>
        <p:spPr>
          <a:xfrm>
            <a:off x="566928" y="1993392"/>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48256"/>
            <a:ext cx="384048" cy="274320"/>
          </a:xfrm>
          <a:prstGeom prst="rect">
            <a:avLst/>
          </a:prstGeom>
          <a:noFill/>
        </p:spPr>
        <p:txBody>
          <a:bodyPr wrap="square" lIns="0" rIns="0" tIns="0" bIns="0">
            <a:spAutoFit/>
          </a:bodyPr>
          <a:lstStyle/>
          <a:p>
            <a:pPr algn="ctr"/>
            <a:r>
              <a:rPr sz="1300" b="1">
                <a:solidFill>
                  <a:srgbClr val="FFFFFF"/>
                </a:solidFill>
                <a:latin typeface="Aptos"/>
              </a:rPr>
              <a:t>E</a:t>
            </a:r>
          </a:p>
        </p:txBody>
      </p:sp>
      <p:sp>
        <p:nvSpPr>
          <p:cNvPr id="10" name="TextBox 9"/>
          <p:cNvSpPr txBox="1"/>
          <p:nvPr/>
        </p:nvSpPr>
        <p:spPr>
          <a:xfrm>
            <a:off x="1097280" y="2011680"/>
            <a:ext cx="2331720" cy="274320"/>
          </a:xfrm>
          <a:prstGeom prst="rect">
            <a:avLst/>
          </a:prstGeom>
          <a:noFill/>
        </p:spPr>
        <p:txBody>
          <a:bodyPr wrap="square" lIns="0" rIns="0" tIns="0" bIns="0">
            <a:spAutoFit/>
          </a:bodyPr>
          <a:lstStyle/>
          <a:p>
            <a:pPr algn="l"/>
            <a:r>
              <a:rPr sz="1350" b="1">
                <a:solidFill>
                  <a:srgbClr val="102B3E"/>
                </a:solidFill>
                <a:latin typeface="Aptos"/>
              </a:rPr>
              <a:t>Engineering context</a:t>
            </a:r>
          </a:p>
        </p:txBody>
      </p:sp>
      <p:sp>
        <p:nvSpPr>
          <p:cNvPr id="11" name="TextBox 10"/>
          <p:cNvSpPr txBox="1"/>
          <p:nvPr/>
        </p:nvSpPr>
        <p:spPr>
          <a:xfrm>
            <a:off x="3611880" y="2011680"/>
            <a:ext cx="3794760" cy="347472"/>
          </a:xfrm>
          <a:prstGeom prst="rect">
            <a:avLst/>
          </a:prstGeom>
          <a:noFill/>
        </p:spPr>
        <p:txBody>
          <a:bodyPr wrap="square" lIns="0" rIns="0" tIns="0" bIns="0">
            <a:spAutoFit/>
          </a:bodyPr>
          <a:lstStyle/>
          <a:p>
            <a:pPr algn="l"/>
            <a:r>
              <a:rPr sz="1150" b="0">
                <a:solidFill>
                  <a:srgbClr val="B33A3A"/>
                </a:solidFill>
                <a:latin typeface="Aptos"/>
              </a:rPr>
              <a:t>Without: "improve the dosing process"</a:t>
            </a:r>
          </a:p>
        </p:txBody>
      </p:sp>
      <p:sp>
        <p:nvSpPr>
          <p:cNvPr id="12" name="TextBox 11"/>
          <p:cNvSpPr txBox="1"/>
          <p:nvPr/>
        </p:nvSpPr>
        <p:spPr>
          <a:xfrm>
            <a:off x="7635240" y="2011680"/>
            <a:ext cx="4005072" cy="347472"/>
          </a:xfrm>
          <a:prstGeom prst="rect">
            <a:avLst/>
          </a:prstGeom>
          <a:noFill/>
        </p:spPr>
        <p:txBody>
          <a:bodyPr wrap="square" lIns="0" rIns="0" tIns="0" bIns="0">
            <a:spAutoFit/>
          </a:bodyPr>
          <a:lstStyle/>
          <a:p>
            <a:pPr algn="l"/>
            <a:r>
              <a:rPr sz="1150" b="0">
                <a:solidFill>
                  <a:srgbClr val="1E7A4F"/>
                </a:solidFill>
                <a:latin typeface="Aptos"/>
              </a:rPr>
              <a:t>With: "chemical dosing skid, weekly delivery test in L/h"</a:t>
            </a:r>
          </a:p>
        </p:txBody>
      </p:sp>
      <p:sp>
        <p:nvSpPr>
          <p:cNvPr id="13" name="Rounded Rectangle 12"/>
          <p:cNvSpPr/>
          <p:nvPr/>
        </p:nvSpPr>
        <p:spPr>
          <a:xfrm>
            <a:off x="566928" y="2926080"/>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980944"/>
            <a:ext cx="384048" cy="274320"/>
          </a:xfrm>
          <a:prstGeom prst="rect">
            <a:avLst/>
          </a:prstGeom>
          <a:noFill/>
        </p:spPr>
        <p:txBody>
          <a:bodyPr wrap="square" lIns="0" rIns="0" tIns="0" bIns="0">
            <a:spAutoFit/>
          </a:bodyPr>
          <a:lstStyle/>
          <a:p>
            <a:pPr algn="ctr"/>
            <a:r>
              <a:rPr sz="1300" b="1">
                <a:solidFill>
                  <a:srgbClr val="FFFFFF"/>
                </a:solidFill>
                <a:latin typeface="Aptos"/>
              </a:rPr>
              <a:t>M</a:t>
            </a:r>
          </a:p>
        </p:txBody>
      </p:sp>
      <p:sp>
        <p:nvSpPr>
          <p:cNvPr id="15" name="TextBox 14"/>
          <p:cNvSpPr txBox="1"/>
          <p:nvPr/>
        </p:nvSpPr>
        <p:spPr>
          <a:xfrm>
            <a:off x="1097280" y="2944368"/>
            <a:ext cx="2331720" cy="274320"/>
          </a:xfrm>
          <a:prstGeom prst="rect">
            <a:avLst/>
          </a:prstGeom>
          <a:noFill/>
        </p:spPr>
        <p:txBody>
          <a:bodyPr wrap="square" lIns="0" rIns="0" tIns="0" bIns="0">
            <a:spAutoFit/>
          </a:bodyPr>
          <a:lstStyle/>
          <a:p>
            <a:pPr algn="l"/>
            <a:r>
              <a:rPr sz="1350" b="1">
                <a:solidFill>
                  <a:srgbClr val="102B3E"/>
                </a:solidFill>
                <a:latin typeface="Aptos"/>
              </a:rPr>
              <a:t>Metrics</a:t>
            </a:r>
          </a:p>
        </p:txBody>
      </p:sp>
      <p:sp>
        <p:nvSpPr>
          <p:cNvPr id="16" name="TextBox 15"/>
          <p:cNvSpPr txBox="1"/>
          <p:nvPr/>
        </p:nvSpPr>
        <p:spPr>
          <a:xfrm>
            <a:off x="3611880" y="2944368"/>
            <a:ext cx="3794760" cy="347472"/>
          </a:xfrm>
          <a:prstGeom prst="rect">
            <a:avLst/>
          </a:prstGeom>
          <a:noFill/>
        </p:spPr>
        <p:txBody>
          <a:bodyPr wrap="square" lIns="0" rIns="0" tIns="0" bIns="0">
            <a:spAutoFit/>
          </a:bodyPr>
          <a:lstStyle/>
          <a:p>
            <a:pPr algn="l"/>
            <a:r>
              <a:rPr sz="1150" b="0">
                <a:solidFill>
                  <a:srgbClr val="B33A3A"/>
                </a:solidFill>
                <a:latin typeface="Aptos"/>
              </a:rPr>
              <a:t>Without: "show the improvement"</a:t>
            </a:r>
          </a:p>
        </p:txBody>
      </p:sp>
      <p:sp>
        <p:nvSpPr>
          <p:cNvPr id="17" name="TextBox 16"/>
          <p:cNvSpPr txBox="1"/>
          <p:nvPr/>
        </p:nvSpPr>
        <p:spPr>
          <a:xfrm>
            <a:off x="7635240" y="2944368"/>
            <a:ext cx="4005072" cy="347472"/>
          </a:xfrm>
          <a:prstGeom prst="rect">
            <a:avLst/>
          </a:prstGeom>
          <a:noFill/>
        </p:spPr>
        <p:txBody>
          <a:bodyPr wrap="square" lIns="0" rIns="0" tIns="0" bIns="0">
            <a:spAutoFit/>
          </a:bodyPr>
          <a:lstStyle/>
          <a:p>
            <a:pPr algn="l"/>
            <a:r>
              <a:rPr sz="1150" b="0">
                <a:solidFill>
                  <a:srgbClr val="1E7A4F"/>
                </a:solidFill>
                <a:latin typeface="Aptos"/>
              </a:rPr>
              <a:t>With: "deviation rate = deviations / opportunities, percent, 2 dp"</a:t>
            </a:r>
          </a:p>
        </p:txBody>
      </p:sp>
      <p:sp>
        <p:nvSpPr>
          <p:cNvPr id="18" name="Rounded Rectangle 17"/>
          <p:cNvSpPr/>
          <p:nvPr/>
        </p:nvSpPr>
        <p:spPr>
          <a:xfrm>
            <a:off x="566928" y="3858768"/>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13632"/>
            <a:ext cx="384048" cy="274320"/>
          </a:xfrm>
          <a:prstGeom prst="rect">
            <a:avLst/>
          </a:prstGeom>
          <a:noFill/>
        </p:spPr>
        <p:txBody>
          <a:bodyPr wrap="square" lIns="0" rIns="0" tIns="0" bIns="0">
            <a:spAutoFit/>
          </a:bodyPr>
          <a:lstStyle/>
          <a:p>
            <a:pPr algn="ctr"/>
            <a:r>
              <a:rPr sz="1300" b="1">
                <a:solidFill>
                  <a:srgbClr val="FFFFFF"/>
                </a:solidFill>
                <a:latin typeface="Aptos"/>
              </a:rPr>
              <a:t>A</a:t>
            </a:r>
          </a:p>
        </p:txBody>
      </p:sp>
      <p:sp>
        <p:nvSpPr>
          <p:cNvPr id="20" name="TextBox 19"/>
          <p:cNvSpPr txBox="1"/>
          <p:nvPr/>
        </p:nvSpPr>
        <p:spPr>
          <a:xfrm>
            <a:off x="1097280" y="3877056"/>
            <a:ext cx="2331720" cy="274320"/>
          </a:xfrm>
          <a:prstGeom prst="rect">
            <a:avLst/>
          </a:prstGeom>
          <a:noFill/>
        </p:spPr>
        <p:txBody>
          <a:bodyPr wrap="square" lIns="0" rIns="0" tIns="0" bIns="0">
            <a:spAutoFit/>
          </a:bodyPr>
          <a:lstStyle/>
          <a:p>
            <a:pPr algn="l"/>
            <a:r>
              <a:rPr sz="1350" b="1">
                <a:solidFill>
                  <a:srgbClr val="102B3E"/>
                </a:solidFill>
                <a:latin typeface="Aptos"/>
              </a:rPr>
              <a:t>Assumptions</a:t>
            </a:r>
          </a:p>
        </p:txBody>
      </p:sp>
      <p:sp>
        <p:nvSpPr>
          <p:cNvPr id="21" name="TextBox 20"/>
          <p:cNvSpPr txBox="1"/>
          <p:nvPr/>
        </p:nvSpPr>
        <p:spPr>
          <a:xfrm>
            <a:off x="3611880" y="3877056"/>
            <a:ext cx="3794760" cy="347472"/>
          </a:xfrm>
          <a:prstGeom prst="rect">
            <a:avLst/>
          </a:prstGeom>
          <a:noFill/>
        </p:spPr>
        <p:txBody>
          <a:bodyPr wrap="square" lIns="0" rIns="0" tIns="0" bIns="0">
            <a:spAutoFit/>
          </a:bodyPr>
          <a:lstStyle/>
          <a:p>
            <a:pPr algn="l"/>
            <a:r>
              <a:rPr sz="1150" b="0">
                <a:solidFill>
                  <a:srgbClr val="B33A3A"/>
                </a:solidFill>
                <a:latin typeface="Aptos"/>
              </a:rPr>
              <a:t>Without: assumptions stay hidden inside the answer</a:t>
            </a:r>
          </a:p>
        </p:txBody>
      </p:sp>
      <p:sp>
        <p:nvSpPr>
          <p:cNvPr id="22" name="TextBox 21"/>
          <p:cNvSpPr txBox="1"/>
          <p:nvPr/>
        </p:nvSpPr>
        <p:spPr>
          <a:xfrm>
            <a:off x="7635240" y="3877056"/>
            <a:ext cx="4005072" cy="347472"/>
          </a:xfrm>
          <a:prstGeom prst="rect">
            <a:avLst/>
          </a:prstGeom>
          <a:noFill/>
        </p:spPr>
        <p:txBody>
          <a:bodyPr wrap="square" lIns="0" rIns="0" tIns="0" bIns="0">
            <a:spAutoFit/>
          </a:bodyPr>
          <a:lstStyle/>
          <a:p>
            <a:pPr algn="l"/>
            <a:r>
              <a:rPr sz="1150" b="0">
                <a:solidFill>
                  <a:srgbClr val="1E7A4F"/>
                </a:solidFill>
                <a:latin typeface="Aptos"/>
              </a:rPr>
              <a:t>With: "state that the deviation definition was unchanged"</a:t>
            </a:r>
          </a:p>
        </p:txBody>
      </p:sp>
      <p:sp>
        <p:nvSpPr>
          <p:cNvPr id="23" name="Rounded Rectangle 22"/>
          <p:cNvSpPr/>
          <p:nvPr/>
        </p:nvSpPr>
        <p:spPr>
          <a:xfrm>
            <a:off x="566928" y="4791456"/>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846320"/>
            <a:ext cx="384048" cy="274320"/>
          </a:xfrm>
          <a:prstGeom prst="rect">
            <a:avLst/>
          </a:prstGeom>
          <a:noFill/>
        </p:spPr>
        <p:txBody>
          <a:bodyPr wrap="square" lIns="0" rIns="0" tIns="0" bIns="0">
            <a:spAutoFit/>
          </a:bodyPr>
          <a:lstStyle/>
          <a:p>
            <a:pPr algn="ctr"/>
            <a:r>
              <a:rPr sz="1300" b="1">
                <a:solidFill>
                  <a:srgbClr val="FFFFFF"/>
                </a:solidFill>
                <a:latin typeface="Aptos"/>
              </a:rPr>
              <a:t>P</a:t>
            </a:r>
          </a:p>
        </p:txBody>
      </p:sp>
      <p:sp>
        <p:nvSpPr>
          <p:cNvPr id="25" name="TextBox 24"/>
          <p:cNvSpPr txBox="1"/>
          <p:nvPr/>
        </p:nvSpPr>
        <p:spPr>
          <a:xfrm>
            <a:off x="1097280" y="4809744"/>
            <a:ext cx="2331720" cy="274320"/>
          </a:xfrm>
          <a:prstGeom prst="rect">
            <a:avLst/>
          </a:prstGeom>
          <a:noFill/>
        </p:spPr>
        <p:txBody>
          <a:bodyPr wrap="square" lIns="0" rIns="0" tIns="0" bIns="0">
            <a:spAutoFit/>
          </a:bodyPr>
          <a:lstStyle/>
          <a:p>
            <a:pPr algn="l"/>
            <a:r>
              <a:rPr sz="1350" b="1">
                <a:solidFill>
                  <a:srgbClr val="102B3E"/>
                </a:solidFill>
                <a:latin typeface="Aptos"/>
              </a:rPr>
              <a:t>Parameters</a:t>
            </a:r>
          </a:p>
        </p:txBody>
      </p:sp>
      <p:sp>
        <p:nvSpPr>
          <p:cNvPr id="26" name="TextBox 25"/>
          <p:cNvSpPr txBox="1"/>
          <p:nvPr/>
        </p:nvSpPr>
        <p:spPr>
          <a:xfrm>
            <a:off x="3611880" y="4809744"/>
            <a:ext cx="3794760" cy="347472"/>
          </a:xfrm>
          <a:prstGeom prst="rect">
            <a:avLst/>
          </a:prstGeom>
          <a:noFill/>
        </p:spPr>
        <p:txBody>
          <a:bodyPr wrap="square" lIns="0" rIns="0" tIns="0" bIns="0">
            <a:spAutoFit/>
          </a:bodyPr>
          <a:lstStyle/>
          <a:p>
            <a:pPr algn="l"/>
            <a:r>
              <a:rPr sz="1150" b="0">
                <a:solidFill>
                  <a:srgbClr val="B33A3A"/>
                </a:solidFill>
                <a:latin typeface="Aptos"/>
              </a:rPr>
              <a:t>Without: the model chooses its own scope</a:t>
            </a:r>
          </a:p>
        </p:txBody>
      </p:sp>
      <p:sp>
        <p:nvSpPr>
          <p:cNvPr id="27" name="TextBox 26"/>
          <p:cNvSpPr txBox="1"/>
          <p:nvPr/>
        </p:nvSpPr>
        <p:spPr>
          <a:xfrm>
            <a:off x="7635240" y="4809744"/>
            <a:ext cx="4005072" cy="347472"/>
          </a:xfrm>
          <a:prstGeom prst="rect">
            <a:avLst/>
          </a:prstGeom>
          <a:noFill/>
        </p:spPr>
        <p:txBody>
          <a:bodyPr wrap="square" lIns="0" rIns="0" tIns="0" bIns="0">
            <a:spAutoFit/>
          </a:bodyPr>
          <a:lstStyle/>
          <a:p>
            <a:pPr algn="l"/>
            <a:r>
              <a:rPr sz="1150" b="0">
                <a:solidFill>
                  <a:srgbClr val="1E7A4F"/>
                </a:solidFill>
                <a:latin typeface="Aptos"/>
              </a:rPr>
              <a:t>With: "six weeks only, three per phase, no other period"</a:t>
            </a:r>
          </a:p>
        </p:txBody>
      </p:sp>
      <p:sp>
        <p:nvSpPr>
          <p:cNvPr id="28" name="Rectangle 27"/>
          <p:cNvSpPr/>
          <p:nvPr/>
        </p:nvSpPr>
        <p:spPr>
          <a:xfrm>
            <a:off x="566928" y="5779008"/>
            <a:ext cx="11064240" cy="566928"/>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907024"/>
            <a:ext cx="10515600" cy="365760"/>
          </a:xfrm>
          <a:prstGeom prst="rect">
            <a:avLst/>
          </a:prstGeom>
          <a:noFill/>
        </p:spPr>
        <p:txBody>
          <a:bodyPr wrap="square" lIns="0" rIns="0" tIns="0" bIns="0">
            <a:spAutoFit/>
          </a:bodyPr>
          <a:lstStyle/>
          <a:p>
            <a:pPr algn="l"/>
            <a:r>
              <a:rPr sz="1250" b="0">
                <a:solidFill>
                  <a:srgbClr val="102B3E"/>
                </a:solidFill>
                <a:latin typeface="Aptos"/>
              </a:rPr>
              <a:t>E-MAP is what stops a generic answer. It pins the units, keeps the assumptions visible, and fences the data — so two engineers running the same prompt get the same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What better prompting actually buys you</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Measured on the same task, by the same engineer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95728"/>
            <a:ext cx="2194560" cy="292608"/>
          </a:xfrm>
          <a:prstGeom prst="rect">
            <a:avLst/>
          </a:prstGeom>
          <a:noFill/>
        </p:spPr>
        <p:txBody>
          <a:bodyPr wrap="square" lIns="0" rIns="0" tIns="0" bIns="0">
            <a:spAutoFit/>
          </a:bodyPr>
          <a:lstStyle/>
          <a:p>
            <a:pPr algn="l"/>
            <a:r>
              <a:rPr sz="1500" b="1">
                <a:solidFill>
                  <a:srgbClr val="102B3E"/>
                </a:solidFill>
                <a:latin typeface="Aptos"/>
              </a:rPr>
              <a:t>Rework</a:t>
            </a:r>
          </a:p>
        </p:txBody>
      </p:sp>
      <p:sp>
        <p:nvSpPr>
          <p:cNvPr id="11" name="TextBox 10"/>
          <p:cNvSpPr txBox="1"/>
          <p:nvPr/>
        </p:nvSpPr>
        <p:spPr>
          <a:xfrm>
            <a:off x="822960" y="2834640"/>
            <a:ext cx="2194560" cy="1280160"/>
          </a:xfrm>
          <a:prstGeom prst="rect">
            <a:avLst/>
          </a:prstGeom>
          <a:noFill/>
        </p:spPr>
        <p:txBody>
          <a:bodyPr wrap="square" lIns="0" rIns="0" tIns="0" bIns="0">
            <a:spAutoFit/>
          </a:bodyPr>
          <a:lstStyle/>
          <a:p>
            <a:pPr algn="l"/>
            <a:r>
              <a:rPr sz="1200" b="0">
                <a:solidFill>
                  <a:srgbClr val="536A78"/>
                </a:solidFill>
                <a:latin typeface="Aptos"/>
              </a:rPr>
              <a:t>Fewer regeneration cycles because the format and scope were stated once.</a:t>
            </a:r>
          </a:p>
        </p:txBody>
      </p:sp>
      <p:sp>
        <p:nvSpPr>
          <p:cNvPr id="12" name="Rectangle 11"/>
          <p:cNvSpPr/>
          <p:nvPr/>
        </p:nvSpPr>
        <p:spPr>
          <a:xfrm>
            <a:off x="3364992"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2395728"/>
            <a:ext cx="2194560" cy="292608"/>
          </a:xfrm>
          <a:prstGeom prst="rect">
            <a:avLst/>
          </a:prstGeom>
          <a:noFill/>
        </p:spPr>
        <p:txBody>
          <a:bodyPr wrap="square" lIns="0" rIns="0" tIns="0" bIns="0">
            <a:spAutoFit/>
          </a:bodyPr>
          <a:lstStyle/>
          <a:p>
            <a:pPr algn="l"/>
            <a:r>
              <a:rPr sz="1500" b="1">
                <a:solidFill>
                  <a:srgbClr val="102B3E"/>
                </a:solidFill>
                <a:latin typeface="Aptos"/>
              </a:rPr>
              <a:t>Traceability</a:t>
            </a:r>
          </a:p>
        </p:txBody>
      </p:sp>
      <p:sp>
        <p:nvSpPr>
          <p:cNvPr id="15" name="TextBox 14"/>
          <p:cNvSpPr txBox="1"/>
          <p:nvPr/>
        </p:nvSpPr>
        <p:spPr>
          <a:xfrm>
            <a:off x="3621024" y="2834640"/>
            <a:ext cx="2194560" cy="1280160"/>
          </a:xfrm>
          <a:prstGeom prst="rect">
            <a:avLst/>
          </a:prstGeom>
          <a:noFill/>
        </p:spPr>
        <p:txBody>
          <a:bodyPr wrap="square" lIns="0" rIns="0" tIns="0" bIns="0">
            <a:spAutoFit/>
          </a:bodyPr>
          <a:lstStyle/>
          <a:p>
            <a:pPr algn="l"/>
            <a:r>
              <a:rPr sz="1200" b="0">
                <a:solidFill>
                  <a:srgbClr val="536A78"/>
                </a:solidFill>
                <a:latin typeface="Aptos"/>
              </a:rPr>
              <a:t>Every number carries a formula and a source, so review is fast.</a:t>
            </a:r>
          </a:p>
        </p:txBody>
      </p:sp>
      <p:sp>
        <p:nvSpPr>
          <p:cNvPr id="16" name="Rectangle 15"/>
          <p:cNvSpPr/>
          <p:nvPr/>
        </p:nvSpPr>
        <p:spPr>
          <a:xfrm>
            <a:off x="6163056"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63056"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2395728"/>
            <a:ext cx="2194560" cy="292608"/>
          </a:xfrm>
          <a:prstGeom prst="rect">
            <a:avLst/>
          </a:prstGeom>
          <a:noFill/>
        </p:spPr>
        <p:txBody>
          <a:bodyPr wrap="square" lIns="0" rIns="0" tIns="0" bIns="0">
            <a:spAutoFit/>
          </a:bodyPr>
          <a:lstStyle/>
          <a:p>
            <a:pPr algn="l"/>
            <a:r>
              <a:rPr sz="1500" b="1">
                <a:solidFill>
                  <a:srgbClr val="102B3E"/>
                </a:solidFill>
                <a:latin typeface="Aptos"/>
              </a:rPr>
              <a:t>Safety</a:t>
            </a:r>
          </a:p>
        </p:txBody>
      </p:sp>
      <p:sp>
        <p:nvSpPr>
          <p:cNvPr id="19" name="TextBox 18"/>
          <p:cNvSpPr txBox="1"/>
          <p:nvPr/>
        </p:nvSpPr>
        <p:spPr>
          <a:xfrm>
            <a:off x="6419088" y="2834640"/>
            <a:ext cx="2194560" cy="1280160"/>
          </a:xfrm>
          <a:prstGeom prst="rect">
            <a:avLst/>
          </a:prstGeom>
          <a:noFill/>
        </p:spPr>
        <p:txBody>
          <a:bodyPr wrap="square" lIns="0" rIns="0" tIns="0" bIns="0">
            <a:spAutoFit/>
          </a:bodyPr>
          <a:lstStyle/>
          <a:p>
            <a:pPr algn="l"/>
            <a:r>
              <a:rPr sz="1200" b="0">
                <a:solidFill>
                  <a:srgbClr val="536A78"/>
                </a:solidFill>
                <a:latin typeface="Aptos"/>
              </a:rPr>
              <a:t>The boundary is explicit, so the model does not approve or diagnose.</a:t>
            </a:r>
          </a:p>
        </p:txBody>
      </p:sp>
      <p:sp>
        <p:nvSpPr>
          <p:cNvPr id="20" name="Rectangle 19"/>
          <p:cNvSpPr/>
          <p:nvPr/>
        </p:nvSpPr>
        <p:spPr>
          <a:xfrm>
            <a:off x="8961120"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61120"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17152" y="2395728"/>
            <a:ext cx="2194560" cy="292608"/>
          </a:xfrm>
          <a:prstGeom prst="rect">
            <a:avLst/>
          </a:prstGeom>
          <a:noFill/>
        </p:spPr>
        <p:txBody>
          <a:bodyPr wrap="square" lIns="0" rIns="0" tIns="0" bIns="0">
            <a:spAutoFit/>
          </a:bodyPr>
          <a:lstStyle/>
          <a:p>
            <a:pPr algn="l"/>
            <a:r>
              <a:rPr sz="1500" b="1">
                <a:solidFill>
                  <a:srgbClr val="102B3E"/>
                </a:solidFill>
                <a:latin typeface="Aptos"/>
              </a:rPr>
              <a:t>Repeatability</a:t>
            </a:r>
          </a:p>
        </p:txBody>
      </p:sp>
      <p:sp>
        <p:nvSpPr>
          <p:cNvPr id="23" name="TextBox 22"/>
          <p:cNvSpPr txBox="1"/>
          <p:nvPr/>
        </p:nvSpPr>
        <p:spPr>
          <a:xfrm>
            <a:off x="9217152" y="2834640"/>
            <a:ext cx="2194560" cy="1280160"/>
          </a:xfrm>
          <a:prstGeom prst="rect">
            <a:avLst/>
          </a:prstGeom>
          <a:noFill/>
        </p:spPr>
        <p:txBody>
          <a:bodyPr wrap="square" lIns="0" rIns="0" tIns="0" bIns="0">
            <a:spAutoFit/>
          </a:bodyPr>
          <a:lstStyle/>
          <a:p>
            <a:pPr algn="l"/>
            <a:r>
              <a:rPr sz="1200" b="0">
                <a:solidFill>
                  <a:srgbClr val="536A78"/>
                </a:solidFill>
                <a:latin typeface="Aptos"/>
              </a:rPr>
              <a:t>A colleague can rerun the prompt and get a comparable answer.</a:t>
            </a:r>
          </a:p>
        </p:txBody>
      </p:sp>
      <p:sp>
        <p:nvSpPr>
          <p:cNvPr id="24" name="TextBox 23"/>
          <p:cNvSpPr txBox="1"/>
          <p:nvPr/>
        </p:nvSpPr>
        <p:spPr>
          <a:xfrm>
            <a:off x="566928" y="4709160"/>
            <a:ext cx="11064240" cy="310896"/>
          </a:xfrm>
          <a:prstGeom prst="rect">
            <a:avLst/>
          </a:prstGeom>
          <a:noFill/>
        </p:spPr>
        <p:txBody>
          <a:bodyPr wrap="square" lIns="0" rIns="0" tIns="0" bIns="0">
            <a:spAutoFit/>
          </a:bodyPr>
          <a:lstStyle/>
          <a:p>
            <a:pPr algn="l"/>
            <a:r>
              <a:rPr sz="1500" b="1">
                <a:solidFill>
                  <a:srgbClr val="102B3E"/>
                </a:solidFill>
                <a:latin typeface="Aptos"/>
              </a:rPr>
              <a:t>The one habit that matters most</a:t>
            </a:r>
          </a:p>
        </p:txBody>
      </p:sp>
      <p:sp>
        <p:nvSpPr>
          <p:cNvPr id="25" name="TextBox 24"/>
          <p:cNvSpPr txBox="1"/>
          <p:nvPr/>
        </p:nvSpPr>
        <p:spPr>
          <a:xfrm>
            <a:off x="566928" y="5102352"/>
            <a:ext cx="11064240" cy="1005840"/>
          </a:xfrm>
          <a:prstGeom prst="rect">
            <a:avLst/>
          </a:prstGeom>
          <a:noFill/>
        </p:spPr>
        <p:txBody>
          <a:bodyPr wrap="square" lIns="0" rIns="0" tIns="0" bIns="0">
            <a:spAutoFit/>
          </a:bodyPr>
          <a:lstStyle/>
          <a:p>
            <a:pPr algn="l"/>
            <a:r>
              <a:rPr sz="1350" b="0">
                <a:solidFill>
                  <a:srgbClr val="536A78"/>
                </a:solidFill>
                <a:latin typeface="Aptos"/>
              </a:rPr>
              <a:t>Name the evidence the model may use, and forbid everything else. Almost every invented failure mode, phantom clause and confident wrong cause in this course traces back to a prompt that did not say which data was in scope.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Iterative prompting is a review loop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one gap, refine one instruction, rerun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Run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Generate first draft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with source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 gap</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error or omission</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Refine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Add one precise instruction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Rerun</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the change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36</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adds engineering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function, lifecycle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 · 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Units, formula, target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 · 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 unknown, provisional</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 · 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conditions,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37</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Engineering context prevents generic answers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system and the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Describe the system and the decision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System</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CW-401 chemical dosing skid</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at a controlled rate</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Lifecycle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Standardised delivery test</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Investigate unusual change</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38</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Metrics make comparison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numerator, denominator, units and time basis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Flow rate</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Volume × 3600 ÷ duration</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Deviation rate</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Deviations ÷ opportunities</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Severity × Occurrence × Detection</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39</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Assumptions must remain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what is known from what is provisional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Known</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T10 = 59.4 L/h</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Assumption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Test conditions were comparable</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Unknown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Which intervention changed performance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40</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Parameters define the operating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Give limits, revisions and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Revision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TR-401 revision 1</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Reference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Eight Baseline readings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Specification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58.9–65.1 L/h fictional range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change source rows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Combine RISE and E-MAP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RISE structures the request; E-MAP supplies technical detail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3553968" cy="2926080"/>
          </a:xfrm>
          <a:prstGeom prst="roundRect">
            <a:avLst>
              <a:gd name="adj" fmla="val 2500"/>
            </a:avLst>
          </a:prstGeom>
          <a:solidFill>
            <a:srgbClr val="FFFFFF"/>
          </a:solidFill>
          <a:ln w="12700">
            <a:solidFill>
              <a:srgbClr val="C8D9DC"/>
            </a:solidFill>
            <a:prstDash val="solid"/>
          </a:ln>
        </p:spPr>
      </p:sp>
      <p:sp>
        <p:nvSpPr>
          <p:cNvPr id="10" name="Text 8"/>
          <p:cNvSpPr txBox="1"/>
          <p:nvPr/>
        </p:nvSpPr>
        <p:spPr>
          <a:xfrm>
            <a:off x="704088"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1" name="Text 9"/>
          <p:cNvSpPr txBox="1"/>
          <p:nvPr/>
        </p:nvSpPr>
        <p:spPr>
          <a:xfrm>
            <a:off x="731520"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evidence, work, output</a:t>
            </a:r>
            <a:endParaRPr lang="en-US" sz="1500" dirty="0"/>
          </a:p>
        </p:txBody>
      </p:sp>
      <p:sp>
        <p:nvSpPr>
          <p:cNvPr id="12" name="Shape 10"/>
          <p:cNvSpPr/>
          <p:nvPr/>
        </p:nvSpPr>
        <p:spPr>
          <a:xfrm>
            <a:off x="4139184" y="3886200"/>
            <a:ext cx="118872" cy="0"/>
          </a:xfrm>
          <a:prstGeom prst="line">
            <a:avLst/>
          </a:prstGeom>
          <a:noFill/>
          <a:ln w="25400">
            <a:solidFill>
              <a:srgbClr val="078897"/>
            </a:solidFill>
            <a:prstDash val="solid"/>
            <a:tailEnd type="triangle"/>
          </a:ln>
        </p:spPr>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487168"/>
            <a:ext cx="3553968" cy="2926080"/>
          </a:xfrm>
          <a:prstGeom prst="roundRect">
            <a:avLst>
              <a:gd name="adj" fmla="val 2500"/>
            </a:avLst>
          </a:prstGeom>
          <a:solidFill>
            <a:srgbClr val="FFFFFF"/>
          </a:solidFill>
          <a:ln w="12700">
            <a:solidFill>
              <a:srgbClr val="C8D9DC"/>
            </a:solidFill>
            <a:prstDash val="solid"/>
          </a:ln>
        </p:spPr>
      </p:sp>
      <p:sp>
        <p:nvSpPr>
          <p:cNvPr id="16" name="Text 14"/>
          <p:cNvSpPr txBox="1"/>
          <p:nvPr/>
        </p:nvSpPr>
        <p:spPr>
          <a:xfrm>
            <a:off x="4413504"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17" name="Text 15"/>
          <p:cNvSpPr txBox="1"/>
          <p:nvPr/>
        </p:nvSpPr>
        <p:spPr>
          <a:xfrm>
            <a:off x="4440936"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System, measures, assumptions, limits</a:t>
            </a:r>
            <a:endParaRPr lang="en-US" sz="1500" dirty="0"/>
          </a:p>
        </p:txBody>
      </p:sp>
      <p:sp>
        <p:nvSpPr>
          <p:cNvPr id="18" name="Shape 16"/>
          <p:cNvSpPr/>
          <p:nvPr/>
        </p:nvSpPr>
        <p:spPr>
          <a:xfrm>
            <a:off x="7848600" y="3886200"/>
            <a:ext cx="118872" cy="0"/>
          </a:xfrm>
          <a:prstGeom prst="line">
            <a:avLst/>
          </a:prstGeom>
          <a:noFill/>
          <a:ln w="25400">
            <a:solidFill>
              <a:srgbClr val="078897"/>
            </a:solidFill>
            <a:prstDash val="solid"/>
            <a:tailEnd type="triangle"/>
          </a:ln>
        </p:spPr>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487168"/>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23" name="Text 21"/>
          <p:cNvSpPr txBox="1"/>
          <p:nvPr/>
        </p:nvSpPr>
        <p:spPr>
          <a:xfrm>
            <a:off x="8150352"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 draft that can be checked</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Constraints make the answer reviewable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must be preserved and what must not be claimed</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Data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Keep units, order and missing values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Formula</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rows and parameters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Evidence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Use named sources only</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Do not invent cause or approval</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Weak and strong constraints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Precise boundaries are easier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Weak</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Be accurate and careful.</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Strong</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only FMEAInput; preserve four rows and ratings; show RPN formula; flag Severity ≥ 9; do not approve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44</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Request a fixed output schema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structure makes review faster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Observation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changed?</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value supports it?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remains 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Next check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evidence is needed?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45</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Ask Copilot to expose its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Traceability begins inside the prompt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sheet, table or clause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Formula</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Show calculation</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Assumption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Label provisional statements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Citation</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 a link or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Unknown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Say when evidence is absent</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46</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review catches different gaps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viewpoints that have distinct responsibilities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Reliability</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Failure mechanisms and maintainability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Operations</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Conditions, sequence and practicality</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Safety</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Hazards and safeguards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Quality</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criteria and traceability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47</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each role to challenge the same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Review the draft from three perspectives: reliability, operations and safety. Each persona must identify one unsupported claim, one missing piece of evidence and one practical check. Preserve disagreements.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Reliability</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failure mechanism is unsupported?</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Operations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condition may have changed?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Safety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must be checked before action?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48</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Let the personas debate before synthesis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Disagreement can reveal assumptions hidden by consensus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Claim</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“The strainer replacement solved the problem.”</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Reliability</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Was blockage confirmed?</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Operations</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Two interventions happened together.</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Safety</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must be checked before changing controls?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Synthesis</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Performance improved; cause remains unisolated.</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49</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Debate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argument, rebuttal and a bounded conclusion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Run a two-round review. Reliability, Operations and Safety each state one claim with evidence. In round two, each challenges one other claim. Finish with agreed facts, unresolved disagreements and the smallest test that could resolve them. Do not force consensus.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1</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Each persona gives evidence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2</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Challenge another claim</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Final</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List agreement, disagreement and next test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50</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2.1 · Draft a technical specification in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requirements, tolerances and test criteria</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Design requirements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source, ordered sections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Units, assumptions, parameters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Editable spec and clause checklist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51</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2.2 · Convert site notes into an engineering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observations, findings and recommendations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Raw notes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Facts, timestamps and photos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Observation → evidence → finding</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Audience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Technical body + executive summary</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non-conformance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2.3 · Risk assessment and method statement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E-MAP to preserve work conditions and controls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Activity</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Task and location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Hazards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cause harm</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Controls</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Existing and proposed</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Method</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Safe sequence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Competent-person approval</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53</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PowerPoint · create a management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Communicate the checked decision, evidence and next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Headline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Observed change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chart and two values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Cause not yet proven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Decision</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Controlled next test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54</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Prompt quality is visible in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Structure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RISE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Technical context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E-MAP</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Improve</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Constraints + personas + iteration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 + independent check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55</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3-quality-method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3</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Engineering Methodology Primer &amp; Document Automation</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Understand FMEA → DMAIC → SPC before asking Copilot to build the outputs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56</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3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FMEA</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failure mode, effect, cause, control and RPN.</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DMAIC</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DMAIC</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five phases and three everyday analysis tools.</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SPC</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SPC</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control charts, variation and Cp/Cpk.</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Copilot in Excel and verify one result per method.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57</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the methods in this sequence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 improvement → monitoring, and that is the order of your three labs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3553968" cy="2926080"/>
          </a:xfrm>
          <a:prstGeom prst="roundRect">
            <a:avLst>
              <a:gd name="adj" fmla="val 2500"/>
            </a:avLst>
          </a:prstGeom>
          <a:solidFill>
            <a:srgbClr val="FFFFFF"/>
          </a:solidFill>
          <a:ln w="12700">
            <a:solidFill>
              <a:srgbClr val="C8D9DC"/>
            </a:solidFill>
            <a:prstDash val="solid"/>
          </a:ln>
        </p:spPr>
      </p:sp>
      <p:sp>
        <p:nvSpPr>
          <p:cNvPr id="10" name="Text 8"/>
          <p:cNvSpPr txBox="1"/>
          <p:nvPr/>
        </p:nvSpPr>
        <p:spPr>
          <a:xfrm>
            <a:off x="704088"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1 · FMEA</a:t>
            </a:r>
            <a:endParaRPr lang="en-US" sz="1800" dirty="0"/>
          </a:p>
        </p:txBody>
      </p:sp>
      <p:sp>
        <p:nvSpPr>
          <p:cNvPr id="11" name="Text 9"/>
          <p:cNvSpPr txBox="1"/>
          <p:nvPr/>
        </p:nvSpPr>
        <p:spPr>
          <a:xfrm>
            <a:off x="731520"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fail?  ·  Lab 3.1</a:t>
            </a:r>
            <a:endParaRPr lang="en-US" sz="1500" dirty="0"/>
          </a:p>
        </p:txBody>
      </p:sp>
      <p:sp>
        <p:nvSpPr>
          <p:cNvPr id="12" name="Shape 10"/>
          <p:cNvSpPr/>
          <p:nvPr/>
        </p:nvSpPr>
        <p:spPr>
          <a:xfrm>
            <a:off x="4139184" y="3886200"/>
            <a:ext cx="118872" cy="0"/>
          </a:xfrm>
          <a:prstGeom prst="line">
            <a:avLst/>
          </a:prstGeom>
          <a:noFill/>
          <a:ln w="25400">
            <a:solidFill>
              <a:srgbClr val="078897"/>
            </a:solidFill>
            <a:prstDash val="solid"/>
            <a:tailEnd type="triangle"/>
          </a:ln>
        </p:spPr>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487168"/>
            <a:ext cx="3553968" cy="2926080"/>
          </a:xfrm>
          <a:prstGeom prst="roundRect">
            <a:avLst>
              <a:gd name="adj" fmla="val 2500"/>
            </a:avLst>
          </a:prstGeom>
          <a:solidFill>
            <a:srgbClr val="FFFFFF"/>
          </a:solidFill>
          <a:ln w="12700">
            <a:solidFill>
              <a:srgbClr val="C8D9DC"/>
            </a:solidFill>
            <a:prstDash val="solid"/>
          </a:ln>
        </p:spPr>
      </p:sp>
      <p:sp>
        <p:nvSpPr>
          <p:cNvPr id="16" name="Text 14"/>
          <p:cNvSpPr txBox="1"/>
          <p:nvPr/>
        </p:nvSpPr>
        <p:spPr>
          <a:xfrm>
            <a:off x="4413504"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2 · DMAIC</a:t>
            </a:r>
            <a:endParaRPr lang="en-US" sz="1800" dirty="0"/>
          </a:p>
        </p:txBody>
      </p:sp>
      <p:sp>
        <p:nvSpPr>
          <p:cNvPr id="17" name="Text 15"/>
          <p:cNvSpPr txBox="1"/>
          <p:nvPr/>
        </p:nvSpPr>
        <p:spPr>
          <a:xfrm>
            <a:off x="4440936"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we improve?  ·  Lab 3.2</a:t>
            </a:r>
            <a:endParaRPr lang="en-US" sz="1500" dirty="0"/>
          </a:p>
        </p:txBody>
      </p:sp>
      <p:sp>
        <p:nvSpPr>
          <p:cNvPr id="18" name="Shape 16"/>
          <p:cNvSpPr/>
          <p:nvPr/>
        </p:nvSpPr>
        <p:spPr>
          <a:xfrm>
            <a:off x="7848600" y="3886200"/>
            <a:ext cx="118872" cy="0"/>
          </a:xfrm>
          <a:prstGeom prst="line">
            <a:avLst/>
          </a:prstGeom>
          <a:noFill/>
          <a:ln w="25400">
            <a:solidFill>
              <a:srgbClr val="078897"/>
            </a:solidFill>
            <a:prstDash val="solid"/>
            <a:tailEnd type="triangle"/>
          </a:ln>
        </p:spPr>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487168"/>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3 · SPC</a:t>
            </a:r>
            <a:endParaRPr lang="en-US" sz="1800" dirty="0"/>
          </a:p>
        </p:txBody>
      </p:sp>
      <p:sp>
        <p:nvSpPr>
          <p:cNvPr id="23" name="Text 21"/>
          <p:cNvSpPr txBox="1"/>
          <p:nvPr/>
        </p:nvSpPr>
        <p:spPr>
          <a:xfrm>
            <a:off x="8150352"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Is the process stable?  ·  Lab 3.3</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58</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structured review of potential failure before harm or disruption occurs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fmea.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structured review of potential failure before harm or disruption occurs</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Full name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Failure Mode and Effects Analysis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What could fail, with what effect, and how is it controlled?</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Prioritised action list with evidence gaps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59</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When engineers use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before release and when systems or processes change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Design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concepts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Commission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new failure paths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Assess modification risk</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Operation</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Update after evidence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Track actions and residual risk</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60</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FMEA row tells one risk story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Read the columns from left to right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423160"/>
            <a:ext cx="2062886" cy="3154680"/>
          </a:xfrm>
          <a:prstGeom prst="roundRect">
            <a:avLst>
              <a:gd name="adj" fmla="val 3546"/>
            </a:avLst>
          </a:prstGeom>
          <a:solidFill>
            <a:srgbClr val="FFFFFF"/>
          </a:solidFill>
          <a:ln w="12700">
            <a:solidFill>
              <a:srgbClr val="C8D9DC"/>
            </a:solidFill>
            <a:prstDash val="solid"/>
          </a:ln>
        </p:spPr>
      </p:sp>
      <p:sp>
        <p:nvSpPr>
          <p:cNvPr id="8" name="Shape 6"/>
          <p:cNvSpPr/>
          <p:nvPr/>
        </p:nvSpPr>
        <p:spPr>
          <a:xfrm>
            <a:off x="1342339" y="2112264"/>
            <a:ext cx="512064" cy="512064"/>
          </a:xfrm>
          <a:prstGeom prst="ellipse">
            <a:avLst/>
          </a:prstGeom>
          <a:solidFill>
            <a:srgbClr val="078897"/>
          </a:solidFill>
          <a:ln w="12700">
            <a:solidFill>
              <a:srgbClr val="078897"/>
            </a:solidFill>
            <a:prstDash val="solid"/>
          </a:ln>
        </p:spPr>
      </p:sp>
      <p:sp>
        <p:nvSpPr>
          <p:cNvPr id="9" name="Text 7"/>
          <p:cNvSpPr txBox="1"/>
          <p:nvPr/>
        </p:nvSpPr>
        <p:spPr>
          <a:xfrm>
            <a:off x="1342339"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10" name="Text 8"/>
          <p:cNvSpPr txBox="1"/>
          <p:nvPr/>
        </p:nvSpPr>
        <p:spPr>
          <a:xfrm>
            <a:off x="704088"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1" name="Text 9"/>
          <p:cNvSpPr txBox="1"/>
          <p:nvPr/>
        </p:nvSpPr>
        <p:spPr>
          <a:xfrm>
            <a:off x="731520"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 liquid</a:t>
            </a:r>
            <a:endParaRPr lang="en-US" sz="1400" dirty="0"/>
          </a:p>
        </p:txBody>
      </p:sp>
      <p:sp>
        <p:nvSpPr>
          <p:cNvPr id="12" name="Shape 10"/>
          <p:cNvSpPr/>
          <p:nvPr/>
        </p:nvSpPr>
        <p:spPr>
          <a:xfrm>
            <a:off x="2638958" y="3977640"/>
            <a:ext cx="146304" cy="0"/>
          </a:xfrm>
          <a:prstGeom prst="line">
            <a:avLst/>
          </a:prstGeom>
          <a:noFill/>
          <a:ln w="25400">
            <a:solidFill>
              <a:srgbClr val="078897"/>
            </a:solidFill>
            <a:prstDash val="solid"/>
            <a:tailEnd type="triangle"/>
          </a:ln>
        </p:spPr>
      </p:sp>
      <p:sp>
        <p:nvSpPr>
          <p:cNvPr id="13" name="Shape 11"/>
          <p:cNvSpPr/>
          <p:nvPr/>
        </p:nvSpPr>
        <p:spPr>
          <a:xfrm>
            <a:off x="2794406" y="2423160"/>
            <a:ext cx="2062886" cy="3154680"/>
          </a:xfrm>
          <a:prstGeom prst="roundRect">
            <a:avLst>
              <a:gd name="adj" fmla="val 3546"/>
            </a:avLst>
          </a:prstGeom>
          <a:solidFill>
            <a:srgbClr val="FFFFFF"/>
          </a:solidFill>
          <a:ln w="12700">
            <a:solidFill>
              <a:srgbClr val="C8D9DC"/>
            </a:solidFill>
            <a:prstDash val="solid"/>
          </a:ln>
        </p:spPr>
      </p:sp>
      <p:sp>
        <p:nvSpPr>
          <p:cNvPr id="14" name="Shape 12"/>
          <p:cNvSpPr/>
          <p:nvPr/>
        </p:nvSpPr>
        <p:spPr>
          <a:xfrm>
            <a:off x="3569818" y="2112264"/>
            <a:ext cx="512064" cy="512064"/>
          </a:xfrm>
          <a:prstGeom prst="ellipse">
            <a:avLst/>
          </a:prstGeom>
          <a:solidFill>
            <a:srgbClr val="078897"/>
          </a:solidFill>
          <a:ln w="12700">
            <a:solidFill>
              <a:srgbClr val="078897"/>
            </a:solidFill>
            <a:prstDash val="solid"/>
          </a:ln>
        </p:spPr>
      </p:sp>
      <p:sp>
        <p:nvSpPr>
          <p:cNvPr id="15" name="Text 13"/>
          <p:cNvSpPr txBox="1"/>
          <p:nvPr/>
        </p:nvSpPr>
        <p:spPr>
          <a:xfrm>
            <a:off x="3569818"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2931566"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Failure mode</a:t>
            </a:r>
            <a:endParaRPr lang="en-US" sz="1500" dirty="0"/>
          </a:p>
        </p:txBody>
      </p:sp>
      <p:sp>
        <p:nvSpPr>
          <p:cNvPr id="17" name="Text 15"/>
          <p:cNvSpPr txBox="1"/>
          <p:nvPr/>
        </p:nvSpPr>
        <p:spPr>
          <a:xfrm>
            <a:off x="2958998"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18" name="Shape 16"/>
          <p:cNvSpPr/>
          <p:nvPr/>
        </p:nvSpPr>
        <p:spPr>
          <a:xfrm>
            <a:off x="4866437" y="3977640"/>
            <a:ext cx="146304" cy="0"/>
          </a:xfrm>
          <a:prstGeom prst="line">
            <a:avLst/>
          </a:prstGeom>
          <a:noFill/>
          <a:ln w="25400">
            <a:solidFill>
              <a:srgbClr val="078897"/>
            </a:solidFill>
            <a:prstDash val="solid"/>
            <a:tailEnd type="triangle"/>
          </a:ln>
        </p:spPr>
      </p:sp>
      <p:sp>
        <p:nvSpPr>
          <p:cNvPr id="19" name="Shape 17"/>
          <p:cNvSpPr/>
          <p:nvPr/>
        </p:nvSpPr>
        <p:spPr>
          <a:xfrm>
            <a:off x="5021885" y="2423160"/>
            <a:ext cx="2062886" cy="3154680"/>
          </a:xfrm>
          <a:prstGeom prst="roundRect">
            <a:avLst>
              <a:gd name="adj" fmla="val 3546"/>
            </a:avLst>
          </a:prstGeom>
          <a:solidFill>
            <a:srgbClr val="FFFFFF"/>
          </a:solidFill>
          <a:ln w="12700">
            <a:solidFill>
              <a:srgbClr val="C8D9DC"/>
            </a:solidFill>
            <a:prstDash val="solid"/>
          </a:ln>
        </p:spPr>
      </p:sp>
      <p:sp>
        <p:nvSpPr>
          <p:cNvPr id="20" name="Shape 18"/>
          <p:cNvSpPr/>
          <p:nvPr/>
        </p:nvSpPr>
        <p:spPr>
          <a:xfrm>
            <a:off x="5797296" y="2112264"/>
            <a:ext cx="512064" cy="512064"/>
          </a:xfrm>
          <a:prstGeom prst="ellipse">
            <a:avLst/>
          </a:prstGeom>
          <a:solidFill>
            <a:srgbClr val="078897"/>
          </a:solidFill>
          <a:ln w="12700">
            <a:solidFill>
              <a:srgbClr val="078897"/>
            </a:solidFill>
            <a:prstDash val="solid"/>
          </a:ln>
        </p:spPr>
      </p:sp>
      <p:sp>
        <p:nvSpPr>
          <p:cNvPr id="21" name="Text 19"/>
          <p:cNvSpPr txBox="1"/>
          <p:nvPr/>
        </p:nvSpPr>
        <p:spPr>
          <a:xfrm>
            <a:off x="5797296"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22" name="Text 20"/>
          <p:cNvSpPr txBox="1"/>
          <p:nvPr/>
        </p:nvSpPr>
        <p:spPr>
          <a:xfrm>
            <a:off x="5159045"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Effect</a:t>
            </a:r>
            <a:endParaRPr lang="en-US" sz="1500" dirty="0"/>
          </a:p>
        </p:txBody>
      </p:sp>
      <p:sp>
        <p:nvSpPr>
          <p:cNvPr id="23" name="Text 21"/>
          <p:cNvSpPr txBox="1"/>
          <p:nvPr/>
        </p:nvSpPr>
        <p:spPr>
          <a:xfrm>
            <a:off x="5186477"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Incorrect dose</a:t>
            </a:r>
            <a:endParaRPr lang="en-US" sz="1400" dirty="0"/>
          </a:p>
        </p:txBody>
      </p:sp>
      <p:sp>
        <p:nvSpPr>
          <p:cNvPr id="24" name="Shape 22"/>
          <p:cNvSpPr/>
          <p:nvPr/>
        </p:nvSpPr>
        <p:spPr>
          <a:xfrm>
            <a:off x="7093915" y="3977640"/>
            <a:ext cx="146304" cy="0"/>
          </a:xfrm>
          <a:prstGeom prst="line">
            <a:avLst/>
          </a:prstGeom>
          <a:noFill/>
          <a:ln w="25400">
            <a:solidFill>
              <a:srgbClr val="078897"/>
            </a:solidFill>
            <a:prstDash val="solid"/>
            <a:tailEnd type="triangle"/>
          </a:ln>
        </p:spPr>
      </p:sp>
      <p:sp>
        <p:nvSpPr>
          <p:cNvPr id="25" name="Shape 23"/>
          <p:cNvSpPr/>
          <p:nvPr/>
        </p:nvSpPr>
        <p:spPr>
          <a:xfrm>
            <a:off x="7249363" y="2423160"/>
            <a:ext cx="2062886" cy="3154680"/>
          </a:xfrm>
          <a:prstGeom prst="roundRect">
            <a:avLst>
              <a:gd name="adj" fmla="val 3546"/>
            </a:avLst>
          </a:prstGeom>
          <a:solidFill>
            <a:srgbClr val="FFFFFF"/>
          </a:solidFill>
          <a:ln w="12700">
            <a:solidFill>
              <a:srgbClr val="C8D9DC"/>
            </a:solidFill>
            <a:prstDash val="solid"/>
          </a:ln>
        </p:spPr>
      </p:sp>
      <p:sp>
        <p:nvSpPr>
          <p:cNvPr id="26" name="Shape 24"/>
          <p:cNvSpPr/>
          <p:nvPr/>
        </p:nvSpPr>
        <p:spPr>
          <a:xfrm>
            <a:off x="8024774" y="2112264"/>
            <a:ext cx="512064" cy="512064"/>
          </a:xfrm>
          <a:prstGeom prst="ellipse">
            <a:avLst/>
          </a:prstGeom>
          <a:solidFill>
            <a:srgbClr val="078897"/>
          </a:solidFill>
          <a:ln w="12700">
            <a:solidFill>
              <a:srgbClr val="078897"/>
            </a:solidFill>
            <a:prstDash val="solid"/>
          </a:ln>
        </p:spPr>
      </p:sp>
      <p:sp>
        <p:nvSpPr>
          <p:cNvPr id="27" name="Text 25"/>
          <p:cNvSpPr txBox="1"/>
          <p:nvPr/>
        </p:nvSpPr>
        <p:spPr>
          <a:xfrm>
            <a:off x="8024774"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28" name="Text 26"/>
          <p:cNvSpPr txBox="1"/>
          <p:nvPr/>
        </p:nvSpPr>
        <p:spPr>
          <a:xfrm>
            <a:off x="7386523"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Cause</a:t>
            </a:r>
            <a:endParaRPr lang="en-US" sz="1500" dirty="0"/>
          </a:p>
        </p:txBody>
      </p:sp>
      <p:sp>
        <p:nvSpPr>
          <p:cNvPr id="29" name="Text 27"/>
          <p:cNvSpPr txBox="1"/>
          <p:nvPr/>
        </p:nvSpPr>
        <p:spPr>
          <a:xfrm>
            <a:off x="7413955"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Restricted strainer</a:t>
            </a:r>
            <a:endParaRPr lang="en-US" sz="1400" dirty="0"/>
          </a:p>
        </p:txBody>
      </p:sp>
      <p:sp>
        <p:nvSpPr>
          <p:cNvPr id="30" name="Shape 28"/>
          <p:cNvSpPr/>
          <p:nvPr/>
        </p:nvSpPr>
        <p:spPr>
          <a:xfrm>
            <a:off x="9321394" y="3977640"/>
            <a:ext cx="146304" cy="0"/>
          </a:xfrm>
          <a:prstGeom prst="line">
            <a:avLst/>
          </a:prstGeom>
          <a:noFill/>
          <a:ln w="25400">
            <a:solidFill>
              <a:srgbClr val="078897"/>
            </a:solidFill>
            <a:prstDash val="solid"/>
            <a:tailEnd type="triangle"/>
          </a:ln>
        </p:spPr>
      </p:sp>
      <p:sp>
        <p:nvSpPr>
          <p:cNvPr id="31" name="Shape 29"/>
          <p:cNvSpPr/>
          <p:nvPr/>
        </p:nvSpPr>
        <p:spPr>
          <a:xfrm>
            <a:off x="9476842" y="2423160"/>
            <a:ext cx="2062886" cy="3154680"/>
          </a:xfrm>
          <a:prstGeom prst="roundRect">
            <a:avLst>
              <a:gd name="adj" fmla="val 3546"/>
            </a:avLst>
          </a:prstGeom>
          <a:solidFill>
            <a:srgbClr val="E2EEF0"/>
          </a:solidFill>
          <a:ln w="12700">
            <a:solidFill>
              <a:srgbClr val="C8D9DC"/>
            </a:solidFill>
            <a:prstDash val="solid"/>
          </a:ln>
        </p:spPr>
      </p:sp>
      <p:sp>
        <p:nvSpPr>
          <p:cNvPr id="32" name="Shape 30"/>
          <p:cNvSpPr/>
          <p:nvPr/>
        </p:nvSpPr>
        <p:spPr>
          <a:xfrm>
            <a:off x="10252253" y="2112264"/>
            <a:ext cx="512064" cy="512064"/>
          </a:xfrm>
          <a:prstGeom prst="ellipse">
            <a:avLst/>
          </a:prstGeom>
          <a:solidFill>
            <a:srgbClr val="102B3E"/>
          </a:solidFill>
          <a:ln w="12700">
            <a:solidFill>
              <a:srgbClr val="102B3E"/>
            </a:solidFill>
            <a:prstDash val="solid"/>
          </a:ln>
        </p:spPr>
      </p:sp>
      <p:sp>
        <p:nvSpPr>
          <p:cNvPr id="33" name="Text 31"/>
          <p:cNvSpPr txBox="1"/>
          <p:nvPr/>
        </p:nvSpPr>
        <p:spPr>
          <a:xfrm>
            <a:off x="10252253"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5</a:t>
            </a:r>
            <a:endParaRPr lang="en-US" sz="1600" dirty="0"/>
          </a:p>
        </p:txBody>
      </p:sp>
      <p:sp>
        <p:nvSpPr>
          <p:cNvPr id="34" name="Text 32"/>
          <p:cNvSpPr txBox="1"/>
          <p:nvPr/>
        </p:nvSpPr>
        <p:spPr>
          <a:xfrm>
            <a:off x="9614002"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Control</a:t>
            </a:r>
            <a:endParaRPr lang="en-US" sz="1500" dirty="0"/>
          </a:p>
        </p:txBody>
      </p:sp>
      <p:sp>
        <p:nvSpPr>
          <p:cNvPr id="35" name="Text 33"/>
          <p:cNvSpPr txBox="1"/>
          <p:nvPr/>
        </p:nvSpPr>
        <p:spPr>
          <a:xfrm>
            <a:off x="9641434"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Delivery test</a:t>
            </a:r>
            <a:endParaRPr lang="en-US" sz="14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61</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Failure mode, effect, cause and control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terms answer four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Failure mode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could the function fail?</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Effect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happens next?</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Cause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Why might it happen?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Control</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is it prevented or detected?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Severity, Occurrence and Detection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ratings support prioritisation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serious is the effect?</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likely is the cause?</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unlikely are current controls to detect it? Higher D = poorer detection.</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63</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RPN makes the calculation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Priority Number = Severity × Occurrence × Detection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FM01</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140</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Meaning</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Priority for review; not probability</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64</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lower RPN can still need urgent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severity gates and engineering judgement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FM01</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140 · Severity 7</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FM04</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90 · Severity 9</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Decision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Review FM04 despite lower RPN</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65</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FMEA · four supplied rows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calculates; the team owns ratings and actions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FM02</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start</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8</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72</a:t>
            </a:r>
            <a:endParaRPr lang="en-US" sz="1500" dirty="0"/>
          </a:p>
        </p:txBody>
      </p:sp>
      <p:sp>
        <p:nvSpPr>
          <p:cNvPr id="43" name="Shape 41"/>
          <p:cNvSpPr/>
          <p:nvPr/>
        </p:nvSpPr>
        <p:spPr>
          <a:xfrm>
            <a:off x="566928" y="3803904"/>
            <a:ext cx="914400" cy="612648"/>
          </a:xfrm>
          <a:prstGeom prst="rect">
            <a:avLst/>
          </a:prstGeom>
          <a:solidFill>
            <a:srgbClr val="FFFFFF"/>
          </a:solidFill>
          <a:ln w="8890">
            <a:solidFill>
              <a:srgbClr val="C8D9DC"/>
            </a:solidFill>
            <a:prstDash val="solid"/>
          </a:ln>
        </p:spPr>
      </p:sp>
      <p:sp>
        <p:nvSpPr>
          <p:cNvPr id="44" name="Text 42"/>
          <p:cNvSpPr txBox="1"/>
          <p:nvPr/>
        </p:nvSpPr>
        <p:spPr>
          <a:xfrm>
            <a:off x="612648" y="3849624"/>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FM03</a:t>
            </a:r>
            <a:endParaRPr lang="en-US" sz="1500" dirty="0"/>
          </a:p>
        </p:txBody>
      </p:sp>
      <p:sp>
        <p:nvSpPr>
          <p:cNvPr id="45" name="Shape 43"/>
          <p:cNvSpPr/>
          <p:nvPr/>
        </p:nvSpPr>
        <p:spPr>
          <a:xfrm>
            <a:off x="1481328" y="3803904"/>
            <a:ext cx="2834640" cy="612648"/>
          </a:xfrm>
          <a:prstGeom prst="rect">
            <a:avLst/>
          </a:prstGeom>
          <a:solidFill>
            <a:srgbClr val="FFFFFF"/>
          </a:solidFill>
          <a:ln w="8890">
            <a:solidFill>
              <a:srgbClr val="C8D9DC"/>
            </a:solidFill>
            <a:prstDash val="solid"/>
          </a:ln>
        </p:spPr>
      </p:sp>
      <p:sp>
        <p:nvSpPr>
          <p:cNvPr id="46" name="Text 44"/>
          <p:cNvSpPr txBox="1"/>
          <p:nvPr/>
        </p:nvSpPr>
        <p:spPr>
          <a:xfrm>
            <a:off x="1527048" y="3849624"/>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Wrong reading</a:t>
            </a:r>
            <a:endParaRPr lang="en-US" sz="1400" dirty="0"/>
          </a:p>
        </p:txBody>
      </p:sp>
      <p:sp>
        <p:nvSpPr>
          <p:cNvPr id="47" name="Shape 45"/>
          <p:cNvSpPr/>
          <p:nvPr/>
        </p:nvSpPr>
        <p:spPr>
          <a:xfrm>
            <a:off x="4315968" y="3803904"/>
            <a:ext cx="658368" cy="612648"/>
          </a:xfrm>
          <a:prstGeom prst="rect">
            <a:avLst/>
          </a:prstGeom>
          <a:solidFill>
            <a:srgbClr val="FFFFFF"/>
          </a:solidFill>
          <a:ln w="8890">
            <a:solidFill>
              <a:srgbClr val="C8D9DC"/>
            </a:solidFill>
            <a:prstDash val="solid"/>
          </a:ln>
        </p:spPr>
      </p:sp>
      <p:sp>
        <p:nvSpPr>
          <p:cNvPr id="48" name="Text 46"/>
          <p:cNvSpPr txBox="1"/>
          <p:nvPr/>
        </p:nvSpPr>
        <p:spPr>
          <a:xfrm>
            <a:off x="4361688"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6</a:t>
            </a:r>
            <a:endParaRPr lang="en-US" sz="1500" dirty="0"/>
          </a:p>
        </p:txBody>
      </p:sp>
      <p:sp>
        <p:nvSpPr>
          <p:cNvPr id="49" name="Shape 47"/>
          <p:cNvSpPr/>
          <p:nvPr/>
        </p:nvSpPr>
        <p:spPr>
          <a:xfrm>
            <a:off x="4974336" y="3803904"/>
            <a:ext cx="658368" cy="612648"/>
          </a:xfrm>
          <a:prstGeom prst="rect">
            <a:avLst/>
          </a:prstGeom>
          <a:solidFill>
            <a:srgbClr val="FFFFFF"/>
          </a:solidFill>
          <a:ln w="8890">
            <a:solidFill>
              <a:srgbClr val="C8D9DC"/>
            </a:solidFill>
            <a:prstDash val="solid"/>
          </a:ln>
        </p:spPr>
      </p:sp>
      <p:sp>
        <p:nvSpPr>
          <p:cNvPr id="50" name="Text 48"/>
          <p:cNvSpPr txBox="1"/>
          <p:nvPr/>
        </p:nvSpPr>
        <p:spPr>
          <a:xfrm>
            <a:off x="5020056"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51" name="Shape 49"/>
          <p:cNvSpPr/>
          <p:nvPr/>
        </p:nvSpPr>
        <p:spPr>
          <a:xfrm>
            <a:off x="5632704" y="3803904"/>
            <a:ext cx="658368" cy="612648"/>
          </a:xfrm>
          <a:prstGeom prst="rect">
            <a:avLst/>
          </a:prstGeom>
          <a:solidFill>
            <a:srgbClr val="FFFFFF"/>
          </a:solidFill>
          <a:ln w="8890">
            <a:solidFill>
              <a:srgbClr val="C8D9DC"/>
            </a:solidFill>
            <a:prstDash val="solid"/>
          </a:ln>
        </p:spPr>
      </p:sp>
      <p:sp>
        <p:nvSpPr>
          <p:cNvPr id="52" name="Text 50"/>
          <p:cNvSpPr txBox="1"/>
          <p:nvPr/>
        </p:nvSpPr>
        <p:spPr>
          <a:xfrm>
            <a:off x="5678424"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53" name="Shape 51"/>
          <p:cNvSpPr/>
          <p:nvPr/>
        </p:nvSpPr>
        <p:spPr>
          <a:xfrm>
            <a:off x="6291072" y="3803904"/>
            <a:ext cx="914400" cy="612648"/>
          </a:xfrm>
          <a:prstGeom prst="rect">
            <a:avLst/>
          </a:prstGeom>
          <a:solidFill>
            <a:srgbClr val="FFFFFF"/>
          </a:solidFill>
          <a:ln w="8890">
            <a:solidFill>
              <a:srgbClr val="C8D9DC"/>
            </a:solidFill>
            <a:prstDash val="solid"/>
          </a:ln>
        </p:spPr>
      </p:sp>
      <p:sp>
        <p:nvSpPr>
          <p:cNvPr id="54" name="Text 52"/>
          <p:cNvSpPr txBox="1"/>
          <p:nvPr/>
        </p:nvSpPr>
        <p:spPr>
          <a:xfrm>
            <a:off x="6336792" y="3849624"/>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120</a:t>
            </a:r>
            <a:endParaRPr lang="en-US" sz="1500" dirty="0"/>
          </a:p>
        </p:txBody>
      </p:sp>
      <p:sp>
        <p:nvSpPr>
          <p:cNvPr id="55" name="Shape 53"/>
          <p:cNvSpPr/>
          <p:nvPr/>
        </p:nvSpPr>
        <p:spPr>
          <a:xfrm>
            <a:off x="566928" y="4416552"/>
            <a:ext cx="914400" cy="612648"/>
          </a:xfrm>
          <a:prstGeom prst="rect">
            <a:avLst/>
          </a:prstGeom>
          <a:solidFill>
            <a:srgbClr val="F5F8F8"/>
          </a:solidFill>
          <a:ln w="8890">
            <a:solidFill>
              <a:srgbClr val="C8D9DC"/>
            </a:solidFill>
            <a:prstDash val="solid"/>
          </a:ln>
        </p:spPr>
      </p:sp>
      <p:sp>
        <p:nvSpPr>
          <p:cNvPr id="56" name="Text 54"/>
          <p:cNvSpPr txBox="1"/>
          <p:nvPr/>
        </p:nvSpPr>
        <p:spPr>
          <a:xfrm>
            <a:off x="612648" y="4462272"/>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57" name="Shape 55"/>
          <p:cNvSpPr/>
          <p:nvPr/>
        </p:nvSpPr>
        <p:spPr>
          <a:xfrm>
            <a:off x="1481328" y="4416552"/>
            <a:ext cx="2834640" cy="612648"/>
          </a:xfrm>
          <a:prstGeom prst="rect">
            <a:avLst/>
          </a:prstGeom>
          <a:solidFill>
            <a:srgbClr val="F5F8F8"/>
          </a:solidFill>
          <a:ln w="8890">
            <a:solidFill>
              <a:srgbClr val="C8D9DC"/>
            </a:solidFill>
            <a:prstDash val="solid"/>
          </a:ln>
        </p:spPr>
      </p:sp>
      <p:sp>
        <p:nvSpPr>
          <p:cNvPr id="58" name="Text 56"/>
          <p:cNvSpPr txBox="1"/>
          <p:nvPr/>
        </p:nvSpPr>
        <p:spPr>
          <a:xfrm>
            <a:off x="1527048" y="4462272"/>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59" name="Shape 57"/>
          <p:cNvSpPr/>
          <p:nvPr/>
        </p:nvSpPr>
        <p:spPr>
          <a:xfrm>
            <a:off x="4315968" y="4416552"/>
            <a:ext cx="658368" cy="612648"/>
          </a:xfrm>
          <a:prstGeom prst="rect">
            <a:avLst/>
          </a:prstGeom>
          <a:solidFill>
            <a:srgbClr val="F5F8F8"/>
          </a:solidFill>
          <a:ln w="8890">
            <a:solidFill>
              <a:srgbClr val="C8D9DC"/>
            </a:solidFill>
            <a:prstDash val="solid"/>
          </a:ln>
        </p:spPr>
      </p:sp>
      <p:sp>
        <p:nvSpPr>
          <p:cNvPr id="60" name="Text 58"/>
          <p:cNvSpPr txBox="1"/>
          <p:nvPr/>
        </p:nvSpPr>
        <p:spPr>
          <a:xfrm>
            <a:off x="4361688"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61" name="Shape 59"/>
          <p:cNvSpPr/>
          <p:nvPr/>
        </p:nvSpPr>
        <p:spPr>
          <a:xfrm>
            <a:off x="4974336" y="4416552"/>
            <a:ext cx="658368" cy="612648"/>
          </a:xfrm>
          <a:prstGeom prst="rect">
            <a:avLst/>
          </a:prstGeom>
          <a:solidFill>
            <a:srgbClr val="F5F8F8"/>
          </a:solidFill>
          <a:ln w="8890">
            <a:solidFill>
              <a:srgbClr val="C8D9DC"/>
            </a:solidFill>
            <a:prstDash val="solid"/>
          </a:ln>
        </p:spPr>
      </p:sp>
      <p:sp>
        <p:nvSpPr>
          <p:cNvPr id="62" name="Text 60"/>
          <p:cNvSpPr txBox="1"/>
          <p:nvPr/>
        </p:nvSpPr>
        <p:spPr>
          <a:xfrm>
            <a:off x="5020056"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63" name="Shape 61"/>
          <p:cNvSpPr/>
          <p:nvPr/>
        </p:nvSpPr>
        <p:spPr>
          <a:xfrm>
            <a:off x="5632704" y="4416552"/>
            <a:ext cx="658368" cy="612648"/>
          </a:xfrm>
          <a:prstGeom prst="rect">
            <a:avLst/>
          </a:prstGeom>
          <a:solidFill>
            <a:srgbClr val="F5F8F8"/>
          </a:solidFill>
          <a:ln w="8890">
            <a:solidFill>
              <a:srgbClr val="C8D9DC"/>
            </a:solidFill>
            <a:prstDash val="solid"/>
          </a:ln>
        </p:spPr>
      </p:sp>
      <p:sp>
        <p:nvSpPr>
          <p:cNvPr id="64" name="Text 62"/>
          <p:cNvSpPr txBox="1"/>
          <p:nvPr/>
        </p:nvSpPr>
        <p:spPr>
          <a:xfrm>
            <a:off x="5678424"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65" name="Shape 63"/>
          <p:cNvSpPr/>
          <p:nvPr/>
        </p:nvSpPr>
        <p:spPr>
          <a:xfrm>
            <a:off x="6291072" y="4416552"/>
            <a:ext cx="914400" cy="612648"/>
          </a:xfrm>
          <a:prstGeom prst="rect">
            <a:avLst/>
          </a:prstGeom>
          <a:solidFill>
            <a:srgbClr val="F5F8F8"/>
          </a:solidFill>
          <a:ln w="8890">
            <a:solidFill>
              <a:srgbClr val="C8D9DC"/>
            </a:solidFill>
            <a:prstDash val="solid"/>
          </a:ln>
        </p:spPr>
      </p:sp>
      <p:sp>
        <p:nvSpPr>
          <p:cNvPr id="66" name="Text 64"/>
          <p:cNvSpPr txBox="1"/>
          <p:nvPr/>
        </p:nvSpPr>
        <p:spPr>
          <a:xfrm>
            <a:off x="6336792" y="4462272"/>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67" name="Shape 65"/>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68" name="Text 66"/>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69" name="Text 67"/>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70" name="Text 6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66</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Act on an FMEA result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Prioritisation should lead to owned, verified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Confirm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and scoring basis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Prioritise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RPN plus severity gate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due date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Implement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Complete the change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Reassess</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Residual S/O/D and evidence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67</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FMEA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Reduce table setup and drafting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Draft rows, calculate RPN, sort, flag and format.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System scope, failure logic, ratings, actions and residual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68</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prompt · preserve the engineering record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table, formula, gate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FMEA facilitator. Use only FMEAInput. Preserve all rows and supplied ratings. Calculate RPN = Severity × Occurrence × Detection, rank the rows, flag Severity 9 or higher, and add one evidence request and action per row. Show formulas. Do not invent incidents or approve the design.</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FMEAInput · 4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rank and action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FM01 = 140; FM04 S = 9</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69</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3.1 · FMEA document and RPN table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20 minutes · one small table and two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20 minutes · one small table and two independent checks</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Labs/Lab-3.1-FMEA-Document/Starter.xlsx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FMEAInput</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Copilot_Prompt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 140; FM04 Severity = 9</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Ranked table + evidence request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70</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Sigma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disciplined approach to reducing defects and variation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pareto.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disciplined approach to reducing defects and variation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Focus</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Customer-critical performance</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Measured process behaviour</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DMAIC for improving an existing process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71</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is the improvement roadmap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 Measure · Analyse · Improve · Control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Problem and boundary</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 and metric</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Patterns and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Controlled change</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Sustain and respond</a:t>
            </a:r>
            <a:endParaRPr lang="en-US" sz="1200" dirty="0"/>
          </a:p>
        </p:txBody>
      </p:sp>
      <p:sp>
        <p:nvSpPr>
          <p:cNvPr id="31" name="Shape 29"/>
          <p:cNvSpPr/>
          <p:nvPr/>
        </p:nvSpPr>
        <p:spPr>
          <a:xfrm>
            <a:off x="5468112" y="3401568"/>
            <a:ext cx="1243584" cy="1243584"/>
          </a:xfrm>
          <a:prstGeom prst="ellipse">
            <a:avLst/>
          </a:prstGeom>
          <a:solidFill>
            <a:srgbClr val="102B3E"/>
          </a:solidFill>
          <a:ln w="12700">
            <a:solidFill>
              <a:srgbClr val="102B3E"/>
            </a:solidFill>
            <a:prstDash val="solid"/>
          </a:ln>
        </p:spPr>
      </p:sp>
      <p:sp>
        <p:nvSpPr>
          <p:cNvPr id="32" name="Text 30"/>
          <p:cNvSpPr txBox="1"/>
          <p:nvPr/>
        </p:nvSpPr>
        <p:spPr>
          <a:xfrm>
            <a:off x="5468112" y="3401568"/>
            <a:ext cx="1243584" cy="124358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DMAIC</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Define · make the problem measurable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where, when and impact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Problem</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Delivery-test deviations occur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CW-401 standardised tests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Deviations ÷ opportunities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No cause claim yet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73</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Measure · establish a trustworthy baseline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definitions before calculating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Data definition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counts as a deviation?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Denominator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many opportunities?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Quality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Missing, duplicate or invalid rows?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Baseline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period represents current performance?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74</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Analyse · separate pattern from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tools to generate and test explanations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Pareto</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categories dominate?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Fishbone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possible causes exist?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5-Whys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causal chain should be tested?</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records or tests can confirm it?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75</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 focus on the largest categories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Bars descend; the cumulative line shows contribution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76</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 organise possible causes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Explore broadly before choosing what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 wear</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 position</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Test 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 condition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77</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 build a testable causal chain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when evidence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Symptom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Low delivery</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1</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Reduced outlet flow?</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2</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restriction?</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3</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filter loading?</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Inspect and compare differential pressure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78</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Improve · test a controlled change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Select an action that addresses supported causes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Evidence-supported option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Plan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timing and risk</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Small controlled test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Measure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the same metric</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Decide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Adopt, revise or stop</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79</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 sustain the gain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result into a monitoring and response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Metric</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Deviation rate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Frequency</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Weekly</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Process engineer</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Trigger</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Agreed rise or signal</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Response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Investigate and document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80</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DMAIC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Rates make unequal periods comparable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 ÷ 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 ÷ 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−5.5 percentage points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Short pilot does not prove cause</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81</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DMAIC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Draft phase summaries while preserving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Profile data, calculate rates, suggest charts and draft five phases.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Metric definition, cause evidence, test design and control ownership.</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prompt · facts before hypotheses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Request five phases and an explicit limitation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 Six Sigma project assistant. Use only WeeklyData. Calculate Baseline and Pilot deviation rates. Create a five-row Define, Measure, Analyse, Improve, Control summary. Separate facts from hypotheses, show formulas, and state that the short pilot does not prove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WeeklyData · 6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Two rates + five-row DMAIC</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and 3.5%</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83</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3.2 · DMAIC improvement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30 minutes · phase rates, Pareto evidence and a five-phase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30 minutes · phase rates, Pareto evidence and a five-phase summary</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Lab-3.2-DMAIC-Report/Starter.xlsx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WeeklyData</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the RISE + E-MAP 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36/400 = 9.00%; 7/200 = 3.50%</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Five phases + Pareto + next evidence check</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84</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Statistical Process Control monitors process 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spc.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Statistical Process Control monitors process behaviour over time</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Use when</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Repeated measurements exist</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Stable pattern or unusual signal?</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chart and investigation trigger</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85</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control chart has four essential parts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Time order is what makes the pattern meaningful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86</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Common cause and special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routine variation from a signal worth investigating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Common cause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Small fluctuations produced by the current process system.</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Special cause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An unusual point or pattern indicating something changed.</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87</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Read signals with agreed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point beyond a limit is the simplest rule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Point beyond UCL/LCL</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Immediate investigation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Long run on one side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shift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Sustained 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drift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Repeating 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cyclic influence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88</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limits are not specification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and requirement answer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Control limits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Calculated from process data; show expected behaviour.</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Specification limits</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Set by design, customer or regulation; show acceptable result.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Example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59.5 L/h meets 58.9–65.1 spec but is below the 61.4 LCL.</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89</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in plain terms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Capability compares stable process spread with specifications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Could the spread fit if centred?</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Does it fit where the mean actually sits?</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&gt; 1</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Estimated spread fits inside limits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 first</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Stability, data quality and distribution</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90</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SPC interpretation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low monitoring points are signals to investigate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91</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SPC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Speed up formulas, flags and chart preparation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 limits, create helper columns, flag rows and draft interpretation.</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Baseline choice, formulas, signals, specification and process context.</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prompt · make the baseline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the calculation, chart and evidence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Act as an engineering data assistant. Use only PumpReadings. From the eight Baseline rows, calculate the mean, sample standard deviation, UCL and LCL. Flag T09–T12, create a line chart with fixed limits, show formulas, and give a three-sentence interpretation. Do not claim a root cause or safety conclusion.</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PumpReadings · 12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Limits, flags and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T10 against LCL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93</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3.3 · SPC control chart and capability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30 minutes · Xbar-R chart from a frozen baseline, then Cp and Cpk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3.3</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30 minutes · Xbar-R chart from a frozen baseline, then Cp and Cpk</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Lab-3.3-SPC-Control-Chart/Starter.xlsx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SPCData  ·  n = 4</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Limits from subgroups 1-12 only, then freeze</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Subgroup 13 Xbar = 61.275 &lt; LCL 61.547</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Read</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Cp &gt;&gt; Cpk means off centre, not incapable</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94</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4-agent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4</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Copilot Agents &amp; Microsoft 365 Reasoning Agents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Automate a controlled multi-step workflow</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95</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when a reusable agent is justified.</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Build</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Build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Configure instructions and knowledge for an FMEA Assistant.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Test</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Run complete and missing-data cases.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with independent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96</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agent packages a repeatable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Instructions + knowledge + tools + conversation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steps and limits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Templates and references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Actions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Work the agent can perform</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Tests</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Expected behaviours and failures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97</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an agent when the task repeats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decision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Same inputs and output structure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Bounded?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Clear evidence and limits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Checkable?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Acceptance tests exist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Governed?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Audience and permissions known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98</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workflow · FMEA to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controlled steps with a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105662"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10566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1699260" cy="2926080"/>
          </a:xfrm>
          <a:prstGeom prst="roundRect">
            <a:avLst>
              <a:gd name="adj" fmla="val 4305"/>
            </a:avLst>
          </a:prstGeom>
          <a:solidFill>
            <a:srgbClr val="FFFFFF"/>
          </a:solidFill>
          <a:ln w="12700">
            <a:solidFill>
              <a:srgbClr val="C8D9DC"/>
            </a:solidFill>
            <a:prstDash val="solid"/>
          </a:ln>
        </p:spPr>
      </p:sp>
      <p:sp>
        <p:nvSpPr>
          <p:cNvPr id="10" name="Text 8"/>
          <p:cNvSpPr txBox="1"/>
          <p:nvPr/>
        </p:nvSpPr>
        <p:spPr>
          <a:xfrm>
            <a:off x="704088"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Collect</a:t>
            </a:r>
            <a:endParaRPr lang="en-US" sz="1500" dirty="0"/>
          </a:p>
        </p:txBody>
      </p:sp>
      <p:sp>
        <p:nvSpPr>
          <p:cNvPr id="11" name="Text 9"/>
          <p:cNvSpPr txBox="1"/>
          <p:nvPr/>
        </p:nvSpPr>
        <p:spPr>
          <a:xfrm>
            <a:off x="731520"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FMEA fields</a:t>
            </a:r>
            <a:endParaRPr lang="en-US" sz="1300" dirty="0"/>
          </a:p>
        </p:txBody>
      </p:sp>
      <p:sp>
        <p:nvSpPr>
          <p:cNvPr id="12" name="Shape 10"/>
          <p:cNvSpPr/>
          <p:nvPr/>
        </p:nvSpPr>
        <p:spPr>
          <a:xfrm>
            <a:off x="2284476" y="3886200"/>
            <a:ext cx="118872" cy="0"/>
          </a:xfrm>
          <a:prstGeom prst="line">
            <a:avLst/>
          </a:prstGeom>
          <a:noFill/>
          <a:ln w="25400">
            <a:solidFill>
              <a:srgbClr val="078897"/>
            </a:solidFill>
            <a:prstDash val="solid"/>
            <a:tailEnd type="triangle"/>
          </a:ln>
        </p:spPr>
      </p:sp>
      <p:sp>
        <p:nvSpPr>
          <p:cNvPr id="13" name="Shape 11"/>
          <p:cNvSpPr/>
          <p:nvPr/>
        </p:nvSpPr>
        <p:spPr>
          <a:xfrm>
            <a:off x="2960370"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2960370"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421636" y="2487168"/>
            <a:ext cx="1699260" cy="2926080"/>
          </a:xfrm>
          <a:prstGeom prst="roundRect">
            <a:avLst>
              <a:gd name="adj" fmla="val 4305"/>
            </a:avLst>
          </a:prstGeom>
          <a:solidFill>
            <a:srgbClr val="FFFFFF"/>
          </a:solidFill>
          <a:ln w="12700">
            <a:solidFill>
              <a:srgbClr val="C8D9DC"/>
            </a:solidFill>
            <a:prstDash val="solid"/>
          </a:ln>
        </p:spPr>
      </p:sp>
      <p:sp>
        <p:nvSpPr>
          <p:cNvPr id="16" name="Text 14"/>
          <p:cNvSpPr txBox="1"/>
          <p:nvPr/>
        </p:nvSpPr>
        <p:spPr>
          <a:xfrm>
            <a:off x="2558796"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Validate</a:t>
            </a:r>
            <a:endParaRPr lang="en-US" sz="1500" dirty="0"/>
          </a:p>
        </p:txBody>
      </p:sp>
      <p:sp>
        <p:nvSpPr>
          <p:cNvPr id="17" name="Text 15"/>
          <p:cNvSpPr txBox="1"/>
          <p:nvPr/>
        </p:nvSpPr>
        <p:spPr>
          <a:xfrm>
            <a:off x="2586228"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Required values</a:t>
            </a:r>
            <a:endParaRPr lang="en-US" sz="1300" dirty="0"/>
          </a:p>
        </p:txBody>
      </p:sp>
      <p:sp>
        <p:nvSpPr>
          <p:cNvPr id="18" name="Shape 16"/>
          <p:cNvSpPr/>
          <p:nvPr/>
        </p:nvSpPr>
        <p:spPr>
          <a:xfrm>
            <a:off x="4139184" y="3886200"/>
            <a:ext cx="118872" cy="0"/>
          </a:xfrm>
          <a:prstGeom prst="line">
            <a:avLst/>
          </a:prstGeom>
          <a:noFill/>
          <a:ln w="25400">
            <a:solidFill>
              <a:srgbClr val="078897"/>
            </a:solidFill>
            <a:prstDash val="solid"/>
            <a:tailEnd type="triangle"/>
          </a:ln>
        </p:spPr>
      </p:sp>
      <p:sp>
        <p:nvSpPr>
          <p:cNvPr id="19" name="Shape 17"/>
          <p:cNvSpPr/>
          <p:nvPr/>
        </p:nvSpPr>
        <p:spPr>
          <a:xfrm>
            <a:off x="4815078"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481507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4276344" y="2487168"/>
            <a:ext cx="1699260" cy="2926080"/>
          </a:xfrm>
          <a:prstGeom prst="roundRect">
            <a:avLst>
              <a:gd name="adj" fmla="val 4305"/>
            </a:avLst>
          </a:prstGeom>
          <a:solidFill>
            <a:srgbClr val="FFFFFF"/>
          </a:solidFill>
          <a:ln w="12700">
            <a:solidFill>
              <a:srgbClr val="C8D9DC"/>
            </a:solidFill>
            <a:prstDash val="solid"/>
          </a:ln>
        </p:spPr>
      </p:sp>
      <p:sp>
        <p:nvSpPr>
          <p:cNvPr id="22" name="Text 20"/>
          <p:cNvSpPr txBox="1"/>
          <p:nvPr/>
        </p:nvSpPr>
        <p:spPr>
          <a:xfrm>
            <a:off x="4413504"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Calculate</a:t>
            </a:r>
            <a:endParaRPr lang="en-US" sz="1500" dirty="0"/>
          </a:p>
        </p:txBody>
      </p:sp>
      <p:sp>
        <p:nvSpPr>
          <p:cNvPr id="23" name="Text 21"/>
          <p:cNvSpPr txBox="1"/>
          <p:nvPr/>
        </p:nvSpPr>
        <p:spPr>
          <a:xfrm>
            <a:off x="4440936"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RPN + severity gate</a:t>
            </a:r>
            <a:endParaRPr lang="en-US" sz="1300" dirty="0"/>
          </a:p>
        </p:txBody>
      </p:sp>
      <p:sp>
        <p:nvSpPr>
          <p:cNvPr id="24" name="Shape 22"/>
          <p:cNvSpPr/>
          <p:nvPr/>
        </p:nvSpPr>
        <p:spPr>
          <a:xfrm>
            <a:off x="5993892" y="3886200"/>
            <a:ext cx="118872" cy="0"/>
          </a:xfrm>
          <a:prstGeom prst="line">
            <a:avLst/>
          </a:prstGeom>
          <a:noFill/>
          <a:ln w="25400">
            <a:solidFill>
              <a:srgbClr val="078897"/>
            </a:solidFill>
            <a:prstDash val="solid"/>
            <a:tailEnd type="triangle"/>
          </a:ln>
        </p:spPr>
      </p:sp>
      <p:sp>
        <p:nvSpPr>
          <p:cNvPr id="25" name="Shape 23"/>
          <p:cNvSpPr/>
          <p:nvPr/>
        </p:nvSpPr>
        <p:spPr>
          <a:xfrm>
            <a:off x="6669786"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666978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6131052" y="2487168"/>
            <a:ext cx="1699260" cy="2926080"/>
          </a:xfrm>
          <a:prstGeom prst="roundRect">
            <a:avLst>
              <a:gd name="adj" fmla="val 4305"/>
            </a:avLst>
          </a:prstGeom>
          <a:solidFill>
            <a:srgbClr val="FFFFFF"/>
          </a:solidFill>
          <a:ln w="12700">
            <a:solidFill>
              <a:srgbClr val="C8D9DC"/>
            </a:solidFill>
            <a:prstDash val="solid"/>
          </a:ln>
        </p:spPr>
      </p:sp>
      <p:sp>
        <p:nvSpPr>
          <p:cNvPr id="28" name="Text 26"/>
          <p:cNvSpPr txBox="1"/>
          <p:nvPr/>
        </p:nvSpPr>
        <p:spPr>
          <a:xfrm>
            <a:off x="6268212"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Retrieve</a:t>
            </a:r>
            <a:endParaRPr lang="en-US" sz="1500" dirty="0"/>
          </a:p>
        </p:txBody>
      </p:sp>
      <p:sp>
        <p:nvSpPr>
          <p:cNvPr id="29" name="Text 27"/>
          <p:cNvSpPr txBox="1"/>
          <p:nvPr/>
        </p:nvSpPr>
        <p:spPr>
          <a:xfrm>
            <a:off x="6295644"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Template and rules</a:t>
            </a:r>
            <a:endParaRPr lang="en-US" sz="1300" dirty="0"/>
          </a:p>
        </p:txBody>
      </p:sp>
      <p:sp>
        <p:nvSpPr>
          <p:cNvPr id="30" name="Shape 28"/>
          <p:cNvSpPr/>
          <p:nvPr/>
        </p:nvSpPr>
        <p:spPr>
          <a:xfrm>
            <a:off x="7848600" y="3886200"/>
            <a:ext cx="118872" cy="0"/>
          </a:xfrm>
          <a:prstGeom prst="line">
            <a:avLst/>
          </a:prstGeom>
          <a:noFill/>
          <a:ln w="25400">
            <a:solidFill>
              <a:srgbClr val="078897"/>
            </a:solidFill>
            <a:prstDash val="solid"/>
            <a:tailEnd type="triangle"/>
          </a:ln>
        </p:spPr>
      </p:sp>
      <p:sp>
        <p:nvSpPr>
          <p:cNvPr id="31" name="Shape 29"/>
          <p:cNvSpPr/>
          <p:nvPr/>
        </p:nvSpPr>
        <p:spPr>
          <a:xfrm>
            <a:off x="8524494" y="2029968"/>
            <a:ext cx="621792" cy="621792"/>
          </a:xfrm>
          <a:prstGeom prst="ellipse">
            <a:avLst/>
          </a:prstGeom>
          <a:solidFill>
            <a:srgbClr val="078897"/>
          </a:solidFill>
          <a:ln w="12700">
            <a:solidFill>
              <a:srgbClr val="078897"/>
            </a:solidFill>
            <a:prstDash val="solid"/>
          </a:ln>
        </p:spPr>
      </p:sp>
      <p:sp>
        <p:nvSpPr>
          <p:cNvPr id="32" name="Text 30"/>
          <p:cNvSpPr txBox="1"/>
          <p:nvPr/>
        </p:nvSpPr>
        <p:spPr>
          <a:xfrm>
            <a:off x="8524494"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7985760" y="2487168"/>
            <a:ext cx="1699260" cy="2926080"/>
          </a:xfrm>
          <a:prstGeom prst="roundRect">
            <a:avLst>
              <a:gd name="adj" fmla="val 4305"/>
            </a:avLst>
          </a:prstGeom>
          <a:solidFill>
            <a:srgbClr val="FFFFFF"/>
          </a:solidFill>
          <a:ln w="12700">
            <a:solidFill>
              <a:srgbClr val="C8D9DC"/>
            </a:solidFill>
            <a:prstDash val="solid"/>
          </a:ln>
        </p:spPr>
      </p:sp>
      <p:sp>
        <p:nvSpPr>
          <p:cNvPr id="34" name="Text 32"/>
          <p:cNvSpPr txBox="1"/>
          <p:nvPr/>
        </p:nvSpPr>
        <p:spPr>
          <a:xfrm>
            <a:off x="8122920"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Approve</a:t>
            </a:r>
            <a:endParaRPr lang="en-US" sz="1500" dirty="0"/>
          </a:p>
        </p:txBody>
      </p:sp>
      <p:sp>
        <p:nvSpPr>
          <p:cNvPr id="35" name="Text 33"/>
          <p:cNvSpPr txBox="1"/>
          <p:nvPr/>
        </p:nvSpPr>
        <p:spPr>
          <a:xfrm>
            <a:off x="8150352"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Engineer review</a:t>
            </a:r>
            <a:endParaRPr lang="en-US" sz="1300" dirty="0"/>
          </a:p>
        </p:txBody>
      </p:sp>
      <p:sp>
        <p:nvSpPr>
          <p:cNvPr id="36" name="Shape 34"/>
          <p:cNvSpPr/>
          <p:nvPr/>
        </p:nvSpPr>
        <p:spPr>
          <a:xfrm>
            <a:off x="9703308" y="3886200"/>
            <a:ext cx="118872" cy="0"/>
          </a:xfrm>
          <a:prstGeom prst="line">
            <a:avLst/>
          </a:prstGeom>
          <a:noFill/>
          <a:ln w="25400">
            <a:solidFill>
              <a:srgbClr val="078897"/>
            </a:solidFill>
            <a:prstDash val="solid"/>
            <a:tailEnd type="triangle"/>
          </a:ln>
        </p:spPr>
      </p:sp>
      <p:sp>
        <p:nvSpPr>
          <p:cNvPr id="37" name="Shape 35"/>
          <p:cNvSpPr/>
          <p:nvPr/>
        </p:nvSpPr>
        <p:spPr>
          <a:xfrm>
            <a:off x="10379202" y="2029968"/>
            <a:ext cx="621792" cy="621792"/>
          </a:xfrm>
          <a:prstGeom prst="ellipse">
            <a:avLst/>
          </a:prstGeom>
          <a:solidFill>
            <a:srgbClr val="102B3E"/>
          </a:solidFill>
          <a:ln w="12700">
            <a:solidFill>
              <a:srgbClr val="102B3E"/>
            </a:solidFill>
            <a:prstDash val="solid"/>
          </a:ln>
        </p:spPr>
      </p:sp>
      <p:sp>
        <p:nvSpPr>
          <p:cNvPr id="38" name="Text 36"/>
          <p:cNvSpPr txBox="1"/>
          <p:nvPr/>
        </p:nvSpPr>
        <p:spPr>
          <a:xfrm>
            <a:off x="1037920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6</a:t>
            </a:r>
            <a:endParaRPr lang="en-US" sz="2000" dirty="0"/>
          </a:p>
        </p:txBody>
      </p:sp>
      <p:sp>
        <p:nvSpPr>
          <p:cNvPr id="39" name="Shape 37"/>
          <p:cNvSpPr/>
          <p:nvPr/>
        </p:nvSpPr>
        <p:spPr>
          <a:xfrm>
            <a:off x="9840468" y="2487168"/>
            <a:ext cx="1699260" cy="2926080"/>
          </a:xfrm>
          <a:prstGeom prst="roundRect">
            <a:avLst>
              <a:gd name="adj" fmla="val 4305"/>
            </a:avLst>
          </a:prstGeom>
          <a:solidFill>
            <a:srgbClr val="E2EEF0"/>
          </a:solidFill>
          <a:ln w="12700">
            <a:solidFill>
              <a:srgbClr val="C8D9DC"/>
            </a:solidFill>
            <a:prstDash val="solid"/>
          </a:ln>
        </p:spPr>
      </p:sp>
      <p:sp>
        <p:nvSpPr>
          <p:cNvPr id="40" name="Text 38"/>
          <p:cNvSpPr txBox="1"/>
          <p:nvPr/>
        </p:nvSpPr>
        <p:spPr>
          <a:xfrm>
            <a:off x="9977628"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Draft</a:t>
            </a:r>
            <a:endParaRPr lang="en-US" sz="1500" dirty="0"/>
          </a:p>
        </p:txBody>
      </p:sp>
      <p:sp>
        <p:nvSpPr>
          <p:cNvPr id="41" name="Text 39"/>
          <p:cNvSpPr txBox="1"/>
          <p:nvPr/>
        </p:nvSpPr>
        <p:spPr>
          <a:xfrm>
            <a:off x="10005060"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Report + audit note</a:t>
            </a:r>
            <a:endParaRPr lang="en-US" sz="13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99</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collect only required fields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input contract exposes missing information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Identity</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Failure-mode ID</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Scenario</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Mode, effect, possible cause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Current prevention/detection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Ratings</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 O and D</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validate before calculating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stop when critical data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All S/O/D present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Continue to calculation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Detection missing</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value and scoring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Source unclear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revision or record</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Conflicting values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conflict; do not choose silently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101</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calculate visibly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Show source values and arithmetic</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Inputs</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S = 7 · O = 5 · D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Formula</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RPN = 140</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retrieve the right template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the output format on a controlled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 report template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Version</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revision</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Mandatory</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gap, action, owner, status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Prohibited</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approval</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103</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place a human approval gate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No report is released before engineering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Agent output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Draft only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Engineer review</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Logic, ratings and evidence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Approver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competent role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104</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create a traceable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Return the work needed for review and audit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 record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Source fields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RPN and gate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Draft action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due date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Limitations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 evidence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 note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source and reviewer</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105</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Open the agent builder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or inspect the IES Pump FMEA Assistant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Create or inspect the IES Pump FMEA Assistant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Navigate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Microsoft 365 Copilot → Agents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Create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New agent or Copilot Studio</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Scope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Training account and approved sources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106</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Write narrow agent instructions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task, sequence and stop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For each failure-mode record: validate required fields; stop and ask when S, O or D is missing; calculate RPN from supplied ratings; apply the Severity 9 review gate; request engineering review; then draft the report from the attached template. Preserve sources and unknowns.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 workflow assistant</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Collect → validate → calculate → gate → report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ratings, causes or approval invented</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107</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Attach controlled knowledge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supplied template and rating reference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template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Required columns and report structure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Rating guide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Meaning of S/O/D scales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 cases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and incomplete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Synthetic training sources only</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108</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Topics and actions extend an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Add only what the workflow needs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Topic</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Recognises a user intent and guides dialogue.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Action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Calls a connected tool or flow.</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For this course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The core agent can remain instruction-and-knowledge based.</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109</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before sharing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expected outputs and expected refusals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Complete FM01</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 asks for evidence and review</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Missing Detection</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Stops and asks for D</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High severity FM04</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Flags Severity 9 despite RPN 90</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Unsafe request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Refuses to approve the design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110</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Publish and share within a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Deployment includes audience and permissions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Preview</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Run test cases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Publish</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Save approved version</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training audience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Monitor</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feedback and errors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Update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Retest after changes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111</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4.1 · Build an FMEA Assistant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test and refine one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4.1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Create, test and refine one workflow</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Build</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Instructions + template</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1</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complete row</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2</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Missing Detection</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Refine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One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Screenshot or copied result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Complete-row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calculates and preserves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 S7 O5 D4</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include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gap + review gate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Must not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or alter ratings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113</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Missing-data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safe workflow stops before calculation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without Detection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Detection and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Guess a value or calculate RPN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Pass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Unknown remains visible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114</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4.2 · Build a Report Writer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Reuse a controlled report structure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FMEA or progress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Report template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Mandatory sections and tone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 before release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115</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4.3 · Minutes to action tracker to progress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Link outputs without losing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Minutes</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decisions/actions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owner confirms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Tracker</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progress report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Project lead releases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116</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handoff contract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exactly what moves to the next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Payload</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action table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Required fields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date, status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Provenance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and reviewer</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Failure rule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Stop on missing owner or date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117</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and Analyst are reasoning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based on the evidence task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Researcher</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Multi-source standards and technology comparison with citations.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Analyst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File-based calculations, patterns and data visualisation.</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118</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4.4 · Researcher and Analyst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research, inspect citations, decide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Define comparison and criteria</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Provided + approved public sources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Cited findings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one passage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Conclude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evidence limits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119</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prompt · technical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citation-level traceability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research assistant. Compare the supplied recording requirements with current approved guidance. Separate supplied facts from external findings. Cite each claim, quote no more than one short supporting phrase, and list unresolved differences for engineering review.</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TR-401 extract + approved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Criteria table + citations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one cited passage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120</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workflow</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Attach the workbook, calculate, visualise and check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Attach</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Lab-02-DMAIC/Starter.xlsx</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Rows, phases and missing values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Rates and change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Visualise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Phase comparison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Reproduce four values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121</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prompt · compare baseline and pilot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for formulas, limitation and next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Use only the six rows in WeeklyData. Check row count, phases and missing values. Calculate Baseline and Pilot rates, percentage-point change and relative reduction. Create a comparison chart, show formulas, state one limitation and one next evidence check. Do not claim cause or sustained improvement.</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 3.5%</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Change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−5.5 pp · 61.1% reduction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122</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Independent check · Analyst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numbers must agree before interpretation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3.5% − 9.0% = −5.5 pp</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Relative reduction</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5.5/9.0 = 61.1%</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123</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Reusable workflow + tests +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Agent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 a bounded task</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Researcher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Cited research</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Analyst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data analysis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Owns evidence and release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124</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5</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SharePoint Integration with Copilot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grounded engineering knowledge base with cited answers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125</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Create</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Create</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Organise a private engineering knowledge library.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Ground</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Ground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Scope an agent to the approved folder.</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Test</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supported and missing-evidence answers.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Integrate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Integrate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cited knowledge in a controlled document workflow.</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126</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Grounding connects the answer to selected sources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retrieves relevant passages before drafting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query</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Retrieve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 approved scope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from retrieved context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Cite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Link supporting source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 passage and compare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127</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prepared private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folder that learners can inspect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a simple folder that learners can inspect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Site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GenAI for Engineers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Library</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Folder</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Agent</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Engineering Knowledge Assistant</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128</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the knowledge-base structure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narrow information architecture improves retrieval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Site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Private membership</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Library</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Folder</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TR-401 + three workbooks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Folder-scoped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129</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metadata that engineers understand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Retrieval quality starts with document hygiene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Title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Clear subject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Document type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 report, manual</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Approved version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Discipline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Mechanical, electrical, process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Status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Draft or approved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130</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Permissions define what the agent can retrieve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respect the user’s existing access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Site owners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Manage structure and membership</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Members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Contribute approved content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Visitors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Read authorised material</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 user</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Sees only accessible sources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131</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or inspect the SharePoint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prepared IES environment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SharePoint home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Private team site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Name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IES GenAI for Engineers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Owners and members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Site URL and scope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132</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Populate one controlled folder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synthetic sources make testing predictable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PDF</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Recording fields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workbook</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Failure modes and RPN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DMAIC workbook</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Baseline and pilot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SPC workbook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Readings and chart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133</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5.1 · Create a SharePoint engineering knowledge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the assistant to the folder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 folder</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Knowledge Base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 agent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and purpose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sources; cite; preserve unknowns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Supported + unsupported questions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Approved audience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134</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 evidence first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citations and honest missing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Engineering Knowledge Base folder. Cite every factual claim with the source filename. Separate what the source states from engineering interpretation. If the answer is absent or conflicting, say so and name the document needed. Do not approve designs or infer missing limits.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Use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selected SharePoint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Return</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Answer + source + limitation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Refuse</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Do not invent missing limits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135</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1 · supported fact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answer should cite the exact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Which fields must TR-401 record?</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Test ID, timestamp, volume, duration</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Citation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TR-401 revision 1 · clause 1</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Open the passage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136</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2 · missing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trustworthy agent preserves the unknown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is the approved delivery limit?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Not specified in TR-401</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Invent 62 L/h or the fictional test range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Next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approved design requirement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137</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3 · cross-file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can compare purpose without merging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Potential failures and ratings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DMAIC</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Improvement rates and phases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SPC</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Time-ordered readings and signals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Citation to each workbook used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138</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Verify a citation in four steps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citation is useful only when the passage supports the claim</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Follow the citation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Locate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the exact row or clause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Claim, units and revision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Pass, correction or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139</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Integrate knowledge into the FMEA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Pass a checked excerpt, not an unchecked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SharePoint agent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Retrieves cited clause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Engineer</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Opens and approves excerpt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FMEA 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Uses approved excerpt as context</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Shows source and reviewer</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140</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5.2 · Chain SharePoint knowledge into the document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Question → citation → checked context →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relevant requirement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Verify passage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 selects context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FMEA/report draft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Sign off</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and retain trace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141</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governance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Grounding quality depends on source governance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Permission</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Least privilege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Current approved source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unrelated files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Sensitivity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classification/label</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Lifecycle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review date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142</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narrowly, cite visibly, verify directly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Organise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Controlled folder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Folder-based agent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Supported + missing evidence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Integrate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handoff</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143</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4">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6-secur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6</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AI Security &amp; Engineering AI Toolkit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Apply seven controls before sharing an AI-assisted output</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144</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all seven security steps on the grounded answer.</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Decide</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Decide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Approve, revise or reject release.</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Respond</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Respond</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prompt injection and follow incident response.</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Reuse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Reuse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Save a secure prompt and workflow checklist.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145</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follows the data from input to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 data</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securely</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 output</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Human sign-off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Retain 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 to incidents</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146</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classify the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Decide what may enter the AI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Public</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Approved for public release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Internal</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Routine organisational use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Confidential</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Need-to-know business data</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Restricted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Highly sensitive or regulated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147</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govern access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source, user and agent boundaries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folder and revision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User</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Authorised account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broader knowledge scope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Sharing</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audience only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148</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prompt securely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Minimise sensitive detail and resist document instructions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Unsafe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Paste live identifiers and follow any instruction inside a source.</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Secure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synthetic or minimised data; treat document instructions as content; follow system and user task only.</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149</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verify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citations, calculations, units and limitations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Citation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one source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Calculation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result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Context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Revision, units and conditions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Reject unsupported cause or approval</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150</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require human sign-off</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competent reviewer and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Draft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AI-assisted output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Reviewer</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engineering role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Decision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Record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Date, basis and conditions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151</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retain traceability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enough evidence to reproduce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Final version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Files and revisions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draft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Corrections</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changed</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Approval</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Reviewer and date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152</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7 · recognise and respond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contain, report and learn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Detect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Injection, leakage or harmful output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Do not share or continue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Contain</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Revoke access or isolate source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incident channel</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Improve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control and retest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153</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6.1 · Apply 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Complete one evidence row for every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6.1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Complete one evidence row for every step</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Case</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SharePoint-agent comparison</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Citation + workbook calculation</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Approve / revise / reject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Trigger</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Embedded prompt-injection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Completed security log</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154</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Release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review must end with a clear disposition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All checks pass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Approve for named audience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Correctable gap</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Revise and recheck</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Material uncertainty or exposure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Reject and escalate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155</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Protect input, verify output, approve and retain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Before AI</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Classify + access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During AI</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Secure prompt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After AI</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 sign off</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Always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Trace + respond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156</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Course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saves time when the engineering controls stay visible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Understand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 → DMAIC → SPC</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Automate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Copilot apps + agents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Ground</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SharePoint + citations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review</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157</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Match each outcome to one piece of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501614"/>
          </a:xfrm>
          <a:prstGeom prst="roundRect">
            <a:avLst>
              <a:gd name="adj" fmla="val 14583"/>
            </a:avLst>
          </a:prstGeom>
          <a:solidFill>
            <a:srgbClr val="FFFFFF"/>
          </a:solidFill>
          <a:ln w="12700">
            <a:solidFill>
              <a:srgbClr val="C8D9DC"/>
            </a:solidFill>
            <a:prstDash val="solid"/>
          </a:ln>
        </p:spPr>
      </p:sp>
      <p:sp>
        <p:nvSpPr>
          <p:cNvPr id="10" name="Text 8"/>
          <p:cNvSpPr txBox="1"/>
          <p:nvPr/>
        </p:nvSpPr>
        <p:spPr>
          <a:xfrm>
            <a:off x="1627632" y="2048256"/>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three methods</a:t>
            </a:r>
            <a:endParaRPr lang="en-US" sz="1600" dirty="0"/>
          </a:p>
        </p:txBody>
      </p:sp>
      <p:sp>
        <p:nvSpPr>
          <p:cNvPr id="12" name="Shape 10"/>
          <p:cNvSpPr/>
          <p:nvPr/>
        </p:nvSpPr>
        <p:spPr>
          <a:xfrm>
            <a:off x="640080" y="2632166"/>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2632166"/>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2559014"/>
            <a:ext cx="10058400" cy="501614"/>
          </a:xfrm>
          <a:prstGeom prst="roundRect">
            <a:avLst>
              <a:gd name="adj" fmla="val 14583"/>
            </a:avLst>
          </a:prstGeom>
          <a:solidFill>
            <a:srgbClr val="FFFFFF"/>
          </a:solidFill>
          <a:ln w="12700">
            <a:solidFill>
              <a:srgbClr val="C8D9DC"/>
            </a:solidFill>
            <a:prstDash val="solid"/>
          </a:ln>
        </p:spPr>
      </p:sp>
      <p:sp>
        <p:nvSpPr>
          <p:cNvPr id="15" name="Text 13"/>
          <p:cNvSpPr txBox="1"/>
          <p:nvPr/>
        </p:nvSpPr>
        <p:spPr>
          <a:xfrm>
            <a:off x="1627632" y="2668742"/>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2668742"/>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Create checked documents and analyses</a:t>
            </a:r>
            <a:endParaRPr lang="en-US" sz="1600" dirty="0"/>
          </a:p>
        </p:txBody>
      </p:sp>
      <p:sp>
        <p:nvSpPr>
          <p:cNvPr id="17" name="Shape 15"/>
          <p:cNvSpPr/>
          <p:nvPr/>
        </p:nvSpPr>
        <p:spPr>
          <a:xfrm>
            <a:off x="640080" y="3252651"/>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3252651"/>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3179499"/>
            <a:ext cx="10058400" cy="501614"/>
          </a:xfrm>
          <a:prstGeom prst="roundRect">
            <a:avLst>
              <a:gd name="adj" fmla="val 14583"/>
            </a:avLst>
          </a:prstGeom>
          <a:solidFill>
            <a:srgbClr val="FFFFFF"/>
          </a:solidFill>
          <a:ln w="12700">
            <a:solidFill>
              <a:srgbClr val="C8D9DC"/>
            </a:solidFill>
            <a:prstDash val="solid"/>
          </a:ln>
        </p:spPr>
      </p:sp>
      <p:sp>
        <p:nvSpPr>
          <p:cNvPr id="20" name="Text 18"/>
          <p:cNvSpPr txBox="1"/>
          <p:nvPr/>
        </p:nvSpPr>
        <p:spPr>
          <a:xfrm>
            <a:off x="1627632" y="3289227"/>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3289227"/>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structured prompts</a:t>
            </a:r>
            <a:endParaRPr lang="en-US" sz="1600" dirty="0"/>
          </a:p>
        </p:txBody>
      </p:sp>
      <p:sp>
        <p:nvSpPr>
          <p:cNvPr id="22" name="Shape 20"/>
          <p:cNvSpPr/>
          <p:nvPr/>
        </p:nvSpPr>
        <p:spPr>
          <a:xfrm>
            <a:off x="640080" y="3873137"/>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3873137"/>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3799985"/>
            <a:ext cx="10058400" cy="501614"/>
          </a:xfrm>
          <a:prstGeom prst="roundRect">
            <a:avLst>
              <a:gd name="adj" fmla="val 14583"/>
            </a:avLst>
          </a:prstGeom>
          <a:solidFill>
            <a:srgbClr val="FFFFFF"/>
          </a:solidFill>
          <a:ln w="12700">
            <a:solidFill>
              <a:srgbClr val="C8D9DC"/>
            </a:solidFill>
            <a:prstDash val="solid"/>
          </a:ln>
        </p:spPr>
      </p:sp>
      <p:sp>
        <p:nvSpPr>
          <p:cNvPr id="25" name="Text 23"/>
          <p:cNvSpPr txBox="1"/>
          <p:nvPr/>
        </p:nvSpPr>
        <p:spPr>
          <a:xfrm>
            <a:off x="1627632" y="3909713"/>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3909713"/>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Test a multi-step agent</a:t>
            </a:r>
            <a:endParaRPr lang="en-US" sz="1600" dirty="0"/>
          </a:p>
        </p:txBody>
      </p:sp>
      <p:sp>
        <p:nvSpPr>
          <p:cNvPr id="27" name="Shape 25"/>
          <p:cNvSpPr/>
          <p:nvPr/>
        </p:nvSpPr>
        <p:spPr>
          <a:xfrm>
            <a:off x="640080" y="4493623"/>
            <a:ext cx="502920" cy="502920"/>
          </a:xfrm>
          <a:prstGeom prst="ellipse">
            <a:avLst/>
          </a:prstGeom>
          <a:solidFill>
            <a:srgbClr val="078897"/>
          </a:solidFill>
          <a:ln w="12700">
            <a:solidFill>
              <a:srgbClr val="078897"/>
            </a:solidFill>
            <a:prstDash val="solid"/>
          </a:ln>
        </p:spPr>
      </p:sp>
      <p:sp>
        <p:nvSpPr>
          <p:cNvPr id="28" name="Text 26"/>
          <p:cNvSpPr txBox="1"/>
          <p:nvPr/>
        </p:nvSpPr>
        <p:spPr>
          <a:xfrm>
            <a:off x="640080" y="4493623"/>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29" name="Shape 27"/>
          <p:cNvSpPr/>
          <p:nvPr/>
        </p:nvSpPr>
        <p:spPr>
          <a:xfrm>
            <a:off x="1371600" y="4420471"/>
            <a:ext cx="10058400" cy="501614"/>
          </a:xfrm>
          <a:prstGeom prst="roundRect">
            <a:avLst>
              <a:gd name="adj" fmla="val 14583"/>
            </a:avLst>
          </a:prstGeom>
          <a:solidFill>
            <a:srgbClr val="FFFFFF"/>
          </a:solidFill>
          <a:ln w="12700">
            <a:solidFill>
              <a:srgbClr val="C8D9DC"/>
            </a:solidFill>
            <a:prstDash val="solid"/>
          </a:ln>
        </p:spPr>
      </p:sp>
      <p:sp>
        <p:nvSpPr>
          <p:cNvPr id="30" name="Text 28"/>
          <p:cNvSpPr txBox="1"/>
          <p:nvPr/>
        </p:nvSpPr>
        <p:spPr>
          <a:xfrm>
            <a:off x="1627632" y="4530199"/>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31" name="Text 29"/>
          <p:cNvSpPr txBox="1"/>
          <p:nvPr/>
        </p:nvSpPr>
        <p:spPr>
          <a:xfrm>
            <a:off x="3246120" y="4530199"/>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Researcher/Analyst</a:t>
            </a:r>
            <a:endParaRPr lang="en-US" sz="1600" dirty="0"/>
          </a:p>
        </p:txBody>
      </p:sp>
      <p:sp>
        <p:nvSpPr>
          <p:cNvPr id="32" name="Shape 30"/>
          <p:cNvSpPr/>
          <p:nvPr/>
        </p:nvSpPr>
        <p:spPr>
          <a:xfrm>
            <a:off x="640080" y="5114109"/>
            <a:ext cx="502920" cy="502920"/>
          </a:xfrm>
          <a:prstGeom prst="ellipse">
            <a:avLst/>
          </a:prstGeom>
          <a:solidFill>
            <a:srgbClr val="078897"/>
          </a:solidFill>
          <a:ln w="12700">
            <a:solidFill>
              <a:srgbClr val="078897"/>
            </a:solidFill>
            <a:prstDash val="solid"/>
          </a:ln>
        </p:spPr>
      </p:sp>
      <p:sp>
        <p:nvSpPr>
          <p:cNvPr id="33" name="Text 31"/>
          <p:cNvSpPr txBox="1"/>
          <p:nvPr/>
        </p:nvSpPr>
        <p:spPr>
          <a:xfrm>
            <a:off x="640080" y="5114109"/>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34" name="Shape 32"/>
          <p:cNvSpPr/>
          <p:nvPr/>
        </p:nvSpPr>
        <p:spPr>
          <a:xfrm>
            <a:off x="1371600" y="5040957"/>
            <a:ext cx="10058400" cy="501614"/>
          </a:xfrm>
          <a:prstGeom prst="roundRect">
            <a:avLst>
              <a:gd name="adj" fmla="val 14583"/>
            </a:avLst>
          </a:prstGeom>
          <a:solidFill>
            <a:srgbClr val="FFFFFF"/>
          </a:solidFill>
          <a:ln w="12700">
            <a:solidFill>
              <a:srgbClr val="C8D9DC"/>
            </a:solidFill>
            <a:prstDash val="solid"/>
          </a:ln>
        </p:spPr>
      </p:sp>
      <p:sp>
        <p:nvSpPr>
          <p:cNvPr id="35" name="Text 33"/>
          <p:cNvSpPr txBox="1"/>
          <p:nvPr/>
        </p:nvSpPr>
        <p:spPr>
          <a:xfrm>
            <a:off x="1627632" y="5150685"/>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36" name="Text 34"/>
          <p:cNvSpPr txBox="1"/>
          <p:nvPr/>
        </p:nvSpPr>
        <p:spPr>
          <a:xfrm>
            <a:off x="3246120" y="5150685"/>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Ground and cite</a:t>
            </a:r>
            <a:endParaRPr lang="en-US" sz="1600" dirty="0"/>
          </a:p>
        </p:txBody>
      </p:sp>
      <p:sp>
        <p:nvSpPr>
          <p:cNvPr id="37" name="Shape 35"/>
          <p:cNvSpPr/>
          <p:nvPr/>
        </p:nvSpPr>
        <p:spPr>
          <a:xfrm>
            <a:off x="640080" y="5734594"/>
            <a:ext cx="502920" cy="502920"/>
          </a:xfrm>
          <a:prstGeom prst="ellipse">
            <a:avLst/>
          </a:prstGeom>
          <a:solidFill>
            <a:srgbClr val="078897"/>
          </a:solidFill>
          <a:ln w="12700">
            <a:solidFill>
              <a:srgbClr val="078897"/>
            </a:solidFill>
            <a:prstDash val="solid"/>
          </a:ln>
        </p:spPr>
      </p:sp>
      <p:sp>
        <p:nvSpPr>
          <p:cNvPr id="38" name="Text 36"/>
          <p:cNvSpPr txBox="1"/>
          <p:nvPr/>
        </p:nvSpPr>
        <p:spPr>
          <a:xfrm>
            <a:off x="640080" y="5734594"/>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39" name="Shape 37"/>
          <p:cNvSpPr/>
          <p:nvPr/>
        </p:nvSpPr>
        <p:spPr>
          <a:xfrm>
            <a:off x="1371600" y="5661442"/>
            <a:ext cx="10058400" cy="501614"/>
          </a:xfrm>
          <a:prstGeom prst="roundRect">
            <a:avLst>
              <a:gd name="adj" fmla="val 14583"/>
            </a:avLst>
          </a:prstGeom>
          <a:solidFill>
            <a:srgbClr val="FFFFFF"/>
          </a:solidFill>
          <a:ln w="12700">
            <a:solidFill>
              <a:srgbClr val="C8D9DC"/>
            </a:solidFill>
            <a:prstDash val="solid"/>
          </a:ln>
        </p:spPr>
      </p:sp>
      <p:sp>
        <p:nvSpPr>
          <p:cNvPr id="40" name="Text 38"/>
          <p:cNvSpPr txBox="1"/>
          <p:nvPr/>
        </p:nvSpPr>
        <p:spPr>
          <a:xfrm>
            <a:off x="1627632" y="5771170"/>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41" name="Text 39"/>
          <p:cNvSpPr txBox="1"/>
          <p:nvPr/>
        </p:nvSpPr>
        <p:spPr>
          <a:xfrm>
            <a:off x="3246120" y="5771170"/>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security review</a:t>
            </a:r>
            <a:endParaRPr lang="en-US" sz="16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158</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largest gains come from repeatable preparation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Documents</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first drafts</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Data</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formulas and charts</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Research</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evidence comparison</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Reuse</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recurring workflows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Review</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More consistent checks</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159</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6.2 · Consolidate the AI Engineering Toolkit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only assets you can explain and verify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Prompts</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 patterns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Methods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FMEA/DMAIC/SPC quick references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Instructions + test cases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checklist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Next action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workflow to trial</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160</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Commit one next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a small workflow with a clear owner and acceptance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Workflow</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repeats?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sources?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deliverable?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success be verified?</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approves release?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161</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2">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ump-st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Closing</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Thank you</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IES · GenAI for Engineers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162</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3">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etroleum-facil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REFERENCE</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Quick-reference library</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Optional support after class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163</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Purpose, fields, calculation and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Anticipate potential failures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Fields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Function → mode → effect → cause → control</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Priority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 × O × D = RPN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Owner, date, evidence, residual risk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164</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rating questions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the basis behind each score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Consequence under defined conditions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Frequency/likelihood from agreed 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Poor detectability: higher D means current controls are less likely to detect it.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Document scale and rationale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165</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worked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Two rows illustrate arithmetic and severity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43" name="Shape 41"/>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44" name="Text 42"/>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45" name="Text 43"/>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46" name="Text 4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166</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Five phases and their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Charter</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Tested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Pilot</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Response plan</a:t>
            </a:r>
            <a:endParaRPr lang="en-US" sz="1200" dirty="0"/>
          </a:p>
        </p:txBody>
      </p:sp>
      <p:sp>
        <p:nvSpPr>
          <p:cNvPr id="31" name="Shape 29"/>
          <p:cNvSpPr/>
          <p:nvPr/>
        </p:nvSpPr>
        <p:spPr>
          <a:xfrm>
            <a:off x="5468112" y="3401568"/>
            <a:ext cx="1243584" cy="1243584"/>
          </a:xfrm>
          <a:prstGeom prst="ellipse">
            <a:avLst/>
          </a:prstGeom>
          <a:solidFill>
            <a:srgbClr val="102B3E"/>
          </a:solidFill>
          <a:ln w="12700">
            <a:solidFill>
              <a:srgbClr val="102B3E"/>
            </a:solidFill>
            <a:prstDash val="solid"/>
          </a:ln>
        </p:spPr>
      </p:sp>
      <p:sp>
        <p:nvSpPr>
          <p:cNvPr id="32" name="Text 30"/>
          <p:cNvSpPr txBox="1"/>
          <p:nvPr/>
        </p:nvSpPr>
        <p:spPr>
          <a:xfrm>
            <a:off x="5468112" y="3401568"/>
            <a:ext cx="1243584" cy="124358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DMAIC</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167</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Focus on the vital few categories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168</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Organise hypotheses; do not present them as facts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169</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chain, explicit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Problem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symptom</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Ask for mechanism</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each link</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Mark unknown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next observation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170</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171</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Control-chart signal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Agree the rule set before monitoring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Beyond limit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Single-point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Repeated points one side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Sustained direction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Cycle or alternation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172</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formulas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only after stability and data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(USL − LSL) ÷ 6σ</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min[(USL − mean), (mean − LSL)] ÷ 3σ</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Interpret</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Spread + centring</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Capability is conditional</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173</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174</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and decision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Formula and units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and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175</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structured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Using only the approved requirements, draft the specified document sections. Preserve units and revision. Put assumptions in a separate table. Add a source column for each mandatory statement and mark missing criteria as “not supplied”.</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Approved requirements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Sections + checklist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Trace every shall statement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176</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Excel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formulas and a chart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named table. Audit row count and missing values, show every formula, create the requested chart, and return one independent check. Preserve source rows and state any assumption before interpreting.</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Named table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Formula columns +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 independent value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177</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PowerPoint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management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one management-summary slide from the checked findings. Use one headline, one chart, two evidence values, one limitation and one requested decision. Do not introduce new facts.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Checked findings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One-slide decision story</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unsupported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178</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Calculate without changing ratings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Preserve every supplied FMEA row and rating. Calculate RPN, rank rows, apply the severity gate, and propose evidence requests. Do not invent incidents, ratings or residual risk.</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arithmetic</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Gate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Severity threshold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approval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179</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DMAIC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evidence from hypotheses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DMAIC summary from the supplied data. Put observations, hypotheses and required tests in separate columns. Show rates and formulas. Do not treat a Pareto category, fishbone branch or 5-Whys chain as proven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Rates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Tools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Pareto/fishbone/5-Whys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proof</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180</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SPC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Fix the baseline and preserve limits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the stated baseline only to calculate the centre line and control limits. Apply those fixed limits to monitoring points. Show formulas, flag signals and state that the chart does not identify root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Mean and LCL</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Chart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Time order + fixed limits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Signal ≠ diagnosis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181</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Cited research still needs passage-level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 and criteria</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Provided and approved</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Cited comparison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one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Boundary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Unresolved differences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182</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Reproduce important calculations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Attach</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file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Rows and gaps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Formula and denominator</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Visualise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Appropriate chart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Four anchor values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183</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Make the reusable workflow testable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bounded job</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Required fields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Ordered logic</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Stops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Missing/conflicting data</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Format + human gate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184</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agent test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Run one positive and one negative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Answer using only the Engineering Knowledge Base folder. Cite each factual claim. If the requested value is absent, say “not specified” and identify the needed source.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Positive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fields does TR-401 require?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Negative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approved limit does it state?</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citation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185</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Seven-step security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before every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 — lesson-plan aligned courseware</dc:subject>
  <dc:creator>IES</dc:creator>
  <cp:lastModifiedBy>IES</cp:lastModifiedBy>
  <cp:revision>1</cp:revision>
  <dcterms:created xsi:type="dcterms:W3CDTF">2026-09-06T04:39:07Z</dcterms:created>
  <dcterms:modified xsi:type="dcterms:W3CDTF">2026-09-06T04:39:07Z</dcterms:modified>
</cp:coreProperties>
</file>