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Lst>
  <p:notesMasterIdLst>
    <p:notesMasterId r:id="rId2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notesMaster" Target="notesMasters/notesMaster1.xml"/><Relationship Id="rId203" Type="http://schemas.openxmlformats.org/officeDocument/2006/relationships/presProps" Target="presProps.xml"/><Relationship Id="rId204" Type="http://schemas.openxmlformats.org/officeDocument/2006/relationships/viewProps" Target="viewProps.xml"/><Relationship Id="rId205" Type="http://schemas.openxmlformats.org/officeDocument/2006/relationships/theme" Target="theme/theme1.xml"/><Relationship Id="rId2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15-minute methodology primer required by LO1. Explain that Copilot can help draft and calculate, while the engineer chooses the method and validates its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prospective: it asks what could go wrong. It is not proof that a listed cause has occurred. Use a concrete pump function as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intended function to failure, effect, possible cause and existing detection or prevention control. Correct learners who describe an effect as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higher detection rating means harder to detect in the supplied classroom scale. Scores require agreed criteria and evidence; Copilot must not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7 × 5 × 4. Explain that organisations may use severity gates or action-priority rules in addition to RPN.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FMEA concept section by naming the concrete deliverable and the mandatory human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treating Six Sigma as only a numerical target. For this course, DMAIC provides the structure for evidence-based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delivery case to name one output from each phase. A phase name alone is not a DMAIC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each tool and the evidence limit. A plausible hypothesis from Copilot must still be checked against process records or a controlled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both rates. State that the short pilot suggests improvement but does not establish which change caused it or whether it will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time order. A histogram or average alone cannot show when the process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fault diagnosis. A stable chart is not proof that the product meets its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numerical example to show why conformance and statistical stability are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a high Cp or Cpk as automatic proof of quality. The monitoring shift means capability conclusions from the earlier baseline cannot describe the later period without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three quick questions: What question does the method answer? What output does it produce? What decision remains with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Methodology primer · learn the method before using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DMAIC and SPC answer different engineering questions and produce different evidence.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could fail, what would happen and what needs attention?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Six Sigma / 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do we organise a process-improvement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process behaviour stable, or is there a signal to investigate?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preventive review of how a product, process or system could fail.</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Use before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Design release, process change, commissioning or maintenance planning.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 from</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defined function or process step and its intended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might it fail, what is the effect, what could cause it and what controls exist?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prioritised review table with evidence gaps and proposed actions.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read one row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row keeps the function, failure mode, effect, cause and control separate.</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Function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Deliver chemical solution at the required flow.</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Failure mode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 delivers too little solution.</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Effect</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The receiving process gets an insufficient dose.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Possible cause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blocked strainer may restrict flow; evidence is still needed.</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Current 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delivery test can detect low output.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Severity, Occurrence and Detection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three ratings describe different questions; multiplying them gives a prioritisation aid called RPN.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Severity (S)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serious is the effect if the failure occurs?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Occurrence (O)</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failure mode or cause under the stated basis?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Detection (D)</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current control to miss it before the effect?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worked RPN and decision boundary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helps organise attention, but a lower number does not automatically mean acceptable risk.</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Worked row</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FM01: S 7 × O 5 × D 4 = RPN 140.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has S 9 and RPN 90; high severity still needs explicit review.</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Engineer checks</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Rating basis, evidence, existing controls and action effectiveness.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key output and what it cannot prove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output is a review record, not a diagnosis or approval.</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 output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Failure story, ratings, rationale, controls, evidence gaps, actions, owner and status.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 help</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Draft rows, check table completeness, calculate RPN and summarise priorities.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cannot decide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Whether a cause is true, a risk is acceptable or work is authorised.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Six Sigma and DMAIC · what they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Six Sigma is a disciplined approach to reducing variation and defects; DMAIC is its five-phase improvement cycle.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existing process has a measurable performance problem.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Focus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Define the problem, measure the baseline and test evidence before claiming improvement.</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traceable improvement story, tested change and control plan.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what each phase produces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phase creates an output needed by the next decision.</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Problem, customer need, scope and critical-to-quality measure.</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Operational definition, data-quality checks and baseline performance.</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Patterns, prioritised hypotheses and evidence gaps.</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controlled change to test and its predicted effect.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Metric, owner, frequency, signal rule and response plan.</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analysis tools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fishbone and 5-Whys support analysis, but none proves a root cause by itself.</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Pareto chart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Which problem categories account for the largest share?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Fishbone diagram</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possible causes should the team consider across useful categories?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5-Whys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causal chain should be tested more deeply?</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worked rate comparison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defects with opportunities so periods of different length are comparable.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93 deviations ÷ 1,008 opportunities = 9.23%.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11 deviations ÷ 336 opportunities = 3.27%.</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Observed 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reduction of 5.95 percentage points; two simultaneous changes prevent causal attribution.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uses time-ordered data to distinguish routine variation from signals of process change.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process runs repeatedly and measurements are collected in sequence.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Ask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the current process behaving like the stable reference period?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control chart, signal interpretation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common cause and special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chart helps separate the usual pattern from evidence that something changed.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Common-cause variation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Small fluctuations produced by the current process system.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Special-cause signal</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unusual point or pattern that calls for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action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measurement, test conditions and equipment before assigning a cause.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control limits are not specification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states an external requirement.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Control limits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Calculated from a defined stable reference period; they show expected process variation.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Specification limits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Set by design, customer or regulatory requirements.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Example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59.5 L/h meets the fictional 58.9–65.1 L/h specification but is below the process control limit.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Cp and Cpk describe conditional capability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Capability indices compare process spread and centring with specifications only when their assumptions are reasonable.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Potential capability: specification width compared with estimated process spread.</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Cpk</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Actual centring: also considers how close the mean is to the nearest specification limit.</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Before interpreting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Check stability, measurement adequacy, distribution, independence and sufficient data.</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LO1 checkpoint · choose the method and name its output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Before the labs, learners should be able to explain the purpose, key terms and output of each method.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Preventive failure review → prioritised FMEA table and actions.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Improvement investigation → five-phase evidence trail and control plan.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Process monitoring → control chart, signal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SPC is the method we will use to compare readings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problems by opportunities so a longer period does not automatically look worse.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Put the largest categories first so the team can choose a focused investigation.</a:t>
            </a:r>
            <a:endParaRPr lang="en-US" sz="2100" dirty="0"/>
          </a:p>
        </p:txBody>
      </p:sp>
      <p:pic>
        <p:nvPicPr>
          <p:cNvPr id="6" name="Image 0" descr="A Pareto chart shows where to star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Deep Dive: Copilot Agents &amp; Microsoft 365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bounded agents to repeat a useful engineering drafting pattern.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Assistant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Report Writer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 and Analyst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Deep Dive: SharePoint Integration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Retrieve approved engineering evidence and verify the citation.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Grounding</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Permissions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2800" b="1" dirty="0">
                <a:solidFill>
                  <a:srgbClr val="142C3E"/>
                </a:solidFill>
                <a:latin typeface="Aptos" pitchFamily="34" charset="0"/>
                <a:ea typeface="Aptos" pitchFamily="34" charset="-122"/>
                <a:cs typeface="Aptos" pitchFamily="34" charset="-120"/>
              </a:rPr>
              <a:t>Module 6 — AI Security: The 7-Step AI Security Framework &amp; Your Engineering AI Toolkit</a:t>
            </a:r>
            <a:endParaRPr lang="en-US" sz="28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 seven checks before an AI-assisted result is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Classify and govern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 securely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 and sign off</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200</Slides>
  <Notes>200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200</vt:i4>
      </vt:variant>
    </vt:vector>
  </HeadingPairs>
  <TitlesOfParts>
    <vt:vector size="2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2026-09-06T02:43:20Z</dcterms:created>
  <dcterms:modified xsi:type="dcterms:W3CDTF">2026-09-06T02:43:20Z</dcterms:modified>
</cp:coreProperties>
</file>