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One-day Copilot in Excel workshop: SPC, FMEA and DMAIC  IES: Three connected labs Evidence: One realistic synthetic case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Reuse evidence across the entire day.  SPC: Understand data and process behaviour FMEA: Review potential failure and controls DMAIC: Frame improvement and follow-up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 minutes of hands-on Excel work.  Lab01: SPC ·140 minutes Lab02: FMEA ·100 minutes Lab03: DMAIC ·90 minutes Review: Setup30 + final review30 minutes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engineer verifies the source, formula and interpretation.  Suggest: Tables, formulas and charts Explain: Patterns and evidence gaps Review: You check calculations and claims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table, output and acceptance test.  Role: Engineering data reviewer Input: Named Excel table and source revision Steps: Audit, calculate, chart, check Expected: Formula-based result with limitations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Specify what must be preserved.  Source: RawTests remains unchanged Data: Units, time order and missingness Formula: Show rows and parameters Decision: No invented cause or approval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dosing skid; linked measurements and maintenance evidence.  Target: 62.0 L/h in a standardised test Comparison: 58.9–65.1 L/h fictional specification Boundary: Not a chemical compliance limit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observation, hypothesis and intervention.  Observed: Delivery falls; differential pressure rises Hypothesis: Restriction is possible, not proven Intervention: Strainer change plus verification Gap: Effects of the two changes not isolated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approved storage and confirm Copilot access.  Workbook: Save a working copy of Starter.xlsx Source: Select the relevant named table Copilot: Use the Excel side pane Fallback: Record manual formulas honestly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minutes | QualityAudit, formulas, chart and interpretation.  Inputs: RawTests, ValidTests and Parameters Deliverable: Fixed-baseline individuals chart Check: Every exclusion and formula traceable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from the workbook Prompts sheet into Copilot in Excel. Using RawTests, audit test_id uniqueness, missing collected_L, duration_s and quality_flag. Do not modify RawTests. Create a QualityAudit table with record ID, issue, inclusion decision and reason. Use one unique record per test, require VALID and 120 seconds, and never discard an excursion solely because it is extreme. Report raw, unique and valid counts. Input: Select the named source table Review: Check the changed cells, formulas and claims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from the workbook Prompts sheet into Copilot in Excel. Use ValidTests in time order. In Analysis create delivery_L_h = collected_L*3600/120. Use only the 60 baseline records to calculate mean and successive moving ranges; do not bridge across phases. Estimate sigma = MRbar/1.128 and individuals limits mean +/-3*sigma. Put constants and specifications in Parameters and show formulas, units and referenced rows. Input: Select the named source table Review: Check the changed cells, formulas and claims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from the workbook Prompts sheet into Copilot in Excel. Create an Excel line chart of delivery_L_h by timestamp for baseline, monitoring and pilot, with the fixed baseline mean/UCL/LCL. Flag points outside the limits without refitting them. Report phase counts and affected IDs. Explain the monitoring shift as a signal requiring investigation, not a proven restriction diagnosis. Keep invalid and missing tests visible in QualityAudit. Input: Select the named source table Review: Check the changed cells, formulas and claims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from the workbook Prompts sheet into Copilot in Excel. Using fictional test specifications 58.9–65.1 L/h, calculate baseline Cp and Cpk from the stated within-process estimator. State assumptions: stable baseline, adequate measurement, suitable distribution and independence. Do not use a good Cp to claim the later monitoring period is stable. Review potential shift/measurement effects and compare with Worked-Reference.xlsx. Input: Select the named source table Review: Check the changed cells, formulas and claims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a ledger of inclusion decisions.  121: Raw rows 120: Unique test IDs 118: Comparable valid tests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delete an excursion simply because it is extreme.  TEST-068: Missing volume: not zero TEST-083: 110s duration: invalid for this protocol TEST-088: Exact duplicate: retain one event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A120-second collection is1/30 of an hour.  Volume: Collected litres Scale: 3600 /120 =30 Delivery: Volume ×30 L/h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Monitoring and pilot data do not set these limits.  Baseline: 60 valid tests Monitoring: 28 valid tests Pilot: 30 valid tests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successive baseline moving ranges only.  Mean: 62.00250 L/h MRbar: 0.73881 L/h Sigma: MRbar /1.128 =0.65498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Fixed limits reveal a change that requires investigation.  LCL: 60.03757 L/h UCL: 63.96743 L/h Signal: 17 monitoring points below LCL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Requirements and observed behaviour answer different questions.  Specification: 58.9–65.1 L/h for this teaching test Control limits: Estimated from the chosen baseline Interpretation: Neither alone establishes physical cause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use baseline capability to dismiss later instability.  Cp: 1.57766 Cpk: 1.57639 Conditions: Stable behaviour and suitable measurement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signal is evidence for investigation.  Supported: Monitoring delivery is below baseline limits Associated: Differential pressure rose in the same period Unresolved: Measurement adequacy and sole physical cause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minutes | Six rows, formula checks, priority chart and review.  Inputs: FMEA_Input, ScoringNote, Evidence Deliverable: FMEA_Review and action view Check: Ratings, source status and uncertainty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from the workbook Prompts sheet into Copilot in Excel. Use FMEA_Input and Evidence. Create FMEA_Review with function, mode, effect, potential cause, current control, evidence, supplied provisional S/O/D, RPN, action, owner and status. Keep the six mode IDs. Separate actual observations from prospective scenarios. Use ScoringNote for definitions and do not infer occurrence ratings from the short test series. Input: Select the named source table Review: Check the changed cells, formulas and claims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from the workbook Prompts sheet into Copilot in Excel. Add an Excel formula RPN=S*O*D for every row. Sort a view by RPN descending while preserving mode IDs and source rows. Add a separate high-severity review flag for S&gt;=9. Create an RPN column chart. Do not treat rank or low RPN as evidence of safety acceptance. Input: Select the named source table Review: Check the changed cells, formulas and claims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from the workbook Prompts sheet into Copilot in Excel. Simulate reliability, operations and safety review lenses. First return one separate evidence-based concern per role. Run two concise challenge/response rounds, citing mode IDs and evidence records. A moderator returns agreed revisions, unresolved disagreement and missing evidence. Do not force consensus or invent approval. Keep residual ratings unassessed until action-effectiveness evidence exists. Input: Select the named source table Review: Check the changed cells, formulas and claims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row should remain logically connected.  Function: Meter delivery Mode: Low delivery Effect: Insufficient feed Cause: Restriction hypothesis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small dataset does not estimate a failure probability.  S: Effect severity O: Occurrence judgement D: Poorer detection = larger score Basis: Supplied workshop definitions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FM01 provides a simple arithmetic check.  Severity: 7 Occurrence: 5 Detection: 4 RPN: 7 ×5 ×4 =140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FM04 has S = 9 and still needs explicit review.  FM01: Highest RPN 140 FM03: RPN 108 FM04: RPN 90; severity 9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proposed improvement has not yet demonstrated effectiveness.  Current: Periodic collection test Proposed: Review mechanism and measurement evidence Residual: Unassessed until verified evidence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Simulated personas expose questions, not independent approval.  Reliability: What supports the mechanism? Operations: What is practical and missing? Safety: What consequence needs review?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rounds keep the review focused.  Position: Separate evidence-based concerns Challenge: One specific objection per lens Response: Cite mode and source record Moderator: Retain dissent and evidence gaps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complete spreadsheet is not a completed control.  Owner: Responsible role identified Evidence: Effectiveness test specified Status: Open until reviewed Scores: No automatic residual reduction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minutes | Rates, Pareto, improvement proposal and control plan.  Inputs: WeeklyEvents and DefectCounts Deliverable: DMAIC and ControlPlan sheets Check: Denominators and limitations retained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from the workbook Prompts sheet into Copilot in Excel. Use WeeklyEvents, DefectCounts and Evidence. Draft a DMAIC table in Excel: phase, claim, metric, source, limitation, next action. Define the CTQ as delivery-test acceptance deviation, not chemical compliance. Calculate baseline and pilot rates using summed deviations divided by summed opportunities, not a simple average when denominators differ. Input: Select the named source table Review: Check the changed cells, formulas and claims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from the workbook Prompts sheet into Copilot in Excel. Create a Pareto table and chart from baseline DefectCounts, including cumulative percentage. Reconcile the total with baseline WeeklyEvents. Compare the phase rates and express both percentage-point and relative change. Explain that fewer deviations after two concurrent changes do not isolate the cause or establish sustained improvement. Input: Select the named source table Review: Check the changed cells, formulas and claims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from the workbook Prompts sheet into Copilot in Excel. Draft a controlled follow-up trial and ControlPlan table: metric, source, frequency, owner, signal rule, review response and evidence. Link to SPC signals and FMEA actions. Preserve the open removed-strainer review. Do not claim causal proof, savings or operational approval not supported by the source. End with a six-cell management summary and unresolved questions. Input: Select the named source table Review: Check the changed cells, formulas and claims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delivery-test deviations per opportunity.  Outcome: Acceptance deviation Denominator: Logged test opportunities Boundary: Not water-quality compliance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eight-week log is separate from the120-test investigation.  Baseline: 93 /1008 =9.22619% Pilot: 11 /336 =3.27381% Scope: Six baseline weeks; two pilot weeks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counts prioritise investigation; they do not prove causes.  Total: 93 baseline deviations Top category: Low delivery 55 Top two: 71 /93 =76.34%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the calculation so percentages are not confused.  Absolute: 5.95238 percentage points Relative: 64.51613% reduction Limit: Short pilot; concurrent changes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before/after difference does not isolate one cause.  Intervention: Strainer replacement and verification Confounding: Two changes occurred together Next study: Comparable conditions and reviewed evidence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ownership and response before a new signal appears.  Metric: Delivery and deviation rate Source: Standard test and opportunity log Owner: Named responsible role Response: Evidence review under approved procedures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management claim should trace back to a row.  Problem: What is being improved? Evidence: Baseline, pilot and chart Limits: What remains unresolved? Decision: What review is requested?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Better prompting is measured at equal quality.  Fidelity: Source facts preserved Arithmetic: Formulas independently checked Uncertainty: No invented cause or approval Effort: Draft plus review and correction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one result and one important limitation.  SPC: Signal and fixed baseline FMEA: Priority and severity gate DMAIC: Rate change and next evidence Use the lab handout for detailed steps; verify workbook calculations independently. Source: IES CW-401 synthetic case | Copilot in Excel |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GenAI for Engineers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One-day Copilot in Excel workshop: SPC, FMEA and DMAIC</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001</a:t>
            </a:r>
            <a:endParaRPr lang="en-US" sz="1100" dirty="0"/>
          </a:p>
        </p:txBody>
      </p:sp>
      <p:sp>
        <p:nvSpPr>
          <p:cNvPr id="8" name="Shape 6"/>
          <p:cNvSpPr/>
          <p:nvPr/>
        </p:nvSpPr>
        <p:spPr>
          <a:xfrm>
            <a:off x="0" y="0"/>
            <a:ext cx="12191695" cy="6858000"/>
          </a:xfrm>
          <a:prstGeom prst="rect">
            <a:avLst/>
          </a:prstGeom>
          <a:solidFill>
            <a:srgbClr val="142C3E"/>
          </a:solidFill>
          <a:ln w="7620">
            <a:solidFill>
              <a:srgbClr val="142C3E"/>
            </a:solidFill>
            <a:prstDash val="solid"/>
          </a:ln>
        </p:spPr>
      </p:sp>
      <p:pic>
        <p:nvPicPr>
          <p:cNvPr id="9" name="Image 0" descr="AI-generated conceptual fictional pump station and engineering records">    </p:cNvPr>
          <p:cNvPicPr>
            <a:picLocks noChangeAspect="1"/>
          </p:cNvPicPr>
          <p:nvPr/>
        </p:nvPicPr>
        <p:blipFill>
          <a:blip r:embed="rId1"/>
          <a:stretch>
            <a:fillRect/>
          </a:stretch>
        </p:blipFill>
        <p:spPr>
          <a:xfrm>
            <a:off x="5303520" y="1490472"/>
            <a:ext cx="6885432" cy="3875227"/>
          </a:xfrm>
          <a:prstGeom prst="rect">
            <a:avLst/>
          </a:prstGeom>
        </p:spPr>
      </p:pic>
      <p:sp>
        <p:nvSpPr>
          <p:cNvPr id="10" name="Shape 7"/>
          <p:cNvSpPr/>
          <p:nvPr/>
        </p:nvSpPr>
        <p:spPr>
          <a:xfrm>
            <a:off x="0" y="0"/>
            <a:ext cx="5303520" cy="6858000"/>
          </a:xfrm>
          <a:prstGeom prst="rect">
            <a:avLst/>
          </a:prstGeom>
          <a:solidFill>
            <a:srgbClr val="142C3E"/>
          </a:solidFill>
          <a:ln w="7620">
            <a:solidFill>
              <a:srgbClr val="142C3E"/>
            </a:solidFill>
            <a:prstDash val="solid"/>
          </a:ln>
        </p:spPr>
      </p:sp>
      <p:sp>
        <p:nvSpPr>
          <p:cNvPr id="11" name="Text 8"/>
          <p:cNvSpPr/>
          <p:nvPr/>
        </p:nvSpPr>
        <p:spPr>
          <a:xfrm>
            <a:off x="548640" y="548640"/>
            <a:ext cx="3657600" cy="457200"/>
          </a:xfrm>
          <a:prstGeom prst="rect">
            <a:avLst/>
          </a:prstGeom>
          <a:noFill/>
          <a:ln/>
        </p:spPr>
        <p:txBody>
          <a:bodyPr wrap="square" lIns="0" tIns="0" rIns="0" bIns="0" rtlCol="0" anchor="ctr"/>
          <a:lstStyle/>
          <a:p>
            <a:pPr indent="0" marL="0">
              <a:spcAft>
                <a:spcPts val="500"/>
              </a:spcAft>
              <a:buNone/>
            </a:pPr>
            <a:r>
              <a:rPr lang="en-US" sz="2500" b="1" dirty="0">
                <a:solidFill>
                  <a:srgbClr val="58C5C9"/>
                </a:solidFill>
                <a:latin typeface="Aptos" pitchFamily="34" charset="0"/>
                <a:ea typeface="Aptos" pitchFamily="34" charset="-122"/>
                <a:cs typeface="Aptos" pitchFamily="34" charset="-120"/>
              </a:rPr>
              <a:t>IES</a:t>
            </a:r>
            <a:endParaRPr lang="en-US" sz="2500" dirty="0"/>
          </a:p>
        </p:txBody>
      </p:sp>
      <p:sp>
        <p:nvSpPr>
          <p:cNvPr id="12" name="Text 9"/>
          <p:cNvSpPr/>
          <p:nvPr/>
        </p:nvSpPr>
        <p:spPr>
          <a:xfrm>
            <a:off x="548640" y="1554480"/>
            <a:ext cx="4572000" cy="1554480"/>
          </a:xfrm>
          <a:prstGeom prst="rect">
            <a:avLst/>
          </a:prstGeom>
          <a:noFill/>
          <a:ln/>
        </p:spPr>
        <p:txBody>
          <a:bodyPr wrap="square" lIns="0" tIns="0" rIns="0" bIns="0" rtlCol="0" anchor="ctr"/>
          <a:lstStyle/>
          <a:p>
            <a:pPr indent="0" marL="0">
              <a:spcAft>
                <a:spcPts val="500"/>
              </a:spcAft>
              <a:buNone/>
            </a:pPr>
            <a:r>
              <a:rPr lang="en-US" sz="4000" b="1" dirty="0">
                <a:solidFill>
                  <a:srgbClr val="FFFFFF"/>
                </a:solidFill>
                <a:latin typeface="Aptos" pitchFamily="34" charset="0"/>
                <a:ea typeface="Aptos" pitchFamily="34" charset="-122"/>
                <a:cs typeface="Aptos" pitchFamily="34" charset="-120"/>
              </a:rPr>
              <a:t>GenAI for</a:t>
            </a:r>
            <a:endParaRPr lang="en-US" sz="4000" dirty="0"/>
          </a:p>
          <a:p>
            <a:pPr indent="0" marL="0">
              <a:spcAft>
                <a:spcPts val="500"/>
              </a:spcAft>
              <a:buNone/>
            </a:pPr>
            <a:r>
              <a:rPr lang="en-US" sz="4000" b="1" dirty="0">
                <a:solidFill>
                  <a:srgbClr val="FFFFFF"/>
                </a:solidFill>
                <a:latin typeface="Aptos" pitchFamily="34" charset="0"/>
                <a:ea typeface="Aptos" pitchFamily="34" charset="-122"/>
                <a:cs typeface="Aptos" pitchFamily="34" charset="-120"/>
              </a:rPr>
              <a:t>Engineers</a:t>
            </a:r>
            <a:endParaRPr lang="en-US" sz="4000" dirty="0"/>
          </a:p>
        </p:txBody>
      </p:sp>
      <p:sp>
        <p:nvSpPr>
          <p:cNvPr id="13" name="Text 10"/>
          <p:cNvSpPr/>
          <p:nvPr/>
        </p:nvSpPr>
        <p:spPr>
          <a:xfrm>
            <a:off x="548640" y="3337560"/>
            <a:ext cx="4251960" cy="1280160"/>
          </a:xfrm>
          <a:prstGeom prst="rect">
            <a:avLst/>
          </a:prstGeom>
          <a:noFill/>
          <a:ln/>
        </p:spPr>
        <p:txBody>
          <a:bodyPr wrap="square" lIns="0" tIns="0" rIns="0" bIns="0" rtlCol="0" anchor="ctr"/>
          <a:lstStyle/>
          <a:p>
            <a:pPr indent="0" marL="0">
              <a:spcAft>
                <a:spcPts val="500"/>
              </a:spcAft>
              <a:buNone/>
            </a:pPr>
            <a:r>
              <a:rPr lang="en-US" sz="2200" dirty="0">
                <a:solidFill>
                  <a:srgbClr val="FFFFFF"/>
                </a:solidFill>
                <a:latin typeface="Aptos" pitchFamily="34" charset="0"/>
                <a:ea typeface="Aptos" pitchFamily="34" charset="-122"/>
                <a:cs typeface="Aptos" pitchFamily="34" charset="-120"/>
              </a:rPr>
              <a:t>One-day Copilot in Excel workshop: SPC, FMEA and DMAIC</a:t>
            </a:r>
            <a:endParaRPr lang="en-US" sz="2200" dirty="0"/>
          </a:p>
        </p:txBody>
      </p:sp>
      <p:sp>
        <p:nvSpPr>
          <p:cNvPr id="14" name="Text 11"/>
          <p:cNvSpPr/>
          <p:nvPr/>
        </p:nvSpPr>
        <p:spPr>
          <a:xfrm>
            <a:off x="548640" y="5029200"/>
            <a:ext cx="4297680" cy="822960"/>
          </a:xfrm>
          <a:prstGeom prst="rect">
            <a:avLst/>
          </a:prstGeom>
          <a:noFill/>
          <a:ln/>
        </p:spPr>
        <p:txBody>
          <a:bodyPr wrap="square" lIns="0" tIns="0" rIns="0" bIns="0" rtlCol="0" anchor="ctr"/>
          <a:lstStyle/>
          <a:p>
            <a:pPr indent="0" marL="0">
              <a:spcAft>
                <a:spcPts val="500"/>
              </a:spcAft>
              <a:buNone/>
            </a:pPr>
            <a:r>
              <a:rPr lang="en-US" sz="1800" dirty="0">
                <a:solidFill>
                  <a:srgbClr val="BDE0E0"/>
                </a:solidFill>
                <a:latin typeface="Aptos" pitchFamily="34" charset="0"/>
                <a:ea typeface="Aptos" pitchFamily="34" charset="-122"/>
                <a:cs typeface="Aptos" pitchFamily="34" charset="-120"/>
              </a:rPr>
              <a:t>Copilot in Excel</a:t>
            </a:r>
            <a:endParaRPr lang="en-US" sz="1800" dirty="0"/>
          </a:p>
          <a:p>
            <a:pPr indent="0" marL="0">
              <a:spcAft>
                <a:spcPts val="500"/>
              </a:spcAft>
              <a:buNone/>
            </a:pPr>
            <a:r>
              <a:rPr lang="en-US" sz="1800" dirty="0">
                <a:solidFill>
                  <a:srgbClr val="BDE0E0"/>
                </a:solidFill>
                <a:latin typeface="Aptos" pitchFamily="34" charset="0"/>
                <a:ea typeface="Aptos" pitchFamily="34" charset="-122"/>
                <a:cs typeface="Aptos" pitchFamily="34" charset="-120"/>
              </a:rPr>
              <a:t>SPC • FMEA • DMAIC</a:t>
            </a:r>
            <a:endParaRPr lang="en-US" sz="1800" dirty="0"/>
          </a:p>
        </p:txBody>
      </p:sp>
      <p:sp>
        <p:nvSpPr>
          <p:cNvPr id="15" name="Text 12"/>
          <p:cNvSpPr/>
          <p:nvPr/>
        </p:nvSpPr>
        <p:spPr>
          <a:xfrm>
            <a:off x="548640" y="6172200"/>
            <a:ext cx="4297680" cy="274320"/>
          </a:xfrm>
          <a:prstGeom prst="rect">
            <a:avLst/>
          </a:prstGeom>
          <a:noFill/>
          <a:ln/>
        </p:spPr>
        <p:txBody>
          <a:bodyPr wrap="square" lIns="0" tIns="0" rIns="0" bIns="0" rtlCol="0" anchor="ctr"/>
          <a:lstStyle/>
          <a:p>
            <a:pPr indent="0" marL="0">
              <a:spcAft>
                <a:spcPts val="500"/>
              </a:spcAft>
              <a:buNone/>
            </a:pPr>
            <a:r>
              <a:rPr lang="en-US" sz="1200" dirty="0">
                <a:solidFill>
                  <a:srgbClr val="BDE0E0"/>
                </a:solidFill>
                <a:latin typeface="Aptos" pitchFamily="34" charset="0"/>
                <a:ea typeface="Aptos" pitchFamily="34" charset="-122"/>
                <a:cs typeface="Aptos" pitchFamily="34" charset="-120"/>
              </a:rPr>
              <a:t>ONE DAY  |  09:00–17:00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One workbook, three engineering outputs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Reuse evidence across the entire day.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002</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SPC</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Understand data and process behaviour</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FMEA</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Review potential failure and controls</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DMAIC</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Frame improvement and follow-up</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Today’s scope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330 minutes of hands-on Excel work.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003</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Lab01</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SPC ·140 minutes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Lab02</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FMEA ·100 minutes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Lab03</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DMAIC ·90 minutes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Review</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Setup30 + final review30 minutes</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What Copilot contributes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engineer verifies the source, formula and interpretation.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004</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Suggest</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Tables, formulas and charts</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Explain</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Patterns and evidence gaps</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You check calculations and claims</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a workbook operation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Name the table, output and acceptance test.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005</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Role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Engineering data reviewer</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Input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Named Excel table and source revision</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Steps</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Audit, calculate, chart, check</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Expected</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Formula-based result with limitations</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Constraints make the result reviewable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Specify what must be preserved.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006</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RawTests remains unchanged</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Data</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Units, time order and missingness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Show rows and parameters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Decision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invented cause or approval</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CW-401 delivery-test case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One dosing skid; linked measurements and maintenance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007</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Target</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62.0 L/h in a standardised test</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58.9–65.1 L/h fictional specification</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Not a chemical compliance limit</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Read the evidence before calculating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Separate observation, hypothesis and intervention.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008</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Observed</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Delivery falls; differential pressure rises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Hypothesis</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Restriction is possible, not proven</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Intervention</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Strainer change plus verification</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Gap</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Effects of the two changes not isolated</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Prepare Excel for the session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approved storage and confirm Copilot access.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009</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Workbook</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Save a working copy of Starter.xlsx</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Select the relevant named table</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Copilot</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Use the Excel side pane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Fallback</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Record manual formulas honestly</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Lab01 · Data quality and SPC</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140 minutes | QualityAudit, formulas, chart and interpretation.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010</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Inputs</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RawTests, ValidTests and Parameters</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Fixed-baseline individuals chart</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Check</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Every exclusion and formula traceable</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SPC1 · Audit the source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Copy from the workbook Prompts sheet into Copilot in Excel.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011</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Using RawTests, audit test_id uniqueness, missing collected_L, duration_s and quality_flag. Do not modify RawTests. Create a QualityAudit table with record ID, issue, inclusion decision and reason. Use one unique record per test, require VALID and 120 seconds, and never discard an excursion solely because it is extreme. Report raw, unique and valid counts.</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Select the named source table</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Check the changed cells, formulas and claims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SPC2 · Calculate the baseline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Copy from the workbook Prompts sheet into Copilot in Excel.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012</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Use ValidTests in time order. In Analysis create delivery_L_h = collected_L*3600/120. Use only the 60 baseline records to calculate mean and successive moving ranges; do not bridge across phases. Estimate sigma = MRbar/1.128 and individuals limits mean +/-3*sigma. Put constants and specifications in Parameters and show formulas, units and referenced rows.</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Select the named source table</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Check the changed cells, formulas and claims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SPC3 · Plot and interpret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Copy from the workbook Prompts sheet into Copilot in Excel.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013</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Create an Excel line chart of delivery_L_h by timestamp for baseline, monitoring and pilot, with the fixed baseline mean/UCL/LCL. Flag points outside the limits without refitting them. Report phase counts and affected IDs. Explain the monitoring shift as a signal requiring investigation, not a proven restriction diagnosis. Keep invalid and missing tests visible in QualityAudit.</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Select the named source table</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Check the changed cells, formulas and claims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SPC4 · Check capability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Copy from the workbook Prompts sheet into Copilot in Excel.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014</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Using fictional test specifications 58.9–65.1 L/h, calculate baseline Cp and Cpk from the stated within-process estimator. State assumptions: stable baseline, adequate measurement, suitable distribution and independence. Do not use a good Cp to claim the later monitoring period is stable. Review potential shift/measurement effects and compare with Worked-Reference.xlsx.</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Select the named source table</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Check the changed cells, formulas and claims</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An export is not an analysis table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Keep a ledger of inclusion decisions.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015</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121</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Raw rows</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120</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Unique test IDs</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118</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Comparable valid tests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Three issues, three explicit decisions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Do not delete an excursion simply because it is extreme.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016</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TEST-068</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Missing volume: not zero</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TEST-083</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110s duration: invalid for this protocol</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TEST-088</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Exact duplicate: retain one event</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conversion must preserve the unit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A120-second collection is1/30 of an hour.</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017</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Volume</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Collected litres</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Scale</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3600 /120 =30</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Delivery</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Volume ×30 L/h</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Freeze the reference period</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Monitoring and pilot data do not set these limits.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018</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Baseline</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60 valid tests</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Monitoring</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28 valid tests</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Pilot</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30 valid tests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Build the individuals-chart limits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successive baseline moving ranges only.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019</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Mean</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62.00250 L/h</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MRbar</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0.73881 L/h</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Sigma</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MRbar /1.128 =0.65498</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monitoring period shifts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Fixed limits reveal a change that requires investigation.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020</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LCL</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60.03757 L/h</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UCL</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63.96743 L/h</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Signal</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17 monitoring points below LCL</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Specifications and control limits differ</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Requirements and observed behaviour answer different questions.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021</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Specification</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58.9–65.1 L/h for this teaching test</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Control limits</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Estimated from the chosen baseline</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Interpretation</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Neither alone establishes physical cause</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Capability is conditional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Do not use baseline capability to dismiss later instability.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022</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Cp</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1.57766</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Cpk</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1.57639</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Conditions</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Stable behaviour and suitable measurement</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good SPC conclusion has a boundary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signal is evidence for investigation.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023</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Supported</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Monitoring delivery is below baseline limits</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Associated</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Differential pressure rose in the same period</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Unresolved</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Measurement adequacy and sole physical cause</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Lab02 · FMEA in Excel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100 minutes | Six rows, formula checks, priority chart and review.</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024</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Inputs</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FMEA_Input, ScoringNote, Evidence</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FMEA_Review and action view</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Check</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Ratings, source status and uncertainty</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FMEA1 · Structure the review</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Copy from the workbook Prompts sheet into Copilot in Excel.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025</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Use FMEA_Input and Evidence. Create FMEA_Review with function, mode, effect, potential cause, current control, evidence, supplied provisional S/O/D, RPN, action, owner and status. Keep the six mode IDs. Separate actual observations from prospective scenarios. Use ScoringNote for definitions and do not infer occurrence ratings from the short test series.</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Select the named source table</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Check the changed cells, formulas and claims</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FMEA2 · Calculate and prioritise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Copy from the workbook Prompts sheet into Copilot in Excel.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026</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Add an Excel formula RPN=S*O*D for every row. Sort a view by RPN descending while preserving mode IDs and source rows. Add a separate high-severity review flag for S&gt;=9. Create an RPN column chart. Do not treat rank or low RPN as evidence of safety acceptance.</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Select the named source table</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Check the changed cells, formulas and claims</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FMEA3 · Challenge with personas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Copy from the workbook Prompts sheet into Copilot in Excel.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027</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Simulate reliability, operations and safety review lenses. First return one separate evidence-based concern per role. Run two concise challenge/response rounds, citing mode IDs and evidence records. A moderator returns agreed revisions, unresolved disagreement and missing evidence. Do not force consensus or invent approval. Keep residual ratings unassessed until action-effectiveness evidence exists.</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Select the named source table</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Check the changed cells, formulas and claims</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Keep the failure story distinct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One row should remain logically connected.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028</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Function</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Meter delivery</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Mode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Low delivery</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Effect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Insufficient feed</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Cause</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Restriction hypothesis</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Scores are provisional judgements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This small dataset does not estimate a failure probability.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029</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Effect severity</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Occurrence judgement</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D</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Poorer detection = larger score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Basis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Supplied workshop definitions</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Use formulas, then verify the IDs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FM01 provides a simple arithmetic check.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030</a:t>
            </a:r>
            <a:endParaRPr lang="en-US" sz="1100" dirty="0"/>
          </a:p>
        </p:txBody>
      </p:sp>
      <p:sp>
        <p:nvSpPr>
          <p:cNvPr id="8" name="Shape 6"/>
          <p:cNvSpPr/>
          <p:nvPr/>
        </p:nvSpPr>
        <p:spPr>
          <a:xfrm>
            <a:off x="502920" y="2834640"/>
            <a:ext cx="2606040" cy="2926080"/>
          </a:xfrm>
          <a:prstGeom prst="rect">
            <a:avLst/>
          </a:prstGeom>
          <a:solidFill>
            <a:srgbClr val="EFF5F5"/>
          </a:solidFill>
          <a:ln w="7620">
            <a:solidFill>
              <a:srgbClr val="EFF5F5"/>
            </a:solidFill>
            <a:prstDash val="solid"/>
          </a:ln>
        </p:spPr>
      </p:sp>
      <p:sp>
        <p:nvSpPr>
          <p:cNvPr id="9" name="Text 7"/>
          <p:cNvSpPr/>
          <p:nvPr/>
        </p:nvSpPr>
        <p:spPr>
          <a:xfrm>
            <a:off x="68580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Severity</a:t>
            </a:r>
            <a:endParaRPr lang="en-US" sz="2700" dirty="0"/>
          </a:p>
        </p:txBody>
      </p:sp>
      <p:sp>
        <p:nvSpPr>
          <p:cNvPr id="10" name="Text 8"/>
          <p:cNvSpPr/>
          <p:nvPr/>
        </p:nvSpPr>
        <p:spPr>
          <a:xfrm>
            <a:off x="68580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7</a:t>
            </a:r>
            <a:endParaRPr lang="en-US" sz="1800" dirty="0"/>
          </a:p>
        </p:txBody>
      </p:sp>
      <p:sp>
        <p:nvSpPr>
          <p:cNvPr id="11" name="Shape 9"/>
          <p:cNvSpPr/>
          <p:nvPr/>
        </p:nvSpPr>
        <p:spPr>
          <a:xfrm>
            <a:off x="3337560" y="2834640"/>
            <a:ext cx="2606040" cy="2926080"/>
          </a:xfrm>
          <a:prstGeom prst="rect">
            <a:avLst/>
          </a:prstGeom>
          <a:solidFill>
            <a:srgbClr val="EFF5F5"/>
          </a:solidFill>
          <a:ln w="7620">
            <a:solidFill>
              <a:srgbClr val="EFF5F5"/>
            </a:solidFill>
            <a:prstDash val="solid"/>
          </a:ln>
        </p:spPr>
      </p:sp>
      <p:sp>
        <p:nvSpPr>
          <p:cNvPr id="12" name="Text 10"/>
          <p:cNvSpPr/>
          <p:nvPr/>
        </p:nvSpPr>
        <p:spPr>
          <a:xfrm>
            <a:off x="352044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Occurrence</a:t>
            </a:r>
            <a:endParaRPr lang="en-US" sz="2700" dirty="0"/>
          </a:p>
        </p:txBody>
      </p:sp>
      <p:sp>
        <p:nvSpPr>
          <p:cNvPr id="13" name="Text 11"/>
          <p:cNvSpPr/>
          <p:nvPr/>
        </p:nvSpPr>
        <p:spPr>
          <a:xfrm>
            <a:off x="352044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5</a:t>
            </a:r>
            <a:endParaRPr lang="en-US" sz="1800" dirty="0"/>
          </a:p>
        </p:txBody>
      </p:sp>
      <p:sp>
        <p:nvSpPr>
          <p:cNvPr id="14" name="Shape 12"/>
          <p:cNvSpPr/>
          <p:nvPr/>
        </p:nvSpPr>
        <p:spPr>
          <a:xfrm>
            <a:off x="6172200" y="2834640"/>
            <a:ext cx="2606040" cy="2926080"/>
          </a:xfrm>
          <a:prstGeom prst="rect">
            <a:avLst/>
          </a:prstGeom>
          <a:solidFill>
            <a:srgbClr val="EFF5F5"/>
          </a:solidFill>
          <a:ln w="7620">
            <a:solidFill>
              <a:srgbClr val="EFF5F5"/>
            </a:solidFill>
            <a:prstDash val="solid"/>
          </a:ln>
        </p:spPr>
      </p:sp>
      <p:sp>
        <p:nvSpPr>
          <p:cNvPr id="15" name="Text 13"/>
          <p:cNvSpPr/>
          <p:nvPr/>
        </p:nvSpPr>
        <p:spPr>
          <a:xfrm>
            <a:off x="635508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Detection</a:t>
            </a:r>
            <a:endParaRPr lang="en-US" sz="2700" dirty="0"/>
          </a:p>
        </p:txBody>
      </p:sp>
      <p:sp>
        <p:nvSpPr>
          <p:cNvPr id="16" name="Text 14"/>
          <p:cNvSpPr/>
          <p:nvPr/>
        </p:nvSpPr>
        <p:spPr>
          <a:xfrm>
            <a:off x="635508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4</a:t>
            </a:r>
            <a:endParaRPr lang="en-US" sz="1800" dirty="0"/>
          </a:p>
        </p:txBody>
      </p:sp>
      <p:sp>
        <p:nvSpPr>
          <p:cNvPr id="17" name="Shape 15"/>
          <p:cNvSpPr/>
          <p:nvPr/>
        </p:nvSpPr>
        <p:spPr>
          <a:xfrm>
            <a:off x="9006840" y="2834640"/>
            <a:ext cx="2606040" cy="2926080"/>
          </a:xfrm>
          <a:prstGeom prst="rect">
            <a:avLst/>
          </a:prstGeom>
          <a:solidFill>
            <a:srgbClr val="142C3E"/>
          </a:solidFill>
          <a:ln w="7620">
            <a:solidFill>
              <a:srgbClr val="142C3E"/>
            </a:solidFill>
            <a:prstDash val="solid"/>
          </a:ln>
        </p:spPr>
      </p:sp>
      <p:sp>
        <p:nvSpPr>
          <p:cNvPr id="18" name="Text 16"/>
          <p:cNvSpPr/>
          <p:nvPr/>
        </p:nvSpPr>
        <p:spPr>
          <a:xfrm>
            <a:off x="918972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RPN</a:t>
            </a:r>
            <a:endParaRPr lang="en-US" sz="2700" dirty="0"/>
          </a:p>
        </p:txBody>
      </p:sp>
      <p:sp>
        <p:nvSpPr>
          <p:cNvPr id="19" name="Text 17"/>
          <p:cNvSpPr/>
          <p:nvPr/>
        </p:nvSpPr>
        <p:spPr>
          <a:xfrm>
            <a:off x="918972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7 ×5 ×4 =140</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Severity review can outrank RPN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FM04 has S = 9 and still needs explicit review.</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031</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FM01</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Highest RPN 140</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FM03</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RPN 108</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FM04</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RPN 90; severity 9</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Current controls are not future actions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proposed improvement has not yet demonstrated effectiveness.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Current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Periodic collection test</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Proposed</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Review mechanism and measurement evidence</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Residual</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Unassessed until verified evidence</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Use three review lenses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Simulated personas expose questions, not independent approval.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033</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Reliability</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supports the mechanism?</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Operations</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is practical and missing?</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Safety</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consequence needs review?</a:t>
            </a:r>
            <a:endParaRPr lang="en-US" sz="1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Debate without forcing agreement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Two short rounds keep the review focused.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034</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Position</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Separate evidence-based concerns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Challenge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One specific objection per lens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Response</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Cite mode and source record</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Moderator</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Retain dissent and evidence gaps</a:t>
            </a:r>
            <a:endParaRPr lang="en-US" sz="1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Close an action with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complete spreadsheet is not a completed control.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035</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Owner</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Responsible role identified</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Evidence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Effectiveness test specified</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Status</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Open until reviewed</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Scores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automatic residual reduction</a:t>
            </a:r>
            <a:endParaRPr lang="en-US" sz="1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Lab03 · DMAIC in Excel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90 minutes | Rates, Pareto, improvement proposal and control plan.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036</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Inputs</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WeeklyEvents and DefectCounts</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DMAIC and ControlPlan sheets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Check</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Denominators and limitations retained</a:t>
            </a:r>
            <a:endParaRPr lang="en-US" sz="1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DMAIC1 · Define and measure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Copy from the workbook Prompts sheet into Copilot in Excel.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037</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Use WeeklyEvents, DefectCounts and Evidence. Draft a DMAIC table in Excel: phase, claim, metric, source, limitation, next action. Define the CTQ as delivery-test acceptance deviation, not chemical compliance. Calculate baseline and pilot rates using summed deviations divided by summed opportunities, not a simple average when denominators differ.</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Select the named source table</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Check the changed cells, formulas and claims</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DMAIC2 · Analyse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Copy from the workbook Prompts sheet into Copilot in Excel.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038</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Create a Pareto table and chart from baseline DefectCounts, including cumulative percentage. Reconcile the total with baseline WeeklyEvents. Compare the phase rates and express both percentage-point and relative change. Explain that fewer deviations after two concurrent changes do not isolate the cause or establish sustained improvement.</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Select the named source table</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Check the changed cells, formulas and claims</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DMAIC3 · Improve and control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Copy from the workbook Prompts sheet into Copilot in Excel.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039</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Draft a controlled follow-up trial and ControlPlan table: metric, source, frequency, owner, signal rule, review response and evidence. Link to SPC signals and FMEA actions. Preserve the open removed-strainer review. Do not claim causal proof, savings or operational approval not supported by the source. End with a six-cell management summary and unresolved questions.</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Select the named source table</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Check the changed cells, formulas and claims</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Define the CTQ precisely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Count delivery-test deviations per opportunity.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040</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Outcome</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Acceptance deviation</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Denominator</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Logged test opportunities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Boundary</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Not water-quality compliance</a:t>
            </a:r>
            <a:endParaRPr lang="en-US" sz="1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Use rates when periods differ</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eight-week log is separate from the120-test investigation.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041</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Baseline</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93 /1008 =9.22619%</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Pilot</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11 /336 =3.27381%</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Scope</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Six baseline weeks; two pilot weeks</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Pareto directs attention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Category counts prioritise investigation; they do not prove causes.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042</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Total</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93 baseline deviations</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Top category</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Low delivery 55</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Top two</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71 /93 =76.34%</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Two ways to express improvement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Label the calculation so percentages are not confused.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043</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Absolute</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5.95238 percentage points</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Relative</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64.51613% reduction</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Limit</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Short pilot; concurrent changes</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Improve with a testable proposal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before/after difference does not isolate one cause.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044</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Intervention</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Strainer replacement and verification</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Confounding</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Two changes occurred together</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Next study</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Comparable conditions and reviewed evidence</a:t>
            </a:r>
            <a:endParaRPr lang="en-US" sz="1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Make the control plan actionable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Define ownership and response before a new signal appears.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045</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Metric</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Delivery and deviation rate</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Standard test and opportunity log</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Owner</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Named responsible role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Response</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Evidence review under approved procedures</a:t>
            </a:r>
            <a:endParaRPr lang="en-US" sz="1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One workbook supports the review</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Every management claim should trace back to a row.</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046</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Problem</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is being improved?</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Evidence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Baseline, pilot and chart</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Limits</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remains unresolved?</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Decision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review is requested?</a:t>
            </a:r>
            <a:endParaRPr lang="en-US" sz="1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Compare the prompt with the result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Better prompting is measured at equal quality.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047</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Fidelity</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 facts preserved</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Arithmetic</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Formulas independently checked</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Uncertainty</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invented cause or approval</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Effort</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Draft plus review and correction</a:t>
            </a:r>
            <a:endParaRPr lang="en-US" sz="1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Final workbook review</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Show one result and one important limitation.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IES CW-401 synthetic case | Copilot in Excel |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048</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SPC</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Signal and fixed baseline</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FMEA</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Priority and severity gate</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DMAIC</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Rate change and next evidence</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GenAI for Engineers</dc:subject>
  <dc:creator>IES</dc:creator>
  <cp:lastModifiedBy>IES</cp:lastModifiedBy>
  <cp:revision>1</cp:revision>
  <dcterms:created xsi:type="dcterms:W3CDTF">2026-09-05T16:30:20Z</dcterms:created>
  <dcterms:modified xsi:type="dcterms:W3CDTF">2026-09-05T16:30:20Z</dcterms:modified>
</cp:coreProperties>
</file>