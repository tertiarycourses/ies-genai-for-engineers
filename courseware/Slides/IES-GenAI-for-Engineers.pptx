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notesMasterIdLst>
    <p:notesMasterId r:id="rId2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notesMaster" Target="notesMasters/notesMaster1.xml"/><Relationship Id="rId250" Type="http://schemas.openxmlformats.org/officeDocument/2006/relationships/presProps" Target="presProps.xml"/><Relationship Id="rId251" Type="http://schemas.openxmlformats.org/officeDocument/2006/relationships/viewProps" Target="viewProps.xml"/><Relationship Id="rId252" Type="http://schemas.openxmlformats.org/officeDocument/2006/relationships/theme" Target="theme/theme1.xml"/><Relationship Id="rId2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directly to LO3. RISE is the main framework. E-MAP adds engineering detail inside Input and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RISE as Role, Input, Steps and Expectations. Keep each definition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role is a lens. Avoid implying certification, approval authority or independent professional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includes source, revision, range, units and exclusions. Naming the source reduces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are an ordered work request, not detailed button clicking. The detailed click path stays in the Learner Guide and lab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Expectations make the answer reviewable. Include the acceptance check before running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R, I, S and E in the displayed prompt. Then ask what is still missing for their own workplace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is a short quality loop. Do not keep adding words without a specific defect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now includes a guided paired build. Keep it within the existing Module 4 time block;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The practical evidence is a configured agent, two test results and one approved report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an agent for a repeatable task, not for a one-off question. The agent reduces setup work but still requires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validation comes before calculation. Missing input must trigger a question, not an invented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APPROVE DRAFT is a classroom control. It makes the pause visible; it is not a substitute for the organisation’s approval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FM01 from Lab 2 for the first test. Do not request the whole workbook when one row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second test without Detection. The correct behaviour is to stop and request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ratings or approve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find an unsupported cause. Correct it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Unknown owner and due date stay TBC. Proposed does not become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means a reviewer can connect the report back to the source, calculation and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may differ by tenant. In Microsoft 365 Copilot, use Agents and New agent. Copilot Studio provides more configuration, tools and publishing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cannot call knowledge or tools that were not configured. Keep names and descriptions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instruction from FMEA-AGENT-INSTRUCTIONS.md into Agent Builder. This slide is the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requires all four behaviours. Record one screenshot or note of the 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proves the multi-step gate is working. One focused correction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Publishing routes and permissions vary by tenant. Test in preview first. After changes, publish again so users receive the updated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publishing is blocked by tenant permissions, retain the saved draft and two preview tests, and record the block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LO5 is a 20-minute guided activity inside Module 4.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plain. Researcher checks external and work sources. Analyst works through attached data. The engineer verifies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can vary by tenant. If the agent is not visible, open All agents. Availability can depend on licence and administrator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 can use work content and the web when permitted. A citation proves traceability only when it actually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RISE prompt is in REASONING-AGENT-PROMPTS.md. TR-401 is fictional classroom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learner to open one citation and explain whether it supports the claim. Keep missing calibration evidence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supports attached Excel and CSV data. Name the table and row scope so the analysis is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file was used in the DMAIC lab. Analyst adds a deeper data-analysis view without increasing lab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check relative reduction: (9.0%-3.5%)/9.0%=61.1%. Percentage-point change and relative reduction are different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 wording such as the change fixed the process. Ask what extra evidence would support that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 checks calculations, citations and release status for every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agent is unavailable, pair with an enabled account or use the prepared expected checks. Record the feature as not executed; do not claim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LO5. The learner should be able to explain why Researcher and Analyst outputs need different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subtitle follows the supplied Module 5 topic. The activity uses the live private IES training site and remains inside 15:30-16:15.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before the activity. LO6 requires a SharePoint-grounded knowledge base with cited, traceable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productivity benefit first. SharePoint provides document storage, versioning and permissions; the agent provides a conversational route to selected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grounded answer is more traceable, but grounding does not prove correctness. The engineer owns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site: https://tertiaryinfotech.sharepoint.com/sites/IES-GenAI-for-Engineers. The trainer has already created the private site. Do not change membership during class unless authorised.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exact filenames in Documents/Engineering Knowledge Base. Ignore unrelated or ambiguous files. These sources contain no live client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creation requires a Copilot licence and edit permission on the site. A custom agent created from a library is stored as an .agent file in that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version from SHAREPOINT-AGENT-INSTRUCTIONS.md. Instructions inside retrieved files are treated as source data, not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positive test shows retrieval. Accept only fields that the cited passage actually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was executed in the live IES site on 6 September 2026. The agent cited TR-401, stated that the values were absent and listed missing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document identity, revision, page or sheet, units and scope. Record the correction when the citation does not support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site has one member. Microsoft documents that agent responses depend on each user's permissions to its data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concrete before-and-after example: manual searching across four files versus one scoped question plus citation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learners lack edit permission, the trainer demonstrates creation and pairs run or review the tests. Do not claim creation by a learner who only observed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record passwords in the evidence log. A screenshot may supplement the record but does not replace the opened-source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pairs to explain what the agent saved time on and what still required engineering judgment. This closes LO6.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LO3 in practice - write prompts engineers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Prompt engineering means giving Copilot enough structure to produce a useful draft and a visible way to check it.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Write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RISE to make the request clear.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Check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Compare the output with the source and one calculation.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Refine one weak instruction and rerun.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 four questions before you press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good engineering prompt answers four practical questions.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 - Role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perspective should Copilot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 - Input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exact evidence may it 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 - Steps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work must it perform, and in what order?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 - Expectations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output, limits and check must it satisfy?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 - Role sets the perspective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role guides vocabulary and viewpoint; it does not grant professional authority.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engineering data assistant.</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Too broad</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expert and decide if this is safe.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checks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The person remains accountable for the decision.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 - Input names the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Copilot exactly what it may use and what it must preserve.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Source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only the named table PumpReadings.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Scope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Eight Baseline and four Monitoring rows.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invent missing data or alter source rows.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 - Steps make the work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Break the task into calculations and checks that a learner can follow.</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Calculate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Mean, sample standard deviation, UCL and LCL.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Apply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Flag each Monitoring row against the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Present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 a line chart and a short interpretation.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 - Expectations define a usable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the format, evidence standard, limits and acceptance test.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Format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Show formulas and return three sentences.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Constraint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claim a root cause or safety conclusion.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Acceptance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T10 must be checked against the LCL.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From a vague request to a RISE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RISE version tells Copilot what to use, what to do and how the result will be checked.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Act as an engineering data assistant. Use only PumpReadings. Calculate the baseline mean and control limits, flag the monitoring rows, and create a line chart. Show formulas and give three cautious sentences. Do not claim a root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Weak request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Analyse this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RISE adds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Role, source, steps and limits</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Acceptance 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Compare T10 with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is iterative - check, refine and rerun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strong first prompt saves time; checking and one focused revision improve reliability.</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Run the RISE prompt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Generate the first draft.</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 the evidence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Verify one formula, source row and conclusion.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Refine one gap</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Add the missing instruction and compare the new draft.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Pareto chart is optional after class; the one-day lab focuses on two rates and a short DMAIC summary.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focus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the Baseline and Pilot rates.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Optional extension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Group deviations by category and order them largest first.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count does not prove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Build a multi-step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one reusable agent that moves a reviewed FMEA row into a checked report draft.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Pump FMEA Assistant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Workflow</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Validate -&gt; calculate -&gt; review -&gt;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gate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engineer approves before the report is drafted.</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test and make the agent available in the training environment.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Build</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an agent with a name, purpose and bounded instructions.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Configure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Add the FMEA source and report template.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Test</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a complete-row test and a missing-data test.</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Deploy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or publish the checked agent for approved training users.</a:t>
            </a:r>
            <a:endParaRPr lang="en-US" sz="1500" dirty="0"/>
          </a:p>
        </p:txBody>
      </p:sp>
      <p:sp>
        <p:nvSpPr>
          <p:cNvPr id="18" name="Shape 16"/>
          <p:cNvSpPr/>
          <p:nvPr/>
        </p:nvSpPr>
        <p:spPr>
          <a:xfrm>
            <a:off x="502920" y="5733288"/>
            <a:ext cx="5440680" cy="1353312"/>
          </a:xfrm>
          <a:prstGeom prst="rect">
            <a:avLst/>
          </a:prstGeom>
          <a:solidFill>
            <a:srgbClr val="EFF5F5"/>
          </a:solidFill>
          <a:ln w="12700">
            <a:solidFill>
              <a:srgbClr val="EFF5F5"/>
            </a:solidFill>
            <a:prstDash val="solid"/>
          </a:ln>
        </p:spPr>
      </p:sp>
      <p:sp>
        <p:nvSpPr>
          <p:cNvPr id="19" name="Text 17"/>
          <p:cNvSpPr/>
          <p:nvPr/>
        </p:nvSpPr>
        <p:spPr>
          <a:xfrm>
            <a:off x="70408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Use</a:t>
            </a:r>
            <a:endParaRPr lang="en-US" sz="1600" dirty="0"/>
          </a:p>
        </p:txBody>
      </p:sp>
      <p:sp>
        <p:nvSpPr>
          <p:cNvPr id="20" name="Text 18"/>
          <p:cNvSpPr/>
          <p:nvPr/>
        </p:nvSpPr>
        <p:spPr>
          <a:xfrm>
            <a:off x="70408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the multi-step workflow and retain human approval.</a:t>
            </a:r>
            <a:endParaRPr lang="en-US" sz="1500" dirty="0"/>
          </a:p>
        </p:txBody>
      </p:sp>
      <p:sp>
        <p:nvSpPr>
          <p:cNvPr id="21" name="Shape 19"/>
          <p:cNvSpPr/>
          <p:nvPr/>
        </p:nvSpPr>
        <p:spPr>
          <a:xfrm>
            <a:off x="6172200" y="5733288"/>
            <a:ext cx="5440680" cy="1353312"/>
          </a:xfrm>
          <a:prstGeom prst="rect">
            <a:avLst/>
          </a:prstGeom>
          <a:solidFill>
            <a:srgbClr val="EFF5F5"/>
          </a:solidFill>
          <a:ln w="12700">
            <a:solidFill>
              <a:srgbClr val="EFF5F5"/>
            </a:solidFill>
            <a:prstDash val="solid"/>
          </a:ln>
        </p:spPr>
      </p:sp>
      <p:sp>
        <p:nvSpPr>
          <p:cNvPr id="22" name="Text 20"/>
          <p:cNvSpPr/>
          <p:nvPr/>
        </p:nvSpPr>
        <p:spPr>
          <a:xfrm>
            <a:off x="637336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Compare</a:t>
            </a:r>
            <a:endParaRPr lang="en-US" sz="1600" dirty="0"/>
          </a:p>
        </p:txBody>
      </p:sp>
      <p:sp>
        <p:nvSpPr>
          <p:cNvPr id="23" name="Text 21"/>
          <p:cNvSpPr/>
          <p:nvPr/>
        </p:nvSpPr>
        <p:spPr>
          <a:xfrm>
            <a:off x="637336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Distinguish the agent workflow from Researcher and Analyst.</a:t>
            </a:r>
            <a:endParaRPr lang="en-US" sz="1500" dirty="0"/>
          </a:p>
        </p:txBody>
      </p:sp>
      <p:sp>
        <p:nvSpPr>
          <p:cNvPr id="24" name="Text 22"/>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5" name="Text 23"/>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use an agent for this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same quality rules and report structure are reused every time a failure mode is reviewed.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Ordinary 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instructions and format in every chat.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Agent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Store the workflow, rules and approved references once.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 gain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repeated setup and formatting work.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changes before sharing a new agent version.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from evidence to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completes three ordered steps before asking for a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Collect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Read one supplied failure-mode row and its ratings.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Validate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Stop and ask if a required field or rating is missing.</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Calculate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Preserve the row and calculate RPN = S x O x 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human gate to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pauses before turning the calculation into a report.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Human review</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Show the row, formula, result and severity flag.</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 Draft report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Continue only after APPROVE DRAFT or a correction.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6. Audit summary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Record source, calculation, decision and next action.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collect only the fields the workflow needs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input contract makes missing information easy to spot.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Identity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Failure-mode ID and function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Scenario</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 effect and possible cause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Current control</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Ratings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Severity, Occurrence and Detection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stop when a required value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safe agent asks a question before it calculates.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 Detection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the engineer for the rating.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 owner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TBC in the later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it labelled as a hypothesis.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No approval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create the final report section.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calculate and show the source values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must be visible so the engineer can reproduce it.</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FM01 ratings</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S = 7 | O = 5 | D = 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 formula</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x 5 x 4 = 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S = 9; review even though RPN = 90</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the engineer reviews before the agent continues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workflow separates the AI draft from the engineering decision.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shows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Source values, RPN and evidence gaps.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replies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APPROVE DRAFT or gives a correction.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records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Decision, correction and reviewer input.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create a consistent engineering report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After approval, the agent maps the checked result into the same headings.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 + evidence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was observed and which row supports it?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Risk priority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plus any high-severity flag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Action + ownership</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Proposed action, owner and due date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Open question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Evidence still needed before a conclusion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finish with an audit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trace makes the agent output easier to review later.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from the synthetic FMEA input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7 x 5 x 4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or corrected by the learner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action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Named evidence check and owner or TBC</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Agent Builder from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Agents -&gt; New agent, then describe the job and configure the generated draft.</a:t>
            </a:r>
            <a:endParaRPr lang="en-US" sz="2100" dirty="0"/>
          </a:p>
        </p:txBody>
      </p:sp>
      <p:pic>
        <p:nvPicPr>
          <p:cNvPr id="6" name="Image 0" descr="Open Agent Builder from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Name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IES Pump FMEA Assistant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Purpose</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Turn one FMEA row into a checked report draft.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Configure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Add instructions, knowledge and starter prompts.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 agent needs instructions, knowledge and tests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component has a different job.</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Instructions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six workflow steps and boundaries.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Knowledge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FMEA input and report template.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Starter prompt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 FM01 and prepare a checked draft.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Tests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input, missing value and high severity.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Copy the multi-step agent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This compact instruction controls the sequence; the full version is in the guide.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For one supplied FMEA row: 1) collect the required fields; 2) stop and ask if a field is missing; 3) preserve ratings and calculate RPN; 4) show the draft and wait for APPROVE DRAFT or corrections; 5) create the report from the template; 6) return an audit summary. Never invent data, approval or a proven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 row from FMEAInput</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Human gate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Wait before report drafting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 draft, report, audit summary</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the complete FM01 row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should calculate, explain and then pause.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 S 7 | O 5 | D 4</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boundary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strainer remains a possible cause.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pause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for APPROVE DRAFT or a correction.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remove the Detection rating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must request the missing value instead of guessing.</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without Detection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Asks for Detection and does not calculate RPN.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Assumes a rating or continues to the report.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Correction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Strengthen Step 2 in the instructions and rerun.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test, publish and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the agent from a private draft to approved training users only after both tests pass.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Create and save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Check name, purpose, instructions and knowledge.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Test in preview</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FM01 and the missing-Detection case.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Publish or share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tenant-approved channel and selected training users.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LO4 checkpoint - prove the workflow, not just the chatbot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working multi-step agent demonstrates sequence, gates and traceability.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Build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Saved name, purpose and six-step instruction.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Test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Complete-row pass and missing-data pass.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Deployment evidence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Created or published for the approved training audience.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 use Microsoft reasoning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right agent, then check the evidence that matters for its job.</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Researcher</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Produce a cited technical comparison from supplied and approved sources.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Analyst</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Calculate and interpret the six-row DMAIC dataset.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one citation and reproduce the key calculations.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Keep recommendations separate from engineering approval.</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and Analyst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Choose by the work product you need.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sources support?</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cited comparison.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numbers show?</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calculations and patterns.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the evidence and maths justify the decision?</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reviewed conclusion.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 reasoning agent in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 Microsoft 365 Copilot, select Agents and then choose Researcher or Analyst.</a:t>
            </a:r>
            <a:endParaRPr lang="en-US" sz="2100" dirty="0"/>
          </a:p>
        </p:txBody>
      </p:sp>
      <p:pic>
        <p:nvPicPr>
          <p:cNvPr id="6" name="Image 0" descr="Open a reasoning agent in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Open</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m365.cloud.microsoft/chat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Select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Agents in the left navigation</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Choose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Researcher or Analyst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workflow - question to checked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Researcher saves collection and comparison time; the learner still opens the sources.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Scope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question, files and allowed public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Research</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Ask for a cited claim-evidence comparison.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a citation and check the adjacent claim.</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prompt - compare evidence for the pump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a short, cited comparison with clear limits.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the fictional TR-401 training extract and approved public primary sources. State the delivery target, comparison range and missing evidence. Find two sources explaining why calibration status and test conditions matter. Return Claim | Source | Evidence | Limitation. Cite every external claim. Separate facts, interpretation and recommendations. Do not invent a standard clause, root cause or approval.</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TR-401-Training-Extract.pdf</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One-page cited comparison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Open at least one source</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Researcher report before using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polished report is useful only when its sources support its claims.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link open and identify the named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Claim support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source support the sentence beside it?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date, revision, equipment and test conditions relevant?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gaps and recommendations kept separate from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workflow - file to checked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Analyst speeds up totals, comparisons and visuals; the learner checks the arithmetic.</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Attach</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six-row DMAIC Starter workbook.</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Analyse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Request totals, rates, change and a simple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Recalculate the four headline results.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prompt - compare baseline and 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DMAIC workbook, so learners do not start another lab.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six rows in WeeklyData. Check the row count, phases and missing values. Sum opportunities and deviations for Baseline W1-W4 and Pilot W5-W6. Calculate deviation rate, percentage-point change and relative reduction. Create a phase comparison table and chart. Show formulas. State one limitation and one next evidence check. Do not claim cause or sustained improvement.</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Lab-03-DMAIC/Starter.xlsx</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change, chart, limitation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Reproduce all four results</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Independent check - reproduce Analyst's results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These four numbers must agree before the interpretation is accepted.</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36 / 400 = 9.0%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 200 = 3.5%</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3.5% - 9.0% = -5.5 pp</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Interpret the Analyst result cautiously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supports an observation, not a causal conclusion.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Observed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recorded rate is lower in the two pilot weeks.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dataset does not prove why the rate changed.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Limitation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Two pilot weeks do not show sustained performance.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Collect more weeks under controlled conditions.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Choose the Microsoft 365 tool by the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engineering case can use several tools without mixing their responsibilities.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in Excel</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or explain tables, formulas and charts in the workbook.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Explore attached data and produce a deeper analysis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Synthesize and cite evidence across approved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controlled multi-step FMEA-to-report workflow.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guided activity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pump case and retain two small pieces of evidence.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Researcher; open one citation.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Analyst; compare the four calculations.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Share one correction or limitation.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checkpoint - prove research and analysis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evidence and arithmetic were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Cited comparison plus one opened source.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9.0%, 3.5%, -5.5 pp and 61.1% verified.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judgment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limitation and one next evidence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SharePoint knowledge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a controlled engineering source and test a cited answer.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Purpose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time spent finding and comparing approved information.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Build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private site, one knowledge folder and one scoped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citation; verify revision, scope and permissions.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draft for engineer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Explain</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Describe SharePoint as a controlled document source for Copilot.</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Create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Set up or inspect a private engineering knowledge folder and agent.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Query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Ask supported and unsupported questions using scoped sources.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a citation and check access, revision and applicability.</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SharePoint adds to engineering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managed source reduces repeated searching and copy-paste.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Store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Keep approved manuals, extracts and workbooks together.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Retrieve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Let Copilot find relevant passages and tables.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Trace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Return links that an engineer can open and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grounded-answer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Question → selected sources → cited draft → engineer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engineering question and required evidence.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Retrieve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agent searches only the selected knowledge scope.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the citation; check revision, context and authority.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prepared IES SharePoint site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one private training site and one clearly named folder.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GenAI for Engineers · Private group</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Library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Documents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Folder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Knowledge Base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Engineering Knowledge Assistant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four small synthetic sources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narrow source set makes the answer easier to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TR-401 PDF</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fields and review boundary.</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 workbook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Process readings and control-chart activity.</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workbook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modes, ratings and RPN activity.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DMAIC workbook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Baseline and pilot improvement activity.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the SharePoint agent from the folder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Scope the agent before writing prompts.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Engineering Knowledge Base folder.</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Create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AI actions → Create an agent.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Configure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purpose, sources, instructions and starter prompts.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the agent a safe engineering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it how to answer, cite, preserve gaps and stop.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selected SharePoint sources. Cite the file beside every factual answer. Separate facts, calculations, hypotheses and recommendations. Preserve units, revisions and missing values. If unsupported, say the sources do not contain the answer. Do not invent clauses, causes or approval. Label DRAFT FOR ENGINEER REVIEW.</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 rule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Selected folder only</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Evidence rule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Citation beside each fact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Stop rule</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Unsupported means unknown</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ask for supported fields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answer should point to the exact TR-401 passage.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measurement fields must the test record contain?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ID, timestamp, collected volume and duration.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TR-401-Training-Extract.pdf · Revision 1.</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cited page and compare line by line.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ask for information that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reliable agent should preserve an evidence gap.</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target and comparison range are stated in TR-401?</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No target or range is stated in the approved extract.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Completed test record and reviewed calculation or summary.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Reject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Any invented limit, clause or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the citation before trusting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link is useful only when the passage supports the claim.</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Open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Select the cited TR-401 file.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Compare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Match each answer statement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Decide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Accept, correct or mark unsupported.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Permissions still control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Users receive answers only from sources they can access.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training site private.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 file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Its permissions control who can access or edit the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Each user's source permissions shape the response.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 rule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change membership or share restricted files.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Grounding improves productivity with controls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shortens retrieval and first-draft work; review protects the decision.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Faster</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Find fields, clauses and workbook context in one question.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Consistent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Reuse the same evidence and output rules.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Traceable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source links beside factual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Controlled</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permissions and preserve unknowns.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guided activity — 45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Build, test and verify inside the existing Module 5 block.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0–12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Explain grounding; inspect the private site and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12–32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Create or inspect the agent; run two tests.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32–45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one citation; check permissions; record evidence.</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Record a traceable SharePoint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enough evidence for another engineer to reproduce the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Where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Site, library, folder and agent name.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What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Prompt, cited file and relevant page, sheet or section.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Pass, correction or unsupported decision.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Who</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Reviewer initials and review date.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checkpoint — create, ask, cite,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knowledge source and answer were both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Knowledge base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Private site plus named source folder.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Grounded answer</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supported answer and one preserved unknown.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check</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citation opened; permissions and scope confirmed.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247</Slides>
  <Notes>247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247</vt:i4>
      </vt:variant>
    </vt:vector>
  </HeadingPairs>
  <TitlesOfParts>
    <vt:vector size="2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2026-09-06T03:36:36Z</dcterms:created>
  <dcterms:modified xsi:type="dcterms:W3CDTF">2026-09-06T03:36:36Z</dcterms:modified>
</cp:coreProperties>
</file>