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Descending overdue counts</c:v>
                </c:pt>
              </c:strCache>
            </c:strRef>
          </c:tx>
          <c:cat>
            <c:strRef>
              <c:f>Sheet1!$A$2:$A$6</c:f>
              <c:strCache>
                <c:ptCount val="5"/>
                <c:pt idx="0">
                  <c:v>Pump Service</c:v>
                </c:pt>
                <c:pt idx="1">
                  <c:v>Meter Service</c:v>
                </c:pt>
                <c:pt idx="2">
                  <c:v>Leak Repair</c:v>
                </c:pt>
                <c:pt idx="3">
                  <c:v>Valve Repair</c:v>
                </c:pt>
                <c:pt idx="4">
                  <c:v>Pipe Replacement</c:v>
                </c:pt>
              </c:strCache>
            </c:strRef>
          </c:cat>
          <c:val>
            <c:numRef>
              <c:f>Sheet1!$B$2:$B$6</c:f>
              <c:numCache>
                <c:formatCode>General</c:formatCode>
                <c:ptCount val="5"/>
                <c:pt idx="0">
                  <c:v>18</c:v>
                </c:pt>
                <c:pt idx="1">
                  <c:v>12</c:v>
                </c:pt>
                <c:pt idx="2">
                  <c:v>8</c:v>
                </c:pt>
                <c:pt idx="3">
                  <c:v>8</c:v>
                </c:pt>
                <c:pt idx="4">
                  <c:v>4</c:v>
                </c:pt>
              </c:numCache>
            </c:numRef>
          </c:val>
        </c:ser>
        <c:dLbls>
          <c:txPr>
            <a:bodyPr/>
            <a:lstStyle/>
            <a:p>
              <a:pPr>
                <a:defRPr sz="12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Cumulative share (%)</c:v>
                </c:pt>
              </c:strCache>
            </c:strRef>
          </c:tx>
          <c:marker>
            <c:symbol val="none"/>
          </c:marker>
          <c:cat>
            <c:strRef>
              <c:f>Sheet1!$A$2:$A$6</c:f>
              <c:strCache>
                <c:ptCount val="5"/>
                <c:pt idx="0">
                  <c:v>Pump Service</c:v>
                </c:pt>
                <c:pt idx="1">
                  <c:v>Meter Service</c:v>
                </c:pt>
                <c:pt idx="2">
                  <c:v>Leak Repair</c:v>
                </c:pt>
                <c:pt idx="3">
                  <c:v>Valve Repair</c:v>
                </c:pt>
                <c:pt idx="4">
                  <c:v>Pipe Replacement</c:v>
                </c:pt>
              </c:strCache>
            </c:strRef>
          </c:cat>
          <c:val>
            <c:numRef>
              <c:f>Sheet1!$B$2:$B$6</c:f>
              <c:numCache>
                <c:formatCode>General</c:formatCode>
                <c:ptCount val="5"/>
                <c:pt idx="0">
                  <c:v>36</c:v>
                </c:pt>
                <c:pt idx="1">
                  <c:v>60</c:v>
                </c:pt>
                <c:pt idx="2">
                  <c:v>76</c:v>
                </c:pt>
                <c:pt idx="3">
                  <c:v>92</c:v>
                </c:pt>
                <c:pt idx="4">
                  <c:v>100</c:v>
                </c:pt>
              </c:numCache>
            </c:numRef>
          </c:val>
          <c:smooth val="0"/>
        </c:ser>
        <c:dLbls>
          <c:txPr>
            <a:bodyPr/>
            <a:lstStyle/>
            <a:p>
              <a:pPr>
                <a:defRPr sz="12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max val="100.0"/>
          <c:min val="0.0"/>
        </c:scaling>
        <c:delete val="0"/>
        <c:axPos val="l"/>
        <c:majorGridlines/>
        <c:majorTickMark val="out"/>
        <c:minorTickMark val="none"/>
        <c:tickLblPos val="nextTo"/>
        <c:txPr>
          <a:bodyPr/>
          <a:lstStyle/>
          <a:p>
            <a:pPr>
              <a:defRPr sz="12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work orders</c:v>
                </c:pt>
              </c:strCache>
            </c:strRef>
          </c:tx>
          <c:spPr>
            <a:solidFill>
              <a:srgbClr val="3A7D7B"/>
            </a:solidFill>
          </c:spPr>
          <c:cat>
            <c:strRef>
              <c:f>Sheet1!$A$2:$A$6</c:f>
              <c:strCache>
                <c:ptCount val="5"/>
                <c:pt idx="0">
                  <c:v>Woodlands Hub</c:v>
                </c:pt>
                <c:pt idx="1">
                  <c:v>Jurong Depot</c:v>
                </c:pt>
                <c:pt idx="2">
                  <c:v>Tampines Centre</c:v>
                </c:pt>
                <c:pt idx="3">
                  <c:v>Changi Workshop</c:v>
                </c:pt>
                <c:pt idx="4">
                  <c:v>Paya Lebar Office</c:v>
                </c:pt>
              </c:strCache>
            </c:strRef>
          </c:cat>
          <c:val>
            <c:numRef>
              <c:f>Sheet1!$B$2:$B$6</c:f>
              <c:numCache>
                <c:formatCode>General</c:formatCode>
                <c:ptCount val="5"/>
                <c:pt idx="0">
                  <c:v>8</c:v>
                </c:pt>
                <c:pt idx="1">
                  <c:v>12</c:v>
                </c:pt>
                <c:pt idx="2">
                  <c:v>16</c:v>
                </c:pt>
                <c:pt idx="3">
                  <c:v>20</c:v>
                </c:pt>
                <c:pt idx="4">
                  <c:v>4</c:v>
                </c:pt>
              </c:numCache>
            </c:numRef>
          </c:val>
        </c:ser>
        <c:dLbls>
          <c:txPr>
            <a:bodyPr/>
            <a:lstStyle/>
            <a:p>
              <a:pPr>
                <a:defRPr sz="16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IES ACADEMY  •  ENGINEERING</a:t>
            </a:r>
          </a:p>
        </p:txBody>
      </p:sp>
      <p:sp>
        <p:nvSpPr>
          <p:cNvPr id="6" name="TextBox 5"/>
          <p:cNvSpPr txBox="1"/>
          <p:nvPr/>
        </p:nvSpPr>
        <p:spPr>
          <a:xfrm>
            <a:off x="822960" y="4343400"/>
            <a:ext cx="7772400" cy="365760"/>
          </a:xfrm>
          <a:prstGeom prst="rect">
            <a:avLst/>
          </a:prstGeom>
          <a:noFill/>
        </p:spPr>
        <p:txBody>
          <a:bodyPr wrap="square" anchor="t">
            <a:spAutoFit/>
          </a:bodyPr>
          <a:lstStyle/>
          <a:p>
            <a:pPr algn="l">
              <a:spcAft>
                <a:spcPts val="400"/>
              </a:spcAft>
            </a:pPr>
            <a:r>
              <a:rPr sz="1300" b="0">
                <a:solidFill>
                  <a:srgbClr val="B9B4A9"/>
                </a:solidFill>
                <a:latin typeface="Calibri"/>
              </a:rPr>
              <a:t>Version v2.3  ·  18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GenAI for Engineers</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IES Academy</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IES Academy</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role and one maintenance reporting task.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Which app holds the work-order source?</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Which date and status definitions determine overdue work?</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Check which Copilot buttons and skills menus are available in your assigned apps.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IES Academy course folder supplied by your trainer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12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materials: trainer-supplied IES Academy folder</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Fundamentals of Microsoft 365 Copilot (Labs 1–2)</a:t>
            </a:r>
          </a:p>
          <a:p>
            <a:pPr>
              <a:spcAft>
                <a:spcPts val="1000"/>
              </a:spcAft>
            </a:pPr>
            <a:r>
              <a:rPr sz="1600" b="0">
                <a:solidFill>
                  <a:srgbClr val="21201C"/>
                </a:solidFill>
                <a:latin typeface="Calibri"/>
              </a:rPr>
              <a:t>•  Topic 2: Personalisation, .Rules and Skills for Excel (Labs 3–6)</a:t>
            </a:r>
          </a:p>
          <a:p>
            <a:pPr>
              <a:spcAft>
                <a:spcPts val="1000"/>
              </a:spcAft>
            </a:pPr>
            <a:r>
              <a:rPr sz="1600" b="0">
                <a:solidFill>
                  <a:srgbClr val="21201C"/>
                </a:solidFill>
                <a:latin typeface="Calibri"/>
              </a:rPr>
              <a:t>•  Topic 3: Interactive Dashboards with Custom Skills (Labs 7–8)</a:t>
            </a:r>
          </a:p>
          <a:p>
            <a:pPr>
              <a:spcAft>
                <a:spcPts val="1000"/>
              </a:spcAft>
            </a:pPr>
            <a:r>
              <a:rPr sz="1600" b="0">
                <a:solidFill>
                  <a:srgbClr val="21201C"/>
                </a:solidFill>
                <a:latin typeface="Calibri"/>
              </a:rPr>
              <a:t>•  Topic 4: Create a Professional Presentation with PowerPoint Copilot (Labs 9–10)</a:t>
            </a:r>
          </a:p>
          <a:p>
            <a:pPr>
              <a:spcAft>
                <a:spcPts val="1000"/>
              </a:spcAft>
            </a:pPr>
            <a:r>
              <a:rPr sz="1600" b="0">
                <a:solidFill>
                  <a:srgbClr val="21201C"/>
                </a:solidFill>
                <a:latin typeface="Calibri"/>
              </a:rPr>
              <a:t>•  Topic 5: Copilot Agents and Mini Capstone (Labs 11–12)</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12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Connected Copilot workflow</a:t>
            </a:r>
          </a:p>
          <a:p>
            <a:pPr algn="l">
              <a:spcAft>
                <a:spcPts val="300"/>
              </a:spcAft>
            </a:pPr>
            <a:r>
              <a:rPr sz="1300" b="0">
                <a:solidFill>
                  <a:srgbClr val="6B6862"/>
                </a:solidFill>
                <a:latin typeface="Calibri"/>
              </a:rPr>
              <a:t>Integrate Word, Excel, PowerPoint and Outlook Copilot in a coherent maintenance workflow with explicit source grounding and verified prompts.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Reusable maintenance skills</a:t>
            </a:r>
          </a:p>
          <a:p>
            <a:pPr algn="l">
              <a:spcAft>
                <a:spcPts val="300"/>
              </a:spcAft>
            </a:pPr>
            <a:r>
              <a:rPr sz="1300" b="0">
                <a:solidFill>
                  <a:srgbClr val="6B6862"/>
                </a:solidFill>
                <a:latin typeface="Calibri"/>
              </a:rPr>
              <a:t>Distinguish account Personalisation, workbook .Rules and reusable Skills; configure, create, apply and verify Pareto and maintenance-reporting Skills using water-service evidence.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Create and apply a custom interactive-dashboard Skill with verified measures, shared filter scope, editable charts and controlled refresh and rerun tests.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Professional presentation</a:t>
            </a:r>
          </a:p>
          <a:p>
            <a:pPr algn="l">
              <a:spcAft>
                <a:spcPts val="300"/>
              </a:spcAft>
            </a:pPr>
            <a:r>
              <a:rPr sz="1300" b="0">
                <a:solidFill>
                  <a:srgbClr val="6B6862"/>
                </a:solidFill>
                <a:latin typeface="Calibri"/>
              </a:rPr>
              <a:t>Continue from the dashboard to a professional management presentation, with evidence-based headlines, source notes, rehearsal and a reviewed handoff draft.</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Agents and capstone</a:t>
            </a:r>
          </a:p>
          <a:p>
            <a:pPr algn="l">
              <a:spcAft>
                <a:spcPts val="300"/>
              </a:spcAft>
            </a:pPr>
            <a:r>
              <a:rPr sz="1300" b="0">
                <a:solidFill>
                  <a:srgbClr val="6B6862"/>
                </a:solidFill>
                <a:latin typeface="Calibri"/>
              </a:rPr>
              <a:t>Build and test a grounded work-order agent with Agent Builder, then apply the full data-to-decision workflow to your own mock or sanitised data in a group capstone.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Fundamentals of Microsoft 365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One verified maintenance workflow across four apps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Fundamentals of Microsoft 365 Copilot</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Large language models</a:t>
            </a:r>
          </a:p>
          <a:p>
            <a:pPr algn="l">
              <a:spcAft>
                <a:spcPts val="300"/>
              </a:spcAft>
            </a:pPr>
            <a:r>
              <a:rPr sz="1400" b="0">
                <a:solidFill>
                  <a:srgbClr val="6B6862"/>
                </a:solidFill>
                <a:latin typeface="Calibri"/>
              </a:rPr>
              <a:t>Understand your request and generate natural-language answers.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Grounding</a:t>
            </a:r>
          </a:p>
          <a:p>
            <a:pPr algn="l">
              <a:spcAft>
                <a:spcPts val="300"/>
              </a:spcAft>
            </a:pPr>
            <a:r>
              <a:rPr sz="1400" b="0">
                <a:solidFill>
                  <a:srgbClr val="6B6862"/>
                </a:solidFill>
                <a:latin typeface="Calibri"/>
              </a:rPr>
              <a:t>Answers anchored in your work data: emails, files, meetings.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Permissions &amp; privacy</a:t>
            </a:r>
          </a:p>
          <a:p>
            <a:pPr algn="l">
              <a:spcAft>
                <a:spcPts val="300"/>
              </a:spcAft>
            </a:pPr>
            <a:r>
              <a:rPr sz="1400" b="0">
                <a:solidFill>
                  <a:srgbClr val="6B6862"/>
                </a:solidFill>
                <a:latin typeface="Calibri"/>
              </a:rPr>
              <a:t>Shows only data you can access; prompts do not train the models.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Prompts</a:t>
            </a:r>
          </a:p>
          <a:p>
            <a:pPr algn="l">
              <a:spcAft>
                <a:spcPts val="300"/>
              </a:spcAft>
            </a:pPr>
            <a:r>
              <a:rPr sz="1400" b="0">
                <a:solidFill>
                  <a:srgbClr val="6B6862"/>
                </a:solidFill>
                <a:latin typeface="Calibri"/>
              </a:rPr>
              <a:t>State the goal, context, source and expectations.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Fundamentals of Microsoft 365 Copilot</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Excel to Word</a:t>
            </a:r>
          </a:p>
          <a:p>
            <a:pPr>
              <a:spcAft>
                <a:spcPts val="900"/>
              </a:spcAft>
            </a:pPr>
            <a:r>
              <a:rPr sz="1200" b="0">
                <a:solidFill>
                  <a:srgbClr val="6B6862"/>
                </a:solidFill>
                <a:latin typeface="Calibri"/>
              </a:rPr>
              <a:t>–  Prepare Work Orders and Draft the Operations Brief</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Word to PowerPoint and Outlook</a:t>
            </a:r>
          </a:p>
          <a:p>
            <a:pPr>
              <a:spcAft>
                <a:spcPts val="900"/>
              </a:spcAft>
            </a:pPr>
            <a:r>
              <a:rPr sz="1200" b="0">
                <a:solidFill>
                  <a:srgbClr val="6B6862"/>
                </a:solidFill>
                <a:latin typeface="Calibri"/>
              </a:rPr>
              <a:t>–  Create the Cross-App Maintenance Update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CONNECTED USE CASE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Northstar Maintenance Evidence Chain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Excel: clean and check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Word: operations brief</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PowerPoint: decision story</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Outlook: reviewed draft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DATA MODEL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Work Order Has State, Scope and Ownership</a:t>
            </a:r>
          </a:p>
        </p:txBody>
      </p:sp>
      <p:sp>
        <p:nvSpPr>
          <p:cNvPr id="5" name="Rounded Rectangle 4"/>
          <p:cNvSpPr/>
          <p:nvPr/>
        </p:nvSpPr>
        <p:spPr>
          <a:xfrm>
            <a:off x="7772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144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ID</a:t>
            </a:r>
          </a:p>
        </p:txBody>
      </p:sp>
      <p:sp>
        <p:nvSpPr>
          <p:cNvPr id="7" name="TextBox 6"/>
          <p:cNvSpPr txBox="1"/>
          <p:nvPr/>
        </p:nvSpPr>
        <p:spPr>
          <a:xfrm>
            <a:off x="9144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WO-2026-0003</a:t>
            </a:r>
          </a:p>
        </p:txBody>
      </p:sp>
      <p:sp>
        <p:nvSpPr>
          <p:cNvPr id="8" name="Rounded Rectangle 7"/>
          <p:cNvSpPr/>
          <p:nvPr/>
        </p:nvSpPr>
        <p:spPr>
          <a:xfrm>
            <a:off x="44348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45720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Site</a:t>
            </a:r>
          </a:p>
        </p:txBody>
      </p:sp>
      <p:sp>
        <p:nvSpPr>
          <p:cNvPr id="10" name="TextBox 9"/>
          <p:cNvSpPr txBox="1"/>
          <p:nvPr/>
        </p:nvSpPr>
        <p:spPr>
          <a:xfrm>
            <a:off x="45720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Woodlands Hub</a:t>
            </a:r>
          </a:p>
        </p:txBody>
      </p:sp>
      <p:sp>
        <p:nvSpPr>
          <p:cNvPr id="11" name="Rounded Rectangle 10"/>
          <p:cNvSpPr/>
          <p:nvPr/>
        </p:nvSpPr>
        <p:spPr>
          <a:xfrm>
            <a:off x="80924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2296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Category</a:t>
            </a:r>
          </a:p>
        </p:txBody>
      </p:sp>
      <p:sp>
        <p:nvSpPr>
          <p:cNvPr id="13" name="TextBox 12"/>
          <p:cNvSpPr txBox="1"/>
          <p:nvPr/>
        </p:nvSpPr>
        <p:spPr>
          <a:xfrm>
            <a:off x="82296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Leak Repair</a:t>
            </a:r>
          </a:p>
        </p:txBody>
      </p:sp>
      <p:sp>
        <p:nvSpPr>
          <p:cNvPr id="14" name="Rounded Rectangle 13"/>
          <p:cNvSpPr/>
          <p:nvPr/>
        </p:nvSpPr>
        <p:spPr>
          <a:xfrm>
            <a:off x="777240" y="329184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914400" y="338328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Status</a:t>
            </a:r>
          </a:p>
        </p:txBody>
      </p:sp>
      <p:sp>
        <p:nvSpPr>
          <p:cNvPr id="16" name="TextBox 15"/>
          <p:cNvSpPr txBox="1"/>
          <p:nvPr/>
        </p:nvSpPr>
        <p:spPr>
          <a:xfrm>
            <a:off x="914400" y="3749039"/>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In Progress</a:t>
            </a:r>
          </a:p>
        </p:txBody>
      </p:sp>
      <p:sp>
        <p:nvSpPr>
          <p:cNvPr id="17" name="Rounded Rectangle 16"/>
          <p:cNvSpPr/>
          <p:nvPr/>
        </p:nvSpPr>
        <p:spPr>
          <a:xfrm>
            <a:off x="4434840" y="329184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4572000" y="338328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Owner</a:t>
            </a:r>
          </a:p>
        </p:txBody>
      </p:sp>
      <p:sp>
        <p:nvSpPr>
          <p:cNvPr id="19" name="TextBox 18"/>
          <p:cNvSpPr txBox="1"/>
          <p:nvPr/>
        </p:nvSpPr>
        <p:spPr>
          <a:xfrm>
            <a:off x="4572000" y="3749039"/>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Chloe Goh</a:t>
            </a:r>
          </a:p>
        </p:txBody>
      </p:sp>
      <p:sp>
        <p:nvSpPr>
          <p:cNvPr id="20" name="TextBox 19"/>
          <p:cNvSpPr txBox="1"/>
          <p:nvPr/>
        </p:nvSpPr>
        <p:spPr>
          <a:xfrm>
            <a:off x="868680" y="5212080"/>
            <a:ext cx="10332720" cy="457200"/>
          </a:xfrm>
          <a:prstGeom prst="rect">
            <a:avLst/>
          </a:prstGeom>
          <a:noFill/>
        </p:spPr>
        <p:txBody>
          <a:bodyPr wrap="square" anchor="t">
            <a:spAutoFit/>
          </a:bodyPr>
          <a:lstStyle/>
          <a:p>
            <a:pPr algn="l">
              <a:spcAft>
                <a:spcPts val="400"/>
              </a:spcAft>
            </a:pPr>
            <a:r>
              <a:rPr sz="2100" b="0">
                <a:solidFill>
                  <a:srgbClr val="21201C"/>
                </a:solidFill>
                <a:latin typeface="Calibri"/>
              </a:rPr>
              <a:t>Current owner is evidence. Proposed owner is a separate planning output.</a:t>
            </a:r>
          </a:p>
        </p:txBody>
      </p:sp>
      <p:sp>
        <p:nvSpPr>
          <p:cNvPr id="21" name="TextBox 20"/>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22" name="TextBox 2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3" name="TextBox 2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4" name="TextBox 2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Microsoft 365 Copilot Interface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in the browser and in each Office app shares one set of controls.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Knowing where each control lives lets you choose how much reasoning, context and authority Copilot gets for a task.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Auto is the default model; Think deeper suits multi-step analysis.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Microsoft 365 Copilot Interface</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Model selection</a:t>
            </a:r>
          </a:p>
          <a:p>
            <a:pPr algn="l">
              <a:spcAft>
                <a:spcPts val="300"/>
              </a:spcAft>
            </a:pPr>
            <a:r>
              <a:rPr sz="1100" b="0">
                <a:solidFill>
                  <a:srgbClr val="6B6862"/>
                </a:solidFill>
                <a:latin typeface="Calibri"/>
              </a:rPr>
              <a:t>Auto, Quick response or Think deeper; Auto chooses for you.</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New chat</a:t>
            </a:r>
          </a:p>
          <a:p>
            <a:pPr algn="l">
              <a:spcAft>
                <a:spcPts val="300"/>
              </a:spcAft>
            </a:pPr>
            <a:r>
              <a:rPr sz="1100" b="0">
                <a:solidFill>
                  <a:srgbClr val="6B6862"/>
                </a:solidFill>
                <a:latin typeface="Calibri"/>
              </a:rPr>
              <a:t>Starts a clean conversation; each chat is its own context.</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History</a:t>
            </a:r>
          </a:p>
          <a:p>
            <a:pPr algn="l">
              <a:spcAft>
                <a:spcPts val="300"/>
              </a:spcAft>
            </a:pPr>
            <a:r>
              <a:rPr sz="1100" b="0">
                <a:solidFill>
                  <a:srgbClr val="6B6862"/>
                </a:solidFill>
                <a:latin typeface="Calibri"/>
              </a:rPr>
              <a:t>Earlier chats in the left pane to reopen or continue.</a:t>
            </a:r>
          </a:p>
        </p:txBody>
      </p:sp>
      <p:sp>
        <p:nvSpPr>
          <p:cNvPr id="20" name="Rounded Rectangle 19"/>
          <p:cNvSpPr/>
          <p:nvPr/>
        </p:nvSpPr>
        <p:spPr>
          <a:xfrm>
            <a:off x="777240"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777240" y="4087368"/>
            <a:ext cx="3361944" cy="64008"/>
          </a:xfrm>
          <a:prstGeom prst="rect">
            <a:avLst/>
          </a:prstGeom>
          <a:solidFill>
            <a:srgbClr val="C2603F"/>
          </a:solidFill>
          <a:ln>
            <a:noFill/>
          </a:ln>
          <a:effectLst/>
        </p:spPr>
        <p:txBody>
          <a:bodyPr rtlCol="0" anchor="ctr"/>
          <a:lstStyle/>
          <a:p>
            <a:pPr algn="ctr"/>
          </a:p>
        </p:txBody>
      </p:sp>
      <p:sp>
        <p:nvSpPr>
          <p:cNvPr id="22" name="Oval 21"/>
          <p:cNvSpPr/>
          <p:nvPr/>
        </p:nvSpPr>
        <p:spPr>
          <a:xfrm>
            <a:off x="1033272"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1764792" y="4215384"/>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Mode</a:t>
            </a:r>
          </a:p>
          <a:p>
            <a:pPr algn="l">
              <a:spcAft>
                <a:spcPts val="300"/>
              </a:spcAft>
            </a:pPr>
            <a:r>
              <a:rPr sz="1100" b="0">
                <a:solidFill>
                  <a:srgbClr val="6B6862"/>
                </a:solidFill>
                <a:latin typeface="Calibri"/>
              </a:rPr>
              <a:t>Excel/Word: Chat only, Plan or Allow editing (Edit).</a:t>
            </a:r>
          </a:p>
        </p:txBody>
      </p:sp>
      <p:sp>
        <p:nvSpPr>
          <p:cNvPr id="25" name="Rounded Rectangle 24"/>
          <p:cNvSpPr/>
          <p:nvPr/>
        </p:nvSpPr>
        <p:spPr>
          <a:xfrm>
            <a:off x="4413504"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4413504" y="4087368"/>
            <a:ext cx="3361944" cy="64008"/>
          </a:xfrm>
          <a:prstGeom prst="rect">
            <a:avLst/>
          </a:prstGeom>
          <a:solidFill>
            <a:srgbClr val="D97757"/>
          </a:solidFill>
          <a:ln>
            <a:noFill/>
          </a:ln>
          <a:effectLst/>
        </p:spPr>
        <p:txBody>
          <a:bodyPr rtlCol="0" anchor="ctr"/>
          <a:lstStyle/>
          <a:p>
            <a:pPr algn="ctr"/>
          </a:p>
        </p:txBody>
      </p:sp>
      <p:sp>
        <p:nvSpPr>
          <p:cNvPr id="27" name="Oval 26"/>
          <p:cNvSpPr/>
          <p:nvPr/>
        </p:nvSpPr>
        <p:spPr>
          <a:xfrm>
            <a:off x="4669536" y="4846320"/>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4669536"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5401056" y="4215384"/>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 Add content</a:t>
            </a:r>
          </a:p>
          <a:p>
            <a:pPr algn="l">
              <a:spcAft>
                <a:spcPts val="300"/>
              </a:spcAft>
            </a:pPr>
            <a:r>
              <a:rPr sz="1100" b="0">
                <a:solidFill>
                  <a:srgbClr val="6B6862"/>
                </a:solidFill>
                <a:latin typeface="Calibri"/>
              </a:rPr>
              <a:t>Reference a file with / or +, or choose skills to apply.</a:t>
            </a:r>
          </a:p>
        </p:txBody>
      </p:sp>
      <p:sp>
        <p:nvSpPr>
          <p:cNvPr id="30" name="Rounded Rectangle 29"/>
          <p:cNvSpPr/>
          <p:nvPr/>
        </p:nvSpPr>
        <p:spPr>
          <a:xfrm>
            <a:off x="8049768"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8049768" y="4087368"/>
            <a:ext cx="3361944" cy="64008"/>
          </a:xfrm>
          <a:prstGeom prst="rect">
            <a:avLst/>
          </a:prstGeom>
          <a:solidFill>
            <a:srgbClr val="3A7D7B"/>
          </a:solidFill>
          <a:ln>
            <a:noFill/>
          </a:ln>
          <a:effectLst/>
        </p:spPr>
        <p:txBody>
          <a:bodyPr rtlCol="0" anchor="ctr"/>
          <a:lstStyle/>
          <a:p>
            <a:pPr algn="ctr"/>
          </a:p>
        </p:txBody>
      </p:sp>
      <p:sp>
        <p:nvSpPr>
          <p:cNvPr id="32" name="Oval 31"/>
          <p:cNvSpPr/>
          <p:nvPr/>
        </p:nvSpPr>
        <p:spPr>
          <a:xfrm>
            <a:off x="8305800" y="4846320"/>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8305800"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9037320" y="4215384"/>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Personalisation</a:t>
            </a:r>
          </a:p>
          <a:p>
            <a:pPr algn="l">
              <a:spcAft>
                <a:spcPts val="300"/>
              </a:spcAft>
            </a:pPr>
            <a:r>
              <a:rPr sz="1100" b="0">
                <a:solidFill>
                  <a:srgbClr val="6B6862"/>
                </a:solidFill>
                <a:latin typeface="Calibri"/>
              </a:rPr>
              <a:t>Settings (...) &gt; Personalization: your account preferences.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Microsoft 365 Copilot Interface (cont.)</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Skills &amp; plugins</a:t>
            </a:r>
          </a:p>
          <a:p>
            <a:pPr algn="l">
              <a:spcAft>
                <a:spcPts val="300"/>
              </a:spcAft>
            </a:pPr>
            <a:r>
              <a:rPr sz="1100" b="0">
                <a:solidFill>
                  <a:srgbClr val="6B6862"/>
                </a:solidFill>
                <a:latin typeface="Calibri"/>
              </a:rPr>
              <a:t>Settings (...) &gt; Manage plugins &amp; skills; call one with @.</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C2603F"/>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Agents</a:t>
            </a:r>
          </a:p>
          <a:p>
            <a:pPr algn="l">
              <a:spcAft>
                <a:spcPts val="300"/>
              </a:spcAft>
            </a:pPr>
            <a:r>
              <a:rPr sz="1100" b="0">
                <a:solidFill>
                  <a:srgbClr val="6B6862"/>
                </a:solidFill>
                <a:latin typeface="Calibri"/>
              </a:rPr>
              <a:t>Agents &amp; Skills in the left pane; build with Agent Builder.</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D97757"/>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Data protection</a:t>
            </a:r>
          </a:p>
          <a:p>
            <a:pPr algn="l">
              <a:spcAft>
                <a:spcPts val="300"/>
              </a:spcAft>
            </a:pPr>
            <a:r>
              <a:rPr sz="1100" b="0">
                <a:solidFill>
                  <a:srgbClr val="6B6862"/>
                </a:solidFill>
                <a:latin typeface="Calibri"/>
              </a:rPr>
              <a:t>The green shield shows enterprise data protection is on.</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Microsoft 365 Copilot Interface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Pick the model and start a new chat.</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Reference the file or choose a skill.</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Chat only, Plan or Allow editing.</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history, settings and skills.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The Microsoft 365 Copilot Interface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Use / or + to reference the OneDrive workbook in Word.</a:t>
            </a:r>
          </a:p>
          <a:p>
            <a:pPr>
              <a:spcAft>
                <a:spcPts val="1000"/>
              </a:spcAft>
            </a:pPr>
            <a:r>
              <a:rPr sz="1600" b="0">
                <a:solidFill>
                  <a:srgbClr val="21201C"/>
                </a:solidFill>
                <a:latin typeface="Calibri"/>
              </a:rPr>
              <a:t>•  Chat only for inspection, Plan before edits, Allow editing to apply.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Grounding Across Microsoft 365</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Grounding gives an AI request the specific evidence it should use.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maintenance figure can be correct in Excel yet become wrong in an email when the source, reporting date or filter scope changes.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analyses tblWorkOrders; Word receives the checked summary.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Grounding Across Microsoft 365</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the authoritative work-order table.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Provide goal, context, source and expected output.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against the named evidence.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Pass a verified snapshot to the next app.</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Grounding Across Microsoft 365</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PowerPoint receives the reviewed Word brief; Outlook receives the same checked values.</a:t>
            </a:r>
          </a:p>
          <a:p>
            <a:pPr>
              <a:spcAft>
                <a:spcPts val="1000"/>
              </a:spcAft>
            </a:pPr>
            <a:r>
              <a:rPr sz="1600" b="0">
                <a:solidFill>
                  <a:srgbClr val="21201C"/>
                </a:solidFill>
                <a:latin typeface="Calibri"/>
              </a:rPr>
              <a:t>•  An Excel chat transcript is not an automatic PowerPoint data source.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Work-Order Grain and Reporting Measures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row represents one work order, identified by Work_Order_ID.</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exact duplicated export row changes counts and cost without representing new work.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122 raw rows contain 120 distinct work-order IDs.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Work-Order Grain and Reporting Measures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one ID per work order.</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Find exact repeated export records.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Standardise labels without inventing facts.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cleaned counts and cost.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Work-Order Grain and Reporting Measures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Total = Closed + Cancelled + Backlog after exact duplicate removal.</a:t>
            </a:r>
          </a:p>
          <a:p>
            <a:pPr>
              <a:spcAft>
                <a:spcPts val="1000"/>
              </a:spcAft>
            </a:pPr>
            <a:r>
              <a:rPr sz="1600" b="0">
                <a:solidFill>
                  <a:srgbClr val="21201C"/>
                </a:solidFill>
                <a:latin typeface="Calibri"/>
              </a:rPr>
              <a:t>•  Due on 30 September is not overdue at the 30 September snapshot.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EXCEL TO WORD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Prepare Work Orders and Draft the Operations Brief</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You are Northstar Water Services’ maintenance coordinator. A Q3 export contains repeated IDs and inconsistent category labels.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Northstar_Clean_Work_Orders.xlsx and Northstar_Operations_Brief.docx, with reconciled counts, reporting scope and a source register.</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Clean table</a:t>
            </a:r>
          </a:p>
          <a:p>
            <a:pPr algn="l">
              <a:spcAft>
                <a:spcPts val="300"/>
              </a:spcAft>
            </a:pPr>
            <a:r>
              <a:rPr sz="1300" b="0">
                <a:solidFill>
                  <a:srgbClr val="6B6862"/>
                </a:solidFill>
                <a:latin typeface="Calibri"/>
              </a:rPr>
              <a:t>120 unique Work_Order_ID rows; five canonical job categories.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Portfolio identity</a:t>
            </a:r>
          </a:p>
          <a:p>
            <a:pPr algn="l">
              <a:spcAft>
                <a:spcPts val="300"/>
              </a:spcAft>
            </a:pPr>
            <a:r>
              <a:rPr sz="1300" b="0">
                <a:solidFill>
                  <a:srgbClr val="6B6862"/>
                </a:solidFill>
                <a:latin typeface="Calibri"/>
              </a:rPr>
              <a:t>120 = 48 Closed + 12 Cancelled + 60 backlog.</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Evidence handoff</a:t>
            </a:r>
          </a:p>
          <a:p>
            <a:pPr algn="l">
              <a:spcAft>
                <a:spcPts val="300"/>
              </a:spcAft>
            </a:pPr>
            <a:r>
              <a:rPr sz="1300" b="0">
                <a:solidFill>
                  <a:srgbClr val="6B6862"/>
                </a:solidFill>
                <a:latin typeface="Calibri"/>
              </a:rPr>
              <a:t>Overdue 50; unassigned backlog 6; total cost S$35,827.50. Word agrees with Excel.</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No guessed owner</a:t>
            </a:r>
          </a:p>
          <a:p>
            <a:pPr algn="l">
              <a:spcAft>
                <a:spcPts val="300"/>
              </a:spcAft>
            </a:pPr>
            <a:r>
              <a:rPr sz="1300" b="0">
                <a:solidFill>
                  <a:srgbClr val="6B6862"/>
                </a:solidFill>
                <a:latin typeface="Calibri"/>
              </a:rPr>
              <a:t>Blank assignments remain blank; proposals labelled unapproved.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AI Security: Five Principles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AI security is the set of habits and controls that keep data, decisions and systems safe when people work with AI assistants and agents.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only surfaces data a user can already access and does not use prompts to train its foundation models, but people can still overshare, give an agent too much access, accept an unchecked draft or lose track of what was used.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Use synthetic or sanitised data in training and demos.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AI SECURITY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5 Principles of AI Security</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Data control</a:t>
            </a:r>
          </a:p>
          <a:p>
            <a:pPr algn="l">
              <a:spcAft>
                <a:spcPts val="300"/>
              </a:spcAft>
            </a:pPr>
            <a:r>
              <a:rPr sz="1200" b="0">
                <a:solidFill>
                  <a:srgbClr val="6B6862"/>
                </a:solidFill>
                <a:latin typeface="Calibri"/>
              </a:rPr>
              <a:t>Share only what the task needs; use synthetic or sanitised data.</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Permission control</a:t>
            </a:r>
          </a:p>
          <a:p>
            <a:pPr algn="l">
              <a:spcAft>
                <a:spcPts val="300"/>
              </a:spcAft>
            </a:pPr>
            <a:r>
              <a:rPr sz="1200" b="0">
                <a:solidFill>
                  <a:srgbClr val="6B6862"/>
                </a:solidFill>
                <a:latin typeface="Calibri"/>
              </a:rPr>
              <a:t>Least privilege for files, agents, skills and sharing.</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Human in the loop</a:t>
            </a:r>
          </a:p>
          <a:p>
            <a:pPr algn="l">
              <a:spcAft>
                <a:spcPts val="300"/>
              </a:spcAft>
            </a:pPr>
            <a:r>
              <a:rPr sz="1200" b="0">
                <a:solidFill>
                  <a:srgbClr val="6B6862"/>
                </a:solidFill>
                <a:latin typeface="Calibri"/>
              </a:rPr>
              <a:t>Plan, review and approve before edits, emails or decisions.</a:t>
            </a:r>
          </a:p>
        </p:txBody>
      </p:sp>
      <p:sp>
        <p:nvSpPr>
          <p:cNvPr id="20" name="Rounded Rectangle 19"/>
          <p:cNvSpPr/>
          <p:nvPr/>
        </p:nvSpPr>
        <p:spPr>
          <a:xfrm>
            <a:off x="777240"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777240" y="4087368"/>
            <a:ext cx="3361944" cy="64008"/>
          </a:xfrm>
          <a:prstGeom prst="rect">
            <a:avLst/>
          </a:prstGeom>
          <a:solidFill>
            <a:srgbClr val="C2603F"/>
          </a:solidFill>
          <a:ln>
            <a:noFill/>
          </a:ln>
          <a:effectLst/>
        </p:spPr>
        <p:txBody>
          <a:bodyPr rtlCol="0" anchor="ctr"/>
          <a:lstStyle/>
          <a:p>
            <a:pPr algn="ctr"/>
          </a:p>
        </p:txBody>
      </p:sp>
      <p:sp>
        <p:nvSpPr>
          <p:cNvPr id="22" name="Oval 21"/>
          <p:cNvSpPr/>
          <p:nvPr/>
        </p:nvSpPr>
        <p:spPr>
          <a:xfrm>
            <a:off x="1033272"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1764792"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Traceability</a:t>
            </a:r>
          </a:p>
          <a:p>
            <a:pPr algn="l">
              <a:spcAft>
                <a:spcPts val="300"/>
              </a:spcAft>
            </a:pPr>
            <a:r>
              <a:rPr sz="1200" b="0">
                <a:solidFill>
                  <a:srgbClr val="6B6862"/>
                </a:solidFill>
                <a:latin typeface="Calibri"/>
              </a:rPr>
              <a:t>Log prompts, sources, versions and checks for every output.</a:t>
            </a:r>
          </a:p>
        </p:txBody>
      </p:sp>
      <p:sp>
        <p:nvSpPr>
          <p:cNvPr id="25" name="Rounded Rectangle 24"/>
          <p:cNvSpPr/>
          <p:nvPr/>
        </p:nvSpPr>
        <p:spPr>
          <a:xfrm>
            <a:off x="4413504"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4413504" y="4087368"/>
            <a:ext cx="3361944" cy="64008"/>
          </a:xfrm>
          <a:prstGeom prst="rect">
            <a:avLst/>
          </a:prstGeom>
          <a:solidFill>
            <a:srgbClr val="D97757"/>
          </a:solidFill>
          <a:ln>
            <a:noFill/>
          </a:ln>
          <a:effectLst/>
        </p:spPr>
        <p:txBody>
          <a:bodyPr rtlCol="0" anchor="ctr"/>
          <a:lstStyle/>
          <a:p>
            <a:pPr algn="ctr"/>
          </a:p>
        </p:txBody>
      </p:sp>
      <p:sp>
        <p:nvSpPr>
          <p:cNvPr id="27" name="Oval 26"/>
          <p:cNvSpPr/>
          <p:nvPr/>
        </p:nvSpPr>
        <p:spPr>
          <a:xfrm>
            <a:off x="4669536" y="4846320"/>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4669536"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5401056"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Well-tested models</a:t>
            </a:r>
          </a:p>
          <a:p>
            <a:pPr algn="l">
              <a:spcAft>
                <a:spcPts val="300"/>
              </a:spcAft>
            </a:pPr>
            <a:r>
              <a:rPr sz="1200" b="0">
                <a:solidFill>
                  <a:srgbClr val="6B6862"/>
                </a:solidFill>
                <a:latin typeface="Calibri"/>
              </a:rPr>
              <a:t>Prefer proven, approved models over the newest release.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AI Security: Five Principles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Share only the data the task needs.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Limit access for people, agents and skills.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and approve before anything takes effect.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Log sources, prompts, versions and checks.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AI Security: Five Principles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An agent gets Can chat access, not Can edit, unless needed.</a:t>
            </a:r>
          </a:p>
          <a:p>
            <a:pPr>
              <a:spcAft>
                <a:spcPts val="1000"/>
              </a:spcAft>
            </a:pPr>
            <a:r>
              <a:rPr sz="1600" b="0">
                <a:solidFill>
                  <a:srgbClr val="21201C"/>
                </a:solidFill>
                <a:latin typeface="Calibri"/>
              </a:rPr>
              <a:t>•  A Copilot email stays a draft until a person reviews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Prompts and Verified App Handoffs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useful prompt combines the intended goal, operational context, named source and output expectations.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same number may have different meaning when a chart counts all work orders while an email calls it open backlog.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Goal: draft a maintenance update for the operations manager.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Prompts and Verified App Handoffs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the goal and audience.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Attach or select the actual source.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Specify definitions and missing-value behaviour.</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the returned claims.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Prompts and Verified App Handoffs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Source: reviewed Northstar operations brief, all filters All, 30 September.</a:t>
            </a:r>
          </a:p>
          <a:p>
            <a:pPr>
              <a:spcAft>
                <a:spcPts val="1000"/>
              </a:spcAft>
            </a:pPr>
            <a:r>
              <a:rPr sz="1600" b="0">
                <a:solidFill>
                  <a:srgbClr val="21201C"/>
                </a:solidFill>
                <a:latin typeface="Calibri"/>
              </a:rPr>
              <a:t>•  Expectation: label assignment suggestions as proposals and leave unknown approvals UNKNOWN.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Outlook Drafting and Operational Decisions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help structure a draft email from supplied context.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apparently routine update can accidentally promise technician reassignment or imply that a manager approved a recovery plan.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Current owner blank; proposed owner Aisha remains unapproved.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Outlook Drafting and Operational Decisions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Provide the synthetic thread and checked facts.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Draft a concise update.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recipients, facts and action wording.</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the unsent draft and evidence.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Outlook Drafting and Operational Decisions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draft addressed to example.invalid is a training artifact.</a:t>
            </a:r>
          </a:p>
          <a:p>
            <a:pPr>
              <a:spcAft>
                <a:spcPts val="1000"/>
              </a:spcAft>
            </a:pPr>
            <a:r>
              <a:rPr sz="1600" b="0">
                <a:solidFill>
                  <a:srgbClr val="21201C"/>
                </a:solidFill>
                <a:latin typeface="Calibri"/>
              </a:rPr>
              <a:t>•  The handoff says decision requested, not decision approved.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WORD TO POWERPOINT AND OUTLOOK</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Create the Cross-App Maintenance Update</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the verified operations brief from Lab 1. You will turn it into an initial PowerPoint update, then prepare an Outlook reply to a synthetic maintenance thread.</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Northstar_Initial_Update.pptx, an unsent Outlook draft and an Evidence_Log with Excel, Word, PowerPoint and Outlook figures reconciled.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Four apps</a:t>
            </a:r>
          </a:p>
          <a:p>
            <a:pPr algn="l">
              <a:spcAft>
                <a:spcPts val="300"/>
              </a:spcAft>
            </a:pPr>
            <a:r>
              <a:rPr sz="1300" b="0">
                <a:solidFill>
                  <a:srgbClr val="6B6862"/>
                </a:solidFill>
                <a:latin typeface="Calibri"/>
              </a:rPr>
              <a:t>Excel Checks, Word brief, four-slide update and unsent Outlook draft share the same date and values.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Cross-app grounding</a:t>
            </a:r>
          </a:p>
          <a:p>
            <a:pPr algn="l">
              <a:spcAft>
                <a:spcPts val="300"/>
              </a:spcAft>
            </a:pPr>
            <a:r>
              <a:rPr sz="1300" b="0">
                <a:solidFill>
                  <a:srgbClr val="6B6862"/>
                </a:solidFill>
                <a:latin typeface="Calibri"/>
              </a:rPr>
              <a:t>Named file or pasted verified evidence is provided in each app; no assumed shared chat.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Draft boundary</a:t>
            </a:r>
          </a:p>
          <a:p>
            <a:pPr algn="l">
              <a:spcAft>
                <a:spcPts val="300"/>
              </a:spcAft>
            </a:pPr>
            <a:r>
              <a:rPr sz="1300" b="0">
                <a:solidFill>
                  <a:srgbClr val="6B6862"/>
                </a:solidFill>
                <a:latin typeface="Calibri"/>
              </a:rPr>
              <a:t>example.invalid recipient; nothing sent and no assignment approved.</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Fundamentals of Microsoft 365 Copilot</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LO1: Same work-order evidence across four apps.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120 clean IDs and reconciled brief/update/draft.</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Personalisation, .Rules and Skills for Excel</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Account preferences, workbook conventions and reusable methods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Personalisation, .Rules and Skills for Excel</a:t>
            </a:r>
          </a:p>
        </p:txBody>
      </p:sp>
      <p:sp>
        <p:nvSpPr>
          <p:cNvPr id="5" name="Rounded Rectangle 4"/>
          <p:cNvSpPr/>
          <p:nvPr/>
        </p:nvSpPr>
        <p:spPr>
          <a:xfrm>
            <a:off x="777240" y="1783080"/>
            <a:ext cx="3361944" cy="4370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4187952"/>
          </a:xfrm>
          <a:prstGeom prst="rect">
            <a:avLst/>
          </a:prstGeom>
          <a:noFill/>
        </p:spPr>
        <p:txBody>
          <a:bodyPr wrap="square" anchor="ctr">
            <a:spAutoFit/>
          </a:bodyPr>
          <a:lstStyle/>
          <a:p>
            <a:pPr algn="l">
              <a:spcAft>
                <a:spcPts val="300"/>
              </a:spcAft>
            </a:pPr>
            <a:r>
              <a:rPr sz="1800" b="1">
                <a:solidFill>
                  <a:srgbClr val="21201C"/>
                </a:solidFill>
                <a:latin typeface="Cambria"/>
              </a:rPr>
              <a:t>Personalisation</a:t>
            </a:r>
          </a:p>
          <a:p>
            <a:pPr algn="l">
              <a:spcAft>
                <a:spcPts val="300"/>
              </a:spcAft>
            </a:pPr>
            <a:r>
              <a:rPr sz="1400" b="0">
                <a:solidFill>
                  <a:srgbClr val="6B6862"/>
                </a:solidFill>
                <a:latin typeface="Calibri"/>
              </a:rPr>
              <a:t>Your account preferences, applied across every workbook.</a:t>
            </a:r>
          </a:p>
        </p:txBody>
      </p:sp>
      <p:sp>
        <p:nvSpPr>
          <p:cNvPr id="10" name="Rounded Rectangle 9"/>
          <p:cNvSpPr/>
          <p:nvPr/>
        </p:nvSpPr>
        <p:spPr>
          <a:xfrm>
            <a:off x="4413504" y="1783080"/>
            <a:ext cx="3361944" cy="4370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3694176"/>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4187952"/>
          </a:xfrm>
          <a:prstGeom prst="rect">
            <a:avLst/>
          </a:prstGeom>
          <a:noFill/>
        </p:spPr>
        <p:txBody>
          <a:bodyPr wrap="square" anchor="ctr">
            <a:spAutoFit/>
          </a:bodyPr>
          <a:lstStyle/>
          <a:p>
            <a:pPr algn="l">
              <a:spcAft>
                <a:spcPts val="300"/>
              </a:spcAft>
            </a:pPr>
            <a:r>
              <a:rPr sz="1800" b="1">
                <a:solidFill>
                  <a:srgbClr val="21201C"/>
                </a:solidFill>
                <a:latin typeface="Cambria"/>
              </a:rPr>
              <a:t>.Rules</a:t>
            </a:r>
          </a:p>
          <a:p>
            <a:pPr algn="l">
              <a:spcAft>
                <a:spcPts val="300"/>
              </a:spcAft>
            </a:pPr>
            <a:r>
              <a:rPr sz="1400" b="0">
                <a:solidFill>
                  <a:srgbClr val="6B6862"/>
                </a:solidFill>
                <a:latin typeface="Calibri"/>
              </a:rPr>
              <a:t>Visible column-A instructions that travel with the workbook.</a:t>
            </a:r>
          </a:p>
        </p:txBody>
      </p:sp>
      <p:sp>
        <p:nvSpPr>
          <p:cNvPr id="15" name="Rounded Rectangle 14"/>
          <p:cNvSpPr/>
          <p:nvPr/>
        </p:nvSpPr>
        <p:spPr>
          <a:xfrm>
            <a:off x="8049768" y="1783080"/>
            <a:ext cx="3361944" cy="4370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4187952"/>
          </a:xfrm>
          <a:prstGeom prst="rect">
            <a:avLst/>
          </a:prstGeom>
          <a:noFill/>
        </p:spPr>
        <p:txBody>
          <a:bodyPr wrap="square" anchor="ctr">
            <a:spAutoFit/>
          </a:bodyPr>
          <a:lstStyle/>
          <a:p>
            <a:pPr algn="l">
              <a:spcAft>
                <a:spcPts val="300"/>
              </a:spcAft>
            </a:pPr>
            <a:r>
              <a:rPr sz="1800" b="1">
                <a:solidFill>
                  <a:srgbClr val="21201C"/>
                </a:solidFill>
                <a:latin typeface="Cambria"/>
              </a:rPr>
              <a:t>Skills</a:t>
            </a:r>
          </a:p>
          <a:p>
            <a:pPr algn="l">
              <a:spcAft>
                <a:spcPts val="300"/>
              </a:spcAft>
            </a:pPr>
            <a:r>
              <a:rPr sz="1400" b="0">
                <a:solidFill>
                  <a:srgbClr val="6B6862"/>
                </a:solidFill>
                <a:latin typeface="Calibri"/>
              </a:rPr>
              <a:t>Reusable methods: built-in @chart-design, or your own SKILL.md such as Pareto and dashboard Skills.</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Personalisation, .Rules and Skills for Excel</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Labs 3–4</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Personalisation</a:t>
            </a:r>
          </a:p>
          <a:p>
            <a:pPr>
              <a:spcAft>
                <a:spcPts val="900"/>
              </a:spcAft>
            </a:pPr>
            <a:r>
              <a:rPr sz="1200" b="0">
                <a:solidFill>
                  <a:srgbClr val="6B6862"/>
                </a:solidFill>
                <a:latin typeface="Calibri"/>
              </a:rPr>
              <a:t>–  Personalise Copilot in Excel for Consistent Service Reports</a:t>
            </a:r>
          </a:p>
          <a:p>
            <a:pPr>
              <a:spcAft>
                <a:spcPts val="900"/>
              </a:spcAft>
            </a:pPr>
            <a:r>
              <a:rPr sz="1400" b="1">
                <a:solidFill>
                  <a:srgbClr val="21201C"/>
                </a:solidFill>
                <a:latin typeface="Calibri"/>
              </a:rPr>
              <a:t>•  Workbook .Rules</a:t>
            </a:r>
          </a:p>
          <a:p>
            <a:pPr>
              <a:spcAft>
                <a:spcPts val="900"/>
              </a:spcAft>
            </a:pPr>
            <a:r>
              <a:rPr sz="1200" b="0">
                <a:solidFill>
                  <a:srgbClr val="6B6862"/>
                </a:solidFill>
                <a:latin typeface="Calibri"/>
              </a:rPr>
              <a:t>–  Create and Test Workbook .Rules for Water Service Reporting</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Labs 5–6</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Custom Pareto Chart Skill</a:t>
            </a:r>
          </a:p>
          <a:p>
            <a:pPr>
              <a:spcAft>
                <a:spcPts val="900"/>
              </a:spcAft>
            </a:pPr>
            <a:r>
              <a:rPr sz="1200" b="0">
                <a:solidFill>
                  <a:srgbClr val="6B6862"/>
                </a:solidFill>
                <a:latin typeface="Calibri"/>
              </a:rPr>
              <a:t>–  Use the Built-in Chart Skill, then Create a Custom Pareto Skill</a:t>
            </a:r>
          </a:p>
          <a:p>
            <a:pPr>
              <a:spcAft>
                <a:spcPts val="900"/>
              </a:spcAft>
            </a:pPr>
            <a:r>
              <a:rPr sz="1400" b="1">
                <a:solidFill>
                  <a:srgbClr val="21201C"/>
                </a:solidFill>
                <a:latin typeface="Calibri"/>
              </a:rPr>
              <a:t>•  Reporting Skill</a:t>
            </a:r>
          </a:p>
          <a:p>
            <a:pPr>
              <a:spcAft>
                <a:spcPts val="900"/>
              </a:spcAft>
            </a:pPr>
            <a:r>
              <a:rPr sz="1200" b="0">
                <a:solidFill>
                  <a:srgbClr val="6B6862"/>
                </a:solidFill>
                <a:latin typeface="Calibri"/>
              </a:rPr>
              <a:t>–  Create, Use and Improve the Maintenance Reporting Skill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SCOPE COMPARISON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Four Scopes of Customisation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Personalisation: your account</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.Rules: this workbook</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Skill: repeated method</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Prompt: this request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Account Personalisation and Specific Requests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Copilot Personalisation stores account-level preferences for display, writing style and formula conventions.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Consistent S$ display and short explanations reduce repetitive requests without changing numeric values.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value of 35827.5 can display as S$35,827.50 or S$35,827.5000.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Account Personalisation and Specific Requests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recurring display preferences.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them to the account.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two workbook outputs.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a specific request and restore.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Account Personalisation and Specific Requests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Changing a number format does not change its numeric value.</a:t>
            </a:r>
          </a:p>
          <a:p>
            <a:pPr>
              <a:spcAft>
                <a:spcPts val="1000"/>
              </a:spcAft>
            </a:pPr>
            <a:r>
              <a:rPr sz="1600" b="0">
                <a:solidFill>
                  <a:srgbClr val="21201C"/>
                </a:solidFill>
                <a:latin typeface="Calibri"/>
              </a:rPr>
              <a:t>•  Another user opening the file does not receive your account preferences.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Personalise Copilot in Excel for Consistent Service Reports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Configure temporary account-level display and explanation preferences, test them in two copies of the same verified Northstar workbook, and distinguish preferences from workbook-specific definitions. A task-specific prompt can supersede Personalisation.</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Northstar_Personalisation_Test.xlsx, a two-workbook preference comparison and a private note confirming settings restored.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in Excel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Source controls</a:t>
            </a:r>
          </a:p>
          <a:p>
            <a:pPr algn="l">
              <a:spcAft>
                <a:spcPts val="300"/>
              </a:spcAft>
            </a:pPr>
            <a:r>
              <a:rPr sz="1300" b="0">
                <a:solidFill>
                  <a:srgbClr val="6B6862"/>
                </a:solidFill>
                <a:latin typeface="Calibri"/>
              </a:rPr>
              <a:t>Both copies retain120 unique IDs, original owners/statuses and exact cost 35827.50.</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Display check</a:t>
            </a:r>
          </a:p>
          <a:p>
            <a:pPr algn="l">
              <a:spcAft>
                <a:spcPts val="300"/>
              </a:spcAft>
            </a:pPr>
            <a:r>
              <a:rPr sz="1300" b="0">
                <a:solidFill>
                  <a:srgbClr val="6B6862"/>
                </a:solidFill>
                <a:latin typeface="Calibri"/>
              </a:rPr>
              <a:t>Saved S$ two-decimal/date/explanation preferences are checked in two workbooks; observed misses are recorded.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Specific request</a:t>
            </a:r>
          </a:p>
          <a:p>
            <a:pPr algn="l">
              <a:spcAft>
                <a:spcPts val="300"/>
              </a:spcAft>
            </a:pPr>
            <a:r>
              <a:rPr sz="1300" b="0">
                <a:solidFill>
                  <a:srgbClr val="6B6862"/>
                </a:solidFill>
                <a:latin typeface="Calibri"/>
              </a:rPr>
              <a:t>The output can show35,827.5000 without changing its value or the saved preferences.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Restoration</a:t>
            </a:r>
          </a:p>
          <a:p>
            <a:pPr algn="l">
              <a:spcAft>
                <a:spcPts val="300"/>
              </a:spcAft>
            </a:pPr>
            <a:r>
              <a:rPr sz="1300" b="0">
                <a:solidFill>
                  <a:srgbClr val="6B6862"/>
                </a:solidFill>
                <a:latin typeface="Calibri"/>
              </a:rPr>
              <a:t>Previous account preferences restored; private baseline note stays outside public courseware.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WORKBOOK MODEL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Visible .Rules: Instructions Travel with the Workbook</a:t>
            </a:r>
          </a:p>
        </p:txBody>
      </p:sp>
      <p:sp>
        <p:nvSpPr>
          <p:cNvPr id="5" name="Rounded Rectangle 4"/>
          <p:cNvSpPr/>
          <p:nvPr/>
        </p:nvSpPr>
        <p:spPr>
          <a:xfrm>
            <a:off x="822960" y="182880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1005840" y="192024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A1</a:t>
            </a:r>
          </a:p>
        </p:txBody>
      </p:sp>
      <p:sp>
        <p:nvSpPr>
          <p:cNvPr id="7" name="TextBox 6"/>
          <p:cNvSpPr txBox="1"/>
          <p:nvPr/>
        </p:nvSpPr>
        <p:spPr>
          <a:xfrm>
            <a:off x="2286000" y="192024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Northstar reporting conventions</a:t>
            </a:r>
          </a:p>
        </p:txBody>
      </p:sp>
      <p:sp>
        <p:nvSpPr>
          <p:cNvPr id="8" name="Rounded Rectangle 7"/>
          <p:cNvSpPr/>
          <p:nvPr/>
        </p:nvSpPr>
        <p:spPr>
          <a:xfrm>
            <a:off x="822960" y="260604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1005840" y="269748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A2</a:t>
            </a:r>
          </a:p>
        </p:txBody>
      </p:sp>
      <p:sp>
        <p:nvSpPr>
          <p:cNvPr id="10" name="TextBox 9"/>
          <p:cNvSpPr txBox="1"/>
          <p:nvPr/>
        </p:nvSpPr>
        <p:spPr>
          <a:xfrm>
            <a:off x="2286000" y="269748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Preserve original IDs and current owners</a:t>
            </a:r>
          </a:p>
        </p:txBody>
      </p:sp>
      <p:sp>
        <p:nvSpPr>
          <p:cNvPr id="11" name="Rounded Rectangle 10"/>
          <p:cNvSpPr/>
          <p:nvPr/>
        </p:nvSpPr>
        <p:spPr>
          <a:xfrm>
            <a:off x="822960" y="338328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1005840" y="347472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A3</a:t>
            </a:r>
          </a:p>
        </p:txBody>
      </p:sp>
      <p:sp>
        <p:nvSpPr>
          <p:cNvPr id="13" name="TextBox 12"/>
          <p:cNvSpPr txBox="1"/>
          <p:nvPr/>
        </p:nvSpPr>
        <p:spPr>
          <a:xfrm>
            <a:off x="2286000" y="347472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Backlog excludes Closed and Cancelled</a:t>
            </a:r>
          </a:p>
        </p:txBody>
      </p:sp>
      <p:sp>
        <p:nvSpPr>
          <p:cNvPr id="14" name="Rounded Rectangle 13"/>
          <p:cNvSpPr/>
          <p:nvPr/>
        </p:nvSpPr>
        <p:spPr>
          <a:xfrm>
            <a:off x="822960" y="416052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1005840" y="4251959"/>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A4</a:t>
            </a:r>
          </a:p>
        </p:txBody>
      </p:sp>
      <p:sp>
        <p:nvSpPr>
          <p:cNvPr id="16" name="TextBox 15"/>
          <p:cNvSpPr txBox="1"/>
          <p:nvPr/>
        </p:nvSpPr>
        <p:spPr>
          <a:xfrm>
            <a:off x="2286000" y="4251959"/>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Reporting date: 2026-09-30</a:t>
            </a:r>
          </a:p>
        </p:txBody>
      </p:sp>
      <p:sp>
        <p:nvSpPr>
          <p:cNvPr id="17" name="TextBox 16"/>
          <p:cNvSpPr txBox="1"/>
          <p:nvPr/>
        </p:nvSpPr>
        <p:spPr>
          <a:xfrm>
            <a:off x="914400" y="5212080"/>
            <a:ext cx="10058400" cy="411480"/>
          </a:xfrm>
          <a:prstGeom prst="rect">
            <a:avLst/>
          </a:prstGeom>
          <a:noFill/>
        </p:spPr>
        <p:txBody>
          <a:bodyPr wrap="square" anchor="t">
            <a:spAutoFit/>
          </a:bodyPr>
          <a:lstStyle/>
          <a:p>
            <a:pPr algn="l">
              <a:spcAft>
                <a:spcPts val="400"/>
              </a:spcAft>
            </a:pPr>
            <a:r>
              <a:rPr sz="1800" b="0">
                <a:solidFill>
                  <a:srgbClr val="21201C"/>
                </a:solidFill>
                <a:latin typeface="Calibri"/>
              </a:rPr>
              <a:t>Formula rule reads Control!B2; Copilot uses the recalculated result on the next request.</a:t>
            </a:r>
          </a:p>
        </p:txBody>
      </p:sp>
      <p:sp>
        <p:nvSpPr>
          <p:cNvPr id="18" name="TextBox 17"/>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19" name="TextBox 1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0" name="TextBox 1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1" name="TextBox 2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Visible Workbook .Rules and Formula Results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worksheet named exactly .Rules, including the dot, supplies workbook-specific Copilot instructions in column 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workbook can carry stable scope, status, cost-display and preservation instructions alongside the source.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date rule returns Reporting date: 2026-09-30 from Control!B2.</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Visible Workbook .Rules and Formula Results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the visible sheet exactly .Rules.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Place one instruction per column-A cell.</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Recalculate a formula-driven rule.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Check the next output and copied workbook.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Visible Workbook .Rules and Formula Results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Hidden .Rules is not used; keep the final sheet visible.</a:t>
            </a:r>
          </a:p>
          <a:p>
            <a:pPr>
              <a:spcAft>
                <a:spcPts val="1000"/>
              </a:spcAft>
            </a:pPr>
            <a:r>
              <a:rPr sz="1600" b="0">
                <a:solidFill>
                  <a:srgbClr val="21201C"/>
                </a:solidFill>
                <a:latin typeface="Calibri"/>
              </a:rPr>
              <a:t>•  No universal precedence among rules, preferences and Skills is assumed.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Create and Test Workbook .Rules for Water Service Reporting</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Turn Northstar’s workbook conventions into a visible .Rules worksheet. Keep one rule per cell in column A, include a formula-driven reporting-date rule, test the output, and verify that the sheet travels with a copied workbook.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Northstar_Rules_Workbook.xlsx with visible .Rules column A, a checked Rules_Test output and a copied-workbook sharing check.</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in Excel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Recognition</a:t>
            </a:r>
          </a:p>
          <a:p>
            <a:pPr algn="l">
              <a:spcAft>
                <a:spcPts val="300"/>
              </a:spcAft>
            </a:pPr>
            <a:r>
              <a:rPr sz="1300" b="0">
                <a:solidFill>
                  <a:srgbClr val="6B6862"/>
                </a:solidFill>
                <a:latin typeface="Calibri"/>
              </a:rPr>
              <a:t>Exactly .Rules; visible worksheet; instructions in column A, one idea per cell.</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Formula rule</a:t>
            </a:r>
          </a:p>
          <a:p>
            <a:pPr algn="l">
              <a:spcAft>
                <a:spcPts val="300"/>
              </a:spcAft>
            </a:pPr>
            <a:r>
              <a:rPr sz="1300" b="0">
                <a:solidFill>
                  <a:srgbClr val="6B6862"/>
                </a:solidFill>
                <a:latin typeface="Calibri"/>
              </a:rPr>
              <a:t>Reporting-date formula recalculates and displays2026-09-30; no source values changed.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Output controls</a:t>
            </a:r>
          </a:p>
          <a:p>
            <a:pPr algn="l">
              <a:spcAft>
                <a:spcPts val="300"/>
              </a:spcAft>
            </a:pPr>
            <a:r>
              <a:rPr sz="1300" b="0">
                <a:solidFill>
                  <a:srgbClr val="6B6862"/>
                </a:solidFill>
                <a:latin typeface="Calibri"/>
              </a:rPr>
              <a:t>120 total;60 backlog;50 overdue;30/48 on-time;S$35,827.50 at All scope.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Workbook copy</a:t>
            </a:r>
          </a:p>
          <a:p>
            <a:pPr algn="l">
              <a:spcAft>
                <a:spcPts val="300"/>
              </a:spcAft>
            </a:pPr>
            <a:r>
              <a:rPr sz="1300" b="0">
                <a:solidFill>
                  <a:srgbClr val="6B6862"/>
                </a:solidFill>
                <a:latin typeface="Calibri"/>
              </a:rPr>
              <a:t>Visible .Rules travels with the copy; account preferences are not exported.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NATIVE EDITABLE PARETO EVIDENCE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Overdue Contribution: 50 Work Orders, Five Categories</a:t>
            </a:r>
          </a:p>
        </p:txBody>
      </p:sp>
      <p:graphicFrame>
        <p:nvGraphicFramePr>
          <p:cNvPr id="5" name="Chart 4"/>
          <p:cNvGraphicFramePr>
            <a:graphicFrameLocks noGrp="1"/>
          </p:cNvGraphicFramePr>
          <p:nvPr/>
        </p:nvGraphicFramePr>
        <p:xfrm>
          <a:off x="822960" y="1828800"/>
          <a:ext cx="5029200" cy="356616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217920" y="1828800"/>
          <a:ext cx="5029200" cy="3566160"/>
        </p:xfrm>
        <a:graphic>
          <a:graphicData uri="http://schemas.openxmlformats.org/drawingml/2006/chart">
            <c:chart xmlns:c="http://schemas.openxmlformats.org/drawingml/2006/chart" r:id="rId3"/>
          </a:graphicData>
        </a:graphic>
      </p:graphicFrame>
      <p:sp>
        <p:nvSpPr>
          <p:cNvPr id="7" name="TextBox 6"/>
          <p:cNvSpPr txBox="1"/>
          <p:nvPr/>
        </p:nvSpPr>
        <p:spPr>
          <a:xfrm>
            <a:off x="914400" y="5486400"/>
            <a:ext cx="10058400" cy="365760"/>
          </a:xfrm>
          <a:prstGeom prst="rect">
            <a:avLst/>
          </a:prstGeom>
          <a:noFill/>
        </p:spPr>
        <p:txBody>
          <a:bodyPr wrap="square" anchor="t">
            <a:spAutoFit/>
          </a:bodyPr>
          <a:lstStyle/>
          <a:p>
            <a:pPr algn="l">
              <a:spcAft>
                <a:spcPts val="400"/>
              </a:spcAft>
            </a:pPr>
            <a:r>
              <a:rPr sz="1700" b="0">
                <a:solidFill>
                  <a:srgbClr val="21201C"/>
                </a:solidFill>
                <a:latin typeface="Calibri"/>
              </a:rPr>
              <a:t>Four categories first reach 80%. Equal counts use alphabetical ties. Contribution is not cause.</a:t>
            </a:r>
          </a:p>
        </p:txBody>
      </p:sp>
      <p:sp>
        <p:nvSpPr>
          <p:cNvPr id="8" name="TextBox 7"/>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Built-in and Custom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in Excel ships with built-in skills you call with @, such as @chart-design for charts.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with a built-in skill when the task is generic, such as making a clear chart.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@chart-design draws a clean overdue-by-category bar chart.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Built-in and Custom Skills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Turn on chart-design under Visualization.</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Call @chart-design for a generic chart.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Spot the rules it cannot know.</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a custom SKILL.md for those rules.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Apply the Concept — Built-in and Custom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It does not know the overdue population or Pareto tie order.</a:t>
            </a:r>
          </a:p>
          <a:p>
            <a:pPr>
              <a:spcAft>
                <a:spcPts val="1000"/>
              </a:spcAft>
            </a:pPr>
            <a:r>
              <a:rPr sz="1600" b="0">
                <a:solidFill>
                  <a:srgbClr val="21201C"/>
                </a:solidFill>
                <a:latin typeface="Calibri"/>
              </a:rPr>
              <a:t>•  water-service-pareto adds the cumulative line and named output.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Pareto Skill: Counts, Sorting and Cumulative Share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Pareto contribution chart orders category counts from largest to smallest and adds a cumulative-percentage line.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Skill turns a recurring grouping-and-charting method into reusable instructions.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Pump 18; Meter 12; Leak 8; Valve 8; Pipe 4: total 50.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Pareto Skill: Counts, Sorting and Cumulative Share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source, population, date and grouping.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Count and sort with stable ties.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Calculate cumulative count / eligible total.</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Build and verify an editable dual-axis chart.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Pareto Skill: Counts, Sorting and Cumulative Share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Cumulative percentages are 36%, 60%, 76%, 92%, 100%.</a:t>
            </a:r>
          </a:p>
          <a:p>
            <a:pPr>
              <a:spcAft>
                <a:spcPts val="1000"/>
              </a:spcAft>
            </a:pPr>
            <a:r>
              <a:rPr sz="1600" b="0">
                <a:solidFill>
                  <a:srgbClr val="21201C"/>
                </a:solidFill>
                <a:latin typeface="Calibri"/>
              </a:rPr>
              <a:t>•  Four of five categories first reach 80%; do not force an 80/20 conclusion.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CUSTOM PARETO CHART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Use the Built-in Chart Skill, then Create a Custom Pareto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Start with Excel’s built-in @chart-design skill, then author water-service-pareto/SKILL.md with Copilot, install it in Excel and apply it to the same overdue work-order queue. Build a descending count chart plus cumulative-percentage line, then check a controlled rerun and a second grouping.</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water-service-pareto/SKILL.md, Northstar_Pareto.xlsx with Pareto_Job_Category and Pareto_Site, and a verified rerun record.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Built-in skill</a:t>
            </a:r>
          </a:p>
          <a:p>
            <a:pPr algn="l">
              <a:spcAft>
                <a:spcPts val="300"/>
              </a:spcAft>
            </a:pPr>
            <a:r>
              <a:rPr sz="1300" b="0">
                <a:solidFill>
                  <a:srgbClr val="6B6862"/>
                </a:solidFill>
                <a:latin typeface="Calibri"/>
              </a:rPr>
              <a:t>chart-design enabled under Visualization; @chart-design demo chart created without changing the source.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Eligible population</a:t>
            </a:r>
          </a:p>
          <a:p>
            <a:pPr algn="l">
              <a:spcAft>
                <a:spcPts val="300"/>
              </a:spcAft>
            </a:pPr>
            <a:r>
              <a:rPr sz="1300" b="0">
                <a:solidFill>
                  <a:srgbClr val="6B6862"/>
                </a:solidFill>
                <a:latin typeface="Calibri"/>
              </a:rPr>
              <a:t>Overdue backlog50; no Closed or Cancelled records included.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Category counts</a:t>
            </a:r>
          </a:p>
          <a:p>
            <a:pPr algn="l">
              <a:spcAft>
                <a:spcPts val="300"/>
              </a:spcAft>
            </a:pPr>
            <a:r>
              <a:rPr sz="1300" b="0">
                <a:solidFill>
                  <a:srgbClr val="6B6862"/>
                </a:solidFill>
                <a:latin typeface="Calibri"/>
              </a:rPr>
              <a:t>Pump Service=18; Meter Service=12; Leak Repair=8; Valve Repair=8; Pipe Replacement=4</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Cumulative percentages</a:t>
            </a:r>
          </a:p>
          <a:p>
            <a:pPr algn="l">
              <a:spcAft>
                <a:spcPts val="300"/>
              </a:spcAft>
            </a:pPr>
            <a:r>
              <a:rPr sz="1300" b="0">
                <a:solidFill>
                  <a:srgbClr val="6B6862"/>
                </a:solidFill>
                <a:latin typeface="Calibri"/>
              </a:rPr>
              <a:t>36%,60%,76%,92%,100%; Leak Repair precedes Valve Repair in the8-count tie.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 and rerun</a:t>
            </a:r>
          </a:p>
          <a:p>
            <a:pPr algn="l">
              <a:spcAft>
                <a:spcPts val="300"/>
              </a:spcAft>
            </a:pPr>
            <a:r>
              <a:rPr sz="1300" b="0">
                <a:solidFill>
                  <a:srgbClr val="6B6862"/>
                </a:solidFill>
                <a:latin typeface="Calibri"/>
              </a:rPr>
              <a:t>Editable columns plus cumulative line; right axis0%-100%; matching output replaced only after review, without duplicates.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Source and interpretation</a:t>
            </a:r>
          </a:p>
          <a:p>
            <a:pPr algn="l">
              <a:spcAft>
                <a:spcPts val="300"/>
              </a:spcAft>
            </a:pPr>
            <a:r>
              <a:rPr sz="1300" b="0">
                <a:solidFill>
                  <a:srgbClr val="6B6862"/>
                </a:solidFill>
                <a:latin typeface="Calibri"/>
              </a:rPr>
              <a:t>120 original records preserved; Site grouping also totals50; no invented root cause.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SKILL CONTRACT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Anatomy of the Maintenance Skill</a:t>
            </a:r>
          </a:p>
        </p:txBody>
      </p:sp>
      <p:sp>
        <p:nvSpPr>
          <p:cNvPr id="5" name="Rounded Rectangle 4"/>
          <p:cNvSpPr/>
          <p:nvPr/>
        </p:nvSpPr>
        <p:spPr>
          <a:xfrm>
            <a:off x="777240" y="1645920"/>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14400" y="1755648"/>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Discovery</a:t>
            </a:r>
          </a:p>
        </p:txBody>
      </p:sp>
      <p:sp>
        <p:nvSpPr>
          <p:cNvPr id="7" name="TextBox 6"/>
          <p:cNvSpPr txBox="1"/>
          <p:nvPr/>
        </p:nvSpPr>
        <p:spPr>
          <a:xfrm>
            <a:off x="3108960" y="1755648"/>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name + description</a:t>
            </a:r>
          </a:p>
        </p:txBody>
      </p:sp>
      <p:sp>
        <p:nvSpPr>
          <p:cNvPr id="8" name="TextBox 7"/>
          <p:cNvSpPr txBox="1"/>
          <p:nvPr/>
        </p:nvSpPr>
        <p:spPr>
          <a:xfrm>
            <a:off x="7315200" y="1755648"/>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When should Copilot use it?</a:t>
            </a:r>
          </a:p>
        </p:txBody>
      </p:sp>
      <p:sp>
        <p:nvSpPr>
          <p:cNvPr id="9" name="Rounded Rectangle 8"/>
          <p:cNvSpPr/>
          <p:nvPr/>
        </p:nvSpPr>
        <p:spPr>
          <a:xfrm>
            <a:off x="777240" y="2432304"/>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TextBox 9"/>
          <p:cNvSpPr txBox="1"/>
          <p:nvPr/>
        </p:nvSpPr>
        <p:spPr>
          <a:xfrm>
            <a:off x="914400" y="2542032"/>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Input guard</a:t>
            </a:r>
          </a:p>
        </p:txBody>
      </p:sp>
      <p:sp>
        <p:nvSpPr>
          <p:cNvPr id="11" name="TextBox 10"/>
          <p:cNvSpPr txBox="1"/>
          <p:nvPr/>
        </p:nvSpPr>
        <p:spPr>
          <a:xfrm>
            <a:off x="3108960" y="2542032"/>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table or snapshot + date + scope</a:t>
            </a:r>
          </a:p>
        </p:txBody>
      </p:sp>
      <p:sp>
        <p:nvSpPr>
          <p:cNvPr id="12" name="TextBox 11"/>
          <p:cNvSpPr txBox="1"/>
          <p:nvPr/>
        </p:nvSpPr>
        <p:spPr>
          <a:xfrm>
            <a:off x="7315200" y="2542032"/>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What evidence is missing?</a:t>
            </a:r>
          </a:p>
        </p:txBody>
      </p:sp>
      <p:sp>
        <p:nvSpPr>
          <p:cNvPr id="13" name="Rounded Rectangle 12"/>
          <p:cNvSpPr/>
          <p:nvPr/>
        </p:nvSpPr>
        <p:spPr>
          <a:xfrm>
            <a:off x="777240" y="3218688"/>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TextBox 13"/>
          <p:cNvSpPr txBox="1"/>
          <p:nvPr/>
        </p:nvSpPr>
        <p:spPr>
          <a:xfrm>
            <a:off x="914400" y="3328416"/>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Method</a:t>
            </a:r>
          </a:p>
        </p:txBody>
      </p:sp>
      <p:sp>
        <p:nvSpPr>
          <p:cNvPr id="15" name="TextBox 14"/>
          <p:cNvSpPr txBox="1"/>
          <p:nvPr/>
        </p:nvSpPr>
        <p:spPr>
          <a:xfrm>
            <a:off x="3108960" y="3328416"/>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definitions + source preservation</a:t>
            </a:r>
          </a:p>
        </p:txBody>
      </p:sp>
      <p:sp>
        <p:nvSpPr>
          <p:cNvPr id="16" name="TextBox 15"/>
          <p:cNvSpPr txBox="1"/>
          <p:nvPr/>
        </p:nvSpPr>
        <p:spPr>
          <a:xfrm>
            <a:off x="7315200" y="3328416"/>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How should measures be calculated?</a:t>
            </a:r>
          </a:p>
        </p:txBody>
      </p:sp>
      <p:sp>
        <p:nvSpPr>
          <p:cNvPr id="17" name="Rounded Rectangle 16"/>
          <p:cNvSpPr/>
          <p:nvPr/>
        </p:nvSpPr>
        <p:spPr>
          <a:xfrm>
            <a:off x="777240" y="4005072"/>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914400" y="4114800"/>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Outputs</a:t>
            </a:r>
          </a:p>
        </p:txBody>
      </p:sp>
      <p:sp>
        <p:nvSpPr>
          <p:cNvPr id="19" name="TextBox 18"/>
          <p:cNvSpPr txBox="1"/>
          <p:nvPr/>
        </p:nvSpPr>
        <p:spPr>
          <a:xfrm>
            <a:off x="3108960" y="4114800"/>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summary / charts / proposals</a:t>
            </a:r>
          </a:p>
        </p:txBody>
      </p:sp>
      <p:sp>
        <p:nvSpPr>
          <p:cNvPr id="20" name="TextBox 19"/>
          <p:cNvSpPr txBox="1"/>
          <p:nvPr/>
        </p:nvSpPr>
        <p:spPr>
          <a:xfrm>
            <a:off x="7315200" y="4114800"/>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Which named areas may change?</a:t>
            </a:r>
          </a:p>
        </p:txBody>
      </p:sp>
      <p:sp>
        <p:nvSpPr>
          <p:cNvPr id="21" name="Rounded Rectangle 20"/>
          <p:cNvSpPr/>
          <p:nvPr/>
        </p:nvSpPr>
        <p:spPr>
          <a:xfrm>
            <a:off x="777240" y="4791456"/>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2" name="TextBox 21"/>
          <p:cNvSpPr txBox="1"/>
          <p:nvPr/>
        </p:nvSpPr>
        <p:spPr>
          <a:xfrm>
            <a:off x="914400" y="4901184"/>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Verification</a:t>
            </a:r>
          </a:p>
        </p:txBody>
      </p:sp>
      <p:sp>
        <p:nvSpPr>
          <p:cNvPr id="23" name="TextBox 22"/>
          <p:cNvSpPr txBox="1"/>
          <p:nvPr/>
        </p:nvSpPr>
        <p:spPr>
          <a:xfrm>
            <a:off x="3108960" y="4901184"/>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counts + denominators + reruns</a:t>
            </a:r>
          </a:p>
        </p:txBody>
      </p:sp>
      <p:sp>
        <p:nvSpPr>
          <p:cNvPr id="24" name="TextBox 23"/>
          <p:cNvSpPr txBox="1"/>
          <p:nvPr/>
        </p:nvSpPr>
        <p:spPr>
          <a:xfrm>
            <a:off x="7315200" y="4901184"/>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What proves the result?</a:t>
            </a:r>
          </a:p>
        </p:txBody>
      </p:sp>
      <p:sp>
        <p:nvSpPr>
          <p:cNvPr id="25" name="TextBox 24"/>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26" name="TextBox 25"/>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7" name="TextBox 26"/>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8" name="TextBox 27"/>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REPEATABLE IMPROVEMENT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Skill Improves Through Evidence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v1 instructions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on verified inputs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Find one concrete defect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v2 + repeat the check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Prompts and Workbook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prompt is one request.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skill makes stable definitions and review boundaries reusable: backlog excludes two terminal statuses, overdue uses a fixed date, missing owners stay missing and output reruns do not duplicate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maintenance-reporting contains definitions and output boundaries.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Prompts and Workbook Rules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a recurring task.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Separate stable rules from current inputs.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name, description and instructions.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Install, invoke and inspect the result.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Skills, Prompts and Workbook Rules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Each request still supplies this month’s source, date and scope.</a:t>
            </a:r>
          </a:p>
          <a:p>
            <a:pPr>
              <a:spcAft>
                <a:spcPts val="1000"/>
              </a:spcAft>
            </a:pPr>
            <a:r>
              <a:rPr sz="1600" b="0">
                <a:solidFill>
                  <a:srgbClr val="21201C"/>
                </a:solidFill>
                <a:latin typeface="Calibri"/>
              </a:rPr>
              <a:t>•  Native skill use and pasted manual instructions are recorded differently.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 Discovery in Each App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uses its Manage plugins &amp; skills interface and an app-created OneDrive skills folder.</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Folder-name/frontmatter mismatches, an extra .txt extension, unavailable licence features and disabled skills can all prevent discovery.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maintenance-reporting matches YAML name maintenance-reporting.</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 Discovery in Each App</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complete UTF-8 SKILL.md.</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Use the app-created skills location.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Refresh and verify the matching name.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and record a smoke test.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Custom Skill Discovery in Each App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Excel and PowerPoint both show the skill before native invocation.</a:t>
            </a:r>
          </a:p>
          <a:p>
            <a:pPr>
              <a:spcAft>
                <a:spcPts val="1000"/>
              </a:spcAft>
            </a:pPr>
            <a:r>
              <a:rPr sz="1600" b="0">
                <a:solidFill>
                  <a:srgbClr val="21201C"/>
                </a:solidFill>
                <a:latin typeface="Calibri"/>
              </a:rPr>
              <a:t>•  If a menu is absent, manual practice is labelled feature unavailable.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Repeatability and Safe Skill Reruns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Repeatability means the same verified inputs and method yield equivalent business measures and a controlled output structure.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Reporting skills may be used every week or month, so uncontrolled output accumulation quickly creates conflicting summaries.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120 source IDs remain 120 after rerunning Maintenance_Summary.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Repeatability and Safe Skill Reruns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Capture the source fingerprint and outputs.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Request a reviewed rerun plan.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Replace only named output areas.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source and measures again.</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Repeatability and Safe Skill Reruns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Missing report date causes a clarification request, not invented numbers.</a:t>
            </a:r>
          </a:p>
          <a:p>
            <a:pPr>
              <a:spcAft>
                <a:spcPts val="1000"/>
              </a:spcAft>
            </a:pPr>
            <a:r>
              <a:rPr sz="1600" b="0">
                <a:solidFill>
                  <a:srgbClr val="21201C"/>
                </a:solidFill>
                <a:latin typeface="Calibri"/>
              </a:rPr>
              <a:t>•  A second output sheet is a defect when replacement was requested.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Assignment Proposals and Capacity Evidence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Assignment planning combines the work category, existing owner, estimated hours, technician primary category and available hours.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same skill can improve Excel analysis and PowerPoint wording by preserving this boundary.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Unassigned work is counted only within nonterminal statuses.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Assignment Proposals and Capacity Evidence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unassigned backlog.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category and available hours.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the proposal and assumptions.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Request the manager decision.</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Assignment Proposals and Capacity Evidence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Available hours minus proposed effort is a planning check.</a:t>
            </a:r>
          </a:p>
          <a:p>
            <a:pPr>
              <a:spcAft>
                <a:spcPts val="1000"/>
              </a:spcAft>
            </a:pPr>
            <a:r>
              <a:rPr sz="1600" b="0">
                <a:solidFill>
                  <a:srgbClr val="21201C"/>
                </a:solidFill>
                <a:latin typeface="Calibri"/>
              </a:rPr>
              <a:t>•  The source Assigned_To stays unchanged until a real authorised operational update.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REPORTING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Create, Use and Improve the Maintenance Reporting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Reuse the Skill-authoring and installation method from Lab 5 to create maintenance-reporting. Apply it in Excel and PowerPoint, test missing inputs and a controlled rerun, then refine v2 using actual evidence.</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Northstar_Skill_Report.xlsx with Maintenance_Summary and Assignment_Proposals, Northstar_Skill_Update.pptx, SKILL.md v2 and a before/after improvement log.</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and PowerPoint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Source preserved</a:t>
            </a:r>
          </a:p>
          <a:p>
            <a:pPr algn="l">
              <a:spcAft>
                <a:spcPts val="300"/>
              </a:spcAft>
            </a:pPr>
            <a:r>
              <a:rPr sz="1300" b="0">
                <a:solidFill>
                  <a:srgbClr val="6B6862"/>
                </a:solidFill>
                <a:latin typeface="Calibri"/>
              </a:rPr>
              <a:t>120 unique orders; current owner/status unchanged.</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 outputs</a:t>
            </a:r>
          </a:p>
          <a:p>
            <a:pPr algn="l">
              <a:spcAft>
                <a:spcPts val="300"/>
              </a:spcAft>
            </a:pPr>
            <a:r>
              <a:rPr sz="1300" b="0">
                <a:solidFill>
                  <a:srgbClr val="6B6862"/>
                </a:solidFill>
                <a:latin typeface="Calibri"/>
              </a:rPr>
              <a:t>Backlog 60; overdue 50; on-time closed 30/48; cost S$35,827.50.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Improvement evidence</a:t>
            </a:r>
          </a:p>
          <a:p>
            <a:pPr algn="l">
              <a:spcAft>
                <a:spcPts val="300"/>
              </a:spcAft>
            </a:pPr>
            <a:r>
              <a:rPr sz="1300" b="0">
                <a:solidFill>
                  <a:srgbClr val="6B6862"/>
                </a:solidFill>
                <a:latin typeface="Calibri"/>
              </a:rPr>
              <a:t>Input guard and rerun tested; v1/v2 retained; PowerPoint four-slide output accurate.</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Recap - Personalisation, .Rules and Skills for Excel</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LO2: Personalisation, .Rules, built-in @chart-design, Pareto and reporting Skills tested.</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Preserved source plus missing-input and rerun tests.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Custom Skills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Create the Skill, build the dashboard and prove interactions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Interactive Dashboards with Custom Skills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Measures</a:t>
            </a:r>
          </a:p>
          <a:p>
            <a:pPr algn="l">
              <a:spcAft>
                <a:spcPts val="300"/>
              </a:spcAft>
            </a:pPr>
            <a:r>
              <a:rPr sz="1400" b="0">
                <a:solidFill>
                  <a:srgbClr val="6B6862"/>
                </a:solidFill>
                <a:latin typeface="Calibri"/>
              </a:rPr>
              <a:t>Six formula KPIs with clear denominators and N/A rules.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Visual design</a:t>
            </a:r>
          </a:p>
          <a:p>
            <a:pPr algn="l">
              <a:spcAft>
                <a:spcPts val="300"/>
              </a:spcAft>
            </a:pPr>
            <a:r>
              <a:rPr sz="1400" b="0">
                <a:solidFill>
                  <a:srgbClr val="6B6862"/>
                </a:solidFill>
                <a:latin typeface="Calibri"/>
              </a:rPr>
              <a:t>KPI tiles and charts whose titles state the finding.</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Interactions</a:t>
            </a:r>
          </a:p>
          <a:p>
            <a:pPr algn="l">
              <a:spcAft>
                <a:spcPts val="300"/>
              </a:spcAft>
            </a:pPr>
            <a:r>
              <a:rPr sz="1400" b="0">
                <a:solidFill>
                  <a:srgbClr val="6B6862"/>
                </a:solidFill>
                <a:latin typeface="Calibri"/>
              </a:rPr>
              <a:t>Dropdowns and slicers filter every tile and chart.</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Refresh</a:t>
            </a:r>
          </a:p>
          <a:p>
            <a:pPr algn="l">
              <a:spcAft>
                <a:spcPts val="300"/>
              </a:spcAft>
            </a:pPr>
            <a:r>
              <a:rPr sz="1400" b="0">
                <a:solidFill>
                  <a:srgbClr val="6B6862"/>
                </a:solidFill>
                <a:latin typeface="Calibri"/>
              </a:rPr>
              <a:t>Known deltas in an isolated test copy.</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Interactive Dashboards with Custom Skills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Custom Dashboard Skill</a:t>
            </a:r>
          </a:p>
          <a:p>
            <a:pPr>
              <a:spcAft>
                <a:spcPts val="900"/>
              </a:spcAft>
            </a:pPr>
            <a:r>
              <a:rPr sz="1200" b="0">
                <a:solidFill>
                  <a:srgbClr val="6B6862"/>
                </a:solidFill>
                <a:latin typeface="Calibri"/>
              </a:rPr>
              <a:t>–  Create and Apply a Custom Interactive Dashboard Skill</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Filters and Refresh</a:t>
            </a:r>
          </a:p>
          <a:p>
            <a:pPr>
              <a:spcAft>
                <a:spcPts val="900"/>
              </a:spcAft>
            </a:pPr>
            <a:r>
              <a:rPr sz="1200" b="0">
                <a:solidFill>
                  <a:srgbClr val="6B6862"/>
                </a:solidFill>
                <a:latin typeface="Calibri"/>
              </a:rPr>
              <a:t>–  Use the Dashboard Skill for Filters, Refresh and Safe Reruns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WORKED DASHBOARD SNAPSHOT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Northstar Portfolio at a Glance</a:t>
            </a:r>
          </a:p>
        </p:txBody>
      </p:sp>
      <p:sp>
        <p:nvSpPr>
          <p:cNvPr id="5" name="Rounded Rectangle 4"/>
          <p:cNvSpPr/>
          <p:nvPr/>
        </p:nvSpPr>
        <p:spPr>
          <a:xfrm>
            <a:off x="7772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41832"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Total orders</a:t>
            </a:r>
          </a:p>
        </p:txBody>
      </p:sp>
      <p:sp>
        <p:nvSpPr>
          <p:cNvPr id="7" name="TextBox 6"/>
          <p:cNvSpPr txBox="1"/>
          <p:nvPr/>
        </p:nvSpPr>
        <p:spPr>
          <a:xfrm>
            <a:off x="941832"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120</a:t>
            </a:r>
          </a:p>
        </p:txBody>
      </p:sp>
      <p:sp>
        <p:nvSpPr>
          <p:cNvPr id="8" name="Rounded Rectangle 7"/>
          <p:cNvSpPr/>
          <p:nvPr/>
        </p:nvSpPr>
        <p:spPr>
          <a:xfrm>
            <a:off x="44348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4599431"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Backlog</a:t>
            </a:r>
          </a:p>
        </p:txBody>
      </p:sp>
      <p:sp>
        <p:nvSpPr>
          <p:cNvPr id="10" name="TextBox 9"/>
          <p:cNvSpPr txBox="1"/>
          <p:nvPr/>
        </p:nvSpPr>
        <p:spPr>
          <a:xfrm>
            <a:off x="4599431"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60</a:t>
            </a:r>
          </a:p>
        </p:txBody>
      </p:sp>
      <p:sp>
        <p:nvSpPr>
          <p:cNvPr id="11" name="Rounded Rectangle 10"/>
          <p:cNvSpPr/>
          <p:nvPr/>
        </p:nvSpPr>
        <p:spPr>
          <a:xfrm>
            <a:off x="80924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257031"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Overdue</a:t>
            </a:r>
          </a:p>
        </p:txBody>
      </p:sp>
      <p:sp>
        <p:nvSpPr>
          <p:cNvPr id="13" name="TextBox 12"/>
          <p:cNvSpPr txBox="1"/>
          <p:nvPr/>
        </p:nvSpPr>
        <p:spPr>
          <a:xfrm>
            <a:off x="8257031"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50</a:t>
            </a:r>
          </a:p>
        </p:txBody>
      </p:sp>
      <p:sp>
        <p:nvSpPr>
          <p:cNvPr id="14" name="Rounded Rectangle 13"/>
          <p:cNvSpPr/>
          <p:nvPr/>
        </p:nvSpPr>
        <p:spPr>
          <a:xfrm>
            <a:off x="7772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941832"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Closed</a:t>
            </a:r>
          </a:p>
        </p:txBody>
      </p:sp>
      <p:sp>
        <p:nvSpPr>
          <p:cNvPr id="16" name="TextBox 15"/>
          <p:cNvSpPr txBox="1"/>
          <p:nvPr/>
        </p:nvSpPr>
        <p:spPr>
          <a:xfrm>
            <a:off x="941832"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48</a:t>
            </a:r>
          </a:p>
        </p:txBody>
      </p:sp>
      <p:sp>
        <p:nvSpPr>
          <p:cNvPr id="17" name="Rounded Rectangle 16"/>
          <p:cNvSpPr/>
          <p:nvPr/>
        </p:nvSpPr>
        <p:spPr>
          <a:xfrm>
            <a:off x="44348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4599431"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On-time closed</a:t>
            </a:r>
          </a:p>
        </p:txBody>
      </p:sp>
      <p:sp>
        <p:nvSpPr>
          <p:cNvPr id="19" name="TextBox 18"/>
          <p:cNvSpPr txBox="1"/>
          <p:nvPr/>
        </p:nvSpPr>
        <p:spPr>
          <a:xfrm>
            <a:off x="4599431"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30/48</a:t>
            </a:r>
          </a:p>
        </p:txBody>
      </p:sp>
      <p:sp>
        <p:nvSpPr>
          <p:cNvPr id="20" name="Rounded Rectangle 19"/>
          <p:cNvSpPr/>
          <p:nvPr/>
        </p:nvSpPr>
        <p:spPr>
          <a:xfrm>
            <a:off x="80924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TextBox 20"/>
          <p:cNvSpPr txBox="1"/>
          <p:nvPr/>
        </p:nvSpPr>
        <p:spPr>
          <a:xfrm>
            <a:off x="8257031"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Recorded cost</a:t>
            </a:r>
          </a:p>
        </p:txBody>
      </p:sp>
      <p:sp>
        <p:nvSpPr>
          <p:cNvPr id="22" name="TextBox 21"/>
          <p:cNvSpPr txBox="1"/>
          <p:nvPr/>
        </p:nvSpPr>
        <p:spPr>
          <a:xfrm>
            <a:off x="8257031"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S$35,828</a:t>
            </a:r>
          </a:p>
        </p:txBody>
      </p:sp>
      <p:sp>
        <p:nvSpPr>
          <p:cNvPr id="23" name="TextBox 22"/>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24" name="TextBox 2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5" name="TextBox 2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6" name="TextBox 2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NATIVE EDITABLE CHART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Backlog by Site: Count the Nonterminal Work</a:t>
            </a:r>
          </a:p>
        </p:txBody>
      </p:sp>
      <p:graphicFrame>
        <p:nvGraphicFramePr>
          <p:cNvPr id="5" name="Chart 4"/>
          <p:cNvGraphicFramePr>
            <a:graphicFrameLocks noGrp="1"/>
          </p:cNvGraphicFramePr>
          <p:nvPr/>
        </p:nvGraphicFramePr>
        <p:xfrm>
          <a:off x="868680" y="1691640"/>
          <a:ext cx="103327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7" name="TextBox 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8" name="TextBox 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9" name="TextBox 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REUSABLE DASHBOARD METHOD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Interactive Dashboard Skill Contract</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Named source + date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Six shared-scope KPIs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Four filters + three charts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Refresh + safe rerun checks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Dashboard Skill as a Reusable Contract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water-service-dashboard is a separate custom Skill whose instructions define inputs, six KPI formulas, four shared filter selectors, three editable charts and controlled output boundaries.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reusable contract makes every KPI and chart obey the same AND filter logic and allows a safe refresh using table references.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Dashboard B2:B5 select site, category, status and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Dashboard Skill as a Reusable Contract</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Author and review the complete SKILL.md.</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Install and verify the dashboard name.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Invoke a plan and build the reviewed output.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common filters, append refresh and reruns.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Custom Dashboard Skill as a Reusable Contract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B7:B12 and all chart summaries use the identical selected rows.</a:t>
            </a:r>
          </a:p>
          <a:p>
            <a:pPr>
              <a:spcAft>
                <a:spcPts val="1000"/>
              </a:spcAft>
            </a:pPr>
            <a:r>
              <a:rPr sz="1600" b="0">
                <a:solidFill>
                  <a:srgbClr val="21201C"/>
                </a:solidFill>
                <a:latin typeface="Calibri"/>
              </a:rPr>
              <a:t>•  A 122-row sandbox is separate from the untouched 120-row baseline.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Dashboard Measures and Denominators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measure needs a business definition, numerator, denominator where relevant, date rule and filter scope.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Changing the denominator can make an attractive rate meaningless.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Closed-only rate is different from closed/total completion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Dashboard Measures and Denominators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source fields and scope.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Compute count and denominator.</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Handle empty selections explicitly.</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against controls.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Dashboard Measures and Denominators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due-today backlog item is not overdue under a strict before-date rule.</a:t>
            </a:r>
          </a:p>
          <a:p>
            <a:pPr>
              <a:spcAft>
                <a:spcPts val="1000"/>
              </a:spcAft>
            </a:pPr>
            <a:r>
              <a:rPr sz="1600" b="0">
                <a:solidFill>
                  <a:srgbClr val="21201C"/>
                </a:solidFill>
                <a:latin typeface="Calibri"/>
              </a:rPr>
              <a:t>•  All selected status/chart counts reconcile to total selected work orders.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Visual Dashboard Design for Maintenance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should make an operational decision easier.</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Consistent chart scales, short labels, whitespace and limited accents help a manager compare the work queue quickly.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Status count chart shows the portfolio mix.</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Visual Dashboard Design for Maintenance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the maintenance decision.</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the measure and comparison.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Use an appropriate labelled chart.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Check meaning and readability.</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Visual Dashboard Design for Maintenance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Site backlog chart excludes Closed and Cancelled.</a:t>
            </a:r>
          </a:p>
          <a:p>
            <a:pPr>
              <a:spcAft>
                <a:spcPts val="1000"/>
              </a:spcAft>
            </a:pPr>
            <a:r>
              <a:rPr sz="1600" b="0">
                <a:solidFill>
                  <a:srgbClr val="21201C"/>
                </a:solidFill>
                <a:latin typeface="Calibri"/>
              </a:rPr>
              <a:t>•  A category count does not establish the root cause of overdue jobs.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CUSTOM DASHBOARD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Create and Apply a Custom Interactive Dashboard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Create water-service-dashboard/SKILL.md for the Northstar maintenance workflow, install it in Excel, then invoke it to plan and build an interactive dashboard. Six KPIs and three charts share four filter selections.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Northstar_Dashboard.xlsx with a Dashboard layout, six verified measures, three labelled charts and a measure dictionary ready for Lab 8 filters.</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Baseline</a:t>
            </a:r>
          </a:p>
          <a:p>
            <a:pPr algn="l">
              <a:spcAft>
                <a:spcPts val="300"/>
              </a:spcAft>
            </a:pPr>
            <a:r>
              <a:rPr sz="1300" b="0">
                <a:solidFill>
                  <a:srgbClr val="6B6862"/>
                </a:solidFill>
                <a:latin typeface="Calibri"/>
              </a:rPr>
              <a:t>Total 120; backlog 60; overdue 50; closed 48.</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SLA and cost</a:t>
            </a:r>
          </a:p>
          <a:p>
            <a:pPr algn="l">
              <a:spcAft>
                <a:spcPts val="300"/>
              </a:spcAft>
            </a:pPr>
            <a:r>
              <a:rPr sz="1300" b="0">
                <a:solidFill>
                  <a:srgbClr val="6B6862"/>
                </a:solidFill>
                <a:latin typeface="Calibri"/>
              </a:rPr>
              <a:t>30/48 = 62.5%; S$35,827.50.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Chart reconciliation</a:t>
            </a:r>
          </a:p>
          <a:p>
            <a:pPr algn="l">
              <a:spcAft>
                <a:spcPts val="300"/>
              </a:spcAft>
            </a:pPr>
            <a:r>
              <a:rPr sz="1300" b="0">
                <a:solidFill>
                  <a:srgbClr val="6B6862"/>
                </a:solidFill>
                <a:latin typeface="Calibri"/>
              </a:rPr>
              <a:t>Three count summaries each total 120; formulas reference tblWorkOrders.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Decision design</a:t>
            </a:r>
          </a:p>
          <a:p>
            <a:pPr algn="l">
              <a:spcAft>
                <a:spcPts val="300"/>
              </a:spcAft>
            </a:pPr>
            <a:r>
              <a:rPr sz="1300" b="0">
                <a:solidFill>
                  <a:srgbClr val="6B6862"/>
                </a:solidFill>
                <a:latin typeface="Calibri"/>
              </a:rPr>
              <a:t>Measures dictionary and source/date visible; no unsupported cause claims.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WORKED COMPARISON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Same Data, Different Filter Scope</a:t>
            </a:r>
          </a:p>
        </p:txBody>
      </p:sp>
      <p:sp>
        <p:nvSpPr>
          <p:cNvPr id="5" name="Rounded Rectangle 4"/>
          <p:cNvSpPr/>
          <p:nvPr/>
        </p:nvSpPr>
        <p:spPr>
          <a:xfrm>
            <a:off x="777240" y="1691640"/>
            <a:ext cx="5166360" cy="3977639"/>
          </a:xfrm>
          <a:prstGeom prst="roundRect">
            <a:avLst>
              <a:gd name="adj" fmla="val 5517"/>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60120" y="1828800"/>
            <a:ext cx="4754880" cy="548640"/>
          </a:xfrm>
          <a:prstGeom prst="rect">
            <a:avLst/>
          </a:prstGeom>
          <a:noFill/>
        </p:spPr>
        <p:txBody>
          <a:bodyPr wrap="square" anchor="t">
            <a:spAutoFit/>
          </a:bodyPr>
          <a:lstStyle/>
          <a:p>
            <a:pPr algn="l">
              <a:spcAft>
                <a:spcPts val="400"/>
              </a:spcAft>
            </a:pPr>
            <a:r>
              <a:rPr sz="2600" b="1">
                <a:solidFill>
                  <a:srgbClr val="21201C"/>
                </a:solidFill>
                <a:latin typeface="Cambria"/>
              </a:rPr>
              <a:t>All sites</a:t>
            </a:r>
          </a:p>
        </p:txBody>
      </p:sp>
      <p:sp>
        <p:nvSpPr>
          <p:cNvPr id="7" name="TextBox 6"/>
          <p:cNvSpPr txBox="1"/>
          <p:nvPr/>
        </p:nvSpPr>
        <p:spPr>
          <a:xfrm>
            <a:off x="960120" y="2560320"/>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Total: 120</a:t>
            </a:r>
          </a:p>
        </p:txBody>
      </p:sp>
      <p:sp>
        <p:nvSpPr>
          <p:cNvPr id="8" name="TextBox 7"/>
          <p:cNvSpPr txBox="1"/>
          <p:nvPr/>
        </p:nvSpPr>
        <p:spPr>
          <a:xfrm>
            <a:off x="960120" y="3072384"/>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Backlog: 60</a:t>
            </a:r>
          </a:p>
        </p:txBody>
      </p:sp>
      <p:sp>
        <p:nvSpPr>
          <p:cNvPr id="9" name="TextBox 8"/>
          <p:cNvSpPr txBox="1"/>
          <p:nvPr/>
        </p:nvSpPr>
        <p:spPr>
          <a:xfrm>
            <a:off x="960120" y="3584448"/>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Overdue: 50</a:t>
            </a:r>
          </a:p>
        </p:txBody>
      </p:sp>
      <p:sp>
        <p:nvSpPr>
          <p:cNvPr id="10" name="TextBox 9"/>
          <p:cNvSpPr txBox="1"/>
          <p:nvPr/>
        </p:nvSpPr>
        <p:spPr>
          <a:xfrm>
            <a:off x="960120" y="4096512"/>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Closed: 48</a:t>
            </a:r>
          </a:p>
        </p:txBody>
      </p:sp>
      <p:sp>
        <p:nvSpPr>
          <p:cNvPr id="11" name="TextBox 10"/>
          <p:cNvSpPr txBox="1"/>
          <p:nvPr/>
        </p:nvSpPr>
        <p:spPr>
          <a:xfrm>
            <a:off x="960120" y="4608576"/>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On-time closed: 30/48</a:t>
            </a:r>
          </a:p>
        </p:txBody>
      </p:sp>
      <p:sp>
        <p:nvSpPr>
          <p:cNvPr id="12" name="Rounded Rectangle 11"/>
          <p:cNvSpPr/>
          <p:nvPr/>
        </p:nvSpPr>
        <p:spPr>
          <a:xfrm>
            <a:off x="6263640" y="1691640"/>
            <a:ext cx="5166360" cy="3977639"/>
          </a:xfrm>
          <a:prstGeom prst="roundRect">
            <a:avLst>
              <a:gd name="adj" fmla="val 5517"/>
            </a:avLst>
          </a:prstGeom>
          <a:solidFill>
            <a:srgbClr val="FFFFFE"/>
          </a:solidFill>
          <a:ln w="12700">
            <a:solidFill>
              <a:srgbClr val="DCD8CF"/>
            </a:solidFill>
          </a:ln>
          <a:effectLst/>
        </p:spPr>
        <p:txBody>
          <a:bodyPr rtlCol="0" anchor="ctr"/>
          <a:lstStyle/>
          <a:p>
            <a:pPr algn="ctr"/>
          </a:p>
        </p:txBody>
      </p:sp>
      <p:sp>
        <p:nvSpPr>
          <p:cNvPr id="13" name="TextBox 12"/>
          <p:cNvSpPr txBox="1"/>
          <p:nvPr/>
        </p:nvSpPr>
        <p:spPr>
          <a:xfrm>
            <a:off x="6446520" y="1828800"/>
            <a:ext cx="4754880" cy="548640"/>
          </a:xfrm>
          <a:prstGeom prst="rect">
            <a:avLst/>
          </a:prstGeom>
          <a:noFill/>
        </p:spPr>
        <p:txBody>
          <a:bodyPr wrap="square" anchor="t">
            <a:spAutoFit/>
          </a:bodyPr>
          <a:lstStyle/>
          <a:p>
            <a:pPr algn="l">
              <a:spcAft>
                <a:spcPts val="400"/>
              </a:spcAft>
            </a:pPr>
            <a:r>
              <a:rPr sz="2600" b="1">
                <a:solidFill>
                  <a:srgbClr val="21201C"/>
                </a:solidFill>
                <a:latin typeface="Cambria"/>
              </a:rPr>
              <a:t>Woodlands Hub</a:t>
            </a:r>
          </a:p>
        </p:txBody>
      </p:sp>
      <p:sp>
        <p:nvSpPr>
          <p:cNvPr id="14" name="TextBox 13"/>
          <p:cNvSpPr txBox="1"/>
          <p:nvPr/>
        </p:nvSpPr>
        <p:spPr>
          <a:xfrm>
            <a:off x="6446520" y="2560320"/>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Total: 24</a:t>
            </a:r>
          </a:p>
        </p:txBody>
      </p:sp>
      <p:sp>
        <p:nvSpPr>
          <p:cNvPr id="15" name="TextBox 14"/>
          <p:cNvSpPr txBox="1"/>
          <p:nvPr/>
        </p:nvSpPr>
        <p:spPr>
          <a:xfrm>
            <a:off x="6446520" y="3072384"/>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Backlog: 8</a:t>
            </a:r>
          </a:p>
        </p:txBody>
      </p:sp>
      <p:sp>
        <p:nvSpPr>
          <p:cNvPr id="16" name="TextBox 15"/>
          <p:cNvSpPr txBox="1"/>
          <p:nvPr/>
        </p:nvSpPr>
        <p:spPr>
          <a:xfrm>
            <a:off x="6446520" y="3584448"/>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Overdue: 7</a:t>
            </a:r>
          </a:p>
        </p:txBody>
      </p:sp>
      <p:sp>
        <p:nvSpPr>
          <p:cNvPr id="17" name="TextBox 16"/>
          <p:cNvSpPr txBox="1"/>
          <p:nvPr/>
        </p:nvSpPr>
        <p:spPr>
          <a:xfrm>
            <a:off x="6446520" y="4096512"/>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Closed: 16</a:t>
            </a:r>
          </a:p>
        </p:txBody>
      </p:sp>
      <p:sp>
        <p:nvSpPr>
          <p:cNvPr id="18" name="TextBox 17"/>
          <p:cNvSpPr txBox="1"/>
          <p:nvPr/>
        </p:nvSpPr>
        <p:spPr>
          <a:xfrm>
            <a:off x="6446520" y="4608576"/>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On-time closed: 10/16</a:t>
            </a:r>
          </a:p>
        </p:txBody>
      </p:sp>
      <p:sp>
        <p:nvSpPr>
          <p:cNvPr id="19" name="TextBox 18"/>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One Filter Scope for Every Visual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Interactive means a learner-controlled selection changes the evidence shown.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can appear interactive while only one chart changes.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Woodlands Hub in B2 or in the Site slicer gives 24 work orders.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One Filter Scope for Every Visual</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the selector cells.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the same AND mask everywhere.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each control and edge case.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selected chart and KPI totals.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One Filter Scope for Every Visual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Status New gives zero Closed and an N/A closure rate.</a:t>
            </a:r>
          </a:p>
          <a:p>
            <a:pPr>
              <a:spcAft>
                <a:spcPts val="1000"/>
              </a:spcAft>
            </a:pPr>
            <a:r>
              <a:rPr sz="1600" b="0">
                <a:solidFill>
                  <a:srgbClr val="21201C"/>
                </a:solidFill>
                <a:latin typeface="Calibri"/>
              </a:rPr>
              <a:t>•  D3 warns while any slicer hides source rows.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Refresh Tests and Static Snapshots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refresh test deliberately introduces known new records and verifies the expected delta.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correct dashboard today may fail after the next export if formulas reference a fixed cell range.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Two test rows increase total by2 and recorded cost byS$400.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Refresh Tests and Static Snapshots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an isolated sandbox copy.</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Append known unique test rows.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Recalculate and verify expected deltas.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Handoff the untouched baseline.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Refresh Tests and Static Snapshots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Only one new row adds to backlog/overdue; the other adds to on-time Closed.</a:t>
            </a:r>
          </a:p>
          <a:p>
            <a:pPr>
              <a:spcAft>
                <a:spcPts val="1000"/>
              </a:spcAft>
            </a:pPr>
            <a:r>
              <a:rPr sz="1600" b="0">
                <a:solidFill>
                  <a:srgbClr val="21201C"/>
                </a:solidFill>
                <a:latin typeface="Calibri"/>
              </a:rPr>
              <a:t>•  The final deck uses the untouched 120-row baseline, not the test copy.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INTERACTIVE FILTERS AND REFRESH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Use the Dashboard Skill for Filters, Refresh and Safe Reruns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Lab 7 by making four dropdown selectors control every KPI and chart. Test a single site, a zero-denominator selection and a combined category/owner filter.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Northstar_Dashboard.xlsx with four working filters plus Northstar_Dashboard_Refresh_Test.xlsx, filter evidence and a verified baseline snapshot for PowerPoint.</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Woodlands control</a:t>
            </a:r>
          </a:p>
          <a:p>
            <a:pPr algn="l">
              <a:spcAft>
                <a:spcPts val="300"/>
              </a:spcAft>
            </a:pPr>
            <a:r>
              <a:rPr sz="1300" b="0">
                <a:solidFill>
                  <a:srgbClr val="6B6862"/>
                </a:solidFill>
                <a:latin typeface="Calibri"/>
              </a:rPr>
              <a:t>Total 24; backlog 8; overdue 7; closed 16; cost S$6,668.50; on-time 10/16.</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Interactive scope</a:t>
            </a:r>
          </a:p>
          <a:p>
            <a:pPr algn="l">
              <a:spcAft>
                <a:spcPts val="300"/>
              </a:spcAft>
            </a:pPr>
            <a:r>
              <a:rPr sz="1300" b="0">
                <a:solidFill>
                  <a:srgbClr val="6B6862"/>
                </a:solidFill>
                <a:latin typeface="Calibri"/>
              </a:rPr>
              <a:t>Changing any dropdown or slicer affects all six KPI tiles and all chart counts; D3 reports slicer filters.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Edge case</a:t>
            </a:r>
          </a:p>
          <a:p>
            <a:pPr algn="l">
              <a:spcAft>
                <a:spcPts val="300"/>
              </a:spcAft>
            </a:pPr>
            <a:r>
              <a:rPr sz="1300" b="0">
                <a:solidFill>
                  <a:srgbClr val="6B6862"/>
                </a:solidFill>
                <a:latin typeface="Calibri"/>
              </a:rPr>
              <a:t>No Closed -&gt; N/A; no rows -&gt; zero count/cost and N/A rate.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sandbox</a:t>
            </a:r>
          </a:p>
          <a:p>
            <a:pPr algn="l">
              <a:spcAft>
                <a:spcPts val="300"/>
              </a:spcAft>
            </a:pPr>
            <a:r>
              <a:rPr sz="1300" b="0">
                <a:solidFill>
                  <a:srgbClr val="6B6862"/>
                </a:solidFill>
                <a:latin typeface="Calibri"/>
              </a:rPr>
              <a:t>122 total;49 closed;61 backlog;51 overdue;S$36,227.50;31/49 on-time.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Handoff baseline</a:t>
            </a:r>
          </a:p>
          <a:p>
            <a:pPr algn="l">
              <a:spcAft>
                <a:spcPts val="300"/>
              </a:spcAft>
            </a:pPr>
            <a:r>
              <a:rPr sz="1300" b="0">
                <a:solidFill>
                  <a:srgbClr val="6B6862"/>
                </a:solidFill>
                <a:latin typeface="Calibri"/>
              </a:rPr>
              <a:t>Return to 120-row untouched baseline; date and All scope recorded.</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113</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Recap - Interactive Dashboards with Custom Skills</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LO3: Six KPI tiles and three charts follow four dropdowns and slicers.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Baseline controls and known refresh deltas.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4</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Create a Professional Presentation with PowerPoint Copilot</a:t>
            </a:r>
          </a:p>
        </p:txBody>
      </p:sp>
      <p:sp>
        <p:nvSpPr>
          <p:cNvPr id="7" name="Rectangle 6"/>
          <p:cNvSpPr/>
          <p:nvPr/>
        </p:nvSpPr>
        <p:spPr>
          <a:xfrm>
            <a:off x="841248" y="4206240"/>
            <a:ext cx="1143000" cy="64008"/>
          </a:xfrm>
          <a:prstGeom prst="rect">
            <a:avLst/>
          </a:prstGeom>
          <a:solidFill>
            <a:srgbClr val="C2603F"/>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Continue the dashboard into a decision pack</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115</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Create a Professional Presentation with PowerPoint Copilot</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Evidence story</a:t>
            </a:r>
          </a:p>
          <a:p>
            <a:pPr algn="l">
              <a:spcAft>
                <a:spcPts val="300"/>
              </a:spcAft>
            </a:pPr>
            <a:r>
              <a:rPr sz="1400" b="0">
                <a:solidFill>
                  <a:srgbClr val="6B6862"/>
                </a:solidFill>
                <a:latin typeface="Calibri"/>
              </a:rPr>
              <a:t>Observation, implication, action and decision.</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Charts</a:t>
            </a:r>
          </a:p>
          <a:p>
            <a:pPr algn="l">
              <a:spcAft>
                <a:spcPts val="300"/>
              </a:spcAft>
            </a:pPr>
            <a:r>
              <a:rPr sz="1400" b="0">
                <a:solidFill>
                  <a:srgbClr val="6B6862"/>
                </a:solidFill>
                <a:latin typeface="Calibri"/>
              </a:rPr>
              <a:t>Reviewed values, provenance and snapshot date.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Refinement</a:t>
            </a:r>
          </a:p>
          <a:p>
            <a:pPr algn="l">
              <a:spcAft>
                <a:spcPts val="300"/>
              </a:spcAft>
            </a:pPr>
            <a:r>
              <a:rPr sz="1400" b="0">
                <a:solidFill>
                  <a:srgbClr val="6B6862"/>
                </a:solidFill>
                <a:latin typeface="Calibri"/>
              </a:rPr>
              <a:t>Hierarchy, notes and actual rehearsal feedback.</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Handoff</a:t>
            </a:r>
          </a:p>
          <a:p>
            <a:pPr algn="l">
              <a:spcAft>
                <a:spcPts val="300"/>
              </a:spcAft>
            </a:pPr>
            <a:r>
              <a:rPr sz="1400" b="0">
                <a:solidFill>
                  <a:srgbClr val="6B6862"/>
                </a:solidFill>
                <a:latin typeface="Calibri"/>
              </a:rPr>
              <a:t>Reconciled pack and unsent communication.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Create a Professional Presentation with PowerPoint Copilot</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9</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to presentation</a:t>
            </a:r>
          </a:p>
          <a:p>
            <a:pPr>
              <a:spcAft>
                <a:spcPts val="900"/>
              </a:spcAft>
            </a:pPr>
            <a:r>
              <a:rPr sz="1200" b="0">
                <a:solidFill>
                  <a:srgbClr val="6B6862"/>
                </a:solidFill>
                <a:latin typeface="Calibri"/>
              </a:rPr>
              <a:t>–  Turn Dashboard Evidence into a Management Story</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10</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Professional handoff</a:t>
            </a:r>
          </a:p>
          <a:p>
            <a:pPr>
              <a:spcAft>
                <a:spcPts val="900"/>
              </a:spcAft>
            </a:pPr>
            <a:r>
              <a:rPr sz="1200" b="0">
                <a:solidFill>
                  <a:srgbClr val="6B6862"/>
                </a:solidFill>
                <a:latin typeface="Calibri"/>
              </a:rPr>
              <a:t>–  Refine and Present the Maintenance Decision Deck</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117</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EVIDENCE TO NARRATIVE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Verified Chart Becomes a Decision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Observed backlog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Operational implication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Proposed recovery action</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Manager decision requested</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118</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From Dashboard Evidence to a Decision Story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management presentation transforms evidence into a sequence of observations, implications, proposed actions and a decision request.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accelerate outlines and drafting, but a persuasive invented conclusion is still wrong.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Backlog by site supports prioritisation, not a proven cause.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119</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From Dashboard Evidence to a Decision Story</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Freeze the verified dashboard snapshot.</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Register each proposed claim.</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a reviewed Word brief.</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Generate and reconcile the deck.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120</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From Dashboard Evidence to a Decision Story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Available-hours evidence supports a capacity discussion, not confirmed allocation.</a:t>
            </a:r>
          </a:p>
          <a:p>
            <a:pPr>
              <a:spcAft>
                <a:spcPts val="1000"/>
              </a:spcAft>
            </a:pPr>
            <a:r>
              <a:rPr sz="1600" b="0">
                <a:solidFill>
                  <a:srgbClr val="21201C"/>
                </a:solidFill>
                <a:latin typeface="Calibri"/>
              </a:rPr>
              <a:t>•  The final slide asks management to decide on a proposed plan.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121</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Charts, Templates and Source Provenance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template supplies slide layouts, typography and colours; it does not supply correct facts.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Approximate AI-generated charts can contradict source values while looking plausible.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editable embedded chart remains a copy rather than a tested live link.</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122</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Charts, Templates and Source Provenance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Select the reviewed brief.</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the existing template.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Insert verified charts or tables.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source and snapshot scope.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123</a:t>
            </a:r>
          </a:p>
        </p:txBody>
      </p:sp>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Charts, Templates and Source Provenance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An image is labelled as a snapshot at 30 September.</a:t>
            </a:r>
          </a:p>
          <a:p>
            <a:pPr>
              <a:spcAft>
                <a:spcPts val="1000"/>
              </a:spcAft>
            </a:pPr>
            <a:r>
              <a:rPr sz="1600" b="0">
                <a:solidFill>
                  <a:srgbClr val="21201C"/>
                </a:solidFill>
                <a:latin typeface="Calibri"/>
              </a:rPr>
              <a:t>•  All eight slides use one reviewed baseline.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124</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THEME · DASHBOARD TO PRESENTATION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Turn Dashboard Evidence into a Management Story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9</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the baseline dashboard from Topic 3. Build a slide evidence register and a Word presentation brief before asking PowerPoint Copilot for an eight-slide management deck.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Northstar_Presentation_Brief.docx, Northstar_Management_Draft.pptx and a slide-by-slide evidence register tied to the 120-row dashboard snapshot.</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125</a:t>
            </a:r>
          </a:p>
        </p:txBody>
      </p:sp>
    </p:spTree>
  </p:cSld>
  <p:clrMapOvr>
    <a:masterClrMapping/>
  </p:clrMapOvr>
  <p:transition spd="med">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9</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126</a:t>
            </a:r>
          </a:p>
        </p:txBody>
      </p:sp>
    </p:spTree>
  </p:cSld>
  <p:clrMapOvr>
    <a:masterClrMapping/>
  </p:clrMapOvr>
  <p:transition spd="med">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9</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Evidence continuity</a:t>
            </a:r>
          </a:p>
          <a:p>
            <a:pPr algn="l">
              <a:spcAft>
                <a:spcPts val="300"/>
              </a:spcAft>
            </a:pPr>
            <a:r>
              <a:rPr sz="1300" b="0">
                <a:solidFill>
                  <a:srgbClr val="6B6862"/>
                </a:solidFill>
                <a:latin typeface="Calibri"/>
              </a:rPr>
              <a:t>Every deck figure maps to the 120-row Lab 8 baseline and slide evidence register.</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Eight-slide narrative</a:t>
            </a:r>
          </a:p>
          <a:p>
            <a:pPr algn="l">
              <a:spcAft>
                <a:spcPts val="300"/>
              </a:spcAft>
            </a:pPr>
            <a:r>
              <a:rPr sz="1300" b="0">
                <a:solidFill>
                  <a:srgbClr val="6B6862"/>
                </a:solidFill>
                <a:latin typeface="Calibri"/>
              </a:rPr>
              <a:t>Observation -&gt; implication -&gt; proposed action -&gt; decision; no invented cause/savings.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Chart semantics</a:t>
            </a:r>
          </a:p>
          <a:p>
            <a:pPr algn="l">
              <a:spcAft>
                <a:spcPts val="300"/>
              </a:spcAft>
            </a:pPr>
            <a:r>
              <a:rPr sz="1300" b="0">
                <a:solidFill>
                  <a:srgbClr val="6B6862"/>
                </a:solidFill>
                <a:latin typeface="Calibri"/>
              </a:rPr>
              <a:t>Backlog charts exclude Closed/Cancelled; embedded/image copies labelled snapshot.</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127</a:t>
            </a:r>
          </a:p>
        </p:txBody>
      </p:sp>
    </p:spTree>
  </p:cSld>
  <p:clrMapOvr>
    <a:masterClrMapping/>
  </p:clrMapOvr>
  <p:transition spd="med">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ARTIFACT LIFECYCLE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Maintenance Reporting Handoff</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Interactive workbook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Dated Word evidence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Static PPTX + PDF</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Reviewed unsent email</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128</a:t>
            </a:r>
          </a:p>
        </p:txBody>
      </p:sp>
    </p:spTree>
  </p:cSld>
  <p:clrMapOvr>
    <a:masterClrMapping/>
  </p:clrMapOvr>
  <p:transition spd="med">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Professional Refinement and Rehearsal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Refinement improves the clarity of the existing evidence without changing its meaning.</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well-designed deck can still fail when the speaker’s notes contain different numbers or a proposal is spoken as an approved action.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message per slide; chart labels remain readable.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129</a:t>
            </a:r>
          </a:p>
        </p:txBody>
      </p:sp>
    </p:spTree>
  </p:cSld>
  <p:clrMapOvr>
    <a:masterClrMapping/>
  </p:clrMapOvr>
  <p:transition spd="med">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Professional Refinement and Rehearsal</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Audit the draft against evidence.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reviewed design changes.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Rehearse and record actual feedback.</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Inspect PPTX and exported PDF.</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130</a:t>
            </a:r>
          </a:p>
        </p:txBody>
      </p:sp>
    </p:spTree>
  </p:cSld>
  <p:clrMapOvr>
    <a:masterClrMapping/>
  </p:clrMapOvr>
  <p:transition spd="med">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Professional Refinement and Rehearsal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45-second note explains evidence and limitation.</a:t>
            </a:r>
          </a:p>
          <a:p>
            <a:pPr>
              <a:spcAft>
                <a:spcPts val="1000"/>
              </a:spcAft>
            </a:pPr>
            <a:r>
              <a:rPr sz="1600" b="0">
                <a:solidFill>
                  <a:srgbClr val="21201C"/>
                </a:solidFill>
                <a:latin typeface="Calibri"/>
              </a:rPr>
              <a:t>•  Partner feedback leads to one recorded revision.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131</a:t>
            </a:r>
          </a:p>
        </p:txBody>
      </p:sp>
    </p:spTree>
  </p:cSld>
  <p:clrMapOvr>
    <a:masterClrMapping/>
  </p:clrMapOvr>
  <p:transition spd="med">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Reviewed Handoff and Artifact Lifecycle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final pack contains an interactive Excel dashboard, a fixed reporting brief, a static PowerPoint/PDF snapshot, the custom skill and a reviewed communication draft.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Updating one artifact without the others creates inconsistent communication.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PowerPoint and PDF both show eight slides/pages from the same baseline.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132</a:t>
            </a:r>
          </a:p>
        </p:txBody>
      </p:sp>
    </p:spTree>
  </p:cSld>
  <p:clrMapOvr>
    <a:masterClrMapping/>
  </p:clrMapOvr>
  <p:transition spd="med">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Reviewed Handoff and Artifact Lifecycle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final artifacts.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actual filenames and links.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the handoff draft.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Preserve the dated snapshot and skill.</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133</a:t>
            </a:r>
          </a:p>
        </p:txBody>
      </p:sp>
    </p:spTree>
  </p:cSld>
  <p:clrMapOvr>
    <a:masterClrMapping/>
  </p:clrMapOvr>
  <p:transition spd="med">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Reviewed Handoff and Artifact Lifecycle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Outlook does not claim a missing attachment was sent.</a:t>
            </a:r>
          </a:p>
          <a:p>
            <a:pPr>
              <a:spcAft>
                <a:spcPts val="1000"/>
              </a:spcAft>
            </a:pPr>
            <a:r>
              <a:rPr sz="1600" b="0">
                <a:solidFill>
                  <a:srgbClr val="21201C"/>
                </a:solidFill>
                <a:latin typeface="Calibri"/>
              </a:rPr>
              <a:t>•  The next update reruns the method with new verified inputs.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134</a:t>
            </a:r>
          </a:p>
        </p:txBody>
      </p:sp>
    </p:spTree>
  </p:cSld>
  <p:clrMapOvr>
    <a:masterClrMapping/>
  </p:clrMapOvr>
  <p:transition spd="med">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THEME · PROFESSIONAL HANDOFF</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Refine and Present the Maintenance Decision Deck</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10</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Refine the management deck using the same custom skill and reviewed dashboard evidence. Improve hierarchy, consistency and speaker notes, test the story in a short rehearsal, and prepare a reviewed Outlook handoff draft.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Northstar_Management_Final.pptx/PDF, a rehearsal record, final evidence register and unsent Outlook handoff draft with accurate artifact links.</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135</a:t>
            </a:r>
          </a:p>
        </p:txBody>
      </p:sp>
    </p:spTree>
  </p:cSld>
  <p:clrMapOvr>
    <a:masterClrMapping/>
  </p:clrMapOvr>
  <p:transition spd="med">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10</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136</a:t>
            </a:r>
          </a:p>
        </p:txBody>
      </p:sp>
    </p:spTree>
  </p:cSld>
  <p:clrMapOvr>
    <a:masterClrMapping/>
  </p:clrMapOvr>
  <p:transition spd="med">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10</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Presentation integrity</a:t>
            </a:r>
          </a:p>
          <a:p>
            <a:pPr algn="l">
              <a:spcAft>
                <a:spcPts val="300"/>
              </a:spcAft>
            </a:pPr>
            <a:r>
              <a:rPr sz="1300" b="0">
                <a:solidFill>
                  <a:srgbClr val="6B6862"/>
                </a:solidFill>
                <a:latin typeface="Calibri"/>
              </a:rPr>
              <a:t>Eight slides and eight PDF pages; visible figures agree with verified register.</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Professional delivery</a:t>
            </a:r>
          </a:p>
          <a:p>
            <a:pPr algn="l">
              <a:spcAft>
                <a:spcPts val="300"/>
              </a:spcAft>
            </a:pPr>
            <a:r>
              <a:rPr sz="1300" b="0">
                <a:solidFill>
                  <a:srgbClr val="6B6862"/>
                </a:solidFill>
                <a:latin typeface="Calibri"/>
              </a:rPr>
              <a:t>Readable chart labels, consistent design, evidence-specific notes and actual rehearsal improvement.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Final continuity</a:t>
            </a:r>
          </a:p>
          <a:p>
            <a:pPr algn="l">
              <a:spcAft>
                <a:spcPts val="300"/>
              </a:spcAft>
            </a:pPr>
            <a:r>
              <a:rPr sz="1300" b="0">
                <a:solidFill>
                  <a:srgbClr val="6B6862"/>
                </a:solidFill>
                <a:latin typeface="Calibri"/>
              </a:rPr>
              <a:t>Baseline dashboard, brief, deck and unsent draft agree; static snapshot stated.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Decision boundary</a:t>
            </a:r>
          </a:p>
          <a:p>
            <a:pPr algn="l">
              <a:spcAft>
                <a:spcPts val="300"/>
              </a:spcAft>
            </a:pPr>
            <a:r>
              <a:rPr sz="1300" b="0">
                <a:solidFill>
                  <a:srgbClr val="6B6862"/>
                </a:solidFill>
                <a:latin typeface="Calibri"/>
              </a:rPr>
              <a:t>No real email sent or work order reassigned; proposed actions remain proposed.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137</a:t>
            </a:r>
          </a:p>
        </p:txBody>
      </p:sp>
    </p:spTree>
  </p:cSld>
  <p:clrMapOvr>
    <a:masterClrMapping/>
  </p:clrMapOvr>
  <p:transition spd="med">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Create a Professional Presentation with PowerPoint Copilot</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LO4: Eight-slide evidence story and reviewed handoff.</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PDF, notes, register and actual rehearsal agree.</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138</a:t>
            </a:r>
          </a:p>
        </p:txBody>
      </p:sp>
    </p:spTree>
  </p:cSld>
  <p:clrMapOvr>
    <a:masterClrMapping/>
  </p:clrMapOvr>
  <p:transition spd="med">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5</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Agents and Mini Capstone</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Build a work-order agent, then apply the whole workflow in groups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139</a:t>
            </a:r>
          </a:p>
        </p:txBody>
      </p:sp>
    </p:spTree>
  </p:cSld>
  <p:clrMapOvr>
    <a:masterClrMapping/>
  </p:clrMapOvr>
  <p:transition spd="med">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Copilot Agents and Mini Capstone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Agent Builder</a:t>
            </a:r>
          </a:p>
          <a:p>
            <a:pPr algn="l">
              <a:spcAft>
                <a:spcPts val="300"/>
              </a:spcAft>
            </a:pPr>
            <a:r>
              <a:rPr sz="1400" b="0">
                <a:solidFill>
                  <a:srgbClr val="6B6862"/>
                </a:solidFill>
                <a:latin typeface="Calibri"/>
              </a:rPr>
              <a:t>Create a specialist Copilot agent without code.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Knowledge</a:t>
            </a:r>
          </a:p>
          <a:p>
            <a:pPr algn="l">
              <a:spcAft>
                <a:spcPts val="300"/>
              </a:spcAft>
            </a:pPr>
            <a:r>
              <a:rPr sz="1400" b="0">
                <a:solidFill>
                  <a:srgbClr val="6B6862"/>
                </a:solidFill>
                <a:latin typeface="Calibri"/>
              </a:rPr>
              <a:t>OneDrive files the agent searches and cites.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Instructions &amp; Skills</a:t>
            </a:r>
          </a:p>
          <a:p>
            <a:pPr algn="l">
              <a:spcAft>
                <a:spcPts val="300"/>
              </a:spcAft>
            </a:pPr>
            <a:r>
              <a:rPr sz="1400" b="0">
                <a:solidFill>
                  <a:srgbClr val="6B6862"/>
                </a:solidFill>
                <a:latin typeface="Calibri"/>
              </a:rPr>
              <a:t>Role, rules and a reusable work-order Q&amp;A method.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Mini capstone</a:t>
            </a:r>
          </a:p>
          <a:p>
            <a:pPr algn="l">
              <a:spcAft>
                <a:spcPts val="300"/>
              </a:spcAft>
            </a:pPr>
            <a:r>
              <a:rPr sz="1400" b="0">
                <a:solidFill>
                  <a:srgbClr val="6B6862"/>
                </a:solidFill>
                <a:latin typeface="Calibri"/>
              </a:rPr>
              <a:t>Groups turn safe data into a dashboard and decision deck.</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140</a:t>
            </a:r>
          </a:p>
        </p:txBody>
      </p:sp>
    </p:spTree>
  </p:cSld>
  <p:clrMapOvr>
    <a:masterClrMapping/>
  </p:clrMapOvr>
  <p:transition spd="med">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Copilot Agents and Mini Capstone</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11</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Copilot Agent Builder</a:t>
            </a:r>
          </a:p>
          <a:p>
            <a:pPr>
              <a:spcAft>
                <a:spcPts val="900"/>
              </a:spcAft>
            </a:pPr>
            <a:r>
              <a:rPr sz="1200" b="0">
                <a:solidFill>
                  <a:srgbClr val="6B6862"/>
                </a:solidFill>
                <a:latin typeface="Calibri"/>
              </a:rPr>
              <a:t>–  Build a Work-Order Agent with Agent Builder</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12</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Mini Capstone</a:t>
            </a:r>
          </a:p>
          <a:p>
            <a:pPr>
              <a:spcAft>
                <a:spcPts val="900"/>
              </a:spcAft>
            </a:pPr>
            <a:r>
              <a:rPr sz="1200" b="0">
                <a:solidFill>
                  <a:srgbClr val="6B6862"/>
                </a:solidFill>
                <a:latin typeface="Calibri"/>
              </a:rPr>
              <a:t>–  Mini Capstone: Group Dashboard and Decision Deck</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141</a:t>
            </a:r>
          </a:p>
        </p:txBody>
      </p:sp>
    </p:spTree>
  </p:cSld>
  <p:clrMapOvr>
    <a:masterClrMapping/>
  </p:clrMapOvr>
  <p:transition spd="med">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Agent Builder?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Agent Builder is the no-code tool in Microsoft Copilot for creating your own specialist agent.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agent packages a recurring job, here answering work-order questions, so colleagues get consistent, grounded and bounded answers without rewriting prompts.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Knowledge: the handbook and the clean work-order file from OneDrive.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142</a:t>
            </a:r>
          </a:p>
        </p:txBody>
      </p:sp>
    </p:spTree>
  </p:cSld>
  <p:clrMapOvr>
    <a:masterClrMapping/>
  </p:clrMapOvr>
  <p:transition spd="med">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AGENT BUILDER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Agent Builder: What You Configure</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Describe</a:t>
            </a:r>
          </a:p>
          <a:p>
            <a:pPr algn="l">
              <a:spcAft>
                <a:spcPts val="300"/>
              </a:spcAft>
            </a:pPr>
            <a:r>
              <a:rPr sz="1200" b="0">
                <a:solidFill>
                  <a:srgbClr val="6B6862"/>
                </a:solidFill>
                <a:latin typeface="Calibri"/>
              </a:rPr>
              <a:t>Chat with Agent Builder to draft the agent in plain English.</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Name &amp; description</a:t>
            </a:r>
          </a:p>
          <a:p>
            <a:pPr algn="l">
              <a:spcAft>
                <a:spcPts val="300"/>
              </a:spcAft>
            </a:pPr>
            <a:r>
              <a:rPr sz="1200" b="0">
                <a:solidFill>
                  <a:srgbClr val="6B6862"/>
                </a:solidFill>
                <a:latin typeface="Calibri"/>
              </a:rPr>
              <a:t>What the agent is for; shown to people you share it with.</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Instructions</a:t>
            </a:r>
          </a:p>
          <a:p>
            <a:pPr algn="l">
              <a:spcAft>
                <a:spcPts val="300"/>
              </a:spcAft>
            </a:pPr>
            <a:r>
              <a:rPr sz="1200" b="0">
                <a:solidFill>
                  <a:srgbClr val="6B6862"/>
                </a:solidFill>
                <a:latin typeface="Calibri"/>
              </a:rPr>
              <a:t>Role, sources, definitions, tone and boundaries (8,000 characters).</a:t>
            </a:r>
          </a:p>
        </p:txBody>
      </p:sp>
      <p:sp>
        <p:nvSpPr>
          <p:cNvPr id="20" name="Rounded Rectangle 19"/>
          <p:cNvSpPr/>
          <p:nvPr/>
        </p:nvSpPr>
        <p:spPr>
          <a:xfrm>
            <a:off x="777240"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777240" y="4087368"/>
            <a:ext cx="3361944" cy="64008"/>
          </a:xfrm>
          <a:prstGeom prst="rect">
            <a:avLst/>
          </a:prstGeom>
          <a:solidFill>
            <a:srgbClr val="C2603F"/>
          </a:solidFill>
          <a:ln>
            <a:noFill/>
          </a:ln>
          <a:effectLst/>
        </p:spPr>
        <p:txBody>
          <a:bodyPr rtlCol="0" anchor="ctr"/>
          <a:lstStyle/>
          <a:p>
            <a:pPr algn="ctr"/>
          </a:p>
        </p:txBody>
      </p:sp>
      <p:sp>
        <p:nvSpPr>
          <p:cNvPr id="22" name="Oval 21"/>
          <p:cNvSpPr/>
          <p:nvPr/>
        </p:nvSpPr>
        <p:spPr>
          <a:xfrm>
            <a:off x="1033272"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1764792"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Knowledge</a:t>
            </a:r>
          </a:p>
          <a:p>
            <a:pPr algn="l">
              <a:spcAft>
                <a:spcPts val="300"/>
              </a:spcAft>
            </a:pPr>
            <a:r>
              <a:rPr sz="1200" b="0">
                <a:solidFill>
                  <a:srgbClr val="6B6862"/>
                </a:solidFill>
                <a:latin typeface="Calibri"/>
              </a:rPr>
              <a:t>OneDrive/SharePoint files, uploads or websites it can search.</a:t>
            </a:r>
          </a:p>
        </p:txBody>
      </p:sp>
      <p:sp>
        <p:nvSpPr>
          <p:cNvPr id="25" name="Rounded Rectangle 24"/>
          <p:cNvSpPr/>
          <p:nvPr/>
        </p:nvSpPr>
        <p:spPr>
          <a:xfrm>
            <a:off x="4413504"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4413504" y="4087368"/>
            <a:ext cx="3361944" cy="64008"/>
          </a:xfrm>
          <a:prstGeom prst="rect">
            <a:avLst/>
          </a:prstGeom>
          <a:solidFill>
            <a:srgbClr val="D97757"/>
          </a:solidFill>
          <a:ln>
            <a:noFill/>
          </a:ln>
          <a:effectLst/>
        </p:spPr>
        <p:txBody>
          <a:bodyPr rtlCol="0" anchor="ctr"/>
          <a:lstStyle/>
          <a:p>
            <a:pPr algn="ctr"/>
          </a:p>
        </p:txBody>
      </p:sp>
      <p:sp>
        <p:nvSpPr>
          <p:cNvPr id="27" name="Oval 26"/>
          <p:cNvSpPr/>
          <p:nvPr/>
        </p:nvSpPr>
        <p:spPr>
          <a:xfrm>
            <a:off x="4669536" y="4846320"/>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4669536"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5401056"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Reusable SKILL.md packages uploaded as a .zip (preview).</a:t>
            </a:r>
          </a:p>
        </p:txBody>
      </p:sp>
      <p:sp>
        <p:nvSpPr>
          <p:cNvPr id="30" name="Rounded Rectangle 29"/>
          <p:cNvSpPr/>
          <p:nvPr/>
        </p:nvSpPr>
        <p:spPr>
          <a:xfrm>
            <a:off x="8049768"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8049768" y="4087368"/>
            <a:ext cx="3361944" cy="64008"/>
          </a:xfrm>
          <a:prstGeom prst="rect">
            <a:avLst/>
          </a:prstGeom>
          <a:solidFill>
            <a:srgbClr val="3A7D7B"/>
          </a:solidFill>
          <a:ln>
            <a:noFill/>
          </a:ln>
          <a:effectLst/>
        </p:spPr>
        <p:txBody>
          <a:bodyPr rtlCol="0" anchor="ctr"/>
          <a:lstStyle/>
          <a:p>
            <a:pPr algn="ctr"/>
          </a:p>
        </p:txBody>
      </p:sp>
      <p:sp>
        <p:nvSpPr>
          <p:cNvPr id="32" name="Oval 31"/>
          <p:cNvSpPr/>
          <p:nvPr/>
        </p:nvSpPr>
        <p:spPr>
          <a:xfrm>
            <a:off x="8305800" y="4846320"/>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8305800"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9037320"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Try it &amp; share</a:t>
            </a:r>
          </a:p>
          <a:p>
            <a:pPr algn="l">
              <a:spcAft>
                <a:spcPts val="300"/>
              </a:spcAft>
            </a:pPr>
            <a:r>
              <a:rPr sz="1200" b="0">
                <a:solidFill>
                  <a:srgbClr val="6B6862"/>
                </a:solidFill>
                <a:latin typeface="Calibri"/>
              </a:rPr>
              <a:t>Test, select Create, then share as Can chat or Can edit.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143</a:t>
            </a:r>
          </a:p>
        </p:txBody>
      </p:sp>
    </p:spTree>
  </p:cSld>
  <p:clrMapOvr>
    <a:masterClrMapping/>
  </p:clrMapOvr>
  <p:transition spd="med">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Agent Builder?</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Describe the agent’s job.</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Configure instructions and knowledge.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Add a Skill and starter prompts.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create and share safely.</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144</a:t>
            </a:r>
          </a:p>
        </p:txBody>
      </p:sp>
    </p:spTree>
  </p:cSld>
  <p:clrMapOvr>
    <a:masterClrMapping/>
  </p:clrMapOvr>
  <p:transition spd="med">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Apply the Concept — What Is Agent Builder?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Skill: work-order-qa sets definitions, citations and UNKNOWN rules.</a:t>
            </a:r>
          </a:p>
          <a:p>
            <a:pPr>
              <a:spcAft>
                <a:spcPts val="1000"/>
              </a:spcAft>
            </a:pPr>
            <a:r>
              <a:rPr sz="1600" b="0">
                <a:solidFill>
                  <a:srgbClr val="21201C"/>
                </a:solidFill>
                <a:latin typeface="Calibri"/>
              </a:rPr>
              <a:t>•  Boundary test: the agent refuses to approve a reassignment.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145</a:t>
            </a:r>
          </a:p>
        </p:txBody>
      </p:sp>
    </p:spTree>
  </p:cSld>
  <p:clrMapOvr>
    <a:masterClrMapping/>
  </p:clrMapOvr>
  <p:transition spd="med">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THEME · COPILOT AGENT BUILDER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Build a Work-Order Agent with Agent Builder</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Create Northstar Work Order Assistant, a specialist Copilot agent that answers questions about the 30 September work-order snapshot. Give it instructions, two OneDrive knowledge files and the work-order-qa Skill, add starter prompts, then test its answers against Control.</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 private Northstar Work Order Assistant agent with reviewed instructions, two OneDrive knowledge files, the work-order-qa Skill (or its labelled manual route), four starter prompts and a verified test record.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Describe</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Configure</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Ground</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Test</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Copilot (copilot.cloud.microsoft) · Agent Builder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146</a:t>
            </a:r>
          </a:p>
        </p:txBody>
      </p:sp>
    </p:spTree>
  </p:cSld>
  <p:clrMapOvr>
    <a:masterClrMapping/>
  </p:clrMapOvr>
  <p:transition spd="med">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11</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Describe: Create a Northstar work-order agent that cites its files and says UNKNOWN when unsure.</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Try it: Which hubs have the most overdue backlog? Cite the file and give the definition.</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147</a:t>
            </a:r>
          </a:p>
        </p:txBody>
      </p:sp>
    </p:spTree>
  </p:cSld>
  <p:clrMapOvr>
    <a:masterClrMapping/>
  </p:clrMapOvr>
  <p:transition spd="med">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11</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Grounded counts</a:t>
            </a:r>
          </a:p>
          <a:p>
            <a:pPr algn="l">
              <a:spcAft>
                <a:spcPts val="300"/>
              </a:spcAft>
            </a:pPr>
            <a:r>
              <a:rPr sz="1300" b="0">
                <a:solidFill>
                  <a:srgbClr val="6B6862"/>
                </a:solidFill>
                <a:latin typeface="Calibri"/>
              </a:rPr>
              <a:t>Backlog 60; overdue 50; unassigned backlog 6; on-time 30/48 = 62.5%; S$35,827.50.</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Citations</a:t>
            </a:r>
          </a:p>
          <a:p>
            <a:pPr algn="l">
              <a:spcAft>
                <a:spcPts val="300"/>
              </a:spcAft>
            </a:pPr>
            <a:r>
              <a:rPr sz="1300" b="0">
                <a:solidFill>
                  <a:srgbClr val="6B6862"/>
                </a:solidFill>
                <a:latin typeface="Calibri"/>
              </a:rPr>
              <a:t>Every figure cites the handbook or the work-order file and states its definition.</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Boundaries</a:t>
            </a:r>
          </a:p>
          <a:p>
            <a:pPr algn="l">
              <a:spcAft>
                <a:spcPts val="300"/>
              </a:spcAft>
            </a:pPr>
            <a:r>
              <a:rPr sz="1300" b="0">
                <a:solidFill>
                  <a:srgbClr val="6B6862"/>
                </a:solidFill>
                <a:latin typeface="Calibri"/>
              </a:rPr>
              <a:t>No approval, record change or invented contact details; missing facts are UNKNOWN.</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Configuration</a:t>
            </a:r>
          </a:p>
          <a:p>
            <a:pPr algn="l">
              <a:spcAft>
                <a:spcPts val="300"/>
              </a:spcAft>
            </a:pPr>
            <a:r>
              <a:rPr sz="1300" b="0">
                <a:solidFill>
                  <a:srgbClr val="6B6862"/>
                </a:solidFill>
                <a:latin typeface="Calibri"/>
              </a:rPr>
              <a:t>Name, description, instructions, OneDrive knowledge, Skill or labelled manual route, four starter prompts; agent private.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148</a:t>
            </a:r>
          </a:p>
        </p:txBody>
      </p:sp>
    </p:spTree>
  </p:cSld>
  <p:clrMapOvr>
    <a:masterClrMapping/>
  </p:clrMapOvr>
  <p:transition spd="med">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Mini Capstone: From Your Data to a Decision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mini capstone applies the whole course to a dataset your group chooses: safe data, workbook .Rules, a dashboard Skill, an interactive dashboard, a verified decision deck and a short showcase.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Repeating the workflow on unfamiliar data shows what transfers: definitions written as rules, reusable skills, independent checks and a decision-focused story.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150-row synthetic lift-maintenance table replaces real records.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149</a:t>
            </a:r>
          </a:p>
        </p:txBody>
      </p:sp>
    </p:spTree>
  </p:cSld>
  <p:clrMapOvr>
    <a:masterClrMapping/>
  </p:clrMapOvr>
  <p:transition spd="med">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Mini Capstone: From Your Data to a Decision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safe data and roles.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.Rules and build with a Skill.</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Verify KPIs and slicers.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Build the deck and showcase.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150</a:t>
            </a:r>
          </a:p>
        </p:txBody>
      </p:sp>
    </p:spTree>
  </p:cSld>
  <p:clrMapOvr>
    <a:masterClrMapping/>
  </p:clrMapOvr>
  <p:transition spd="med">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Mini Capstone: From Your Data to a Decision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Six KPI tiles reconcile to independent COUNTIFS.</a:t>
            </a:r>
          </a:p>
          <a:p>
            <a:pPr>
              <a:spcAft>
                <a:spcPts val="1000"/>
              </a:spcAft>
            </a:pPr>
            <a:r>
              <a:rPr sz="1600" b="0">
                <a:solidFill>
                  <a:srgbClr val="21201C"/>
                </a:solidFill>
                <a:latin typeface="Calibri"/>
              </a:rPr>
              <a:t>•  A five-slide deck ends with the decision requested.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151</a:t>
            </a:r>
          </a:p>
        </p:txBody>
      </p:sp>
    </p:spTree>
  </p:cSld>
  <p:clrMapOvr>
    <a:masterClrMapping/>
  </p:clrMapOvr>
  <p:transition spd="med">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THEME · MINI CAPSTONE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Mini Capstone: Group Dashboard and Decision Deck</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Work in four groups. Each group brings its own mock or sanitised dataset, writes .Rules for it, uses a dashboard Skill to build an interactive Excel dashboard with KPI tiles, charts and slicers, then turns the verified evidence into a short PowerPoint decision deck and presents it in a three-minute showcase.</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Per group: a mock or sanitised data table, a visible .Rules sheet, an interactive dashboard (six KPI tiles, three charts, slicers), a five-slide decision deck and a three-minute showcase.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Data</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Rules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Dashboard</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Deck</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Showcase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PowerPoint Copilot · Microsoft 365 Copilot web · OneDrive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152</a:t>
            </a:r>
          </a:p>
        </p:txBody>
      </p:sp>
    </p:spTree>
  </p:cSld>
  <p:clrMapOvr>
    <a:masterClrMapping/>
  </p:clrMapOvr>
  <p:transition spd="med">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12</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Data: Create a fictional 150-row engineering dataset; no real people, companies or locations.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Dashboard: @interactive-dashboard Plan six KPI tiles, three charts and slicers for tblData.</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153</a:t>
            </a:r>
          </a:p>
        </p:txBody>
      </p:sp>
    </p:spTree>
  </p:cSld>
  <p:clrMapOvr>
    <a:masterClrMapping/>
  </p:clrMapOvr>
  <p:transition spd="med">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12</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Safe data</a:t>
            </a:r>
          </a:p>
          <a:p>
            <a:pPr algn="l">
              <a:spcAft>
                <a:spcPts val="300"/>
              </a:spcAft>
            </a:pPr>
            <a:r>
              <a:rPr sz="1300" b="0">
                <a:solidFill>
                  <a:srgbClr val="6B6862"/>
                </a:solidFill>
                <a:latin typeface="Calibri"/>
              </a:rPr>
              <a:t>Mock or sanitised only; no personal, customer or confidential data.</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Dashboard</a:t>
            </a:r>
          </a:p>
          <a:p>
            <a:pPr algn="l">
              <a:spcAft>
                <a:spcPts val="300"/>
              </a:spcAft>
            </a:pPr>
            <a:r>
              <a:rPr sz="1300" b="0">
                <a:solidFill>
                  <a:srgbClr val="6B6862"/>
                </a:solidFill>
                <a:latin typeface="Calibri"/>
              </a:rPr>
              <a:t>KPI tiles reconcile to independent formulas; charts and slicers filter together.</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Deck</a:t>
            </a:r>
          </a:p>
          <a:p>
            <a:pPr algn="l">
              <a:spcAft>
                <a:spcPts val="300"/>
              </a:spcAft>
            </a:pPr>
            <a:r>
              <a:rPr sz="1300" b="0">
                <a:solidFill>
                  <a:srgbClr val="6B6862"/>
                </a:solidFill>
                <a:latin typeface="Calibri"/>
              </a:rPr>
              <a:t>Every number matches the dashboard; actions labelled proposed; decision requested.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Showcase</a:t>
            </a:r>
          </a:p>
          <a:p>
            <a:pPr algn="l">
              <a:spcAft>
                <a:spcPts val="300"/>
              </a:spcAft>
            </a:pPr>
            <a:r>
              <a:rPr sz="1300" b="0">
                <a:solidFill>
                  <a:srgbClr val="6B6862"/>
                </a:solidFill>
                <a:latin typeface="Calibri"/>
              </a:rPr>
              <a:t>Three-minute demo with one live slicer interaction and one caught Copilot error.</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154</a:t>
            </a:r>
          </a:p>
        </p:txBody>
      </p:sp>
    </p:spTree>
  </p:cSld>
  <p:clrMapOvr>
    <a:masterClrMapping/>
  </p:clrMapOvr>
  <p:transition spd="med">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Copilot Agents and Mini Capstone</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LO5: A grounded work-order agent and a group dashboard and decision deck.</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Agent answers match Control; capstone figures reconcile to the group data.</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155</a:t>
            </a:r>
          </a:p>
        </p:txBody>
      </p:sp>
    </p:spTree>
  </p:cSld>
  <p:clrMapOvr>
    <a:masterClrMapping/>
  </p:clrMapOvr>
  <p:transition spd="med">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156</a:t>
            </a:r>
          </a:p>
        </p:txBody>
      </p:sp>
    </p:spTree>
  </p:cSld>
  <p:clrMapOvr>
    <a:masterClrMapping/>
  </p:clrMapOvr>
  <p:transition spd="med">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Connected Copilot workflow</a:t>
            </a:r>
          </a:p>
          <a:p>
            <a:pPr algn="l">
              <a:spcAft>
                <a:spcPts val="300"/>
              </a:spcAft>
            </a:pPr>
            <a:r>
              <a:rPr sz="1300" b="0">
                <a:solidFill>
                  <a:srgbClr val="6B6862"/>
                </a:solidFill>
                <a:latin typeface="Calibri"/>
              </a:rPr>
              <a:t>Integrate Word, Excel, PowerPoint and Outlook Copilot in a coherent maintenance workflow with explicit source grounding and verified prompts.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Reusable maintenance skills</a:t>
            </a:r>
          </a:p>
          <a:p>
            <a:pPr algn="l">
              <a:spcAft>
                <a:spcPts val="300"/>
              </a:spcAft>
            </a:pPr>
            <a:r>
              <a:rPr sz="1300" b="0">
                <a:solidFill>
                  <a:srgbClr val="6B6862"/>
                </a:solidFill>
                <a:latin typeface="Calibri"/>
              </a:rPr>
              <a:t>Distinguish account Personalisation, workbook .Rules and reusable Skills; configure, create, apply and verify Pareto and maintenance-reporting Skills using water-service evidence.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Create and apply a custom interactive-dashboard Skill with verified measures, shared filter scope, editable charts and controlled refresh and rerun tests.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Professional presentation</a:t>
            </a:r>
          </a:p>
          <a:p>
            <a:pPr algn="l">
              <a:spcAft>
                <a:spcPts val="300"/>
              </a:spcAft>
            </a:pPr>
            <a:r>
              <a:rPr sz="1300" b="0">
                <a:solidFill>
                  <a:srgbClr val="6B6862"/>
                </a:solidFill>
                <a:latin typeface="Calibri"/>
              </a:rPr>
              <a:t>Continue from the dashboard to a professional management presentation, with evidence-based headlines, source notes, rehearsal and a reviewed handoff draft.</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Agents and capstone</a:t>
            </a:r>
          </a:p>
          <a:p>
            <a:pPr algn="l">
              <a:spcAft>
                <a:spcPts val="300"/>
              </a:spcAft>
            </a:pPr>
            <a:r>
              <a:rPr sz="1300" b="0">
                <a:solidFill>
                  <a:srgbClr val="6B6862"/>
                </a:solidFill>
                <a:latin typeface="Calibri"/>
              </a:rPr>
              <a:t>Build and test a grounded work-order agent with Agent Builder, then apply the full data-to-decision workflow to your own mock or sanitised data in a group capstone.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157</a:t>
            </a:r>
          </a:p>
        </p:txBody>
      </p:sp>
    </p:spTree>
  </p:cSld>
  <p:clrMapOvr>
    <a:masterClrMapping/>
  </p:clrMapOvr>
  <p:transition spd="med">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Your Next Maintenance Report</a:t>
            </a:r>
          </a:p>
        </p:txBody>
      </p:sp>
      <p:sp>
        <p:nvSpPr>
          <p:cNvPr id="5" name="Rounded Rectangle 4"/>
          <p:cNvSpPr/>
          <p:nvPr/>
        </p:nvSpPr>
        <p:spPr>
          <a:xfrm>
            <a:off x="777240" y="1828800"/>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Use a copy and a new explicit reporting date.</a:t>
            </a:r>
          </a:p>
        </p:txBody>
      </p:sp>
      <p:sp>
        <p:nvSpPr>
          <p:cNvPr id="10" name="Rounded Rectangle 9"/>
          <p:cNvSpPr/>
          <p:nvPr/>
        </p:nvSpPr>
        <p:spPr>
          <a:xfrm>
            <a:off x="777240" y="3316224"/>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3316224"/>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Supply verified source/date/scope and test skill reruns.</a:t>
            </a:r>
          </a:p>
        </p:txBody>
      </p:sp>
      <p:sp>
        <p:nvSpPr>
          <p:cNvPr id="15" name="Rounded Rectangle 14"/>
          <p:cNvSpPr/>
          <p:nvPr/>
        </p:nvSpPr>
        <p:spPr>
          <a:xfrm>
            <a:off x="777240" y="4803648"/>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803648"/>
            <a:ext cx="10634472"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Reconcile every claim and decision boundary.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158</a:t>
            </a:r>
          </a:p>
        </p:txBody>
      </p:sp>
    </p:spTree>
  </p:cSld>
  <p:clrMapOvr>
    <a:masterClrMapping/>
  </p:clrMapOvr>
  <p:transition spd="med">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practising with the IES Academy course materials.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159</a:t>
            </a:r>
          </a:p>
        </p:txBody>
      </p:sp>
    </p:spTree>
  </p:cSld>
  <p:clrMapOvr>
    <a:masterClrMapping/>
  </p:clrMapOvr>
  <p:transition spd="med">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THANK YOU FOR ATTENDING</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now have the practical skills from every lab in this course — keep applying them to your own work.</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160</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