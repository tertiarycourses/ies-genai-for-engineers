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Descending overdue counts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Pump Service</c:v>
                </c:pt>
                <c:pt idx="1">
                  <c:v>Meter Service</c:v>
                </c:pt>
                <c:pt idx="2">
                  <c:v>Leak Repair</c:v>
                </c:pt>
                <c:pt idx="3">
                  <c:v>Valve Repair</c:v>
                </c:pt>
                <c:pt idx="4">
                  <c:v>Pipe Replacement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12</c:v>
                </c:pt>
                <c:pt idx="2">
                  <c:v>8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share (%)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Pump Service</c:v>
                </c:pt>
                <c:pt idx="1">
                  <c:v>Meter Service</c:v>
                </c:pt>
                <c:pt idx="2">
                  <c:v>Leak Repair</c:v>
                </c:pt>
                <c:pt idx="3">
                  <c:v>Valve Repair</c:v>
                </c:pt>
                <c:pt idx="4">
                  <c:v>Pipe Replacement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</c:v>
                </c:pt>
                <c:pt idx="1">
                  <c:v>60</c:v>
                </c:pt>
                <c:pt idx="2">
                  <c:v>76</c:v>
                </c:pt>
                <c:pt idx="3">
                  <c:v>92</c:v>
                </c:pt>
                <c:pt idx="4">
                  <c:v>100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Backlog work orders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Sheet1!$A$2:$A$6</c:f>
              <c:strCache>
                <c:ptCount val="5"/>
                <c:pt idx="0">
                  <c:v>Woodlands Hub</c:v>
                </c:pt>
                <c:pt idx="1">
                  <c:v>Jurong Depot</c:v>
                </c:pt>
                <c:pt idx="2">
                  <c:v>Tampines Centre</c:v>
                </c:pt>
                <c:pt idx="3">
                  <c:v>Changi Workshop</c:v>
                </c:pt>
                <c:pt idx="4">
                  <c:v>Paya Lebar Office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12</c:v>
                </c:pt>
                <c:pt idx="2">
                  <c:v>16</c:v>
                </c:pt>
                <c:pt idx="3">
                  <c:v>20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IES ACADEMY  • 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Version v2.3  ·  18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241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Cambria"/>
              </a:rPr>
              <a:t>GenAI for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IES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4A9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3550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Welcome &amp; Housekeeping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Let's Know Each Other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Your name, role and one maintenance reporting task.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6772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6772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Which app holds the work-order source?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Which date and status definitions determine overdue work?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6772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6772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Check which Copilot buttons and skills menus are available in your assigned apps.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Set your mobile phone to silent mode.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Participate actively — no question is too small.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Mutual respect: agree to disagree.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One conversation at a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Be punctual; return from breaks on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Learn by doing — try every hands-on lab.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COURSE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Access Course Materials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IES Academy course folder supplied by your trainer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6313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courseware links for this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5386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Download the Slides, Learner Guide and Lesson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4459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labs folder for all 12 lab folders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3532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Keep the files together as you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Course materials: trainer-supplied IES Academy folder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Lesson Plan — 1 Day, 7.5 instructional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Course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Day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1: Fundamentals of Microsoft 365 Copilot (Labs 1–2)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2: Personalisation, .Rules and Skills for Excel (Labs 3–6)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3: Interactive Dashboards with Custom Skills (Labs 7–8)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4: Create a Professional Presentation with PowerPoint Copilot (Labs 9–10)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5: Copilot Agents and Mini Capstone (Labs 11–12)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9:30 am - 6:30 pm (1-hour lunch; two 15-minute tea breaks; 7.5 instructional hours)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Instructional time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7.5 hours · 12 connected labs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Learning arc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Concept → demonstrate → build → verify → discuss → recap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Connected Copilot workflow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Integrate Word, Excel, PowerPoint and Outlook Copilot in a coherent maintenance workflow with explicit source grounding and verified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Reusable maintenance skills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Distinguish account Personalisation, workbook .Rules and reusable Skills; configure, create, apply and verify Pareto and maintenance-reporting Skills using water-service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dashboard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Create and apply a custom interactive-dashboard Skill with verified measures, shared filter scope, editable charts and controlled refresh and rerun tests.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presentation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Continue from the dashboard to a professional management presentation, with evidence-based headlines, source notes, rehearsal and a reviewed handoff draft.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Agents and capstone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Build and test a grounded work-order agent with Agent Builder, then apply the full data-to-decision workflow to your own mock or sanitised data in a group capstone.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How You'll Learn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Trainer demonstrates the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6313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You build it yourself in the hands-on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5386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Verify with the lab's 'Test it'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4459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Discuss and troubleshoot together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3532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Recap against the learning outcomes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Fundamentals of Microsoft 365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One verified maintenance workflow across four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Key Concepts —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Large language models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Understand your request and generate natural-language answers.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Grounding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Answers anchored in your work data: emails, files, meetings.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Permissions &amp; privacy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Shows only data you can access; prompts do not train the models.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Prompts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State the goal, context, source and expectations.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Hands-On Labs —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Excel to Word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Prepare Work Orders and Draft the Operations Brief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Word to PowerPoint and Outlook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the Cross-App Maintenance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CONNECTED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Northstar Maintenance Evidence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Excel: clean and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Word: operations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PowerPoint: decision 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Outlook: reviewed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Work Order Has State, Scope and Ownership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WO-2026-0003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Woodlands 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Leak Repair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918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In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2918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3832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4903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Chloe Goh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120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Current owner is evidence. Proposed owner is a separate planning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Microsoft 365 Copilot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Copilot in the browser and in each Office app shares one set of controls.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Knowing where each control lives lets you choose how much reasoning, context and authority Copilot gets for a task.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Auto is the default model; Think deeper suits multi-step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Microsoft 365 Copilot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6194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Model selection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Auto, Quick response or Think deeper; Auto chooses for you.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3504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3504" y="1783080"/>
            <a:ext cx="336194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New chat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Starts a clean conversation; each chat is its own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768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9768" y="1783080"/>
            <a:ext cx="336194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History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Earlier chats in the left pane to reopen or continue.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87368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87368"/>
            <a:ext cx="336194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Mode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Excel/Word: Chat only, Plan or Allow editing (Edit).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3504" y="4087368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3504" y="4087368"/>
            <a:ext cx="336194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+ Add content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Reference a file with / or +, or choose skills to apply.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87368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87368"/>
            <a:ext cx="336194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Personalisation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Settings (...) &gt; Personalization: your account preferences.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Microsoft 365 Copilot Interface (cont.)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6194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Skills &amp; plugins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Settings (...) &gt; Manage plugins &amp; skills; call one with @.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3504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3504" y="1783080"/>
            <a:ext cx="336194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Agents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Agents &amp; Skills in the left pane; build with Agent Builder.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768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9768" y="1783080"/>
            <a:ext cx="336194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Data protection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The green shield shows enterprise data protection is 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Microsoft 365 Copilot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Pick the model and start a new chat.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Reference the file or choose a skill.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Choose Chat only, Plan or Allow editing.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history, settings and skills.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The Microsoft 365 Copilot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Use / or + to reference the OneDrive workbook in Word.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Chat only for inspection, Plan before edits, Allow editing to apply.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Grounding gives an AI request the specific evidence it should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maintenance figure can be correct in Excel yet become wrong in an email when the source, reporting date or filter scope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Excel analyses tblWorkOrders; Word receives the checked summary.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the authoritative work-order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Provide goal, context, source and expected output.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against the named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Pass a verified snapshot to the next app.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PowerPoint receives the reviewed Word brief; Outlook receives the same checked values.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An Excel chat transcript is not an automatic PowerPoint data 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row represents one work order, identified by Work_Order_ID.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exact duplicated export row changes counts and cost without representing new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122 raw rows contain 120 distinct work-order IDs.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one ID per work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Find exact repeated export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Standardise labels without inventing facts.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cleaned counts and cost.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Total = Closed + Cancelled + Backlog after exact duplicate removal.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Due on 30 September is not overdue at the 30 September snapshot.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THEME · EXCEL TO 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Prepare Work Orders and Draft the Operations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You are Northstar Water Services’ maintenance coordinator. A Q3 export contains repeated IDs and inconsistent category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Northstar_Clean_Work_Orders.xlsx and Northstar_Operations_Brief.docx, with reconciled counts, reporting scope and a source register.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Clean table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unique Work_Order_ID rows; five canonical job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Portfolio identity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= 48 Closed + 12 Cancelled + 60 backlog.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Evidence handoff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Overdue 50; unassigned backlog 6; total cost S$35,827.50. Word agrees with Excel.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No guessed owner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Blank assignments remain blank; proposals labelled unapproved.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useful prompt combines the intended goal, operational context, named source and output expectations.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same number may have different meaning when a chart counts all work orders while an email calls it open backlog.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Goal: draft a maintenance update for the operations manager.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the goal and audience.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Attach or select the actual 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Specify definitions and missing-value behaviour.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the returned claims.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Source: reviewed Northstar operations brief, all filters All, 30 September.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Expectation: label assignment suggestions as proposals and leave unknown approvals UNKNOWN.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Copilot can help structure a draft email from supplied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apparently routine update can accidentally promise technician reassignment or imply that a manager approved a recovery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Current owner blank; proposed owner Aisha remains unapproved.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Provide the synthetic thread and checked 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Draft a concise update.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recipients, facts and action wording.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the unsent draft and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draft addressed to example.invalid is a training artifact.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handoff says decision requested, not decision approved.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THEME · WORD TO POWERPOINT AND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Create the Cross-App Maintenance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Continue the verified operations brief from Lab 1. You will turn it into an initial PowerPoint update, then prepare an Outlook reply to a synthetic maintenance thread.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Northstar_Initial_Update.pptx, an unsent Outlook draft and an Evidence_Log with Excel, Word, PowerPoint and Outlook figures reconciled.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Four apps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Excel Checks, Word brief, four-slide update and unsent Outlook draft share the same date and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Cross-app grounding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Named file or pasted verified evidence is provided in each app; no assumed shared chat.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Draft boundary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example.invalid recipient; nothing sent and no assignment approved.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Recap -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LO1: Same work-order evidence across four apps.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120 clean IDs and reconciled brief/update/draft.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Personalisation, .Rules and Skills for Excel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Account preferences, workbook conventions and reusable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Key Concepts — Personalisation, .Rules and Skills for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61944" cy="4370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6194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2154936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Personalisation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Your account preferences, applied across every workbook.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3504" y="1783080"/>
            <a:ext cx="3361944" cy="4370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3504" y="1783080"/>
            <a:ext cx="336194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9536" y="3694176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9536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1056" y="1911096"/>
            <a:ext cx="2154936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.Rules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Visible column-A instructions that travel with the workbook.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768" y="1783080"/>
            <a:ext cx="3361944" cy="4370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9768" y="1783080"/>
            <a:ext cx="336194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5800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5800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320" y="1911096"/>
            <a:ext cx="2154936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Skills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Reusable methods: built-in @chart-design, or your own SKILL.md such as Pareto and dashboard Skills.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Hands-On Labs — Personalisation, .Rules and Skills for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Labs 3–4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Personalisation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Personalise Copilot in Excel for Consistent Service Reports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Workbook .Rules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and Test Workbook .Rules for Water Service 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Labs 5–6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Custom Pareto Chart Skill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Use the Built-in Chart Skill, then Create a Custom Pareto Skill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Reporting Skill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Create, Use and Improve the Maintenance Reporting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SCOPE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Four Scopes of Customisation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Personalisation: your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.Rules: this workbook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Skill: repeated 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Prompt: this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Account Personalisation and Specific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Excel Copilot Personalisation stores account-level preferences for display, writing style and formula conventions.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Consistent S$ display and short explanations reduce repetitive requests without changing numeric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value of 35827.5 can display as S$35,827.50 or S$35,827.5000.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Account Personalisation and Specific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Choose recurring display preferences.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them to the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Compare two workbook outputs.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Test a specific request and restore.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Account Personalisation and Specific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Changing a number format does not change its numeric value.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Another user opening the file does not receive your account preferences.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THEME · PERSONALISATION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Personalise Copilot in Excel for Consistent Service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Configure temporary account-level display and explanation preferences, test them in two copies of the same verified Northstar workbook, and distinguish preferences from workbook-specific definitions. A task-specific prompt can supersede Personalisation.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Northstar_Personalisation_Test.xlsx, a two-workbook preference comparison and a private note confirming settings restored.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in Excel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Source controls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Both copies retain120 unique IDs, original owners/statuses and exact cost 35827.50.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Display check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Saved S$ two-decimal/date/explanation preferences are checked in two workbooks; observed misses are recorded.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Specific request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The output can show35,827.5000 without changing its value or the saved preferences.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Restoration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Previous account preferences restored; private baseline note stays outside public courseware.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WORKBOOK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Visible .Rules: Instructions Travel with the Workbook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2024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Northstar reporting conventions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9748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Preserve original IDs and current owners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8328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4747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Backlog excludes Closed and Cancelled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51959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251959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Reporting date: 2026-09-30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Formula rule reads Control!B2; Copilot uses the recalculated result on the next request.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Visible Workbook .Rules and Formula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visible worksheet named exactly .Rules, including the dot, supplies workbook-specific Copilot instructions in column 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workbook can carry stable scope, status, cost-display and preservation instructions alongside the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date rule returns Reporting date: 2026-09-30 from Control!B2.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Visible Workbook .Rules and Formula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Name the visible sheet exactly .Rules.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Place one instruction per column-A cell.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Recalculate a formula-driven rule.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the next output and copied workbook.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Visible Workbook .Rules and Formula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Hidden .Rules is not used; keep the final sheet visible.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No universal precedence among rules, preferences and Skills is assumed.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THEME · WORKBOOK .RULES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Create and Test Workbook .Rules for Water Service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Turn Northstar’s workbook conventions into a visible .Rules worksheet. Keep one rule per cell in column A, include a formula-driven reporting-date rule, test the output, and verify that the sheet travels with a copied workbook.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Northstar_Rules_Workbook.xlsx with visible .Rules column A, a checked Rules_Test output and a copied-workbook sharing check.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in Excel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Recognition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Exactly .Rules; visible worksheet; instructions in column A, one idea per cell.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Formula rule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Reporting-date formula recalculates and displays2026-09-30; no source values changed.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Output controls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total;60 backlog;50 overdue;30/48 on-time;S$35,827.50 at All scope.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Workbook copy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Visible .Rules travels with the copy; account preferences are not exported.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NATIVE EDITABLE PARETO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Overdue Contribution: 50 Work Orders, Five Categories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828800"/>
          <a:ext cx="50292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828800"/>
          <a:ext cx="502920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Four categories first reach 80%. Equal counts use alphabetical ties. Contribution is not cause.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Built-in and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Copilot in Excel ships with built-in skills you call with @, such as @chart-design for charts.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Start with a built-in skill when the task is generic, such as making a clear chart.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@chart-design draws a clean overdue-by-category bar chart.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Built-in and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Turn on chart-design under Visualization.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Call @chart-design for a generic chart.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Spot the rules it cannot know.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a custom SKILL.md for those rules.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Apply the Concept — Built-in and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It does not know the overdue population or Pareto tie order.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water-service-pareto adds the cumulative line and named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Pareto Skill: Counts, Sorting and Cumulative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Pareto contribution chart orders category counts from largest to smallest and adds a cumulative-percentage 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Skill turns a recurring grouping-and-charting method into reusable instructions.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Pump 18; Meter 12; Leak 8; Valve 8; Pipe 4: total 50.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Pareto Skill: Counts, Sorting and Cumulative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source, population, date and grouping.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Count and sort with stable 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Calculate cumulative count / eligible total.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Build and verify an editable dual-axis chart.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Pareto Skill: Counts, Sorting and Cumulative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Cumulative percentages are 36%, 60%, 76%, 92%, 100%.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Four of five categories first reach 80%; do not force an 80/20 conclusion.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THEME · CUSTOM PARETO CHART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Use the Built-in Chart Skill, then Create a Custom Pareto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Start with Excel’s built-in @chart-design skill, then author water-service-pareto/SKILL.md with Copilot, install it in Excel and apply it to the same overdue work-order queue. Build a descending count chart plus cumulative-percentage line, then check a controlled rerun and a second grouping.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water-service-pareto/SKILL.md, Northstar_Pareto.xlsx with Pareto_Job_Category and Pareto_Site, and a verified rerun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Copilot · Microsoft 365 Copilot web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Built-in skill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chart-design enabled under Visualization; @chart-design demo chart created without changing the 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Eligible population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Overdue backlog50; no Closed or Cancelled records included.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Category counts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Pump Service=18; Meter Service=12; Leak Repair=8; Valve Repair=8; Pipe Replacement=4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Cumulative percentages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36%,60%,76%,92%,100%; Leak Repair precedes Valve Repair in the8-count tie.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Chart and rerun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Editable columns plus cumulative line; right axis0%-100%; matching output replaced only after review, without duplicates.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Source and interpretation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original records preserved; Site grouping also totals50; no invented root cause.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SKILL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Anatomy of the Maintenance Skill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75564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name +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5564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When should Copilot use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32304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Input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4203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table or snapshot + date +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54203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What evidence is missing?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18688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2841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328416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definitions + source preservation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2841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How should measures be calculated?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05072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1148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summary / charts / proposals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1148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Which named areas may change?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91456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0118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901184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counts + denominators + reruns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90118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What proves the result?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REPEATABLE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Skill Improves Through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v1 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Run on verified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Find one concrete defect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v2 + repeat the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prompt is one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skill makes stable definitions and review boundaries reusable: backlog excludes two terminal statuses, overdue uses a fixed date, missing owners stay missing and output reruns do not duplicate sheets.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maintenance-reporting contains definitions and output boundaries.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a recurring task.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Separate stable rules from current inputs.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name, description and instructions.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Install, invoke and inspect the result.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Each request still supplies this month’s source, date and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Native skill use and pasted manual instructions are recorded differently.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Excel uses its Manage plugins &amp; skills interface and an app-created OneDrive skills folder.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Folder-name/frontmatter mismatches, an extra .txt extension, unavailable licence features and disabled skills can all prevent discovery.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Folder maintenance-reporting matches YAML name maintenance-reporting.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complete UTF-8 SKILL.md.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app-created skills location.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Refresh and verify the matching name.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Run and record a smoke test.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Excel and PowerPoint both show the skill before native invocation.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If a menu is absent, manual practice is labelled feature unavailable.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Repeatability means the same verified inputs and method yield equivalent business measures and a controlled output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Reporting skills may be used every week or month, so uncontrolled output accumulation quickly creates conflicting summaries.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120 source IDs remain 120 after rerunning Maintenance_Summary.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Capture the source fingerprint and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Request a reviewed rerun plan.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Replace only named output areas.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Compare source and measures again.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Missing report date causes a clarification request, not invented numbers.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second output sheet is a defect when replacement was requested.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Assignment planning combines the work category, existing owner, estimated hours, technician primary category and available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same skill can improve Excel analysis and PowerPoint wording by preserving this boundary.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Unassigned work is counted only within nonterminal statuses.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unassigned backlog.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Compare category and available hours.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the proposal and assumptions.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Request the manager decision.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Available hours minus proposed effort is a planning check.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source Assigned_To stays unchanged until a real authorised operational update.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THEME · REPORTING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Create, Use and Improve the Maintenance Reporting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Reuse the Skill-authoring and installation method from Lab 5 to create maintenance-reporting. Apply it in Excel and PowerPoint, test missing inputs and a controlled rerun, then refine v2 using actual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Northstar_Skill_Report.xlsx with Maintenance_Summary and Assignment_Proposals, Northstar_Skill_Update.pptx, SKILL.md v2 and a before/after improvement log.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and PowerPoint Copilot · Microsoft 365 Copilot web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Source preserved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unique orders; current owner/status unchanged.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Skill outputs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Backlog 60; overdue 50; on-time closed 30/48; cost S$35,827.50.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Improvement evidence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Input guard and rerun tested; v1/v2 retained; PowerPoint four-slide output accurate.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Recap - Personalisation, .Rules and Skills for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LO2: Personalisation, .Rules, built-in @chart-design, Pareto and reporting Skills tested.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Preserved source plus missing-input and rerun tests.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Interactive Dashboards with Custom Skills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Create the Skill, build the dashboard and prove interactions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Key Concepts — Interactive Dashboards with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Measures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Six formula KPIs with clear denominators and N/A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Visual design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KPI tiles and charts whose titles state the finding.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Interactions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Dropdowns and slicers filter every tile and chart.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Refresh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Known deltas in an isolated test copy.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Hands-On Labs — Interactive Dashboards with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Custom Dashboard Skill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and Apply a Custom Interactive Dashboard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Interactive Filters and Refresh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Use the Dashboard Skill for Filters, Refresh and Safe Reruns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WORKED DASHBOARD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Northstar Portfolio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Total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Overdue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Closed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On-time closed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30/48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Recorded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S$35,828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NATIVE EDITABLE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Backlog by Site: Count the Nonterminal Work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691640"/>
          <a:ext cx="1033272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REUSABLE DASHBOARD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Interactive Dashboard Skill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Named source +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Six shared-scope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Four filters + three 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Refresh + safe rerun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Dashboard Skill as a Reusable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water-service-dashboard is a separate custom Skill whose instructions define inputs, six KPI formulas, four shared filter selectors, three editable charts and controlled output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reusable contract makes every KPI and chart obey the same AND filter logic and allows a safe refresh using table references.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Dashboard B2:B5 select site, category, status and owner.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Dashboard Skill as a Reusable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Author and review the complete SKILL.md.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Install and verify the dashboard name.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Invoke a plan and build the reviewed output.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Test common filters, append refresh and reruns.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Custom Dashboard Skill as a Reusable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B7:B12 and all chart summaries use the identical selected rows.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122-row sandbox is separate from the untouched 120-row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measure needs a business definition, numerator, denominator where relevant, date rule and filter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Changing the denominator can make an attractive rate meaningless.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Closed-only rate is different from closed/total completion share.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source fields and scope.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Compute count and denominator.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Handle empty selections explicitly.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against controls.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due-today backlog item is not overdue under a strict before-date rule.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All selected status/chart counts reconcile to total selected work orders.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should make an operational decision easier.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Consistent chart scales, short labels, whitespace and limited accents help a manager compare the work queue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Status count chart shows the portfolio mix.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Name the maintenance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Choose the measure and comparison.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an appropriate labelled chart.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meaning and readability.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Site backlog chart excludes Closed and Cancelled.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category count does not establish the root cause of overdue jobs.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THEME · CUSTOM DASHBOARD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Create and Apply a Custom Interactive Dashboard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Create water-service-dashboard/SKILL.md for the Northstar maintenance workflow, install it in Excel, then invoke it to plan and build an interactive dashboard. Six KPIs and three charts share four filter selections.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Northstar_Dashboard.xlsx with a Dashboard layout, six verified measures, three labelled charts and a measure dictionary ready for Lab 8 filters.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Copilot · Microsoft 365 Copilot web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Baseline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Total 120; backlog 60; overdue 50; closed 48.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SLA and cost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30/48 = 62.5%; S$35,827.50.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Chart reconciliation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Three count summaries each total 120; formulas reference tblWorkOrders.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Decision design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Measures dictionary and source/date visible; no unsupported cause claims.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Same Data, Different Filter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166360" cy="3977639"/>
          </a:xfrm>
          <a:prstGeom prst="roundRect">
            <a:avLst>
              <a:gd name="adj" fmla="val 5517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All 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Total: 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723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Backlog: 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8444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Overdue: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9651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Closed: 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0857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On-time closed: 30/48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166360" cy="3977639"/>
          </a:xfrm>
          <a:prstGeom prst="roundRect">
            <a:avLst>
              <a:gd name="adj" fmla="val 5517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Woodlands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603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Total: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723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Backlog: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8444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Overdue: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9651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Closed: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60857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On-time closed: 10/16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Interactive means a learner-controlled selection changes the evidence shown.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can appear interactive while only one chart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Woodlands Hub in B2 or in the Site slicer gives 24 work orders.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the selector cells.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the same AND mask everywhere.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Test each control and edge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selected chart and KPI totals.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Status New gives zero Closed and an N/A closure rate.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D3 warns while any slicer hides source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refresh test deliberately introduces known new records and verifies the expected delta.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correct dashboard today may fail after the next export if formulas reference a fixed cell range.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Two test rows increase total by2 and recorded cost byS$400.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an isolated sandbox copy.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Append known unique test rows.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Recalculate and verify expected deltas.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Handoff the untouched baseline.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Only one new row adds to backlog/overdue; the other adds to on-time Closed.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final deck uses the untouched 120-row baseline, not the test copy.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THEME · INTERACTIVE FILTERS AND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Use the Dashboard Skill for Filters, Refresh and Safe Reruns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Continue Lab 7 by making four dropdown selectors control every KPI and chart. Test a single site, a zero-denominator selection and a combined category/owner filter.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Northstar_Dashboard.xlsx with four working filters plus Northstar_Dashboard_Refresh_Test.xlsx, filter evidence and a verified baseline snapshot for PowerPoint.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Copilot · Microsoft 365 Copilot web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Woodlands control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Total 24; backlog 8; overdue 7; closed 16; cost S$6,668.50; on-time 10/16.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scope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Changing any dropdown or slicer affects all six KPI tiles and all chart counts; D3 reports slicer filters.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Edge case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No Closed -&gt; N/A; no rows -&gt; zero count/cost and N/A rate.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Refresh sandbox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122 total;49 closed;61 backlog;51 overdue;S$36,227.50;31/49 on-time.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Handoff baseline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Return to 120-row untouched baseline; date and All scope recorded.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109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Recap - Interactive Dashboards with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LO3: Six KPI tiles and three charts follow four dropdowns and slicers.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Baseline controls and known refresh deltas.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110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Create a Professional Presentation with PowerPoint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Continue the dashboard into a decision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111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Key Concepts —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Evidence story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Observation, implication, action and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Charts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Reviewed values, provenance and snapshot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Refinement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Hierarchy, notes and actual rehearsal feedback.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Handoff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Reconciled pack and unsent communication.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112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Hands-On Labs —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Dashboard to presentation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Turn Dashboard Evidence into a Management 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Professional handoff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Refine and Present the Maintenance Decision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113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TO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Verified Chart Becomes 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Observed 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Operational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Proposed recovery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Manager decision requested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114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management presentation transforms evidence into a sequence of observations, implications, proposed actions and a decision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Copilot can accelerate outlines and drafting, but a persuasive invented conclusion is still wrong.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Backlog by site supports prioritisation, not a proven cause.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115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Freeze the verified dashboard snapshot.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Register each proposed claim.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a reviewed Word brief.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Generate and reconcile the deck.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116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Available-hours evidence supports a capacity discussion, not confirmed allocation.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final slide asks management to decide on a proposed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117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template supplies slide layouts, typography and colours; it does not supply correct 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Approximate AI-generated charts can contradict source values while looking plausible.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editable embedded chart remains a copy rather than a tested live link.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118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Select the reviewed brief.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the existing template.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Insert verified charts or tables.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source and snapshot scope.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119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An image is labelled as a snapshot at 30 September.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All eight slides use one reviewed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120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THEME · DASHBOARD TO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Turn Dashboard Evidence into a Management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Continue the baseline dashboard from Topic 3. Build a slide evidence register and a Word presentation brief before asking PowerPoint Copilot for an eight-slide management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Northstar_Presentation_Brief.docx, Northstar_Management_Draft.pptx and a slide-by-slide evidence register tied to the 120-row dashboard snapshot.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121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122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Evidence continuity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Every deck figure maps to the 120-row Lab 8 baseline and slide evidence register.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Eight-slide narrative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Observation -&gt; implication -&gt; proposed action -&gt; decision; no invented cause/savings.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Chart semantics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Backlog charts exclude Closed/Cancelled; embedded/image copies labelled snapshot.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123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ARTIFACT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Maintenance Reporting Handoff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Interactive workbook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Dated Word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Static PPTX +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Reviewed unsent 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124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Refinement improves the clarity of the existing evidence without changing its meaning.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well-designed deck can still fail when the speaker’s notes contain different numbers or a proposal is spoken as an approved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One message per slide; chart labels remain readable.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125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Audit the draft against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reviewed design 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Rehearse and record actual feedback.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PPTX and exported PDF.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126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45-second note explains evidence and limitation.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Partner feedback leads to one recorded revision.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127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final pack contains an interactive Excel dashboard, a fixed reporting brief, a static PowerPoint/PDF snapshot, the custom skill and a reviewed communication draft.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Updating one artifact without the others creates inconsistent communication.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PowerPoint and PDF both show eight slides/pages from the same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128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final artifacts.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actual filenames and links.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the handoff draft.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Preserve the dated snapshot and skill.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129</a:t>
            </a:r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Outlook does not claim a missing attachment was sent.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next update reruns the method with new verified inputs.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130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THEME · PROFESSIONAL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Refine and Present the Maintenance Decision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Refine the management deck using the same custom skill and reviewed dashboard evidence. Improve hierarchy, consistency and speaker notes, test the story in a short rehearsal, and prepare a reviewed Outlook handoff draft.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Northstar_Management_Final.pptx/PDF, a rehearsal record, final evidence register and unsent Outlook handoff draft with accurate artifact links.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131</a:t>
            </a:r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132</a:t>
            </a:r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Presentation integrity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Eight slides and eight PDF pages; visible figures agree with verified register.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delivery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Readable chart labels, consistent design, evidence-specific notes and actual rehearsal improvement.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Final continuity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Baseline dashboard, brief, deck and unsent draft agree; static snapshot stated.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Decision boundary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No real email sent or work order reassigned; proposed actions remain proposed.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133</a:t>
            </a:r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Recap -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LO4: Eight-slide evidence story and reviewed handoff.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PDF, notes, register and actual rehearsal agree.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134</a:t>
            </a:r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Copilot Agents and Mini Capstone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Build a work-order agent, then apply the whole workflow in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135</a:t>
            </a:r>
          </a:p>
        </p:txBody>
      </p:sp>
    </p:spTree>
  </p:cSld>
  <p:clrMapOvr>
    <a:masterClrMapping/>
  </p:clrMapOvr>
  <p:transition spd="med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Key Concepts — Copilot Agents and Mini Capstone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Agent Builder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Create a specialist Copilot agent without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OneDrive files the agent searches and cites.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Instructions &amp; Skills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Role, rules and a reusable work-order Q&amp;A method.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Mini capstone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Groups turn safe data into a dashboard and decision deck.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136</a:t>
            </a:r>
          </a:p>
        </p:txBody>
      </p:sp>
    </p:spTree>
  </p:cSld>
  <p:clrMapOvr>
    <a:masterClrMapping/>
  </p:clrMapOvr>
  <p:transition spd="med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Hands-On Labs — Copilot Agents and Mini Capstone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Copilot Agent Builder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Build a Work-Order Agent with Agent Builder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Mini Capstone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Mini Capstone: Group Dashboard and Decision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137</a:t>
            </a:r>
          </a:p>
        </p:txBody>
      </p:sp>
    </p:spTree>
  </p:cSld>
  <p:clrMapOvr>
    <a:masterClrMapping/>
  </p:clrMapOvr>
  <p:transition spd="med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What Is Agent Builder?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Agent Builder is the no-code tool in Microsoft Copilot for creating your own specialist agent.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agent packages a recurring job, here answering work-order questions, so colleagues get consistent, grounded and bounded answers without rewriting prompts.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Knowledge: the handbook and the clean work-order file from OneDrive.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138</a:t>
            </a:r>
          </a:p>
        </p:txBody>
      </p:sp>
    </p:spTree>
  </p:cSld>
  <p:clrMapOvr>
    <a:masterClrMapping/>
  </p:clrMapOvr>
  <p:transition spd="med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11 · AGENT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Agent Builder: What You Configure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6194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Describe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Chat with Agent Builder to draft the agent in plain English.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3504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3504" y="1783080"/>
            <a:ext cx="336194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Name &amp; description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What the agent is for; shown to people you share it with.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768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9768" y="1783080"/>
            <a:ext cx="336194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Instructions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Role, sources, definitions, tone and boundaries (8,000 characters).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87368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87368"/>
            <a:ext cx="336194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OneDrive/SharePoint files, uploads or websites it can search.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3504" y="4087368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3504" y="4087368"/>
            <a:ext cx="336194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Skills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Reusable SKILL.md packages uploaded as a .zip (preview).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87368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87368"/>
            <a:ext cx="336194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Try it &amp; share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Test, select Create, then share as Can chat or Can edit.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139</a:t>
            </a:r>
          </a:p>
        </p:txBody>
      </p:sp>
    </p:spTree>
  </p:cSld>
  <p:clrMapOvr>
    <a:masterClrMapping/>
  </p:clrMapOvr>
  <p:transition spd="med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11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What Is Agent Builder?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Describe the agent’s job.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Configure instructions and knowledge.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Add a Skill and starter prompts.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Test, create and share safely.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140</a:t>
            </a:r>
          </a:p>
        </p:txBody>
      </p:sp>
    </p:spTree>
  </p:cSld>
  <p:clrMapOvr>
    <a:masterClrMapping/>
  </p:clrMapOvr>
  <p:transition spd="med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11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Apply the Concept — What Is Agent Builder?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Skill: work-order-qa sets definitions, citations and UNKNOWN rules.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Boundary test: the agent refuses to approve a reassignment.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141</a:t>
            </a:r>
          </a:p>
        </p:txBody>
      </p:sp>
    </p:spTree>
  </p:cSld>
  <p:clrMapOvr>
    <a:masterClrMapping/>
  </p:clrMapOvr>
  <p:transition spd="med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11 THEME · COPILOT AGENT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Build a Work-Order Agent with Agent Builder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Create Northstar Work Order Assistant, a specialist Copilot agent that answers questions about the 30 September work-order snapshot. Give it instructions, two OneDrive knowledge files and the work-order-qa Skill, add starter prompts, then test its answers against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A private Northstar Work Order Assistant agent with reviewed instructions, two OneDrive knowledge files, the work-order-qa Skill (or its labelled manual route), four starter prompts and a verified test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Describe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Configure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Ground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Copilot (copilot.cloud.microsoft) · Agent Builder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142</a:t>
            </a:r>
          </a:p>
        </p:txBody>
      </p:sp>
    </p:spTree>
  </p:cSld>
  <p:clrMapOvr>
    <a:masterClrMapping/>
  </p:clrMapOvr>
  <p:transition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11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Describe: Create a Northstar work-order agent that cites its files and says UNKNOWN when unsure.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Try it: Which hubs have the most overdue backlog? Cite the file and give the definition.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143</a:t>
            </a:r>
          </a:p>
        </p:txBody>
      </p:sp>
    </p:spTree>
  </p:cSld>
  <p:clrMapOvr>
    <a:masterClrMapping/>
  </p:clrMapOvr>
  <p:transition spd="med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11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Grounded counts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Backlog 60; overdue 50; unassigned backlog 6; on-time 30/48 = 62.5%; S$35,827.50.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Citations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Every figure cites the handbook or the work-order file and states its definition.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Boundaries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No approval, record change or invented contact details; missing facts are UNKNOWN.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Configuration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Name, description, instructions, OneDrive knowledge, Skill or labelled manual route, four starter prompts; agent private.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144</a:t>
            </a:r>
          </a:p>
        </p:txBody>
      </p:sp>
    </p:spTree>
  </p:cSld>
  <p:clrMapOvr>
    <a:masterClrMapping/>
  </p:clrMapOvr>
  <p:transition spd="med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Mini Capstone: From Your Data to 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mini capstone applies the whole course to a dataset your group chooses: safe data, workbook .Rules, a dashboard Skill, an interactive dashboard, a verified decision deck and a short showcase.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Repeating the workflow on unfamiliar data shows what transfers: definitions written as rules, reusable skills, independent checks and a decision-focused 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150-row synthetic lift-maintenance table replaces real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145</a:t>
            </a:r>
          </a:p>
        </p:txBody>
      </p:sp>
    </p:spTree>
  </p:cSld>
  <p:clrMapOvr>
    <a:masterClrMapping/>
  </p:clrMapOvr>
  <p:transition spd="med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Mini Capstone: From Your Data to 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Choose safe data and roles.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.Rules and build with a Skill.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Verify KPIs and slicers.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Build the deck and showcase.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146</a:t>
            </a:r>
          </a:p>
        </p:txBody>
      </p:sp>
    </p:spTree>
  </p:cSld>
  <p:clrMapOvr>
    <a:masterClrMapping/>
  </p:clrMapOvr>
  <p:transition spd="med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12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Mini Capstone: From Your Data to 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Six KPI tiles reconcile to independent COUNTIFS.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five-slide deck ends with the decision requested.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147</a:t>
            </a:r>
          </a:p>
        </p:txBody>
      </p:sp>
    </p:spTree>
  </p:cSld>
  <p:clrMapOvr>
    <a:masterClrMapping/>
  </p:clrMapOvr>
  <p:transition spd="med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12 THEME · MINI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Mini Capstone: Group Dashboard and Decision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Work in four groups. Each group brings its own mock or sanitised dataset, writes .Rules for it, uses a dashboard Skill to build an interactive Excel dashboard with KPI tiles, charts and slicers, then turns the verified evidence into a short PowerPoint decision deck and presents it in a three-minute showcase.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Per group: a mock or sanitised data table, a visible .Rules sheet, an interactive dashboard (six KPI tiles, three charts, slicers), a five-slide decision deck and a three-minute showcase.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188000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177027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1201C"/>
                </a:solidFill>
                <a:latin typeface="Calibri"/>
              </a:rPr>
              <a:t>1 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0438" y="4828032"/>
            <a:ext cx="188000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5302" y="4882896"/>
            <a:ext cx="177027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1201C"/>
                </a:solidFill>
                <a:latin typeface="Calibri"/>
              </a:rPr>
              <a:t>2  Rules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95036" y="4828032"/>
            <a:ext cx="188000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9900" y="4882896"/>
            <a:ext cx="177027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1201C"/>
                </a:solidFill>
                <a:latin typeface="Calibri"/>
              </a:rPr>
              <a:t>3 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9634" y="4828032"/>
            <a:ext cx="188000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94498" y="4882896"/>
            <a:ext cx="177027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1201C"/>
                </a:solidFill>
                <a:latin typeface="Calibri"/>
              </a:rPr>
              <a:t>4  Deck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4232" y="4828032"/>
            <a:ext cx="188000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9096" y="4882896"/>
            <a:ext cx="177027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1201C"/>
                </a:solidFill>
                <a:latin typeface="Calibri"/>
              </a:rPr>
              <a:t>5  Showcase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Copilot · PowerPoint Copilot · Microsoft 365 Copilot web · OneDrive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148</a:t>
            </a:r>
          </a:p>
        </p:txBody>
      </p:sp>
    </p:spTree>
  </p:cSld>
  <p:clrMapOvr>
    <a:masterClrMapping/>
  </p:clrMapOvr>
  <p:transition spd="med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12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Data: Create a fictional 150-row engineering dataset; no real people, companies or locations.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Dashboard: @interactive-dashboard Plan six KPI tiles, three charts and slicers for tblData.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149</a:t>
            </a:r>
          </a:p>
        </p:txBody>
      </p:sp>
    </p:spTree>
  </p:cSld>
  <p:clrMapOvr>
    <a:masterClrMapping/>
  </p:clrMapOvr>
  <p:transition spd="med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12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Safe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Mock or sanitised only; no personal, customer or confidential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Dashboard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KPI tiles reconcile to independent formulas; charts and slicers filter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Every number matches the dashboard; actions labelled proposed; decision requested.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Showcase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Three-minute demo with one live slicer interaction and one caught Copilot error.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150</a:t>
            </a:r>
          </a:p>
        </p:txBody>
      </p:sp>
    </p:spTree>
  </p:cSld>
  <p:clrMapOvr>
    <a:masterClrMapping/>
  </p:clrMapOvr>
  <p:transition spd="med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Recap - Copilot Agents and Mini Capstone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LO5: A grounded work-order agent and a group dashboard and decision deck.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Agent answers match Control; capstone figures reconcile to the group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151</a:t>
            </a:r>
          </a:p>
        </p:txBody>
      </p:sp>
    </p:spTree>
  </p:cSld>
  <p:clrMapOvr>
    <a:masterClrMapping/>
  </p:clrMapOvr>
  <p:transition spd="med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Course Summary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152</a:t>
            </a:r>
          </a:p>
        </p:txBody>
      </p:sp>
    </p:spTree>
  </p:cSld>
  <p:clrMapOvr>
    <a:masterClrMapping/>
  </p:clrMapOvr>
  <p:transition spd="med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What You Achieved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Connected Copilot workflow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Integrate Word, Excel, PowerPoint and Outlook Copilot in a coherent maintenance workflow with explicit source grounding and verified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Reusable maintenance skills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Distinguish account Personalisation, workbook .Rules and reusable Skills; configure, create, apply and verify Pareto and maintenance-reporting Skills using water-service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dashboard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Create and apply a custom interactive-dashboard Skill with verified measures, shared filter scope, editable charts and controlled refresh and rerun tests.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presentation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Continue from the dashboard to a professional management presentation, with evidence-based headlines, source notes, rehearsal and a reviewed handoff draft.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Agents and capstone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Build and test a grounded work-order agent with Agent Builder, then apply the full data-to-decision workflow to your own mock or sanitised data in a group capstone.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153</a:t>
            </a:r>
          </a:p>
        </p:txBody>
      </p:sp>
    </p:spTree>
  </p:cSld>
  <p:clrMapOvr>
    <a:masterClrMapping/>
  </p:clrMapOvr>
  <p:transition spd="med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Your Next Maintenance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Use a copy and a new explicit reporting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16224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316224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Supply verified source/date/scope and test skill reruns.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03648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803648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Reconcile every claim and decision boundary.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154</a:t>
            </a:r>
          </a:p>
        </p:txBody>
      </p:sp>
    </p:spTree>
  </p:cSld>
  <p:clrMapOvr>
    <a:masterClrMapping/>
  </p:clrMapOvr>
  <p:transition spd="med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Keep Practising After the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Re-run the labs on your own machine — repetition is what makes the skills stick.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6772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6772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Apply the techniques to a real process or project in your own organisation.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Keep your downloaded course files; every lab folder has its own starting workbook.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6772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6772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Keep practising with the IES Academy course materials.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155</a:t>
            </a:r>
          </a:p>
        </p:txBody>
      </p:sp>
    </p:spTree>
  </p:cSld>
  <p:clrMapOvr>
    <a:masterClrMapping/>
  </p:clrMapOvr>
  <p:transition spd="med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CLOSING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5 Principles of AI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6194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Data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Share only what the task needs; use synthetic or sanitised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3504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3504" y="1783080"/>
            <a:ext cx="336194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Permission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Least privilege for files, agents, skills and sharing.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768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9768" y="1783080"/>
            <a:ext cx="336194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Human in the 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Plan, review and approve before edits, emails or decisions.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87368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87368"/>
            <a:ext cx="336194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Traceability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Log prompts, sources, versions and checks for every output.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3504" y="4087368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3504" y="4087368"/>
            <a:ext cx="336194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Well-tested models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Prefer proven, approved models over the newest release.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156</a:t>
            </a:r>
          </a:p>
        </p:txBody>
      </p:sp>
    </p:spTree>
  </p:cSld>
  <p:clrMapOvr>
    <a:masterClrMapping/>
  </p:clrMapOvr>
  <p:transition spd="med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THANK YOU FOR ATTENDING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85039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8412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B9B4A9"/>
                </a:solidFill>
                <a:latin typeface="Calibri"/>
              </a:rPr>
              <a:t>You now have the practical skills from every lab in this course — keep applying them to your own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157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