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Descending overdue counts</c:v>
                </c:pt>
              </c:strCache>
            </c:strRef>
          </c:tx>
          <c:cat>
            <c:strRef>
              <c:f>Sheet1!$A$2:$A$6</c:f>
              <c:strCache>
                <c:ptCount val="5"/>
                <c:pt idx="0">
                  <c:v>Pump Service</c:v>
                </c:pt>
                <c:pt idx="1">
                  <c:v>Meter Service</c:v>
                </c:pt>
                <c:pt idx="2">
                  <c:v>Leak Repair</c:v>
                </c:pt>
                <c:pt idx="3">
                  <c:v>Valve Repair</c:v>
                </c:pt>
                <c:pt idx="4">
                  <c:v>Pipe Replacement</c:v>
                </c:pt>
              </c:strCache>
            </c:strRef>
          </c:cat>
          <c:val>
            <c:numRef>
              <c:f>Sheet1!$B$2:$B$6</c:f>
              <c:numCache>
                <c:formatCode>General</c:formatCode>
                <c:ptCount val="5"/>
                <c:pt idx="0">
                  <c:v>18</c:v>
                </c:pt>
                <c:pt idx="1">
                  <c:v>12</c:v>
                </c:pt>
                <c:pt idx="2">
                  <c:v>8</c:v>
                </c:pt>
                <c:pt idx="3">
                  <c:v>8</c:v>
                </c:pt>
                <c:pt idx="4">
                  <c:v>4</c:v>
                </c:pt>
              </c:numCache>
            </c:numRef>
          </c:val>
        </c:ser>
        <c:dLbls>
          <c:txPr>
            <a:bodyPr/>
            <a:lstStyle/>
            <a:p>
              <a:pPr>
                <a:defRPr sz="1200"/>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100"/>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2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Cumulative share (%)</c:v>
                </c:pt>
              </c:strCache>
            </c:strRef>
          </c:tx>
          <c:marker>
            <c:symbol val="none"/>
          </c:marker>
          <c:cat>
            <c:strRef>
              <c:f>Sheet1!$A$2:$A$6</c:f>
              <c:strCache>
                <c:ptCount val="5"/>
                <c:pt idx="0">
                  <c:v>Pump Service</c:v>
                </c:pt>
                <c:pt idx="1">
                  <c:v>Meter Service</c:v>
                </c:pt>
                <c:pt idx="2">
                  <c:v>Leak Repair</c:v>
                </c:pt>
                <c:pt idx="3">
                  <c:v>Valve Repair</c:v>
                </c:pt>
                <c:pt idx="4">
                  <c:v>Pipe Replacement</c:v>
                </c:pt>
              </c:strCache>
            </c:strRef>
          </c:cat>
          <c:val>
            <c:numRef>
              <c:f>Sheet1!$B$2:$B$6</c:f>
              <c:numCache>
                <c:formatCode>General</c:formatCode>
                <c:ptCount val="5"/>
                <c:pt idx="0">
                  <c:v>36</c:v>
                </c:pt>
                <c:pt idx="1">
                  <c:v>60</c:v>
                </c:pt>
                <c:pt idx="2">
                  <c:v>76</c:v>
                </c:pt>
                <c:pt idx="3">
                  <c:v>92</c:v>
                </c:pt>
                <c:pt idx="4">
                  <c:v>100</c:v>
                </c:pt>
              </c:numCache>
            </c:numRef>
          </c:val>
          <c:smooth val="0"/>
        </c:ser>
        <c:dLbls>
          <c:txPr>
            <a:bodyPr/>
            <a:lstStyle/>
            <a:p>
              <a:pPr>
                <a:defRPr sz="1200"/>
              </a:pPr>
            </a:p>
          </c:txPr>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1100"/>
            </a:pPr>
          </a:p>
        </c:txPr>
        <c:crossAx val="2140495176"/>
        <c:crosses val="autoZero"/>
        <c:auto val="1"/>
        <c:lblAlgn val="ctr"/>
        <c:lblOffset val="100"/>
        <c:noMultiLvlLbl val="0"/>
      </c:catAx>
      <c:valAx>
        <c:axId val="2140495176"/>
        <c:scaling>
          <c:max val="100.0"/>
          <c:min val="0.0"/>
        </c:scaling>
        <c:delete val="0"/>
        <c:axPos val="l"/>
        <c:majorGridlines/>
        <c:majorTickMark val="out"/>
        <c:minorTickMark val="none"/>
        <c:tickLblPos val="nextTo"/>
        <c:txPr>
          <a:bodyPr/>
          <a:lstStyle/>
          <a:p>
            <a:pPr>
              <a:defRPr sz="1200"/>
            </a:pPr>
          </a:p>
        </c:txPr>
        <c:crossAx val="2118791784"/>
        <c:crosses val="autoZero"/>
      </c:valAx>
    </c:plotArea>
    <c:plotVisOnly val="1"/>
    <c:dispBlanksAs val="gap"/>
    <c:showDLblsOverMax val="0"/>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Backlog work orders</c:v>
                </c:pt>
              </c:strCache>
            </c:strRef>
          </c:tx>
          <c:spPr>
            <a:solidFill>
              <a:srgbClr val="3A7D7B"/>
            </a:solidFill>
          </c:spPr>
          <c:cat>
            <c:strRef>
              <c:f>Sheet1!$A$2:$A$6</c:f>
              <c:strCache>
                <c:ptCount val="5"/>
                <c:pt idx="0">
                  <c:v>Woodlands Hub</c:v>
                </c:pt>
                <c:pt idx="1">
                  <c:v>Jurong Depot</c:v>
                </c:pt>
                <c:pt idx="2">
                  <c:v>Tampines Centre</c:v>
                </c:pt>
                <c:pt idx="3">
                  <c:v>Changi Workshop</c:v>
                </c:pt>
                <c:pt idx="4">
                  <c:v>Paya Lebar Office</c:v>
                </c:pt>
              </c:strCache>
            </c:strRef>
          </c:cat>
          <c:val>
            <c:numRef>
              <c:f>Sheet1!$B$2:$B$6</c:f>
              <c:numCache>
                <c:formatCode>General</c:formatCode>
                <c:ptCount val="5"/>
                <c:pt idx="0">
                  <c:v>8</c:v>
                </c:pt>
                <c:pt idx="1">
                  <c:v>12</c:v>
                </c:pt>
                <c:pt idx="2">
                  <c:v>16</c:v>
                </c:pt>
                <c:pt idx="3">
                  <c:v>20</c:v>
                </c:pt>
                <c:pt idx="4">
                  <c:v>4</c:v>
                </c:pt>
              </c:numCache>
            </c:numRef>
          </c:val>
        </c:ser>
        <c:dLbls>
          <c:txPr>
            <a:bodyPr/>
            <a:lstStyle/>
            <a:p>
              <a:pPr>
                <a:defRPr sz="1600"/>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600"/>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400"/>
            </a:pPr>
          </a:p>
        </c:txPr>
        <c:crossAx val="-2068027336"/>
        <c:crosses val="autoZero"/>
      </c:valAx>
    </c:plotArea>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chart" Target="../charts/char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371600"/>
            <a:ext cx="7772400" cy="365760"/>
          </a:xfrm>
          <a:prstGeom prst="rect">
            <a:avLst/>
          </a:prstGeom>
          <a:noFill/>
        </p:spPr>
        <p:txBody>
          <a:bodyPr wrap="square" anchor="t">
            <a:spAutoFit/>
          </a:bodyPr>
          <a:lstStyle/>
          <a:p>
            <a:pPr algn="l">
              <a:spcAft>
                <a:spcPts val="400"/>
              </a:spcAft>
            </a:pPr>
            <a:r>
              <a:rPr sz="1400" b="1">
                <a:solidFill>
                  <a:srgbClr val="D97757"/>
                </a:solidFill>
                <a:latin typeface="Calibri"/>
              </a:rPr>
              <a:t>IES ACADEMY  •  ENGINEERING</a:t>
            </a:r>
          </a:p>
        </p:txBody>
      </p:sp>
      <p:sp>
        <p:nvSpPr>
          <p:cNvPr id="6" name="TextBox 5"/>
          <p:cNvSpPr txBox="1"/>
          <p:nvPr/>
        </p:nvSpPr>
        <p:spPr>
          <a:xfrm>
            <a:off x="822960" y="4343400"/>
            <a:ext cx="7772400" cy="365760"/>
          </a:xfrm>
          <a:prstGeom prst="rect">
            <a:avLst/>
          </a:prstGeom>
          <a:noFill/>
        </p:spPr>
        <p:txBody>
          <a:bodyPr wrap="square" anchor="t">
            <a:spAutoFit/>
          </a:bodyPr>
          <a:lstStyle/>
          <a:p>
            <a:pPr algn="l">
              <a:spcAft>
                <a:spcPts val="400"/>
              </a:spcAft>
            </a:pPr>
            <a:r>
              <a:rPr sz="1300" b="0">
                <a:solidFill>
                  <a:srgbClr val="B9B4A9"/>
                </a:solidFill>
                <a:latin typeface="Calibri"/>
              </a:rPr>
              <a:t>Version v2.3  ·  18 October 2026</a:t>
            </a:r>
          </a:p>
        </p:txBody>
      </p:sp>
      <p:sp>
        <p:nvSpPr>
          <p:cNvPr id="7" name="TextBox 6"/>
          <p:cNvSpPr txBox="1"/>
          <p:nvPr/>
        </p:nvSpPr>
        <p:spPr>
          <a:xfrm>
            <a:off x="777240" y="1828800"/>
            <a:ext cx="10241280" cy="2377440"/>
          </a:xfrm>
          <a:prstGeom prst="rect">
            <a:avLst/>
          </a:prstGeom>
          <a:noFill/>
        </p:spPr>
        <p:txBody>
          <a:bodyPr wrap="square" anchor="t">
            <a:spAutoFit/>
          </a:bodyPr>
          <a:lstStyle/>
          <a:p>
            <a:pPr algn="l">
              <a:spcAft>
                <a:spcPts val="400"/>
              </a:spcAft>
            </a:pPr>
            <a:r>
              <a:rPr sz="5200" b="1">
                <a:solidFill>
                  <a:srgbClr val="FFFFFF"/>
                </a:solidFill>
                <a:latin typeface="Cambria"/>
              </a:rPr>
              <a:t>GenAI for Engineers</a:t>
            </a:r>
          </a:p>
        </p:txBody>
      </p:sp>
      <p:sp>
        <p:nvSpPr>
          <p:cNvPr id="8" name="TextBox 7"/>
          <p:cNvSpPr txBox="1"/>
          <p:nvPr/>
        </p:nvSpPr>
        <p:spPr>
          <a:xfrm>
            <a:off x="822960" y="5212080"/>
            <a:ext cx="10058400" cy="731520"/>
          </a:xfrm>
          <a:prstGeom prst="rect">
            <a:avLst/>
          </a:prstGeom>
          <a:noFill/>
        </p:spPr>
        <p:txBody>
          <a:bodyPr wrap="square" anchor="t">
            <a:spAutoFit/>
          </a:bodyPr>
          <a:lstStyle/>
          <a:p>
            <a:pPr algn="l">
              <a:spcAft>
                <a:spcPts val="200"/>
              </a:spcAft>
            </a:pPr>
            <a:r>
              <a:rPr sz="1500" b="1">
                <a:solidFill>
                  <a:srgbClr val="FFFFFF"/>
                </a:solidFill>
                <a:latin typeface="Calibri"/>
              </a:rPr>
              <a:t>IES Academy</a:t>
            </a:r>
          </a:p>
        </p:txBody>
      </p:sp>
      <p:sp>
        <p:nvSpPr>
          <p:cNvPr id="9" name="TextBox 8"/>
          <p:cNvSpPr txBox="1"/>
          <p:nvPr/>
        </p:nvSpPr>
        <p:spPr>
          <a:xfrm>
            <a:off x="822960" y="6172200"/>
            <a:ext cx="10515600" cy="320040"/>
          </a:xfrm>
          <a:prstGeom prst="rect">
            <a:avLst/>
          </a:prstGeom>
          <a:noFill/>
        </p:spPr>
        <p:txBody>
          <a:bodyPr wrap="square" anchor="t">
            <a:spAutoFit/>
          </a:bodyPr>
          <a:lstStyle/>
          <a:p>
            <a:pPr algn="l">
              <a:spcAft>
                <a:spcPts val="400"/>
              </a:spcAft>
            </a:pPr>
            <a:r>
              <a:rPr sz="1200" b="0">
                <a:solidFill>
                  <a:srgbClr val="B9B4A9"/>
                </a:solidFill>
                <a:latin typeface="Calibri"/>
              </a:rPr>
              <a:t/>
            </a:r>
          </a:p>
        </p:txBody>
      </p:sp>
      <p:sp>
        <p:nvSpPr>
          <p:cNvPr id="10" name="TextBox 9"/>
          <p:cNvSpPr txBox="1"/>
          <p:nvPr/>
        </p:nvSpPr>
        <p:spPr>
          <a:xfrm>
            <a:off x="7159752" y="6355080"/>
            <a:ext cx="4572000" cy="274320"/>
          </a:xfrm>
          <a:prstGeom prst="rect">
            <a:avLst/>
          </a:prstGeom>
          <a:noFill/>
        </p:spPr>
        <p:txBody>
          <a:bodyPr wrap="square" anchor="t">
            <a:spAutoFit/>
          </a:bodyPr>
          <a:lstStyle/>
          <a:p>
            <a:pPr algn="r">
              <a:spcAft>
                <a:spcPts val="400"/>
              </a:spcAft>
            </a:pPr>
            <a:r>
              <a:rPr sz="900" b="0">
                <a:solidFill>
                  <a:srgbClr val="8A867D"/>
                </a:solidFill>
                <a:latin typeface="Calibri"/>
              </a:rPr>
              <a:t>© IES Academy</a:t>
            </a:r>
          </a:p>
        </p:txBody>
      </p: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COURSE ADMINISTRATION</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Welcome &amp; Housekeeping</a:t>
            </a:r>
          </a:p>
        </p:txBody>
      </p:sp>
      <p:sp>
        <p:nvSpPr>
          <p:cNvPr id="7" name="Rectangle 6"/>
          <p:cNvSpPr/>
          <p:nvPr/>
        </p:nvSpPr>
        <p:spPr>
          <a:xfrm>
            <a:off x="841248" y="4206240"/>
            <a:ext cx="1143000" cy="64008"/>
          </a:xfrm>
          <a:prstGeom prst="rect">
            <a:avLst/>
          </a:prstGeom>
          <a:solidFill>
            <a:srgbClr val="D97757"/>
          </a:solidFill>
          <a:ln>
            <a:noFill/>
          </a:ln>
          <a:effectLst/>
        </p:spPr>
        <p:txBody>
          <a:bodyPr rtlCol="0" anchor="ctr"/>
          <a:lstStyle/>
          <a:p>
            <a:pPr algn="ctr"/>
          </a:p>
        </p:txBody>
      </p:sp>
      <p:sp>
        <p:nvSpPr>
          <p:cNvPr id="8" name="TextBox 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IES Academy</a:t>
            </a:r>
          </a:p>
        </p:txBody>
      </p:sp>
      <p:sp>
        <p:nvSpPr>
          <p:cNvPr id="9" name="TextBox 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GenAI for Engineers</a:t>
            </a:r>
          </a:p>
        </p:txBody>
      </p:sp>
      <p:sp>
        <p:nvSpPr>
          <p:cNvPr id="10" name="TextBox 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1</a:t>
            </a:r>
          </a:p>
        </p:txBody>
      </p:sp>
    </p:spTree>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ICE-BREAKER</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Let's Know Each Other</a:t>
            </a:r>
          </a:p>
        </p:txBody>
      </p:sp>
      <p:sp>
        <p:nvSpPr>
          <p:cNvPr id="5" name="Rounded Rectangle 4"/>
          <p:cNvSpPr/>
          <p:nvPr/>
        </p:nvSpPr>
        <p:spPr>
          <a:xfrm>
            <a:off x="777240"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Your name, role and one maintenance reporting task.</a:t>
            </a:r>
          </a:p>
        </p:txBody>
      </p:sp>
      <p:sp>
        <p:nvSpPr>
          <p:cNvPr id="10" name="Rounded Rectangle 9"/>
          <p:cNvSpPr/>
          <p:nvPr/>
        </p:nvSpPr>
        <p:spPr>
          <a:xfrm>
            <a:off x="6176772"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688336"/>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Which app holds the work-order source?</a:t>
            </a:r>
          </a:p>
        </p:txBody>
      </p:sp>
      <p:sp>
        <p:nvSpPr>
          <p:cNvPr id="15" name="Rounded Rectangle 14"/>
          <p:cNvSpPr/>
          <p:nvPr/>
        </p:nvSpPr>
        <p:spPr>
          <a:xfrm>
            <a:off x="777240"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59936"/>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Which date and status definitions determine overdue work?</a:t>
            </a:r>
          </a:p>
        </p:txBody>
      </p:sp>
      <p:sp>
        <p:nvSpPr>
          <p:cNvPr id="20" name="Rounded Rectangle 19"/>
          <p:cNvSpPr/>
          <p:nvPr/>
        </p:nvSpPr>
        <p:spPr>
          <a:xfrm>
            <a:off x="6176772"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4059936"/>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4919472"/>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Check which Copilot buttons and skills menus are available in your assigned apps.</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a:t>
            </a:r>
          </a:p>
        </p:txBody>
      </p:sp>
    </p:spTree>
  </p:cSld>
  <p:clrMapOvr>
    <a:masterClrMapping/>
  </p:clrMapOvr>
  <p:transition spd="med">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HOUSEKEEPING</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Ground Rules</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21201C"/>
                </a:solidFill>
                <a:latin typeface="Calibri"/>
              </a:rPr>
              <a:t>Set your mobile phone to silent mode.</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21201C"/>
                </a:solidFill>
                <a:latin typeface="Calibri"/>
              </a:rPr>
              <a:t>Participate actively — no question is too small.</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21201C"/>
                </a:solidFill>
                <a:latin typeface="Calibri"/>
              </a:rPr>
              <a:t>Mutual respect: agree to disagree.</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21201C"/>
                </a:solidFill>
                <a:latin typeface="Calibri"/>
              </a:rPr>
              <a:t>One conversation at a time.</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21201C"/>
                </a:solidFill>
                <a:latin typeface="Calibri"/>
              </a:rPr>
              <a:t>Be punctual; return from breaks on time.</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21201C"/>
                </a:solidFill>
                <a:latin typeface="Calibri"/>
              </a:rPr>
              <a:t>Learn by doing — try every hands-on lab.</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a:t>
            </a:r>
          </a:p>
        </p:txBody>
      </p:sp>
    </p:spTree>
  </p:cSld>
  <p:clrMapOvr>
    <a:masterClrMapping/>
  </p:clrMapOvr>
  <p:transition spd="med">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COURSE MATERIALS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Access Course Materials</a:t>
            </a:r>
          </a:p>
        </p:txBody>
      </p:sp>
      <p:sp>
        <p:nvSpPr>
          <p:cNvPr id="5" name="Rounded Rectangle 4"/>
          <p:cNvSpPr/>
          <p:nvPr/>
        </p:nvSpPr>
        <p:spPr>
          <a:xfrm>
            <a:off x="777240"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1878177" cy="64008"/>
          </a:xfrm>
          <a:prstGeom prst="rect">
            <a:avLst/>
          </a:prstGeom>
          <a:solidFill>
            <a:srgbClr val="D97757"/>
          </a:solidFill>
          <a:ln>
            <a:noFill/>
          </a:ln>
          <a:effectLst/>
        </p:spPr>
        <p:txBody>
          <a:bodyPr rtlCol="0" anchor="ctr"/>
          <a:lstStyle/>
          <a:p>
            <a:pPr algn="ctr"/>
          </a:p>
        </p:txBody>
      </p:sp>
      <p:sp>
        <p:nvSpPr>
          <p:cNvPr id="7" name="Oval 6"/>
          <p:cNvSpPr/>
          <p:nvPr/>
        </p:nvSpPr>
        <p:spPr>
          <a:xfrm>
            <a:off x="1341424" y="2715768"/>
            <a:ext cx="749808" cy="749808"/>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Open the IES Academy course folder supplied by your trainer</a:t>
            </a:r>
          </a:p>
        </p:txBody>
      </p:sp>
      <p:sp>
        <p:nvSpPr>
          <p:cNvPr id="10" name="TextBox 9"/>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1" name="Rounded Rectangle 10"/>
          <p:cNvSpPr/>
          <p:nvPr/>
        </p:nvSpPr>
        <p:spPr>
          <a:xfrm>
            <a:off x="2966313"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2966313" y="2331720"/>
            <a:ext cx="1878177" cy="64008"/>
          </a:xfrm>
          <a:prstGeom prst="rect">
            <a:avLst/>
          </a:prstGeom>
          <a:solidFill>
            <a:srgbClr val="D97757"/>
          </a:solidFill>
          <a:ln>
            <a:noFill/>
          </a:ln>
          <a:effectLst/>
        </p:spPr>
        <p:txBody>
          <a:bodyPr rtlCol="0" anchor="ctr"/>
          <a:lstStyle/>
          <a:p>
            <a:pPr algn="ctr"/>
          </a:p>
        </p:txBody>
      </p:sp>
      <p:sp>
        <p:nvSpPr>
          <p:cNvPr id="13" name="Oval 12"/>
          <p:cNvSpPr/>
          <p:nvPr/>
        </p:nvSpPr>
        <p:spPr>
          <a:xfrm>
            <a:off x="3530497" y="2715768"/>
            <a:ext cx="749808" cy="749808"/>
          </a:xfrm>
          <a:prstGeom prst="ellipse">
            <a:avLst/>
          </a:prstGeom>
          <a:solidFill>
            <a:srgbClr val="D97757"/>
          </a:solidFill>
          <a:ln>
            <a:noFill/>
          </a:ln>
          <a:effectLst/>
        </p:spPr>
        <p:txBody>
          <a:bodyPr rtlCol="0" anchor="ctr"/>
          <a:lstStyle/>
          <a:p>
            <a:pPr algn="ctr"/>
          </a:p>
        </p:txBody>
      </p:sp>
      <p:sp>
        <p:nvSpPr>
          <p:cNvPr id="14" name="TextBox 13"/>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Open the courseware links for this course</a:t>
            </a:r>
          </a:p>
        </p:txBody>
      </p:sp>
      <p:sp>
        <p:nvSpPr>
          <p:cNvPr id="16" name="TextBox 15"/>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7" name="Rounded Rectangle 16"/>
          <p:cNvSpPr/>
          <p:nvPr/>
        </p:nvSpPr>
        <p:spPr>
          <a:xfrm>
            <a:off x="5155386"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5155386" y="2331720"/>
            <a:ext cx="1878177" cy="64008"/>
          </a:xfrm>
          <a:prstGeom prst="rect">
            <a:avLst/>
          </a:prstGeom>
          <a:solidFill>
            <a:srgbClr val="D97757"/>
          </a:solidFill>
          <a:ln>
            <a:noFill/>
          </a:ln>
          <a:effectLst/>
        </p:spPr>
        <p:txBody>
          <a:bodyPr rtlCol="0" anchor="ctr"/>
          <a:lstStyle/>
          <a:p>
            <a:pPr algn="ctr"/>
          </a:p>
        </p:txBody>
      </p:sp>
      <p:sp>
        <p:nvSpPr>
          <p:cNvPr id="19" name="Oval 18"/>
          <p:cNvSpPr/>
          <p:nvPr/>
        </p:nvSpPr>
        <p:spPr>
          <a:xfrm>
            <a:off x="5719570" y="2715768"/>
            <a:ext cx="749808" cy="749808"/>
          </a:xfrm>
          <a:prstGeom prst="ellipse">
            <a:avLst/>
          </a:prstGeom>
          <a:solidFill>
            <a:srgbClr val="D97757"/>
          </a:solidFill>
          <a:ln>
            <a:noFill/>
          </a:ln>
          <a:effectLst/>
        </p:spPr>
        <p:txBody>
          <a:bodyPr rtlCol="0" anchor="ctr"/>
          <a:lstStyle/>
          <a:p>
            <a:pPr algn="ctr"/>
          </a:p>
        </p:txBody>
      </p:sp>
      <p:sp>
        <p:nvSpPr>
          <p:cNvPr id="20" name="TextBox 19"/>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Download the Slides, Learner Guide and Lesson Plan</a:t>
            </a:r>
          </a:p>
        </p:txBody>
      </p:sp>
      <p:sp>
        <p:nvSpPr>
          <p:cNvPr id="22" name="TextBox 21"/>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3" name="Rounded Rectangle 22"/>
          <p:cNvSpPr/>
          <p:nvPr/>
        </p:nvSpPr>
        <p:spPr>
          <a:xfrm>
            <a:off x="7344459"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7344459" y="2331720"/>
            <a:ext cx="1878177" cy="64008"/>
          </a:xfrm>
          <a:prstGeom prst="rect">
            <a:avLst/>
          </a:prstGeom>
          <a:solidFill>
            <a:srgbClr val="D97757"/>
          </a:solidFill>
          <a:ln>
            <a:noFill/>
          </a:ln>
          <a:effectLst/>
        </p:spPr>
        <p:txBody>
          <a:bodyPr rtlCol="0" anchor="ctr"/>
          <a:lstStyle/>
          <a:p>
            <a:pPr algn="ctr"/>
          </a:p>
        </p:txBody>
      </p:sp>
      <p:sp>
        <p:nvSpPr>
          <p:cNvPr id="25" name="Oval 24"/>
          <p:cNvSpPr/>
          <p:nvPr/>
        </p:nvSpPr>
        <p:spPr>
          <a:xfrm>
            <a:off x="7908643" y="2715768"/>
            <a:ext cx="749808" cy="749808"/>
          </a:xfrm>
          <a:prstGeom prst="ellipse">
            <a:avLst/>
          </a:prstGeom>
          <a:solidFill>
            <a:srgbClr val="D97757"/>
          </a:solidFill>
          <a:ln>
            <a:noFill/>
          </a:ln>
          <a:effectLst/>
        </p:spPr>
        <p:txBody>
          <a:bodyPr rtlCol="0" anchor="ctr"/>
          <a:lstStyle/>
          <a:p>
            <a:pPr algn="ctr"/>
          </a:p>
        </p:txBody>
      </p:sp>
      <p:sp>
        <p:nvSpPr>
          <p:cNvPr id="26" name="TextBox 25"/>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Open the labs folder for all 12 lab folders</a:t>
            </a:r>
          </a:p>
        </p:txBody>
      </p:sp>
      <p:sp>
        <p:nvSpPr>
          <p:cNvPr id="28" name="TextBox 27"/>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9" name="Rounded Rectangle 28"/>
          <p:cNvSpPr/>
          <p:nvPr/>
        </p:nvSpPr>
        <p:spPr>
          <a:xfrm>
            <a:off x="9533532"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0" name="Rectangle 29"/>
          <p:cNvSpPr/>
          <p:nvPr/>
        </p:nvSpPr>
        <p:spPr>
          <a:xfrm>
            <a:off x="9533532" y="2331720"/>
            <a:ext cx="1878177" cy="64008"/>
          </a:xfrm>
          <a:prstGeom prst="rect">
            <a:avLst/>
          </a:prstGeom>
          <a:solidFill>
            <a:srgbClr val="D97757"/>
          </a:solidFill>
          <a:ln>
            <a:noFill/>
          </a:ln>
          <a:effectLst/>
        </p:spPr>
        <p:txBody>
          <a:bodyPr rtlCol="0" anchor="ctr"/>
          <a:lstStyle/>
          <a:p>
            <a:pPr algn="ctr"/>
          </a:p>
        </p:txBody>
      </p:sp>
      <p:sp>
        <p:nvSpPr>
          <p:cNvPr id="31" name="Oval 30"/>
          <p:cNvSpPr/>
          <p:nvPr/>
        </p:nvSpPr>
        <p:spPr>
          <a:xfrm>
            <a:off x="10097716" y="2715768"/>
            <a:ext cx="749808" cy="749808"/>
          </a:xfrm>
          <a:prstGeom prst="ellipse">
            <a:avLst/>
          </a:prstGeom>
          <a:solidFill>
            <a:srgbClr val="D97757"/>
          </a:solidFill>
          <a:ln>
            <a:noFill/>
          </a:ln>
          <a:effectLst/>
        </p:spPr>
        <p:txBody>
          <a:bodyPr rtlCol="0" anchor="ctr"/>
          <a:lstStyle/>
          <a:p>
            <a:pPr algn="ctr"/>
          </a:p>
        </p:txBody>
      </p:sp>
      <p:sp>
        <p:nvSpPr>
          <p:cNvPr id="32" name="TextBox 31"/>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5</a:t>
            </a:r>
          </a:p>
        </p:txBody>
      </p:sp>
      <p:sp>
        <p:nvSpPr>
          <p:cNvPr id="33" name="TextBox 32"/>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Keep the files together as you work</a:t>
            </a:r>
          </a:p>
        </p:txBody>
      </p:sp>
      <p:sp>
        <p:nvSpPr>
          <p:cNvPr id="34" name="TextBox 33"/>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35" name="TextBox 34"/>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6" name="TextBox 35"/>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a:t>
            </a:r>
          </a:p>
        </p:txBody>
      </p:sp>
      <p:sp>
        <p:nvSpPr>
          <p:cNvPr id="37" name="TextBox 36"/>
          <p:cNvSpPr txBox="1"/>
          <p:nvPr/>
        </p:nvSpPr>
        <p:spPr>
          <a:xfrm>
            <a:off x="777240" y="5943600"/>
            <a:ext cx="10607040" cy="365760"/>
          </a:xfrm>
          <a:prstGeom prst="rect">
            <a:avLst/>
          </a:prstGeom>
          <a:noFill/>
        </p:spPr>
        <p:txBody>
          <a:bodyPr wrap="square" anchor="t">
            <a:spAutoFit/>
          </a:bodyPr>
          <a:lstStyle/>
          <a:p>
            <a:pPr algn="ctr">
              <a:spcAft>
                <a:spcPts val="400"/>
              </a:spcAft>
            </a:pPr>
            <a:r>
              <a:rPr sz="1500" b="1">
                <a:solidFill>
                  <a:srgbClr val="D97757"/>
                </a:solidFill>
                <a:latin typeface="Calibri"/>
              </a:rPr>
              <a:t>Course materials: trainer-supplied IES Academy folder</a:t>
            </a:r>
          </a:p>
        </p:txBody>
      </p:sp>
    </p:spTree>
  </p:cSld>
  <p:clrMapOvr>
    <a:masterClrMapping/>
  </p:clrMapOvr>
  <p:transition spd="med">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SCHEDULE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Lesson Plan — 1 Day, 7.5 instructional hours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Course sequence</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Day format</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Topic 1: Fundamentals of Microsoft 365 Copilot (Labs 1–2)</a:t>
            </a:r>
          </a:p>
          <a:p>
            <a:pPr>
              <a:spcAft>
                <a:spcPts val="1000"/>
              </a:spcAft>
            </a:pPr>
            <a:r>
              <a:rPr sz="1600" b="0">
                <a:solidFill>
                  <a:srgbClr val="21201C"/>
                </a:solidFill>
                <a:latin typeface="Calibri"/>
              </a:rPr>
              <a:t>•  Topic 2: Personalisation, .Rules and Skills for Excel (Labs 3–6)</a:t>
            </a:r>
          </a:p>
          <a:p>
            <a:pPr>
              <a:spcAft>
                <a:spcPts val="1000"/>
              </a:spcAft>
            </a:pPr>
            <a:r>
              <a:rPr sz="1600" b="0">
                <a:solidFill>
                  <a:srgbClr val="21201C"/>
                </a:solidFill>
                <a:latin typeface="Calibri"/>
              </a:rPr>
              <a:t>•  Topic 3: Interactive Dashboards with Custom Skills (Labs 7–8)</a:t>
            </a:r>
          </a:p>
          <a:p>
            <a:pPr>
              <a:spcAft>
                <a:spcPts val="1000"/>
              </a:spcAft>
            </a:pPr>
            <a:r>
              <a:rPr sz="1600" b="0">
                <a:solidFill>
                  <a:srgbClr val="21201C"/>
                </a:solidFill>
                <a:latin typeface="Calibri"/>
              </a:rPr>
              <a:t>•  Topic 4: Create a Professional Presentation with PowerPoint Copilot (Labs 9–10)</a:t>
            </a:r>
          </a:p>
          <a:p>
            <a:pPr>
              <a:spcAft>
                <a:spcPts val="1000"/>
              </a:spcAft>
            </a:pPr>
            <a:r>
              <a:rPr sz="1600" b="0">
                <a:solidFill>
                  <a:srgbClr val="21201C"/>
                </a:solidFill>
                <a:latin typeface="Calibri"/>
              </a:rPr>
              <a:t>•  Topic 5: Copilot Agents and Mini Capstone (Labs 11–12)</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Daily timing</a:t>
            </a:r>
          </a:p>
          <a:p>
            <a:pPr>
              <a:spcAft>
                <a:spcPts val="1000"/>
              </a:spcAft>
            </a:pPr>
            <a:r>
              <a:rPr sz="1400" b="0">
                <a:solidFill>
                  <a:srgbClr val="6B6862"/>
                </a:solidFill>
                <a:latin typeface="Calibri"/>
              </a:rPr>
              <a:t>–  9:30 am - 6:30 pm (1-hour lunch; two 15-minute tea breaks; 7.5 instructional hours)</a:t>
            </a:r>
          </a:p>
          <a:p>
            <a:pPr>
              <a:spcAft>
                <a:spcPts val="1000"/>
              </a:spcAft>
            </a:pPr>
            <a:r>
              <a:rPr sz="1600" b="0">
                <a:solidFill>
                  <a:srgbClr val="21201C"/>
                </a:solidFill>
                <a:latin typeface="Calibri"/>
              </a:rPr>
              <a:t>•  Instructional time</a:t>
            </a:r>
          </a:p>
          <a:p>
            <a:pPr>
              <a:spcAft>
                <a:spcPts val="1000"/>
              </a:spcAft>
            </a:pPr>
            <a:r>
              <a:rPr sz="1400" b="0">
                <a:solidFill>
                  <a:srgbClr val="6B6862"/>
                </a:solidFill>
                <a:latin typeface="Calibri"/>
              </a:rPr>
              <a:t>–  7.5 hours · 12 connected labs</a:t>
            </a:r>
          </a:p>
          <a:p>
            <a:pPr>
              <a:spcAft>
                <a:spcPts val="1000"/>
              </a:spcAft>
            </a:pPr>
            <a:r>
              <a:rPr sz="1600" b="0">
                <a:solidFill>
                  <a:srgbClr val="21201C"/>
                </a:solidFill>
                <a:latin typeface="Calibri"/>
              </a:rPr>
              <a:t>•  Learning arc</a:t>
            </a:r>
          </a:p>
          <a:p>
            <a:pPr>
              <a:spcAft>
                <a:spcPts val="1000"/>
              </a:spcAft>
            </a:pPr>
            <a:r>
              <a:rPr sz="1400" b="0">
                <a:solidFill>
                  <a:srgbClr val="6B6862"/>
                </a:solidFill>
                <a:latin typeface="Calibri"/>
              </a:rPr>
              <a:t>–  Concept → demonstrate → build → verify → discuss → recap</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a:t>
            </a:r>
          </a:p>
        </p:txBody>
      </p:sp>
    </p:spTree>
  </p:cSld>
  <p:clrMapOvr>
    <a:masterClrMapping/>
  </p:clrMapOvr>
  <p:transition spd="med">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WHAT YOU'LL ACHIEVE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Learning Outcomes</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Connected Copilot workflow</a:t>
            </a:r>
          </a:p>
          <a:p>
            <a:pPr algn="l">
              <a:spcAft>
                <a:spcPts val="300"/>
              </a:spcAft>
            </a:pPr>
            <a:r>
              <a:rPr sz="1300" b="0">
                <a:solidFill>
                  <a:srgbClr val="6B6862"/>
                </a:solidFill>
                <a:latin typeface="Calibri"/>
              </a:rPr>
              <a:t>Integrate Word, Excel, PowerPoint and Outlook Copilot in a coherent maintenance workflow with explicit source grounding and verified prompts.</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Reusable maintenance skills</a:t>
            </a:r>
          </a:p>
          <a:p>
            <a:pPr algn="l">
              <a:spcAft>
                <a:spcPts val="300"/>
              </a:spcAft>
            </a:pPr>
            <a:r>
              <a:rPr sz="1300" b="0">
                <a:solidFill>
                  <a:srgbClr val="6B6862"/>
                </a:solidFill>
                <a:latin typeface="Calibri"/>
              </a:rPr>
              <a:t>Distinguish account Personalisation, workbook .Rules and reusable Skills; configure, create, apply and verify Pareto and maintenance-reporting Skills using water-service evidence.</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Interactive dashboard</a:t>
            </a:r>
          </a:p>
          <a:p>
            <a:pPr algn="l">
              <a:spcAft>
                <a:spcPts val="300"/>
              </a:spcAft>
            </a:pPr>
            <a:r>
              <a:rPr sz="1300" b="0">
                <a:solidFill>
                  <a:srgbClr val="6B6862"/>
                </a:solidFill>
                <a:latin typeface="Calibri"/>
              </a:rPr>
              <a:t>Create and apply a custom interactive-dashboard Skill with verified measures, shared filter scope, editable charts and controlled refresh and rerun tests.</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Professional presentation</a:t>
            </a:r>
          </a:p>
          <a:p>
            <a:pPr algn="l">
              <a:spcAft>
                <a:spcPts val="300"/>
              </a:spcAft>
            </a:pPr>
            <a:r>
              <a:rPr sz="1300" b="0">
                <a:solidFill>
                  <a:srgbClr val="6B6862"/>
                </a:solidFill>
                <a:latin typeface="Calibri"/>
              </a:rPr>
              <a:t>Continue from the dashboard to a professional management presentation, with evidence-based headlines, source notes, rehearsal and a reviewed handoff draft.</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Agents and capstone</a:t>
            </a:r>
          </a:p>
          <a:p>
            <a:pPr algn="l">
              <a:spcAft>
                <a:spcPts val="300"/>
              </a:spcAft>
            </a:pPr>
            <a:r>
              <a:rPr sz="1300" b="0">
                <a:solidFill>
                  <a:srgbClr val="6B6862"/>
                </a:solidFill>
                <a:latin typeface="Calibri"/>
              </a:rPr>
              <a:t>Build and test a grounded work-order agent with Agent Builder, then apply the full data-to-decision workflow to your own mock or sanitised data in a group capstone.</a:t>
            </a:r>
          </a:p>
        </p:txBody>
      </p:sp>
      <p:sp>
        <p:nvSpPr>
          <p:cNvPr id="30" name="TextBox 2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31" name="TextBox 3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2" name="TextBox 3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a:t>
            </a:r>
          </a:p>
        </p:txBody>
      </p:sp>
    </p:spTree>
  </p:cSld>
  <p:clrMapOvr>
    <a:masterClrMapping/>
  </p:clrMapOvr>
  <p:transition spd="med">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LEARNING APPROACH</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How You'll Learn</a:t>
            </a:r>
          </a:p>
        </p:txBody>
      </p:sp>
      <p:sp>
        <p:nvSpPr>
          <p:cNvPr id="5" name="Rounded Rectangle 4"/>
          <p:cNvSpPr/>
          <p:nvPr/>
        </p:nvSpPr>
        <p:spPr>
          <a:xfrm>
            <a:off x="777240"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1878177" cy="64008"/>
          </a:xfrm>
          <a:prstGeom prst="rect">
            <a:avLst/>
          </a:prstGeom>
          <a:solidFill>
            <a:srgbClr val="D97757"/>
          </a:solidFill>
          <a:ln>
            <a:noFill/>
          </a:ln>
          <a:effectLst/>
        </p:spPr>
        <p:txBody>
          <a:bodyPr rtlCol="0" anchor="ctr"/>
          <a:lstStyle/>
          <a:p>
            <a:pPr algn="ctr"/>
          </a:p>
        </p:txBody>
      </p:sp>
      <p:sp>
        <p:nvSpPr>
          <p:cNvPr id="7" name="Oval 6"/>
          <p:cNvSpPr/>
          <p:nvPr/>
        </p:nvSpPr>
        <p:spPr>
          <a:xfrm>
            <a:off x="1341424" y="2715768"/>
            <a:ext cx="749808" cy="749808"/>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Trainer demonstrates the concept</a:t>
            </a:r>
          </a:p>
        </p:txBody>
      </p:sp>
      <p:sp>
        <p:nvSpPr>
          <p:cNvPr id="10" name="TextBox 9"/>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1" name="Rounded Rectangle 10"/>
          <p:cNvSpPr/>
          <p:nvPr/>
        </p:nvSpPr>
        <p:spPr>
          <a:xfrm>
            <a:off x="2966313"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2966313" y="2331720"/>
            <a:ext cx="1878177" cy="64008"/>
          </a:xfrm>
          <a:prstGeom prst="rect">
            <a:avLst/>
          </a:prstGeom>
          <a:solidFill>
            <a:srgbClr val="D97757"/>
          </a:solidFill>
          <a:ln>
            <a:noFill/>
          </a:ln>
          <a:effectLst/>
        </p:spPr>
        <p:txBody>
          <a:bodyPr rtlCol="0" anchor="ctr"/>
          <a:lstStyle/>
          <a:p>
            <a:pPr algn="ctr"/>
          </a:p>
        </p:txBody>
      </p:sp>
      <p:sp>
        <p:nvSpPr>
          <p:cNvPr id="13" name="Oval 12"/>
          <p:cNvSpPr/>
          <p:nvPr/>
        </p:nvSpPr>
        <p:spPr>
          <a:xfrm>
            <a:off x="3530497" y="2715768"/>
            <a:ext cx="749808" cy="749808"/>
          </a:xfrm>
          <a:prstGeom prst="ellipse">
            <a:avLst/>
          </a:prstGeom>
          <a:solidFill>
            <a:srgbClr val="D97757"/>
          </a:solidFill>
          <a:ln>
            <a:noFill/>
          </a:ln>
          <a:effectLst/>
        </p:spPr>
        <p:txBody>
          <a:bodyPr rtlCol="0" anchor="ctr"/>
          <a:lstStyle/>
          <a:p>
            <a:pPr algn="ctr"/>
          </a:p>
        </p:txBody>
      </p:sp>
      <p:sp>
        <p:nvSpPr>
          <p:cNvPr id="14" name="TextBox 13"/>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You build it yourself in the hands-on lab</a:t>
            </a:r>
          </a:p>
        </p:txBody>
      </p:sp>
      <p:sp>
        <p:nvSpPr>
          <p:cNvPr id="16" name="TextBox 15"/>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7" name="Rounded Rectangle 16"/>
          <p:cNvSpPr/>
          <p:nvPr/>
        </p:nvSpPr>
        <p:spPr>
          <a:xfrm>
            <a:off x="5155386"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5155386" y="2331720"/>
            <a:ext cx="1878177" cy="64008"/>
          </a:xfrm>
          <a:prstGeom prst="rect">
            <a:avLst/>
          </a:prstGeom>
          <a:solidFill>
            <a:srgbClr val="D97757"/>
          </a:solidFill>
          <a:ln>
            <a:noFill/>
          </a:ln>
          <a:effectLst/>
        </p:spPr>
        <p:txBody>
          <a:bodyPr rtlCol="0" anchor="ctr"/>
          <a:lstStyle/>
          <a:p>
            <a:pPr algn="ctr"/>
          </a:p>
        </p:txBody>
      </p:sp>
      <p:sp>
        <p:nvSpPr>
          <p:cNvPr id="19" name="Oval 18"/>
          <p:cNvSpPr/>
          <p:nvPr/>
        </p:nvSpPr>
        <p:spPr>
          <a:xfrm>
            <a:off x="5719570" y="2715768"/>
            <a:ext cx="749808" cy="749808"/>
          </a:xfrm>
          <a:prstGeom prst="ellipse">
            <a:avLst/>
          </a:prstGeom>
          <a:solidFill>
            <a:srgbClr val="D97757"/>
          </a:solidFill>
          <a:ln>
            <a:noFill/>
          </a:ln>
          <a:effectLst/>
        </p:spPr>
        <p:txBody>
          <a:bodyPr rtlCol="0" anchor="ctr"/>
          <a:lstStyle/>
          <a:p>
            <a:pPr algn="ctr"/>
          </a:p>
        </p:txBody>
      </p:sp>
      <p:sp>
        <p:nvSpPr>
          <p:cNvPr id="20" name="TextBox 19"/>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Verify with the lab's 'Test it' step</a:t>
            </a:r>
          </a:p>
        </p:txBody>
      </p:sp>
      <p:sp>
        <p:nvSpPr>
          <p:cNvPr id="22" name="TextBox 21"/>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3" name="Rounded Rectangle 22"/>
          <p:cNvSpPr/>
          <p:nvPr/>
        </p:nvSpPr>
        <p:spPr>
          <a:xfrm>
            <a:off x="7344459"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7344459" y="2331720"/>
            <a:ext cx="1878177" cy="64008"/>
          </a:xfrm>
          <a:prstGeom prst="rect">
            <a:avLst/>
          </a:prstGeom>
          <a:solidFill>
            <a:srgbClr val="D97757"/>
          </a:solidFill>
          <a:ln>
            <a:noFill/>
          </a:ln>
          <a:effectLst/>
        </p:spPr>
        <p:txBody>
          <a:bodyPr rtlCol="0" anchor="ctr"/>
          <a:lstStyle/>
          <a:p>
            <a:pPr algn="ctr"/>
          </a:p>
        </p:txBody>
      </p:sp>
      <p:sp>
        <p:nvSpPr>
          <p:cNvPr id="25" name="Oval 24"/>
          <p:cNvSpPr/>
          <p:nvPr/>
        </p:nvSpPr>
        <p:spPr>
          <a:xfrm>
            <a:off x="7908643" y="2715768"/>
            <a:ext cx="749808" cy="749808"/>
          </a:xfrm>
          <a:prstGeom prst="ellipse">
            <a:avLst/>
          </a:prstGeom>
          <a:solidFill>
            <a:srgbClr val="D97757"/>
          </a:solidFill>
          <a:ln>
            <a:noFill/>
          </a:ln>
          <a:effectLst/>
        </p:spPr>
        <p:txBody>
          <a:bodyPr rtlCol="0" anchor="ctr"/>
          <a:lstStyle/>
          <a:p>
            <a:pPr algn="ctr"/>
          </a:p>
        </p:txBody>
      </p:sp>
      <p:sp>
        <p:nvSpPr>
          <p:cNvPr id="26" name="TextBox 25"/>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Discuss and troubleshoot together</a:t>
            </a:r>
          </a:p>
        </p:txBody>
      </p:sp>
      <p:sp>
        <p:nvSpPr>
          <p:cNvPr id="28" name="TextBox 27"/>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9" name="Rounded Rectangle 28"/>
          <p:cNvSpPr/>
          <p:nvPr/>
        </p:nvSpPr>
        <p:spPr>
          <a:xfrm>
            <a:off x="9533532"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0" name="Rectangle 29"/>
          <p:cNvSpPr/>
          <p:nvPr/>
        </p:nvSpPr>
        <p:spPr>
          <a:xfrm>
            <a:off x="9533532" y="2331720"/>
            <a:ext cx="1878177" cy="64008"/>
          </a:xfrm>
          <a:prstGeom prst="rect">
            <a:avLst/>
          </a:prstGeom>
          <a:solidFill>
            <a:srgbClr val="D97757"/>
          </a:solidFill>
          <a:ln>
            <a:noFill/>
          </a:ln>
          <a:effectLst/>
        </p:spPr>
        <p:txBody>
          <a:bodyPr rtlCol="0" anchor="ctr"/>
          <a:lstStyle/>
          <a:p>
            <a:pPr algn="ctr"/>
          </a:p>
        </p:txBody>
      </p:sp>
      <p:sp>
        <p:nvSpPr>
          <p:cNvPr id="31" name="Oval 30"/>
          <p:cNvSpPr/>
          <p:nvPr/>
        </p:nvSpPr>
        <p:spPr>
          <a:xfrm>
            <a:off x="10097716" y="2715768"/>
            <a:ext cx="749808" cy="749808"/>
          </a:xfrm>
          <a:prstGeom prst="ellipse">
            <a:avLst/>
          </a:prstGeom>
          <a:solidFill>
            <a:srgbClr val="D97757"/>
          </a:solidFill>
          <a:ln>
            <a:noFill/>
          </a:ln>
          <a:effectLst/>
        </p:spPr>
        <p:txBody>
          <a:bodyPr rtlCol="0" anchor="ctr"/>
          <a:lstStyle/>
          <a:p>
            <a:pPr algn="ctr"/>
          </a:p>
        </p:txBody>
      </p:sp>
      <p:sp>
        <p:nvSpPr>
          <p:cNvPr id="32" name="TextBox 31"/>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5</a:t>
            </a:r>
          </a:p>
        </p:txBody>
      </p:sp>
      <p:sp>
        <p:nvSpPr>
          <p:cNvPr id="33" name="TextBox 32"/>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Recap against the learning outcomes</a:t>
            </a:r>
          </a:p>
        </p:txBody>
      </p:sp>
      <p:sp>
        <p:nvSpPr>
          <p:cNvPr id="34" name="TextBox 33"/>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35" name="TextBox 34"/>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6" name="TextBox 35"/>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a:t>
            </a:r>
          </a:p>
        </p:txBody>
      </p:sp>
    </p:spTree>
  </p:cSld>
  <p:clrMapOvr>
    <a:masterClrMapping/>
  </p:clrMapOvr>
  <p:transition spd="med">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TOPIC 1</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Fundamentals of Microsoft 365 Copilot</a:t>
            </a:r>
          </a:p>
        </p:txBody>
      </p:sp>
      <p:sp>
        <p:nvSpPr>
          <p:cNvPr id="7" name="Rectangle 6"/>
          <p:cNvSpPr/>
          <p:nvPr/>
        </p:nvSpPr>
        <p:spPr>
          <a:xfrm>
            <a:off x="841248" y="4206240"/>
            <a:ext cx="1143000" cy="64008"/>
          </a:xfrm>
          <a:prstGeom prst="rect">
            <a:avLst/>
          </a:prstGeom>
          <a:solidFill>
            <a:srgbClr val="D97757"/>
          </a:solidFill>
          <a:ln>
            <a:noFill/>
          </a:ln>
          <a:effectLst/>
        </p:spPr>
        <p:txBody>
          <a:bodyPr rtlCol="0" anchor="ctr"/>
          <a:lstStyle/>
          <a:p>
            <a:pPr algn="ctr"/>
          </a:p>
        </p:txBody>
      </p:sp>
      <p:sp>
        <p:nvSpPr>
          <p:cNvPr id="8" name="TextBox 7"/>
          <p:cNvSpPr txBox="1"/>
          <p:nvPr/>
        </p:nvSpPr>
        <p:spPr>
          <a:xfrm>
            <a:off x="822960" y="4434840"/>
            <a:ext cx="8412480" cy="1097280"/>
          </a:xfrm>
          <a:prstGeom prst="rect">
            <a:avLst/>
          </a:prstGeom>
          <a:noFill/>
        </p:spPr>
        <p:txBody>
          <a:bodyPr wrap="square" anchor="t">
            <a:spAutoFit/>
          </a:bodyPr>
          <a:lstStyle/>
          <a:p>
            <a:pPr algn="l">
              <a:spcAft>
                <a:spcPts val="400"/>
              </a:spcAft>
            </a:pPr>
            <a:r>
              <a:rPr sz="1500" b="0">
                <a:solidFill>
                  <a:srgbClr val="B9B4A9"/>
                </a:solidFill>
                <a:latin typeface="Calibri"/>
              </a:rPr>
              <a:t>One verified maintenance workflow across four apps</a:t>
            </a:r>
          </a:p>
        </p:txBody>
      </p:sp>
      <p:sp>
        <p:nvSpPr>
          <p:cNvPr id="9" name="TextBox 8"/>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IES Academy</a:t>
            </a:r>
          </a:p>
        </p:txBody>
      </p:sp>
      <p:sp>
        <p:nvSpPr>
          <p:cNvPr id="10" name="TextBox 9"/>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GenAI for Engineers</a:t>
            </a:r>
          </a:p>
        </p:txBody>
      </p:sp>
      <p:sp>
        <p:nvSpPr>
          <p:cNvPr id="11" name="TextBox 10"/>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8</a:t>
            </a:r>
          </a:p>
        </p:txBody>
      </p:sp>
    </p:spTree>
  </p:cSld>
  <p:clrMapOvr>
    <a:masterClrMapping/>
  </p:clrMapOvr>
  <p:transition spd="med">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KEY CONCEPTS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Key Concepts — Fundamentals of Microsoft 365 Copilot</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800" b="1">
                <a:solidFill>
                  <a:srgbClr val="21201C"/>
                </a:solidFill>
                <a:latin typeface="Cambria"/>
              </a:rPr>
              <a:t>Large language models</a:t>
            </a:r>
          </a:p>
          <a:p>
            <a:pPr algn="l">
              <a:spcAft>
                <a:spcPts val="300"/>
              </a:spcAft>
            </a:pPr>
            <a:r>
              <a:rPr sz="1400" b="0">
                <a:solidFill>
                  <a:srgbClr val="6B6862"/>
                </a:solidFill>
                <a:latin typeface="Calibri"/>
              </a:rPr>
              <a:t>Understand your request and generate natural-language answers.</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800" b="1">
                <a:solidFill>
                  <a:srgbClr val="21201C"/>
                </a:solidFill>
                <a:latin typeface="Cambria"/>
              </a:rPr>
              <a:t>Grounding</a:t>
            </a:r>
          </a:p>
          <a:p>
            <a:pPr algn="l">
              <a:spcAft>
                <a:spcPts val="300"/>
              </a:spcAft>
            </a:pPr>
            <a:r>
              <a:rPr sz="1400" b="0">
                <a:solidFill>
                  <a:srgbClr val="6B6862"/>
                </a:solidFill>
                <a:latin typeface="Calibri"/>
              </a:rPr>
              <a:t>Answers anchored in your work data: emails, files, meetings.</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800" b="1">
                <a:solidFill>
                  <a:srgbClr val="21201C"/>
                </a:solidFill>
                <a:latin typeface="Cambria"/>
              </a:rPr>
              <a:t>Permissions &amp; privacy</a:t>
            </a:r>
          </a:p>
          <a:p>
            <a:pPr algn="l">
              <a:spcAft>
                <a:spcPts val="300"/>
              </a:spcAft>
            </a:pPr>
            <a:r>
              <a:rPr sz="1400" b="0">
                <a:solidFill>
                  <a:srgbClr val="6B6862"/>
                </a:solidFill>
                <a:latin typeface="Calibri"/>
              </a:rPr>
              <a:t>Shows only data you can access; prompts do not train the models.</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800" b="1">
                <a:solidFill>
                  <a:srgbClr val="21201C"/>
                </a:solidFill>
                <a:latin typeface="Cambria"/>
              </a:rPr>
              <a:t>Prompts</a:t>
            </a:r>
          </a:p>
          <a:p>
            <a:pPr algn="l">
              <a:spcAft>
                <a:spcPts val="300"/>
              </a:spcAft>
            </a:pPr>
            <a:r>
              <a:rPr sz="1400" b="0">
                <a:solidFill>
                  <a:srgbClr val="6B6862"/>
                </a:solidFill>
                <a:latin typeface="Calibri"/>
              </a:rPr>
              <a:t>State the goal, context, source and expectations.</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a:t>
            </a:r>
          </a:p>
        </p:txBody>
      </p:sp>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WHAT YOU'LL DO</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Hands-On Labs — Fundamentals of Microsoft 365 Copilot</a:t>
            </a:r>
          </a:p>
        </p:txBody>
      </p:sp>
      <p:sp>
        <p:nvSpPr>
          <p:cNvPr id="5" name="Rounded Rectangle 4"/>
          <p:cNvSpPr/>
          <p:nvPr/>
        </p:nvSpPr>
        <p:spPr>
          <a:xfrm>
            <a:off x="777240" y="1783080"/>
            <a:ext cx="5225796"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225796"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4814316" cy="548640"/>
          </a:xfrm>
          <a:prstGeom prst="rect">
            <a:avLst/>
          </a:prstGeom>
          <a:noFill/>
        </p:spPr>
        <p:txBody>
          <a:bodyPr wrap="square" anchor="t">
            <a:spAutoFit/>
          </a:bodyPr>
          <a:lstStyle/>
          <a:p>
            <a:pPr algn="l">
              <a:spcAft>
                <a:spcPts val="400"/>
              </a:spcAft>
            </a:pPr>
            <a:r>
              <a:rPr sz="1900" b="1">
                <a:solidFill>
                  <a:srgbClr val="D97757"/>
                </a:solidFill>
                <a:latin typeface="Cambria"/>
              </a:rPr>
              <a:t>Lab 1</a:t>
            </a:r>
          </a:p>
        </p:txBody>
      </p:sp>
      <p:sp>
        <p:nvSpPr>
          <p:cNvPr id="8" name="TextBox 7"/>
          <p:cNvSpPr txBox="1"/>
          <p:nvPr/>
        </p:nvSpPr>
        <p:spPr>
          <a:xfrm>
            <a:off x="1005840" y="2697480"/>
            <a:ext cx="4814316" cy="3108960"/>
          </a:xfrm>
          <a:prstGeom prst="rect">
            <a:avLst/>
          </a:prstGeom>
          <a:noFill/>
        </p:spPr>
        <p:txBody>
          <a:bodyPr wrap="square">
            <a:spAutoFit/>
          </a:bodyPr>
          <a:lstStyle/>
          <a:p>
            <a:pPr>
              <a:spcAft>
                <a:spcPts val="900"/>
              </a:spcAft>
            </a:pPr>
            <a:r>
              <a:rPr sz="1400" b="1">
                <a:solidFill>
                  <a:srgbClr val="21201C"/>
                </a:solidFill>
                <a:latin typeface="Calibri"/>
              </a:rPr>
              <a:t>•  Excel to Word</a:t>
            </a:r>
          </a:p>
          <a:p>
            <a:pPr>
              <a:spcAft>
                <a:spcPts val="900"/>
              </a:spcAft>
            </a:pPr>
            <a:r>
              <a:rPr sz="1200" b="0">
                <a:solidFill>
                  <a:srgbClr val="6B6862"/>
                </a:solidFill>
                <a:latin typeface="Calibri"/>
              </a:rPr>
              <a:t>–  Prepare Work Orders and Draft the Operations Brief</a:t>
            </a:r>
          </a:p>
        </p:txBody>
      </p:sp>
      <p:sp>
        <p:nvSpPr>
          <p:cNvPr id="9" name="Rounded Rectangle 8"/>
          <p:cNvSpPr/>
          <p:nvPr/>
        </p:nvSpPr>
        <p:spPr>
          <a:xfrm>
            <a:off x="6185916" y="1783080"/>
            <a:ext cx="5225796"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6185916" y="1783080"/>
            <a:ext cx="5225796"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6414516" y="2011680"/>
            <a:ext cx="4814316" cy="548640"/>
          </a:xfrm>
          <a:prstGeom prst="rect">
            <a:avLst/>
          </a:prstGeom>
          <a:noFill/>
        </p:spPr>
        <p:txBody>
          <a:bodyPr wrap="square" anchor="t">
            <a:spAutoFit/>
          </a:bodyPr>
          <a:lstStyle/>
          <a:p>
            <a:pPr algn="l">
              <a:spcAft>
                <a:spcPts val="400"/>
              </a:spcAft>
            </a:pPr>
            <a:r>
              <a:rPr sz="1900" b="1">
                <a:solidFill>
                  <a:srgbClr val="3A7D7B"/>
                </a:solidFill>
                <a:latin typeface="Cambria"/>
              </a:rPr>
              <a:t>Lab 2</a:t>
            </a:r>
          </a:p>
        </p:txBody>
      </p:sp>
      <p:sp>
        <p:nvSpPr>
          <p:cNvPr id="12" name="TextBox 11"/>
          <p:cNvSpPr txBox="1"/>
          <p:nvPr/>
        </p:nvSpPr>
        <p:spPr>
          <a:xfrm>
            <a:off x="6414516" y="2697480"/>
            <a:ext cx="4814316" cy="3108960"/>
          </a:xfrm>
          <a:prstGeom prst="rect">
            <a:avLst/>
          </a:prstGeom>
          <a:noFill/>
        </p:spPr>
        <p:txBody>
          <a:bodyPr wrap="square">
            <a:spAutoFit/>
          </a:bodyPr>
          <a:lstStyle/>
          <a:p>
            <a:pPr>
              <a:spcAft>
                <a:spcPts val="900"/>
              </a:spcAft>
            </a:pPr>
            <a:r>
              <a:rPr sz="1400" b="1">
                <a:solidFill>
                  <a:srgbClr val="21201C"/>
                </a:solidFill>
                <a:latin typeface="Calibri"/>
              </a:rPr>
              <a:t>•  Word to PowerPoint and Outlook</a:t>
            </a:r>
          </a:p>
          <a:p>
            <a:pPr>
              <a:spcAft>
                <a:spcPts val="900"/>
              </a:spcAft>
            </a:pPr>
            <a:r>
              <a:rPr sz="1200" b="0">
                <a:solidFill>
                  <a:srgbClr val="6B6862"/>
                </a:solidFill>
                <a:latin typeface="Calibri"/>
              </a:rPr>
              <a:t>–  Create the Cross-App Maintenance Update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a:t>
            </a:r>
          </a:p>
        </p:txBody>
      </p:sp>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CONNECTED USE CASE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The Northstar Maintenance Evidence Chain</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D97757"/>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Excel: clean and check</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D97757"/>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D97757"/>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Word: operations brief</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D97757"/>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D97757"/>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PowerPoint: decision story</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D97757"/>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D97757"/>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Outlook: reviewed draft</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a:t>
            </a:r>
          </a:p>
        </p:txBody>
      </p:sp>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EDITABLE DATA MODEL</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 Work Order Has State, Scope and Ownership</a:t>
            </a:r>
          </a:p>
        </p:txBody>
      </p:sp>
      <p:sp>
        <p:nvSpPr>
          <p:cNvPr id="5" name="Rounded Rectangle 4"/>
          <p:cNvSpPr/>
          <p:nvPr/>
        </p:nvSpPr>
        <p:spPr>
          <a:xfrm>
            <a:off x="777240" y="1828800"/>
            <a:ext cx="3383280" cy="1143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TextBox 5"/>
          <p:cNvSpPr txBox="1"/>
          <p:nvPr/>
        </p:nvSpPr>
        <p:spPr>
          <a:xfrm>
            <a:off x="914400" y="1920240"/>
            <a:ext cx="3108960" cy="274320"/>
          </a:xfrm>
          <a:prstGeom prst="rect">
            <a:avLst/>
          </a:prstGeom>
          <a:noFill/>
        </p:spPr>
        <p:txBody>
          <a:bodyPr wrap="square" anchor="t">
            <a:spAutoFit/>
          </a:bodyPr>
          <a:lstStyle/>
          <a:p>
            <a:pPr algn="l">
              <a:spcAft>
                <a:spcPts val="400"/>
              </a:spcAft>
            </a:pPr>
            <a:r>
              <a:rPr sz="1800" b="1">
                <a:solidFill>
                  <a:srgbClr val="21201C"/>
                </a:solidFill>
                <a:latin typeface="Cambria"/>
              </a:rPr>
              <a:t>ID</a:t>
            </a:r>
          </a:p>
        </p:txBody>
      </p:sp>
      <p:sp>
        <p:nvSpPr>
          <p:cNvPr id="7" name="TextBox 6"/>
          <p:cNvSpPr txBox="1"/>
          <p:nvPr/>
        </p:nvSpPr>
        <p:spPr>
          <a:xfrm>
            <a:off x="914400" y="2286000"/>
            <a:ext cx="3108960" cy="548640"/>
          </a:xfrm>
          <a:prstGeom prst="rect">
            <a:avLst/>
          </a:prstGeom>
          <a:noFill/>
        </p:spPr>
        <p:txBody>
          <a:bodyPr wrap="square" anchor="t">
            <a:spAutoFit/>
          </a:bodyPr>
          <a:lstStyle/>
          <a:p>
            <a:pPr algn="l">
              <a:spcAft>
                <a:spcPts val="400"/>
              </a:spcAft>
            </a:pPr>
            <a:r>
              <a:rPr sz="2300" b="0">
                <a:solidFill>
                  <a:srgbClr val="21201C"/>
                </a:solidFill>
                <a:latin typeface="Calibri"/>
              </a:rPr>
              <a:t>WO-2026-0003</a:t>
            </a:r>
          </a:p>
        </p:txBody>
      </p:sp>
      <p:sp>
        <p:nvSpPr>
          <p:cNvPr id="8" name="Rounded Rectangle 7"/>
          <p:cNvSpPr/>
          <p:nvPr/>
        </p:nvSpPr>
        <p:spPr>
          <a:xfrm>
            <a:off x="4434840" y="1828800"/>
            <a:ext cx="3383280" cy="1143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TextBox 8"/>
          <p:cNvSpPr txBox="1"/>
          <p:nvPr/>
        </p:nvSpPr>
        <p:spPr>
          <a:xfrm>
            <a:off x="4572000" y="1920240"/>
            <a:ext cx="3108960" cy="274320"/>
          </a:xfrm>
          <a:prstGeom prst="rect">
            <a:avLst/>
          </a:prstGeom>
          <a:noFill/>
        </p:spPr>
        <p:txBody>
          <a:bodyPr wrap="square" anchor="t">
            <a:spAutoFit/>
          </a:bodyPr>
          <a:lstStyle/>
          <a:p>
            <a:pPr algn="l">
              <a:spcAft>
                <a:spcPts val="400"/>
              </a:spcAft>
            </a:pPr>
            <a:r>
              <a:rPr sz="1800" b="1">
                <a:solidFill>
                  <a:srgbClr val="21201C"/>
                </a:solidFill>
                <a:latin typeface="Cambria"/>
              </a:rPr>
              <a:t>Site</a:t>
            </a:r>
          </a:p>
        </p:txBody>
      </p:sp>
      <p:sp>
        <p:nvSpPr>
          <p:cNvPr id="10" name="TextBox 9"/>
          <p:cNvSpPr txBox="1"/>
          <p:nvPr/>
        </p:nvSpPr>
        <p:spPr>
          <a:xfrm>
            <a:off x="4572000" y="2286000"/>
            <a:ext cx="3108960" cy="548640"/>
          </a:xfrm>
          <a:prstGeom prst="rect">
            <a:avLst/>
          </a:prstGeom>
          <a:noFill/>
        </p:spPr>
        <p:txBody>
          <a:bodyPr wrap="square" anchor="t">
            <a:spAutoFit/>
          </a:bodyPr>
          <a:lstStyle/>
          <a:p>
            <a:pPr algn="l">
              <a:spcAft>
                <a:spcPts val="400"/>
              </a:spcAft>
            </a:pPr>
            <a:r>
              <a:rPr sz="2300" b="0">
                <a:solidFill>
                  <a:srgbClr val="21201C"/>
                </a:solidFill>
                <a:latin typeface="Calibri"/>
              </a:rPr>
              <a:t>Woodlands Hub</a:t>
            </a:r>
          </a:p>
        </p:txBody>
      </p:sp>
      <p:sp>
        <p:nvSpPr>
          <p:cNvPr id="11" name="Rounded Rectangle 10"/>
          <p:cNvSpPr/>
          <p:nvPr/>
        </p:nvSpPr>
        <p:spPr>
          <a:xfrm>
            <a:off x="8092440" y="1828800"/>
            <a:ext cx="3383280" cy="1143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TextBox 11"/>
          <p:cNvSpPr txBox="1"/>
          <p:nvPr/>
        </p:nvSpPr>
        <p:spPr>
          <a:xfrm>
            <a:off x="8229600" y="1920240"/>
            <a:ext cx="3108960" cy="274320"/>
          </a:xfrm>
          <a:prstGeom prst="rect">
            <a:avLst/>
          </a:prstGeom>
          <a:noFill/>
        </p:spPr>
        <p:txBody>
          <a:bodyPr wrap="square" anchor="t">
            <a:spAutoFit/>
          </a:bodyPr>
          <a:lstStyle/>
          <a:p>
            <a:pPr algn="l">
              <a:spcAft>
                <a:spcPts val="400"/>
              </a:spcAft>
            </a:pPr>
            <a:r>
              <a:rPr sz="1800" b="1">
                <a:solidFill>
                  <a:srgbClr val="21201C"/>
                </a:solidFill>
                <a:latin typeface="Cambria"/>
              </a:rPr>
              <a:t>Category</a:t>
            </a:r>
          </a:p>
        </p:txBody>
      </p:sp>
      <p:sp>
        <p:nvSpPr>
          <p:cNvPr id="13" name="TextBox 12"/>
          <p:cNvSpPr txBox="1"/>
          <p:nvPr/>
        </p:nvSpPr>
        <p:spPr>
          <a:xfrm>
            <a:off x="8229600" y="2286000"/>
            <a:ext cx="3108960" cy="548640"/>
          </a:xfrm>
          <a:prstGeom prst="rect">
            <a:avLst/>
          </a:prstGeom>
          <a:noFill/>
        </p:spPr>
        <p:txBody>
          <a:bodyPr wrap="square" anchor="t">
            <a:spAutoFit/>
          </a:bodyPr>
          <a:lstStyle/>
          <a:p>
            <a:pPr algn="l">
              <a:spcAft>
                <a:spcPts val="400"/>
              </a:spcAft>
            </a:pPr>
            <a:r>
              <a:rPr sz="2300" b="0">
                <a:solidFill>
                  <a:srgbClr val="21201C"/>
                </a:solidFill>
                <a:latin typeface="Calibri"/>
              </a:rPr>
              <a:t>Leak Repair</a:t>
            </a:r>
          </a:p>
        </p:txBody>
      </p:sp>
      <p:sp>
        <p:nvSpPr>
          <p:cNvPr id="14" name="Rounded Rectangle 13"/>
          <p:cNvSpPr/>
          <p:nvPr/>
        </p:nvSpPr>
        <p:spPr>
          <a:xfrm>
            <a:off x="777240" y="3291840"/>
            <a:ext cx="3383280" cy="1143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5" name="TextBox 14"/>
          <p:cNvSpPr txBox="1"/>
          <p:nvPr/>
        </p:nvSpPr>
        <p:spPr>
          <a:xfrm>
            <a:off x="914400" y="3383280"/>
            <a:ext cx="3108960" cy="274320"/>
          </a:xfrm>
          <a:prstGeom prst="rect">
            <a:avLst/>
          </a:prstGeom>
          <a:noFill/>
        </p:spPr>
        <p:txBody>
          <a:bodyPr wrap="square" anchor="t">
            <a:spAutoFit/>
          </a:bodyPr>
          <a:lstStyle/>
          <a:p>
            <a:pPr algn="l">
              <a:spcAft>
                <a:spcPts val="400"/>
              </a:spcAft>
            </a:pPr>
            <a:r>
              <a:rPr sz="1800" b="1">
                <a:solidFill>
                  <a:srgbClr val="21201C"/>
                </a:solidFill>
                <a:latin typeface="Cambria"/>
              </a:rPr>
              <a:t>Status</a:t>
            </a:r>
          </a:p>
        </p:txBody>
      </p:sp>
      <p:sp>
        <p:nvSpPr>
          <p:cNvPr id="16" name="TextBox 15"/>
          <p:cNvSpPr txBox="1"/>
          <p:nvPr/>
        </p:nvSpPr>
        <p:spPr>
          <a:xfrm>
            <a:off x="914400" y="3749039"/>
            <a:ext cx="3108960" cy="548640"/>
          </a:xfrm>
          <a:prstGeom prst="rect">
            <a:avLst/>
          </a:prstGeom>
          <a:noFill/>
        </p:spPr>
        <p:txBody>
          <a:bodyPr wrap="square" anchor="t">
            <a:spAutoFit/>
          </a:bodyPr>
          <a:lstStyle/>
          <a:p>
            <a:pPr algn="l">
              <a:spcAft>
                <a:spcPts val="400"/>
              </a:spcAft>
            </a:pPr>
            <a:r>
              <a:rPr sz="2300" b="0">
                <a:solidFill>
                  <a:srgbClr val="21201C"/>
                </a:solidFill>
                <a:latin typeface="Calibri"/>
              </a:rPr>
              <a:t>In Progress</a:t>
            </a:r>
          </a:p>
        </p:txBody>
      </p:sp>
      <p:sp>
        <p:nvSpPr>
          <p:cNvPr id="17" name="Rounded Rectangle 16"/>
          <p:cNvSpPr/>
          <p:nvPr/>
        </p:nvSpPr>
        <p:spPr>
          <a:xfrm>
            <a:off x="4434840" y="3291840"/>
            <a:ext cx="3383280" cy="1143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TextBox 17"/>
          <p:cNvSpPr txBox="1"/>
          <p:nvPr/>
        </p:nvSpPr>
        <p:spPr>
          <a:xfrm>
            <a:off x="4572000" y="3383280"/>
            <a:ext cx="3108960" cy="274320"/>
          </a:xfrm>
          <a:prstGeom prst="rect">
            <a:avLst/>
          </a:prstGeom>
          <a:noFill/>
        </p:spPr>
        <p:txBody>
          <a:bodyPr wrap="square" anchor="t">
            <a:spAutoFit/>
          </a:bodyPr>
          <a:lstStyle/>
          <a:p>
            <a:pPr algn="l">
              <a:spcAft>
                <a:spcPts val="400"/>
              </a:spcAft>
            </a:pPr>
            <a:r>
              <a:rPr sz="1800" b="1">
                <a:solidFill>
                  <a:srgbClr val="21201C"/>
                </a:solidFill>
                <a:latin typeface="Cambria"/>
              </a:rPr>
              <a:t>Owner</a:t>
            </a:r>
          </a:p>
        </p:txBody>
      </p:sp>
      <p:sp>
        <p:nvSpPr>
          <p:cNvPr id="19" name="TextBox 18"/>
          <p:cNvSpPr txBox="1"/>
          <p:nvPr/>
        </p:nvSpPr>
        <p:spPr>
          <a:xfrm>
            <a:off x="4572000" y="3749039"/>
            <a:ext cx="3108960" cy="548640"/>
          </a:xfrm>
          <a:prstGeom prst="rect">
            <a:avLst/>
          </a:prstGeom>
          <a:noFill/>
        </p:spPr>
        <p:txBody>
          <a:bodyPr wrap="square" anchor="t">
            <a:spAutoFit/>
          </a:bodyPr>
          <a:lstStyle/>
          <a:p>
            <a:pPr algn="l">
              <a:spcAft>
                <a:spcPts val="400"/>
              </a:spcAft>
            </a:pPr>
            <a:r>
              <a:rPr sz="2300" b="0">
                <a:solidFill>
                  <a:srgbClr val="21201C"/>
                </a:solidFill>
                <a:latin typeface="Calibri"/>
              </a:rPr>
              <a:t>Chloe Goh</a:t>
            </a:r>
          </a:p>
        </p:txBody>
      </p:sp>
      <p:sp>
        <p:nvSpPr>
          <p:cNvPr id="20" name="TextBox 19"/>
          <p:cNvSpPr txBox="1"/>
          <p:nvPr/>
        </p:nvSpPr>
        <p:spPr>
          <a:xfrm>
            <a:off x="868680" y="5212080"/>
            <a:ext cx="10332720" cy="457200"/>
          </a:xfrm>
          <a:prstGeom prst="rect">
            <a:avLst/>
          </a:prstGeom>
          <a:noFill/>
        </p:spPr>
        <p:txBody>
          <a:bodyPr wrap="square" anchor="t">
            <a:spAutoFit/>
          </a:bodyPr>
          <a:lstStyle/>
          <a:p>
            <a:pPr algn="l">
              <a:spcAft>
                <a:spcPts val="400"/>
              </a:spcAft>
            </a:pPr>
            <a:r>
              <a:rPr sz="2100" b="0">
                <a:solidFill>
                  <a:srgbClr val="21201C"/>
                </a:solidFill>
                <a:latin typeface="Calibri"/>
              </a:rPr>
              <a:t>Current owner is evidence. Proposed owner is a separate planning output.</a:t>
            </a:r>
          </a:p>
        </p:txBody>
      </p:sp>
      <p:sp>
        <p:nvSpPr>
          <p:cNvPr id="21" name="TextBox 20"/>
          <p:cNvSpPr txBox="1"/>
          <p:nvPr/>
        </p:nvSpPr>
        <p:spPr>
          <a:xfrm>
            <a:off x="777240" y="5989320"/>
            <a:ext cx="10698480" cy="274320"/>
          </a:xfrm>
          <a:prstGeom prst="rect">
            <a:avLst/>
          </a:prstGeom>
          <a:noFill/>
        </p:spPr>
        <p:txBody>
          <a:bodyPr wrap="square" anchor="t">
            <a:spAutoFit/>
          </a:bodyPr>
          <a:lstStyle/>
          <a:p>
            <a:pPr algn="l">
              <a:spcAft>
                <a:spcPts val="400"/>
              </a:spcAft>
            </a:pPr>
            <a:r>
              <a:rPr sz="1100" b="0">
                <a:solidFill>
                  <a:srgbClr val="21201C"/>
                </a:solidFill>
                <a:latin typeface="Calibri"/>
              </a:rPr>
              <a:t>Source: synthetic tblWorkOrders | 30 Sep 2026 | All filters All unless stated</a:t>
            </a:r>
          </a:p>
        </p:txBody>
      </p:sp>
      <p:sp>
        <p:nvSpPr>
          <p:cNvPr id="22" name="TextBox 21"/>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3" name="TextBox 22"/>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4" name="TextBox 23"/>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12</a:t>
            </a:r>
          </a:p>
        </p:txBody>
      </p:sp>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The Microsoft 365 Copilot Interface</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Copilot in the browser and in each Office app shares one set of controls.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Knowing where each control lives lets you choose how much reasoning, context and authority Copilot gets for a task.</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Auto is the default model; Think deeper suits multi-step analysis.</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13</a:t>
            </a:r>
          </a:p>
        </p:txBody>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INTERFACE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The Microsoft 365 Copilot Interface</a:t>
            </a:r>
          </a:p>
        </p:txBody>
      </p:sp>
      <p:sp>
        <p:nvSpPr>
          <p:cNvPr id="5" name="Rounded Rectangle 4"/>
          <p:cNvSpPr/>
          <p:nvPr/>
        </p:nvSpPr>
        <p:spPr>
          <a:xfrm>
            <a:off x="777240" y="1783080"/>
            <a:ext cx="3361944"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361944"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2154936" cy="1883664"/>
          </a:xfrm>
          <a:prstGeom prst="rect">
            <a:avLst/>
          </a:prstGeom>
          <a:noFill/>
        </p:spPr>
        <p:txBody>
          <a:bodyPr wrap="square" anchor="ctr">
            <a:spAutoFit/>
          </a:bodyPr>
          <a:lstStyle/>
          <a:p>
            <a:pPr algn="l">
              <a:spcAft>
                <a:spcPts val="300"/>
              </a:spcAft>
            </a:pPr>
            <a:r>
              <a:rPr sz="1500" b="1">
                <a:solidFill>
                  <a:srgbClr val="21201C"/>
                </a:solidFill>
                <a:latin typeface="Calibri"/>
              </a:rPr>
              <a:t>Model selection</a:t>
            </a:r>
          </a:p>
          <a:p>
            <a:pPr algn="l">
              <a:spcAft>
                <a:spcPts val="300"/>
              </a:spcAft>
            </a:pPr>
            <a:r>
              <a:rPr sz="1100" b="0">
                <a:solidFill>
                  <a:srgbClr val="6B6862"/>
                </a:solidFill>
                <a:latin typeface="Calibri"/>
              </a:rPr>
              <a:t>Auto, Quick response or Think deeper; Auto chooses for you.</a:t>
            </a:r>
          </a:p>
        </p:txBody>
      </p:sp>
      <p:sp>
        <p:nvSpPr>
          <p:cNvPr id="10" name="Rounded Rectangle 9"/>
          <p:cNvSpPr/>
          <p:nvPr/>
        </p:nvSpPr>
        <p:spPr>
          <a:xfrm>
            <a:off x="4413504" y="1783080"/>
            <a:ext cx="3361944"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4413504" y="1783080"/>
            <a:ext cx="3361944" cy="64008"/>
          </a:xfrm>
          <a:prstGeom prst="rect">
            <a:avLst/>
          </a:prstGeom>
          <a:solidFill>
            <a:srgbClr val="3A7D7B"/>
          </a:solidFill>
          <a:ln>
            <a:noFill/>
          </a:ln>
          <a:effectLst/>
        </p:spPr>
        <p:txBody>
          <a:bodyPr rtlCol="0" anchor="ctr"/>
          <a:lstStyle/>
          <a:p>
            <a:pPr algn="ctr"/>
          </a:p>
        </p:txBody>
      </p:sp>
      <p:sp>
        <p:nvSpPr>
          <p:cNvPr id="12" name="Oval 11"/>
          <p:cNvSpPr/>
          <p:nvPr/>
        </p:nvSpPr>
        <p:spPr>
          <a:xfrm>
            <a:off x="4669536"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4669536"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5401056" y="1911096"/>
            <a:ext cx="2154936" cy="1883664"/>
          </a:xfrm>
          <a:prstGeom prst="rect">
            <a:avLst/>
          </a:prstGeom>
          <a:noFill/>
        </p:spPr>
        <p:txBody>
          <a:bodyPr wrap="square" anchor="ctr">
            <a:spAutoFit/>
          </a:bodyPr>
          <a:lstStyle/>
          <a:p>
            <a:pPr algn="l">
              <a:spcAft>
                <a:spcPts val="300"/>
              </a:spcAft>
            </a:pPr>
            <a:r>
              <a:rPr sz="1500" b="1">
                <a:solidFill>
                  <a:srgbClr val="21201C"/>
                </a:solidFill>
                <a:latin typeface="Calibri"/>
              </a:rPr>
              <a:t>New chat</a:t>
            </a:r>
          </a:p>
          <a:p>
            <a:pPr algn="l">
              <a:spcAft>
                <a:spcPts val="300"/>
              </a:spcAft>
            </a:pPr>
            <a:r>
              <a:rPr sz="1100" b="0">
                <a:solidFill>
                  <a:srgbClr val="6B6862"/>
                </a:solidFill>
                <a:latin typeface="Calibri"/>
              </a:rPr>
              <a:t>Starts a clean conversation; each chat is its own context.</a:t>
            </a:r>
          </a:p>
        </p:txBody>
      </p:sp>
      <p:sp>
        <p:nvSpPr>
          <p:cNvPr id="15" name="Rounded Rectangle 14"/>
          <p:cNvSpPr/>
          <p:nvPr/>
        </p:nvSpPr>
        <p:spPr>
          <a:xfrm>
            <a:off x="8049768" y="1783080"/>
            <a:ext cx="3361944"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8049768" y="1783080"/>
            <a:ext cx="3361944" cy="64008"/>
          </a:xfrm>
          <a:prstGeom prst="rect">
            <a:avLst/>
          </a:prstGeom>
          <a:solidFill>
            <a:srgbClr val="5B4B8A"/>
          </a:solidFill>
          <a:ln>
            <a:noFill/>
          </a:ln>
          <a:effectLst/>
        </p:spPr>
        <p:txBody>
          <a:bodyPr rtlCol="0" anchor="ctr"/>
          <a:lstStyle/>
          <a:p>
            <a:pPr algn="ctr"/>
          </a:p>
        </p:txBody>
      </p:sp>
      <p:sp>
        <p:nvSpPr>
          <p:cNvPr id="17" name="Oval 16"/>
          <p:cNvSpPr/>
          <p:nvPr/>
        </p:nvSpPr>
        <p:spPr>
          <a:xfrm>
            <a:off x="8305800" y="2542032"/>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8305800"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9037320" y="1911096"/>
            <a:ext cx="2154936" cy="1883664"/>
          </a:xfrm>
          <a:prstGeom prst="rect">
            <a:avLst/>
          </a:prstGeom>
          <a:noFill/>
        </p:spPr>
        <p:txBody>
          <a:bodyPr wrap="square" anchor="ctr">
            <a:spAutoFit/>
          </a:bodyPr>
          <a:lstStyle/>
          <a:p>
            <a:pPr algn="l">
              <a:spcAft>
                <a:spcPts val="300"/>
              </a:spcAft>
            </a:pPr>
            <a:r>
              <a:rPr sz="1500" b="1">
                <a:solidFill>
                  <a:srgbClr val="21201C"/>
                </a:solidFill>
                <a:latin typeface="Calibri"/>
              </a:rPr>
              <a:t>History</a:t>
            </a:r>
          </a:p>
          <a:p>
            <a:pPr algn="l">
              <a:spcAft>
                <a:spcPts val="300"/>
              </a:spcAft>
            </a:pPr>
            <a:r>
              <a:rPr sz="1100" b="0">
                <a:solidFill>
                  <a:srgbClr val="6B6862"/>
                </a:solidFill>
                <a:latin typeface="Calibri"/>
              </a:rPr>
              <a:t>Earlier chats in the left pane to reopen or continue.</a:t>
            </a:r>
          </a:p>
        </p:txBody>
      </p:sp>
      <p:sp>
        <p:nvSpPr>
          <p:cNvPr id="20" name="Rounded Rectangle 19"/>
          <p:cNvSpPr/>
          <p:nvPr/>
        </p:nvSpPr>
        <p:spPr>
          <a:xfrm>
            <a:off x="777240" y="4087368"/>
            <a:ext cx="3361944"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777240" y="4087368"/>
            <a:ext cx="3361944" cy="64008"/>
          </a:xfrm>
          <a:prstGeom prst="rect">
            <a:avLst/>
          </a:prstGeom>
          <a:solidFill>
            <a:srgbClr val="C2603F"/>
          </a:solidFill>
          <a:ln>
            <a:noFill/>
          </a:ln>
          <a:effectLst/>
        </p:spPr>
        <p:txBody>
          <a:bodyPr rtlCol="0" anchor="ctr"/>
          <a:lstStyle/>
          <a:p>
            <a:pPr algn="ctr"/>
          </a:p>
        </p:txBody>
      </p:sp>
      <p:sp>
        <p:nvSpPr>
          <p:cNvPr id="22" name="Oval 21"/>
          <p:cNvSpPr/>
          <p:nvPr/>
        </p:nvSpPr>
        <p:spPr>
          <a:xfrm>
            <a:off x="1033272"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1764792" y="4215384"/>
            <a:ext cx="2154936" cy="1883664"/>
          </a:xfrm>
          <a:prstGeom prst="rect">
            <a:avLst/>
          </a:prstGeom>
          <a:noFill/>
        </p:spPr>
        <p:txBody>
          <a:bodyPr wrap="square" anchor="ctr">
            <a:spAutoFit/>
          </a:bodyPr>
          <a:lstStyle/>
          <a:p>
            <a:pPr algn="l">
              <a:spcAft>
                <a:spcPts val="300"/>
              </a:spcAft>
            </a:pPr>
            <a:r>
              <a:rPr sz="1500" b="1">
                <a:solidFill>
                  <a:srgbClr val="21201C"/>
                </a:solidFill>
                <a:latin typeface="Calibri"/>
              </a:rPr>
              <a:t>Mode</a:t>
            </a:r>
          </a:p>
          <a:p>
            <a:pPr algn="l">
              <a:spcAft>
                <a:spcPts val="300"/>
              </a:spcAft>
            </a:pPr>
            <a:r>
              <a:rPr sz="1100" b="0">
                <a:solidFill>
                  <a:srgbClr val="6B6862"/>
                </a:solidFill>
                <a:latin typeface="Calibri"/>
              </a:rPr>
              <a:t>Excel/Word: Chat only, Plan or Allow editing (Edit).</a:t>
            </a:r>
          </a:p>
        </p:txBody>
      </p:sp>
      <p:sp>
        <p:nvSpPr>
          <p:cNvPr id="25" name="Rounded Rectangle 24"/>
          <p:cNvSpPr/>
          <p:nvPr/>
        </p:nvSpPr>
        <p:spPr>
          <a:xfrm>
            <a:off x="4413504" y="4087368"/>
            <a:ext cx="3361944"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4413504" y="4087368"/>
            <a:ext cx="3361944" cy="64008"/>
          </a:xfrm>
          <a:prstGeom prst="rect">
            <a:avLst/>
          </a:prstGeom>
          <a:solidFill>
            <a:srgbClr val="D97757"/>
          </a:solidFill>
          <a:ln>
            <a:noFill/>
          </a:ln>
          <a:effectLst/>
        </p:spPr>
        <p:txBody>
          <a:bodyPr rtlCol="0" anchor="ctr"/>
          <a:lstStyle/>
          <a:p>
            <a:pPr algn="ctr"/>
          </a:p>
        </p:txBody>
      </p:sp>
      <p:sp>
        <p:nvSpPr>
          <p:cNvPr id="27" name="Oval 26"/>
          <p:cNvSpPr/>
          <p:nvPr/>
        </p:nvSpPr>
        <p:spPr>
          <a:xfrm>
            <a:off x="4669536" y="4846320"/>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4669536"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5401056" y="4215384"/>
            <a:ext cx="2154936" cy="1883664"/>
          </a:xfrm>
          <a:prstGeom prst="rect">
            <a:avLst/>
          </a:prstGeom>
          <a:noFill/>
        </p:spPr>
        <p:txBody>
          <a:bodyPr wrap="square" anchor="ctr">
            <a:spAutoFit/>
          </a:bodyPr>
          <a:lstStyle/>
          <a:p>
            <a:pPr algn="l">
              <a:spcAft>
                <a:spcPts val="300"/>
              </a:spcAft>
            </a:pPr>
            <a:r>
              <a:rPr sz="1500" b="1">
                <a:solidFill>
                  <a:srgbClr val="21201C"/>
                </a:solidFill>
                <a:latin typeface="Calibri"/>
              </a:rPr>
              <a:t>+ Add content</a:t>
            </a:r>
          </a:p>
          <a:p>
            <a:pPr algn="l">
              <a:spcAft>
                <a:spcPts val="300"/>
              </a:spcAft>
            </a:pPr>
            <a:r>
              <a:rPr sz="1100" b="0">
                <a:solidFill>
                  <a:srgbClr val="6B6862"/>
                </a:solidFill>
                <a:latin typeface="Calibri"/>
              </a:rPr>
              <a:t>Reference a file with / or +, or choose skills to apply.</a:t>
            </a:r>
          </a:p>
        </p:txBody>
      </p:sp>
      <p:sp>
        <p:nvSpPr>
          <p:cNvPr id="30" name="Rounded Rectangle 29"/>
          <p:cNvSpPr/>
          <p:nvPr/>
        </p:nvSpPr>
        <p:spPr>
          <a:xfrm>
            <a:off x="8049768" y="4087368"/>
            <a:ext cx="3361944"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8049768" y="4087368"/>
            <a:ext cx="3361944" cy="64008"/>
          </a:xfrm>
          <a:prstGeom prst="rect">
            <a:avLst/>
          </a:prstGeom>
          <a:solidFill>
            <a:srgbClr val="3A7D7B"/>
          </a:solidFill>
          <a:ln>
            <a:noFill/>
          </a:ln>
          <a:effectLst/>
        </p:spPr>
        <p:txBody>
          <a:bodyPr rtlCol="0" anchor="ctr"/>
          <a:lstStyle/>
          <a:p>
            <a:pPr algn="ctr"/>
          </a:p>
        </p:txBody>
      </p:sp>
      <p:sp>
        <p:nvSpPr>
          <p:cNvPr id="32" name="Oval 31"/>
          <p:cNvSpPr/>
          <p:nvPr/>
        </p:nvSpPr>
        <p:spPr>
          <a:xfrm>
            <a:off x="8305800" y="4846320"/>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8305800"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9037320" y="4215384"/>
            <a:ext cx="2154936" cy="1883664"/>
          </a:xfrm>
          <a:prstGeom prst="rect">
            <a:avLst/>
          </a:prstGeom>
          <a:noFill/>
        </p:spPr>
        <p:txBody>
          <a:bodyPr wrap="square" anchor="ctr">
            <a:spAutoFit/>
          </a:bodyPr>
          <a:lstStyle/>
          <a:p>
            <a:pPr algn="l">
              <a:spcAft>
                <a:spcPts val="300"/>
              </a:spcAft>
            </a:pPr>
            <a:r>
              <a:rPr sz="1500" b="1">
                <a:solidFill>
                  <a:srgbClr val="21201C"/>
                </a:solidFill>
                <a:latin typeface="Calibri"/>
              </a:rPr>
              <a:t>Personalisation</a:t>
            </a:r>
          </a:p>
          <a:p>
            <a:pPr algn="l">
              <a:spcAft>
                <a:spcPts val="300"/>
              </a:spcAft>
            </a:pPr>
            <a:r>
              <a:rPr sz="1100" b="0">
                <a:solidFill>
                  <a:srgbClr val="6B6862"/>
                </a:solidFill>
                <a:latin typeface="Calibri"/>
              </a:rPr>
              <a:t>Settings (...) &gt; Personalization: your account preferences.</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14</a:t>
            </a:r>
          </a:p>
        </p:txBody>
      </p:sp>
    </p:spTree>
  </p:cSld>
  <p:clrMapOvr>
    <a:masterClrMapping/>
  </p:clrMapOvr>
  <p:transition spd="med">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INTERFACE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The Microsoft 365 Copilot Interface (cont.)</a:t>
            </a:r>
          </a:p>
        </p:txBody>
      </p:sp>
      <p:sp>
        <p:nvSpPr>
          <p:cNvPr id="5" name="Rounded Rectangle 4"/>
          <p:cNvSpPr/>
          <p:nvPr/>
        </p:nvSpPr>
        <p:spPr>
          <a:xfrm>
            <a:off x="777240" y="1783080"/>
            <a:ext cx="3361944"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361944" cy="64008"/>
          </a:xfrm>
          <a:prstGeom prst="rect">
            <a:avLst/>
          </a:prstGeom>
          <a:solidFill>
            <a:srgbClr val="5B4B8A"/>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5B4B8A"/>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7</a:t>
            </a:r>
          </a:p>
        </p:txBody>
      </p:sp>
      <p:sp>
        <p:nvSpPr>
          <p:cNvPr id="9" name="TextBox 8"/>
          <p:cNvSpPr txBox="1"/>
          <p:nvPr/>
        </p:nvSpPr>
        <p:spPr>
          <a:xfrm>
            <a:off x="1764792" y="1911096"/>
            <a:ext cx="2154936" cy="1883664"/>
          </a:xfrm>
          <a:prstGeom prst="rect">
            <a:avLst/>
          </a:prstGeom>
          <a:noFill/>
        </p:spPr>
        <p:txBody>
          <a:bodyPr wrap="square" anchor="ctr">
            <a:spAutoFit/>
          </a:bodyPr>
          <a:lstStyle/>
          <a:p>
            <a:pPr algn="l">
              <a:spcAft>
                <a:spcPts val="300"/>
              </a:spcAft>
            </a:pPr>
            <a:r>
              <a:rPr sz="1500" b="1">
                <a:solidFill>
                  <a:srgbClr val="21201C"/>
                </a:solidFill>
                <a:latin typeface="Calibri"/>
              </a:rPr>
              <a:t>Skills &amp; plugins</a:t>
            </a:r>
          </a:p>
          <a:p>
            <a:pPr algn="l">
              <a:spcAft>
                <a:spcPts val="300"/>
              </a:spcAft>
            </a:pPr>
            <a:r>
              <a:rPr sz="1100" b="0">
                <a:solidFill>
                  <a:srgbClr val="6B6862"/>
                </a:solidFill>
                <a:latin typeface="Calibri"/>
              </a:rPr>
              <a:t>Settings (...) &gt; Manage plugins &amp; skills; call one with @.</a:t>
            </a:r>
          </a:p>
        </p:txBody>
      </p:sp>
      <p:sp>
        <p:nvSpPr>
          <p:cNvPr id="10" name="Rounded Rectangle 9"/>
          <p:cNvSpPr/>
          <p:nvPr/>
        </p:nvSpPr>
        <p:spPr>
          <a:xfrm>
            <a:off x="4413504" y="1783080"/>
            <a:ext cx="3361944"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4413504" y="1783080"/>
            <a:ext cx="3361944" cy="64008"/>
          </a:xfrm>
          <a:prstGeom prst="rect">
            <a:avLst/>
          </a:prstGeom>
          <a:solidFill>
            <a:srgbClr val="C2603F"/>
          </a:solidFill>
          <a:ln>
            <a:noFill/>
          </a:ln>
          <a:effectLst/>
        </p:spPr>
        <p:txBody>
          <a:bodyPr rtlCol="0" anchor="ctr"/>
          <a:lstStyle/>
          <a:p>
            <a:pPr algn="ctr"/>
          </a:p>
        </p:txBody>
      </p:sp>
      <p:sp>
        <p:nvSpPr>
          <p:cNvPr id="12" name="Oval 11"/>
          <p:cNvSpPr/>
          <p:nvPr/>
        </p:nvSpPr>
        <p:spPr>
          <a:xfrm>
            <a:off x="4669536" y="2542032"/>
            <a:ext cx="548640" cy="548640"/>
          </a:xfrm>
          <a:prstGeom prst="ellipse">
            <a:avLst/>
          </a:prstGeom>
          <a:solidFill>
            <a:srgbClr val="C2603F"/>
          </a:solidFill>
          <a:ln>
            <a:noFill/>
          </a:ln>
          <a:effectLst/>
        </p:spPr>
        <p:txBody>
          <a:bodyPr rtlCol="0" anchor="ctr"/>
          <a:lstStyle/>
          <a:p>
            <a:pPr algn="ctr"/>
          </a:p>
        </p:txBody>
      </p:sp>
      <p:sp>
        <p:nvSpPr>
          <p:cNvPr id="13" name="TextBox 12"/>
          <p:cNvSpPr txBox="1"/>
          <p:nvPr/>
        </p:nvSpPr>
        <p:spPr>
          <a:xfrm>
            <a:off x="4669536"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8</a:t>
            </a:r>
          </a:p>
        </p:txBody>
      </p:sp>
      <p:sp>
        <p:nvSpPr>
          <p:cNvPr id="14" name="TextBox 13"/>
          <p:cNvSpPr txBox="1"/>
          <p:nvPr/>
        </p:nvSpPr>
        <p:spPr>
          <a:xfrm>
            <a:off x="5401056" y="1911096"/>
            <a:ext cx="2154936" cy="1883664"/>
          </a:xfrm>
          <a:prstGeom prst="rect">
            <a:avLst/>
          </a:prstGeom>
          <a:noFill/>
        </p:spPr>
        <p:txBody>
          <a:bodyPr wrap="square" anchor="ctr">
            <a:spAutoFit/>
          </a:bodyPr>
          <a:lstStyle/>
          <a:p>
            <a:pPr algn="l">
              <a:spcAft>
                <a:spcPts val="300"/>
              </a:spcAft>
            </a:pPr>
            <a:r>
              <a:rPr sz="1500" b="1">
                <a:solidFill>
                  <a:srgbClr val="21201C"/>
                </a:solidFill>
                <a:latin typeface="Calibri"/>
              </a:rPr>
              <a:t>Agents</a:t>
            </a:r>
          </a:p>
          <a:p>
            <a:pPr algn="l">
              <a:spcAft>
                <a:spcPts val="300"/>
              </a:spcAft>
            </a:pPr>
            <a:r>
              <a:rPr sz="1100" b="0">
                <a:solidFill>
                  <a:srgbClr val="6B6862"/>
                </a:solidFill>
                <a:latin typeface="Calibri"/>
              </a:rPr>
              <a:t>Agents &amp; Skills in the left pane; build with Agent Builder.</a:t>
            </a:r>
          </a:p>
        </p:txBody>
      </p:sp>
      <p:sp>
        <p:nvSpPr>
          <p:cNvPr id="15" name="Rounded Rectangle 14"/>
          <p:cNvSpPr/>
          <p:nvPr/>
        </p:nvSpPr>
        <p:spPr>
          <a:xfrm>
            <a:off x="8049768" y="1783080"/>
            <a:ext cx="3361944"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8049768" y="1783080"/>
            <a:ext cx="3361944" cy="64008"/>
          </a:xfrm>
          <a:prstGeom prst="rect">
            <a:avLst/>
          </a:prstGeom>
          <a:solidFill>
            <a:srgbClr val="D97757"/>
          </a:solidFill>
          <a:ln>
            <a:noFill/>
          </a:ln>
          <a:effectLst/>
        </p:spPr>
        <p:txBody>
          <a:bodyPr rtlCol="0" anchor="ctr"/>
          <a:lstStyle/>
          <a:p>
            <a:pPr algn="ctr"/>
          </a:p>
        </p:txBody>
      </p:sp>
      <p:sp>
        <p:nvSpPr>
          <p:cNvPr id="17" name="Oval 16"/>
          <p:cNvSpPr/>
          <p:nvPr/>
        </p:nvSpPr>
        <p:spPr>
          <a:xfrm>
            <a:off x="8305800" y="2542032"/>
            <a:ext cx="548640" cy="548640"/>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8305800"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9</a:t>
            </a:r>
          </a:p>
        </p:txBody>
      </p:sp>
      <p:sp>
        <p:nvSpPr>
          <p:cNvPr id="19" name="TextBox 18"/>
          <p:cNvSpPr txBox="1"/>
          <p:nvPr/>
        </p:nvSpPr>
        <p:spPr>
          <a:xfrm>
            <a:off x="9037320" y="1911096"/>
            <a:ext cx="2154936" cy="1883664"/>
          </a:xfrm>
          <a:prstGeom prst="rect">
            <a:avLst/>
          </a:prstGeom>
          <a:noFill/>
        </p:spPr>
        <p:txBody>
          <a:bodyPr wrap="square" anchor="ctr">
            <a:spAutoFit/>
          </a:bodyPr>
          <a:lstStyle/>
          <a:p>
            <a:pPr algn="l">
              <a:spcAft>
                <a:spcPts val="300"/>
              </a:spcAft>
            </a:pPr>
            <a:r>
              <a:rPr sz="1500" b="1">
                <a:solidFill>
                  <a:srgbClr val="21201C"/>
                </a:solidFill>
                <a:latin typeface="Calibri"/>
              </a:rPr>
              <a:t>Data protection</a:t>
            </a:r>
          </a:p>
          <a:p>
            <a:pPr algn="l">
              <a:spcAft>
                <a:spcPts val="300"/>
              </a:spcAft>
            </a:pPr>
            <a:r>
              <a:rPr sz="1100" b="0">
                <a:solidFill>
                  <a:srgbClr val="6B6862"/>
                </a:solidFill>
                <a:latin typeface="Calibri"/>
              </a:rPr>
              <a:t>The green shield shows enterprise data protection is on.</a:t>
            </a:r>
          </a:p>
        </p:txBody>
      </p:sp>
      <p:sp>
        <p:nvSpPr>
          <p:cNvPr id="20" name="TextBox 1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1" name="TextBox 2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2" name="TextBox 2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15</a:t>
            </a:r>
          </a:p>
        </p:txBody>
      </p:sp>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The Microsoft 365 Copilot Interface</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D97757"/>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Pick the model and start a new chat.</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D97757"/>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D97757"/>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Reference the file or choose a skill.</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D97757"/>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D97757"/>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Choose Chat only, Plan or Allow editing.</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D97757"/>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D97757"/>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Review history, settings and skills.</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16</a:t>
            </a:r>
          </a:p>
        </p:txBody>
      </p:sp>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Apply the Concept — The Microsoft 365 Copilot Interface</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Use / or + to reference the OneDrive workbook in Word.</a:t>
            </a:r>
          </a:p>
          <a:p>
            <a:pPr>
              <a:spcAft>
                <a:spcPts val="1000"/>
              </a:spcAft>
            </a:pPr>
            <a:r>
              <a:rPr sz="1600" b="0">
                <a:solidFill>
                  <a:srgbClr val="21201C"/>
                </a:solidFill>
                <a:latin typeface="Calibri"/>
              </a:rPr>
              <a:t>•  Chat only for inspection, Plan before edits, Allow editing to apply.</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17</a:t>
            </a:r>
          </a:p>
        </p:txBody>
      </p:sp>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Grounding Across Microsoft 365</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Grounding gives an AI request the specific evidence it should use.</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maintenance figure can be correct in Excel yet become wrong in an email when the source, reporting date or filter scope changes.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Excel analyses tblWorkOrders; Word receives the checked summary.</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18</a:t>
            </a:r>
          </a:p>
        </p:txBody>
      </p:sp>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Grounding Across Microsoft 365</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D97757"/>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Identify the authoritative work-order table.</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D97757"/>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D97757"/>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Provide goal, context, source and expected output.</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D97757"/>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D97757"/>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Review against the named evidence.</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D97757"/>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D97757"/>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Pass a verified snapshot to the next app.</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19</a:t>
            </a:r>
          </a:p>
        </p:txBody>
      </p:sp>
    </p:spTree>
  </p:cSld>
  <p:clrMapOvr>
    <a:masterClrMapping/>
  </p:clrMapOvr>
  <p:transition spd="med">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Apply the Concept — Grounding Across Microsoft 365</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PowerPoint receives the reviewed Word brief; Outlook receives the same checked values.</a:t>
            </a:r>
          </a:p>
          <a:p>
            <a:pPr>
              <a:spcAft>
                <a:spcPts val="1000"/>
              </a:spcAft>
            </a:pPr>
            <a:r>
              <a:rPr sz="1600" b="0">
                <a:solidFill>
                  <a:srgbClr val="21201C"/>
                </a:solidFill>
                <a:latin typeface="Calibri"/>
              </a:rPr>
              <a:t>•  An Excel chat transcript is not an automatic PowerPoint data source.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20</a:t>
            </a:r>
          </a:p>
        </p:txBody>
      </p:sp>
    </p:spTree>
  </p:cSld>
  <p:clrMapOvr>
    <a:masterClrMapping/>
  </p:clrMapOvr>
  <p:transition spd="med">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Work-Order Grain and Reporting Measures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row represents one work order, identified by Work_Order_ID.</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An exact duplicated export row changes counts and cost without representing new work.</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122 raw rows contain 120 distinct work-order IDs.</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21</a:t>
            </a:r>
          </a:p>
        </p:txBody>
      </p:sp>
    </p:spTree>
  </p:cSld>
  <p:clrMapOvr>
    <a:masterClrMapping/>
  </p:clrMapOvr>
  <p:transition spd="med">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Work-Order Grain and Reporting Measures</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D97757"/>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Define one ID per work order.</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D97757"/>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D97757"/>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Find exact repeated export records.</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D97757"/>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D97757"/>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Standardise labels without inventing facts.</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D97757"/>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D97757"/>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Reconcile cleaned counts and cost.</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22</a:t>
            </a:r>
          </a:p>
        </p:txBody>
      </p:sp>
    </p:spTree>
  </p:cSld>
  <p:clrMapOvr>
    <a:masterClrMapping/>
  </p:clrMapOvr>
  <p:transition spd="med">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Apply the Concept — Work-Order Grain and Reporting Measures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Total = Closed + Cancelled + Backlog after exact duplicate removal.</a:t>
            </a:r>
          </a:p>
          <a:p>
            <a:pPr>
              <a:spcAft>
                <a:spcPts val="1000"/>
              </a:spcAft>
            </a:pPr>
            <a:r>
              <a:rPr sz="1600" b="0">
                <a:solidFill>
                  <a:srgbClr val="21201C"/>
                </a:solidFill>
                <a:latin typeface="Calibri"/>
              </a:rPr>
              <a:t>•  Due on 30 September is not overdue at the 30 September snapshot.</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23</a:t>
            </a:r>
          </a:p>
        </p:txBody>
      </p:sp>
    </p:spTree>
  </p:cSld>
  <p:clrMapOvr>
    <a:masterClrMapping/>
  </p:clrMapOvr>
  <p:transition spd="med">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THEME · EXCEL TO WORD</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Prepare Work Orders and Draft the Operations Brief</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1</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2100" b="0">
                <a:solidFill>
                  <a:srgbClr val="21201C"/>
                </a:solidFill>
                <a:latin typeface="Calibri"/>
              </a:rPr>
              <a:t>You are Northstar Water Services’ maintenance coordinator. A Q3 export contains repeated IDs and inconsistent category labels.</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600" b="1">
                <a:solidFill>
                  <a:srgbClr val="21201C"/>
                </a:solidFill>
                <a:latin typeface="Calibri"/>
              </a:rPr>
              <a:t>Northstar_Clean_Work_Orders.xlsx and Northstar_Operations_Brief.docx, with reconciled counts, reporting scope and a source register.</a:t>
            </a:r>
          </a:p>
        </p:txBody>
      </p:sp>
      <p:sp>
        <p:nvSpPr>
          <p:cNvPr id="12" name="Rectangle 11"/>
          <p:cNvSpPr/>
          <p:nvPr/>
        </p:nvSpPr>
        <p:spPr>
          <a:xfrm>
            <a:off x="1005840"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1  Ground</a:t>
            </a:r>
          </a:p>
        </p:txBody>
      </p:sp>
      <p:sp>
        <p:nvSpPr>
          <p:cNvPr id="14" name="Rectangle 13"/>
          <p:cNvSpPr/>
          <p:nvPr/>
        </p:nvSpPr>
        <p:spPr>
          <a:xfrm>
            <a:off x="3561588"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616452"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2  Build</a:t>
            </a:r>
          </a:p>
        </p:txBody>
      </p:sp>
      <p:sp>
        <p:nvSpPr>
          <p:cNvPr id="16" name="Rectangle 15"/>
          <p:cNvSpPr/>
          <p:nvPr/>
        </p:nvSpPr>
        <p:spPr>
          <a:xfrm>
            <a:off x="6117336"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6172200"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3  Verify</a:t>
            </a:r>
          </a:p>
        </p:txBody>
      </p:sp>
      <p:sp>
        <p:nvSpPr>
          <p:cNvPr id="18" name="Rectangle 17"/>
          <p:cNvSpPr/>
          <p:nvPr/>
        </p:nvSpPr>
        <p:spPr>
          <a:xfrm>
            <a:off x="8673084"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8727948"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4  Handoff</a:t>
            </a:r>
          </a:p>
        </p:txBody>
      </p:sp>
      <p:sp>
        <p:nvSpPr>
          <p:cNvPr id="20" name="TextBox 19"/>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Microsoft 365 Copilot · Excel · Word · PowerPoint · Outlook · OneDrive</a:t>
            </a:r>
          </a:p>
        </p:txBody>
      </p:sp>
      <p:sp>
        <p:nvSpPr>
          <p:cNvPr id="21" name="TextBox 20"/>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2" name="TextBox 21"/>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3" name="TextBox 22"/>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24</a:t>
            </a:r>
          </a:p>
        </p:txBody>
      </p:sp>
    </p:spTree>
  </p:cSld>
  <p:clrMapOvr>
    <a:masterClrMapping/>
  </p:clrMapOvr>
  <p:transition spd="med">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1</a:t>
            </a:r>
          </a:p>
        </p:txBody>
      </p:sp>
      <p:sp>
        <p:nvSpPr>
          <p:cNvPr id="5" name="Rounded Rectangle 4"/>
          <p:cNvSpPr/>
          <p:nvPr/>
        </p:nvSpPr>
        <p:spPr>
          <a:xfrm>
            <a:off x="777240" y="1828800"/>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10634472"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Scope: State actual source, report date and selected scope before acting.</a:t>
            </a:r>
          </a:p>
        </p:txBody>
      </p:sp>
      <p:sp>
        <p:nvSpPr>
          <p:cNvPr id="10" name="Rounded Rectangle 9"/>
          <p:cNvSpPr/>
          <p:nvPr/>
        </p:nvSpPr>
        <p:spPr>
          <a:xfrm>
            <a:off x="777240" y="4059936"/>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777240" y="4059936"/>
            <a:ext cx="10634472" cy="64008"/>
          </a:xfrm>
          <a:prstGeom prst="rect">
            <a:avLst/>
          </a:prstGeom>
          <a:solidFill>
            <a:srgbClr val="D97757"/>
          </a:solidFill>
          <a:ln>
            <a:noFill/>
          </a:ln>
          <a:effectLst/>
        </p:spPr>
        <p:txBody>
          <a:bodyPr rtlCol="0" anchor="ctr"/>
          <a:lstStyle/>
          <a:p>
            <a:pPr algn="ctr"/>
          </a:p>
        </p:txBody>
      </p:sp>
      <p:sp>
        <p:nvSpPr>
          <p:cNvPr id="12" name="Oval 11"/>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Verify: Explain the source/formula checks and preserve unknowns and original records.</a:t>
            </a:r>
          </a:p>
        </p:txBody>
      </p:sp>
      <p:sp>
        <p:nvSpPr>
          <p:cNvPr id="15" name="TextBox 1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6" name="TextBox 1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7" name="TextBox 1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25</a:t>
            </a:r>
          </a:p>
        </p:txBody>
      </p:sp>
    </p:spTree>
  </p:cSld>
  <p:clrMapOvr>
    <a:masterClrMapping/>
  </p:clrMapOvr>
  <p:transition spd="med">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1</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Clean table</a:t>
            </a:r>
          </a:p>
          <a:p>
            <a:pPr algn="l">
              <a:spcAft>
                <a:spcPts val="300"/>
              </a:spcAft>
            </a:pPr>
            <a:r>
              <a:rPr sz="1300" b="0">
                <a:solidFill>
                  <a:srgbClr val="6B6862"/>
                </a:solidFill>
                <a:latin typeface="Calibri"/>
              </a:rPr>
              <a:t>120 unique Work_Order_ID rows; five canonical job categories.</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Portfolio identity</a:t>
            </a:r>
          </a:p>
          <a:p>
            <a:pPr algn="l">
              <a:spcAft>
                <a:spcPts val="300"/>
              </a:spcAft>
            </a:pPr>
            <a:r>
              <a:rPr sz="1300" b="0">
                <a:solidFill>
                  <a:srgbClr val="6B6862"/>
                </a:solidFill>
                <a:latin typeface="Calibri"/>
              </a:rPr>
              <a:t>120 = 48 Closed + 12 Cancelled + 60 backlog.</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Evidence handoff</a:t>
            </a:r>
          </a:p>
          <a:p>
            <a:pPr algn="l">
              <a:spcAft>
                <a:spcPts val="300"/>
              </a:spcAft>
            </a:pPr>
            <a:r>
              <a:rPr sz="1300" b="0">
                <a:solidFill>
                  <a:srgbClr val="6B6862"/>
                </a:solidFill>
                <a:latin typeface="Calibri"/>
              </a:rPr>
              <a:t>Overdue 50; unassigned backlog 6; total cost S$35,827.50. Word agrees with Excel.</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No guessed owner</a:t>
            </a:r>
          </a:p>
          <a:p>
            <a:pPr algn="l">
              <a:spcAft>
                <a:spcPts val="300"/>
              </a:spcAft>
            </a:pPr>
            <a:r>
              <a:rPr sz="1300" b="0">
                <a:solidFill>
                  <a:srgbClr val="6B6862"/>
                </a:solidFill>
                <a:latin typeface="Calibri"/>
              </a:rPr>
              <a:t>Blank assignments remain blank; proposals labelled unapproved.</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26</a:t>
            </a:r>
          </a:p>
        </p:txBody>
      </p:sp>
    </p:spTree>
  </p:cSld>
  <p:clrMapOvr>
    <a:masterClrMapping/>
  </p:clrMapOvr>
  <p:transition spd="med">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AI Security: Five Principles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AI security is the set of habits and controls that keep data, decisions and systems safe when people work with AI assistants and agents.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Copilot only surfaces data a user can already access and does not use prompts to train its foundation models, but people can still overshare, give an agent too much access, accept an unchecked draft or lose track of what was used.</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Use synthetic or sanitised data in training and demos.</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27</a:t>
            </a:r>
          </a:p>
        </p:txBody>
      </p:sp>
    </p:spTree>
  </p:cSld>
  <p:clrMapOvr>
    <a:masterClrMapping/>
  </p:clrMapOvr>
  <p:transition spd="med">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AI SECURITY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5 Principles of AI Security</a:t>
            </a:r>
          </a:p>
        </p:txBody>
      </p:sp>
      <p:sp>
        <p:nvSpPr>
          <p:cNvPr id="5" name="Rounded Rectangle 4"/>
          <p:cNvSpPr/>
          <p:nvPr/>
        </p:nvSpPr>
        <p:spPr>
          <a:xfrm>
            <a:off x="777240" y="1783080"/>
            <a:ext cx="3361944"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361944"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2154936" cy="1883664"/>
          </a:xfrm>
          <a:prstGeom prst="rect">
            <a:avLst/>
          </a:prstGeom>
          <a:noFill/>
        </p:spPr>
        <p:txBody>
          <a:bodyPr wrap="square" anchor="ctr">
            <a:spAutoFit/>
          </a:bodyPr>
          <a:lstStyle/>
          <a:p>
            <a:pPr algn="l">
              <a:spcAft>
                <a:spcPts val="300"/>
              </a:spcAft>
            </a:pPr>
            <a:r>
              <a:rPr sz="1600" b="1">
                <a:solidFill>
                  <a:srgbClr val="21201C"/>
                </a:solidFill>
                <a:latin typeface="Calibri"/>
              </a:rPr>
              <a:t>Data control</a:t>
            </a:r>
          </a:p>
          <a:p>
            <a:pPr algn="l">
              <a:spcAft>
                <a:spcPts val="300"/>
              </a:spcAft>
            </a:pPr>
            <a:r>
              <a:rPr sz="1200" b="0">
                <a:solidFill>
                  <a:srgbClr val="6B6862"/>
                </a:solidFill>
                <a:latin typeface="Calibri"/>
              </a:rPr>
              <a:t>Share only what the task needs; use synthetic or sanitised data.</a:t>
            </a:r>
          </a:p>
        </p:txBody>
      </p:sp>
      <p:sp>
        <p:nvSpPr>
          <p:cNvPr id="10" name="Rounded Rectangle 9"/>
          <p:cNvSpPr/>
          <p:nvPr/>
        </p:nvSpPr>
        <p:spPr>
          <a:xfrm>
            <a:off x="4413504" y="1783080"/>
            <a:ext cx="3361944"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4413504" y="1783080"/>
            <a:ext cx="3361944" cy="64008"/>
          </a:xfrm>
          <a:prstGeom prst="rect">
            <a:avLst/>
          </a:prstGeom>
          <a:solidFill>
            <a:srgbClr val="3A7D7B"/>
          </a:solidFill>
          <a:ln>
            <a:noFill/>
          </a:ln>
          <a:effectLst/>
        </p:spPr>
        <p:txBody>
          <a:bodyPr rtlCol="0" anchor="ctr"/>
          <a:lstStyle/>
          <a:p>
            <a:pPr algn="ctr"/>
          </a:p>
        </p:txBody>
      </p:sp>
      <p:sp>
        <p:nvSpPr>
          <p:cNvPr id="12" name="Oval 11"/>
          <p:cNvSpPr/>
          <p:nvPr/>
        </p:nvSpPr>
        <p:spPr>
          <a:xfrm>
            <a:off x="4669536"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4669536"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5401056" y="1911096"/>
            <a:ext cx="2154936" cy="1883664"/>
          </a:xfrm>
          <a:prstGeom prst="rect">
            <a:avLst/>
          </a:prstGeom>
          <a:noFill/>
        </p:spPr>
        <p:txBody>
          <a:bodyPr wrap="square" anchor="ctr">
            <a:spAutoFit/>
          </a:bodyPr>
          <a:lstStyle/>
          <a:p>
            <a:pPr algn="l">
              <a:spcAft>
                <a:spcPts val="300"/>
              </a:spcAft>
            </a:pPr>
            <a:r>
              <a:rPr sz="1600" b="1">
                <a:solidFill>
                  <a:srgbClr val="21201C"/>
                </a:solidFill>
                <a:latin typeface="Calibri"/>
              </a:rPr>
              <a:t>Permission control</a:t>
            </a:r>
          </a:p>
          <a:p>
            <a:pPr algn="l">
              <a:spcAft>
                <a:spcPts val="300"/>
              </a:spcAft>
            </a:pPr>
            <a:r>
              <a:rPr sz="1200" b="0">
                <a:solidFill>
                  <a:srgbClr val="6B6862"/>
                </a:solidFill>
                <a:latin typeface="Calibri"/>
              </a:rPr>
              <a:t>Least privilege for files, agents, skills and sharing.</a:t>
            </a:r>
          </a:p>
        </p:txBody>
      </p:sp>
      <p:sp>
        <p:nvSpPr>
          <p:cNvPr id="15" name="Rounded Rectangle 14"/>
          <p:cNvSpPr/>
          <p:nvPr/>
        </p:nvSpPr>
        <p:spPr>
          <a:xfrm>
            <a:off x="8049768" y="1783080"/>
            <a:ext cx="3361944"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8049768" y="1783080"/>
            <a:ext cx="3361944" cy="64008"/>
          </a:xfrm>
          <a:prstGeom prst="rect">
            <a:avLst/>
          </a:prstGeom>
          <a:solidFill>
            <a:srgbClr val="5B4B8A"/>
          </a:solidFill>
          <a:ln>
            <a:noFill/>
          </a:ln>
          <a:effectLst/>
        </p:spPr>
        <p:txBody>
          <a:bodyPr rtlCol="0" anchor="ctr"/>
          <a:lstStyle/>
          <a:p>
            <a:pPr algn="ctr"/>
          </a:p>
        </p:txBody>
      </p:sp>
      <p:sp>
        <p:nvSpPr>
          <p:cNvPr id="17" name="Oval 16"/>
          <p:cNvSpPr/>
          <p:nvPr/>
        </p:nvSpPr>
        <p:spPr>
          <a:xfrm>
            <a:off x="8305800" y="2542032"/>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8305800"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9037320" y="1911096"/>
            <a:ext cx="2154936" cy="1883664"/>
          </a:xfrm>
          <a:prstGeom prst="rect">
            <a:avLst/>
          </a:prstGeom>
          <a:noFill/>
        </p:spPr>
        <p:txBody>
          <a:bodyPr wrap="square" anchor="ctr">
            <a:spAutoFit/>
          </a:bodyPr>
          <a:lstStyle/>
          <a:p>
            <a:pPr algn="l">
              <a:spcAft>
                <a:spcPts val="300"/>
              </a:spcAft>
            </a:pPr>
            <a:r>
              <a:rPr sz="1600" b="1">
                <a:solidFill>
                  <a:srgbClr val="21201C"/>
                </a:solidFill>
                <a:latin typeface="Calibri"/>
              </a:rPr>
              <a:t>Human in the loop</a:t>
            </a:r>
          </a:p>
          <a:p>
            <a:pPr algn="l">
              <a:spcAft>
                <a:spcPts val="300"/>
              </a:spcAft>
            </a:pPr>
            <a:r>
              <a:rPr sz="1200" b="0">
                <a:solidFill>
                  <a:srgbClr val="6B6862"/>
                </a:solidFill>
                <a:latin typeface="Calibri"/>
              </a:rPr>
              <a:t>Plan, review and approve before edits, emails or decisions.</a:t>
            </a:r>
          </a:p>
        </p:txBody>
      </p:sp>
      <p:sp>
        <p:nvSpPr>
          <p:cNvPr id="20" name="Rounded Rectangle 19"/>
          <p:cNvSpPr/>
          <p:nvPr/>
        </p:nvSpPr>
        <p:spPr>
          <a:xfrm>
            <a:off x="777240" y="4087368"/>
            <a:ext cx="3361944"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777240" y="4087368"/>
            <a:ext cx="3361944" cy="64008"/>
          </a:xfrm>
          <a:prstGeom prst="rect">
            <a:avLst/>
          </a:prstGeom>
          <a:solidFill>
            <a:srgbClr val="C2603F"/>
          </a:solidFill>
          <a:ln>
            <a:noFill/>
          </a:ln>
          <a:effectLst/>
        </p:spPr>
        <p:txBody>
          <a:bodyPr rtlCol="0" anchor="ctr"/>
          <a:lstStyle/>
          <a:p>
            <a:pPr algn="ctr"/>
          </a:p>
        </p:txBody>
      </p:sp>
      <p:sp>
        <p:nvSpPr>
          <p:cNvPr id="22" name="Oval 21"/>
          <p:cNvSpPr/>
          <p:nvPr/>
        </p:nvSpPr>
        <p:spPr>
          <a:xfrm>
            <a:off x="1033272"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1764792" y="4215384"/>
            <a:ext cx="2154936" cy="1883664"/>
          </a:xfrm>
          <a:prstGeom prst="rect">
            <a:avLst/>
          </a:prstGeom>
          <a:noFill/>
        </p:spPr>
        <p:txBody>
          <a:bodyPr wrap="square" anchor="ctr">
            <a:spAutoFit/>
          </a:bodyPr>
          <a:lstStyle/>
          <a:p>
            <a:pPr algn="l">
              <a:spcAft>
                <a:spcPts val="300"/>
              </a:spcAft>
            </a:pPr>
            <a:r>
              <a:rPr sz="1600" b="1">
                <a:solidFill>
                  <a:srgbClr val="21201C"/>
                </a:solidFill>
                <a:latin typeface="Calibri"/>
              </a:rPr>
              <a:t>Traceability</a:t>
            </a:r>
          </a:p>
          <a:p>
            <a:pPr algn="l">
              <a:spcAft>
                <a:spcPts val="300"/>
              </a:spcAft>
            </a:pPr>
            <a:r>
              <a:rPr sz="1200" b="0">
                <a:solidFill>
                  <a:srgbClr val="6B6862"/>
                </a:solidFill>
                <a:latin typeface="Calibri"/>
              </a:rPr>
              <a:t>Log prompts, sources, versions and checks for every output.</a:t>
            </a:r>
          </a:p>
        </p:txBody>
      </p:sp>
      <p:sp>
        <p:nvSpPr>
          <p:cNvPr id="25" name="Rounded Rectangle 24"/>
          <p:cNvSpPr/>
          <p:nvPr/>
        </p:nvSpPr>
        <p:spPr>
          <a:xfrm>
            <a:off x="4413504" y="4087368"/>
            <a:ext cx="3361944"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4413504" y="4087368"/>
            <a:ext cx="3361944" cy="64008"/>
          </a:xfrm>
          <a:prstGeom prst="rect">
            <a:avLst/>
          </a:prstGeom>
          <a:solidFill>
            <a:srgbClr val="D97757"/>
          </a:solidFill>
          <a:ln>
            <a:noFill/>
          </a:ln>
          <a:effectLst/>
        </p:spPr>
        <p:txBody>
          <a:bodyPr rtlCol="0" anchor="ctr"/>
          <a:lstStyle/>
          <a:p>
            <a:pPr algn="ctr"/>
          </a:p>
        </p:txBody>
      </p:sp>
      <p:sp>
        <p:nvSpPr>
          <p:cNvPr id="27" name="Oval 26"/>
          <p:cNvSpPr/>
          <p:nvPr/>
        </p:nvSpPr>
        <p:spPr>
          <a:xfrm>
            <a:off x="4669536" y="4846320"/>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4669536"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5401056" y="4215384"/>
            <a:ext cx="2154936" cy="1883664"/>
          </a:xfrm>
          <a:prstGeom prst="rect">
            <a:avLst/>
          </a:prstGeom>
          <a:noFill/>
        </p:spPr>
        <p:txBody>
          <a:bodyPr wrap="square" anchor="ctr">
            <a:spAutoFit/>
          </a:bodyPr>
          <a:lstStyle/>
          <a:p>
            <a:pPr algn="l">
              <a:spcAft>
                <a:spcPts val="300"/>
              </a:spcAft>
            </a:pPr>
            <a:r>
              <a:rPr sz="1600" b="1">
                <a:solidFill>
                  <a:srgbClr val="21201C"/>
                </a:solidFill>
                <a:latin typeface="Calibri"/>
              </a:rPr>
              <a:t>Well-tested models</a:t>
            </a:r>
          </a:p>
          <a:p>
            <a:pPr algn="l">
              <a:spcAft>
                <a:spcPts val="300"/>
              </a:spcAft>
            </a:pPr>
            <a:r>
              <a:rPr sz="1200" b="0">
                <a:solidFill>
                  <a:srgbClr val="6B6862"/>
                </a:solidFill>
                <a:latin typeface="Calibri"/>
              </a:rPr>
              <a:t>Prefer proven, approved models over the newest release.</a:t>
            </a:r>
          </a:p>
        </p:txBody>
      </p:sp>
      <p:sp>
        <p:nvSpPr>
          <p:cNvPr id="30" name="TextBox 2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31" name="TextBox 3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2" name="TextBox 3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28</a:t>
            </a:r>
          </a:p>
        </p:txBody>
      </p:sp>
    </p:spTree>
  </p:cSld>
  <p:clrMapOvr>
    <a:masterClrMapping/>
  </p:clrMapOvr>
  <p:transition spd="med">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AI Security: Five Principles</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D97757"/>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Share only the data the task needs.</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D97757"/>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D97757"/>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Limit access for people, agents and skills.</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D97757"/>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D97757"/>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Review and approve before anything takes effect.</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D97757"/>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D97757"/>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Log sources, prompts, versions and checks.</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29</a:t>
            </a:r>
          </a:p>
        </p:txBody>
      </p:sp>
    </p:spTree>
  </p:cSld>
  <p:clrMapOvr>
    <a:masterClrMapping/>
  </p:clrMapOvr>
  <p:transition spd="med">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Apply the Concept — AI Security: Five Principles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An agent gets Can chat access, not Can edit, unless needed.</a:t>
            </a:r>
          </a:p>
          <a:p>
            <a:pPr>
              <a:spcAft>
                <a:spcPts val="1000"/>
              </a:spcAft>
            </a:pPr>
            <a:r>
              <a:rPr sz="1600" b="0">
                <a:solidFill>
                  <a:srgbClr val="21201C"/>
                </a:solidFill>
                <a:latin typeface="Calibri"/>
              </a:rPr>
              <a:t>•  A Copilot email stays a draft until a person reviews it.</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30</a:t>
            </a:r>
          </a:p>
        </p:txBody>
      </p:sp>
    </p:spTree>
  </p:cSld>
  <p:clrMapOvr>
    <a:masterClrMapping/>
  </p:clrMapOvr>
  <p:transition spd="med">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Prompts and Verified App Handoffs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useful prompt combines the intended goal, operational context, named source and output expectations.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The same number may have different meaning when a chart counts all work orders while an email calls it open backlog.</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Goal: draft a maintenance update for the operations manager.</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31</a:t>
            </a:r>
          </a:p>
        </p:txBody>
      </p:sp>
    </p:spTree>
  </p:cSld>
  <p:clrMapOvr>
    <a:masterClrMapping/>
  </p:clrMapOvr>
  <p:transition spd="med">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Prompts and Verified App Handoffs</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D97757"/>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Write the goal and audience.</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D97757"/>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D97757"/>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Attach or select the actual source.</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D97757"/>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D97757"/>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Specify definitions and missing-value behaviour.</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D97757"/>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D97757"/>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Reconcile the returned claims.</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32</a:t>
            </a:r>
          </a:p>
        </p:txBody>
      </p:sp>
    </p:spTree>
  </p:cSld>
  <p:clrMapOvr>
    <a:masterClrMapping/>
  </p:clrMapOvr>
  <p:transition spd="med">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Apply the Concept — Prompts and Verified App Handoffs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Source: reviewed Northstar operations brief, all filters All, 30 September.</a:t>
            </a:r>
          </a:p>
          <a:p>
            <a:pPr>
              <a:spcAft>
                <a:spcPts val="1000"/>
              </a:spcAft>
            </a:pPr>
            <a:r>
              <a:rPr sz="1600" b="0">
                <a:solidFill>
                  <a:srgbClr val="21201C"/>
                </a:solidFill>
                <a:latin typeface="Calibri"/>
              </a:rPr>
              <a:t>•  Expectation: label assignment suggestions as proposals and leave unknown approvals UNKNOWN.</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33</a:t>
            </a:r>
          </a:p>
        </p:txBody>
      </p:sp>
    </p:spTree>
  </p:cSld>
  <p:clrMapOvr>
    <a:masterClrMapping/>
  </p:clrMapOvr>
  <p:transition spd="med">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Outlook Drafting and Operational Decisions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Copilot can help structure a draft email from supplied context.</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An apparently routine update can accidentally promise technician reassignment or imply that a manager approved a recovery plan.</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Current owner blank; proposed owner Aisha remains unapproved.</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34</a:t>
            </a:r>
          </a:p>
        </p:txBody>
      </p:sp>
    </p:spTree>
  </p:cSld>
  <p:clrMapOvr>
    <a:masterClrMapping/>
  </p:clrMapOvr>
  <p:transition spd="med">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Outlook Drafting and Operational Decisions</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D97757"/>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Provide the synthetic thread and checked facts.</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D97757"/>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D97757"/>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Draft a concise update.</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D97757"/>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D97757"/>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Review recipients, facts and action wording.</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D97757"/>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D97757"/>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Save the unsent draft and evidence.</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35</a:t>
            </a:r>
          </a:p>
        </p:txBody>
      </p:sp>
    </p:spTree>
  </p:cSld>
  <p:clrMapOvr>
    <a:masterClrMapping/>
  </p:clrMapOvr>
  <p:transition spd="med">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Apply the Concept — Outlook Drafting and Operational Decisions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A draft addressed to example.invalid is a training artifact.</a:t>
            </a:r>
          </a:p>
          <a:p>
            <a:pPr>
              <a:spcAft>
                <a:spcPts val="1000"/>
              </a:spcAft>
            </a:pPr>
            <a:r>
              <a:rPr sz="1600" b="0">
                <a:solidFill>
                  <a:srgbClr val="21201C"/>
                </a:solidFill>
                <a:latin typeface="Calibri"/>
              </a:rPr>
              <a:t>•  The handoff says decision requested, not decision approved.</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36</a:t>
            </a:r>
          </a:p>
        </p:txBody>
      </p:sp>
    </p:spTree>
  </p:cSld>
  <p:clrMapOvr>
    <a:masterClrMapping/>
  </p:clrMapOvr>
  <p:transition spd="med">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THEME · WORD TO POWERPOINT AND OUTLOOK</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Create the Cross-App Maintenance Update</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2</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2100" b="0">
                <a:solidFill>
                  <a:srgbClr val="21201C"/>
                </a:solidFill>
                <a:latin typeface="Calibri"/>
              </a:rPr>
              <a:t>Continue the verified operations brief from Lab 1. You will turn it into an initial PowerPoint update, then prepare an Outlook reply to a synthetic maintenance thread.</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600" b="1">
                <a:solidFill>
                  <a:srgbClr val="21201C"/>
                </a:solidFill>
                <a:latin typeface="Calibri"/>
              </a:rPr>
              <a:t>Northstar_Initial_Update.pptx, an unsent Outlook draft and an Evidence_Log with Excel, Word, PowerPoint and Outlook figures reconciled.</a:t>
            </a:r>
          </a:p>
        </p:txBody>
      </p:sp>
      <p:sp>
        <p:nvSpPr>
          <p:cNvPr id="12" name="Rectangle 11"/>
          <p:cNvSpPr/>
          <p:nvPr/>
        </p:nvSpPr>
        <p:spPr>
          <a:xfrm>
            <a:off x="1005840"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1  Ground</a:t>
            </a:r>
          </a:p>
        </p:txBody>
      </p:sp>
      <p:sp>
        <p:nvSpPr>
          <p:cNvPr id="14" name="Rectangle 13"/>
          <p:cNvSpPr/>
          <p:nvPr/>
        </p:nvSpPr>
        <p:spPr>
          <a:xfrm>
            <a:off x="3561588"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616452"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2  Build</a:t>
            </a:r>
          </a:p>
        </p:txBody>
      </p:sp>
      <p:sp>
        <p:nvSpPr>
          <p:cNvPr id="16" name="Rectangle 15"/>
          <p:cNvSpPr/>
          <p:nvPr/>
        </p:nvSpPr>
        <p:spPr>
          <a:xfrm>
            <a:off x="6117336"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6172200"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3  Verify</a:t>
            </a:r>
          </a:p>
        </p:txBody>
      </p:sp>
      <p:sp>
        <p:nvSpPr>
          <p:cNvPr id="18" name="Rectangle 17"/>
          <p:cNvSpPr/>
          <p:nvPr/>
        </p:nvSpPr>
        <p:spPr>
          <a:xfrm>
            <a:off x="8673084"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8727948"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4  Handoff</a:t>
            </a:r>
          </a:p>
        </p:txBody>
      </p:sp>
      <p:sp>
        <p:nvSpPr>
          <p:cNvPr id="20" name="TextBox 19"/>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Microsoft 365 Copilot · Excel · Word · PowerPoint · Outlook · OneDrive</a:t>
            </a:r>
          </a:p>
        </p:txBody>
      </p:sp>
      <p:sp>
        <p:nvSpPr>
          <p:cNvPr id="21" name="TextBox 20"/>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2" name="TextBox 21"/>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3" name="TextBox 22"/>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37</a:t>
            </a:r>
          </a:p>
        </p:txBody>
      </p:sp>
    </p:spTree>
  </p:cSld>
  <p:clrMapOvr>
    <a:masterClrMapping/>
  </p:clrMapOvr>
  <p:transition spd="med">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2</a:t>
            </a:r>
          </a:p>
        </p:txBody>
      </p:sp>
      <p:sp>
        <p:nvSpPr>
          <p:cNvPr id="5" name="Rounded Rectangle 4"/>
          <p:cNvSpPr/>
          <p:nvPr/>
        </p:nvSpPr>
        <p:spPr>
          <a:xfrm>
            <a:off x="777240" y="1828800"/>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10634472"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Scope: State actual source, report date and selected scope before acting.</a:t>
            </a:r>
          </a:p>
        </p:txBody>
      </p:sp>
      <p:sp>
        <p:nvSpPr>
          <p:cNvPr id="10" name="Rounded Rectangle 9"/>
          <p:cNvSpPr/>
          <p:nvPr/>
        </p:nvSpPr>
        <p:spPr>
          <a:xfrm>
            <a:off x="777240" y="4059936"/>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777240" y="4059936"/>
            <a:ext cx="10634472" cy="64008"/>
          </a:xfrm>
          <a:prstGeom prst="rect">
            <a:avLst/>
          </a:prstGeom>
          <a:solidFill>
            <a:srgbClr val="D97757"/>
          </a:solidFill>
          <a:ln>
            <a:noFill/>
          </a:ln>
          <a:effectLst/>
        </p:spPr>
        <p:txBody>
          <a:bodyPr rtlCol="0" anchor="ctr"/>
          <a:lstStyle/>
          <a:p>
            <a:pPr algn="ctr"/>
          </a:p>
        </p:txBody>
      </p:sp>
      <p:sp>
        <p:nvSpPr>
          <p:cNvPr id="12" name="Oval 11"/>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Verify: Explain the source/formula checks and preserve unknowns and original records.</a:t>
            </a:r>
          </a:p>
        </p:txBody>
      </p:sp>
      <p:sp>
        <p:nvSpPr>
          <p:cNvPr id="15" name="TextBox 1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6" name="TextBox 1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7" name="TextBox 1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38</a:t>
            </a:r>
          </a:p>
        </p:txBody>
      </p:sp>
    </p:spTree>
  </p:cSld>
  <p:clrMapOvr>
    <a:masterClrMapping/>
  </p:clrMapOvr>
  <p:transition spd="med">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2</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Four apps</a:t>
            </a:r>
          </a:p>
          <a:p>
            <a:pPr algn="l">
              <a:spcAft>
                <a:spcPts val="300"/>
              </a:spcAft>
            </a:pPr>
            <a:r>
              <a:rPr sz="1300" b="0">
                <a:solidFill>
                  <a:srgbClr val="6B6862"/>
                </a:solidFill>
                <a:latin typeface="Calibri"/>
              </a:rPr>
              <a:t>Excel Checks, Word brief, four-slide update and unsent Outlook draft share the same date and values.</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Cross-app grounding</a:t>
            </a:r>
          </a:p>
          <a:p>
            <a:pPr algn="l">
              <a:spcAft>
                <a:spcPts val="300"/>
              </a:spcAft>
            </a:pPr>
            <a:r>
              <a:rPr sz="1300" b="0">
                <a:solidFill>
                  <a:srgbClr val="6B6862"/>
                </a:solidFill>
                <a:latin typeface="Calibri"/>
              </a:rPr>
              <a:t>Named file or pasted verified evidence is provided in each app; no assumed shared chat.</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Draft boundary</a:t>
            </a:r>
          </a:p>
          <a:p>
            <a:pPr algn="l">
              <a:spcAft>
                <a:spcPts val="300"/>
              </a:spcAft>
            </a:pPr>
            <a:r>
              <a:rPr sz="1300" b="0">
                <a:solidFill>
                  <a:srgbClr val="6B6862"/>
                </a:solidFill>
                <a:latin typeface="Calibri"/>
              </a:rPr>
              <a:t>example.invalid recipient; nothing sent and no assignment approved.</a:t>
            </a:r>
          </a:p>
        </p:txBody>
      </p:sp>
      <p:sp>
        <p:nvSpPr>
          <p:cNvPr id="20" name="TextBox 1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1" name="TextBox 2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2" name="TextBox 2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39</a:t>
            </a:r>
          </a:p>
        </p:txBody>
      </p:sp>
    </p:spTree>
  </p:cSld>
  <p:clrMapOvr>
    <a:masterClrMapping/>
  </p:clrMapOvr>
  <p:transition spd="med">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TOPIC RECAP</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Recap - Fundamentals of Microsoft 365 Copilot</a:t>
            </a:r>
          </a:p>
        </p:txBody>
      </p:sp>
      <p:sp>
        <p:nvSpPr>
          <p:cNvPr id="5" name="Rounded Rectangle 4"/>
          <p:cNvSpPr/>
          <p:nvPr/>
        </p:nvSpPr>
        <p:spPr>
          <a:xfrm>
            <a:off x="777240" y="1828800"/>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10634472"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LO1: Same work-order evidence across four apps.</a:t>
            </a:r>
          </a:p>
        </p:txBody>
      </p:sp>
      <p:sp>
        <p:nvSpPr>
          <p:cNvPr id="10" name="Rounded Rectangle 9"/>
          <p:cNvSpPr/>
          <p:nvPr/>
        </p:nvSpPr>
        <p:spPr>
          <a:xfrm>
            <a:off x="777240" y="4059936"/>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777240" y="4059936"/>
            <a:ext cx="10634472" cy="64008"/>
          </a:xfrm>
          <a:prstGeom prst="rect">
            <a:avLst/>
          </a:prstGeom>
          <a:solidFill>
            <a:srgbClr val="D97757"/>
          </a:solidFill>
          <a:ln>
            <a:noFill/>
          </a:ln>
          <a:effectLst/>
        </p:spPr>
        <p:txBody>
          <a:bodyPr rtlCol="0" anchor="ctr"/>
          <a:lstStyle/>
          <a:p>
            <a:pPr algn="ctr"/>
          </a:p>
        </p:txBody>
      </p:sp>
      <p:sp>
        <p:nvSpPr>
          <p:cNvPr id="12" name="Oval 11"/>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Verify: 120 clean IDs and reconciled brief/update/draft.</a:t>
            </a:r>
          </a:p>
        </p:txBody>
      </p:sp>
      <p:sp>
        <p:nvSpPr>
          <p:cNvPr id="15" name="TextBox 1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6" name="TextBox 1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7" name="TextBox 1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40</a:t>
            </a:r>
          </a:p>
        </p:txBody>
      </p:sp>
    </p:spTree>
  </p:cSld>
  <p:clrMapOvr>
    <a:masterClrMapping/>
  </p:clrMapOvr>
  <p:transition spd="med">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TOPIC 2</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Personalisation, .Rules and Skills for Excel</a:t>
            </a:r>
          </a:p>
        </p:txBody>
      </p:sp>
      <p:sp>
        <p:nvSpPr>
          <p:cNvPr id="7" name="Rectangle 6"/>
          <p:cNvSpPr/>
          <p:nvPr/>
        </p:nvSpPr>
        <p:spPr>
          <a:xfrm>
            <a:off x="841248" y="4206240"/>
            <a:ext cx="1143000" cy="64008"/>
          </a:xfrm>
          <a:prstGeom prst="rect">
            <a:avLst/>
          </a:prstGeom>
          <a:solidFill>
            <a:srgbClr val="3A7D7B"/>
          </a:solidFill>
          <a:ln>
            <a:noFill/>
          </a:ln>
          <a:effectLst/>
        </p:spPr>
        <p:txBody>
          <a:bodyPr rtlCol="0" anchor="ctr"/>
          <a:lstStyle/>
          <a:p>
            <a:pPr algn="ctr"/>
          </a:p>
        </p:txBody>
      </p:sp>
      <p:sp>
        <p:nvSpPr>
          <p:cNvPr id="8" name="TextBox 7"/>
          <p:cNvSpPr txBox="1"/>
          <p:nvPr/>
        </p:nvSpPr>
        <p:spPr>
          <a:xfrm>
            <a:off x="822960" y="4434840"/>
            <a:ext cx="8412480" cy="1097280"/>
          </a:xfrm>
          <a:prstGeom prst="rect">
            <a:avLst/>
          </a:prstGeom>
          <a:noFill/>
        </p:spPr>
        <p:txBody>
          <a:bodyPr wrap="square" anchor="t">
            <a:spAutoFit/>
          </a:bodyPr>
          <a:lstStyle/>
          <a:p>
            <a:pPr algn="l">
              <a:spcAft>
                <a:spcPts val="400"/>
              </a:spcAft>
            </a:pPr>
            <a:r>
              <a:rPr sz="1500" b="0">
                <a:solidFill>
                  <a:srgbClr val="B9B4A9"/>
                </a:solidFill>
                <a:latin typeface="Calibri"/>
              </a:rPr>
              <a:t>Account preferences, workbook conventions and reusable methods</a:t>
            </a:r>
          </a:p>
        </p:txBody>
      </p:sp>
      <p:sp>
        <p:nvSpPr>
          <p:cNvPr id="9" name="TextBox 8"/>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IES Academy</a:t>
            </a:r>
          </a:p>
        </p:txBody>
      </p:sp>
      <p:sp>
        <p:nvSpPr>
          <p:cNvPr id="10" name="TextBox 9"/>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GenAI for Engineers</a:t>
            </a:r>
          </a:p>
        </p:txBody>
      </p:sp>
      <p:sp>
        <p:nvSpPr>
          <p:cNvPr id="11" name="TextBox 10"/>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41</a:t>
            </a:r>
          </a:p>
        </p:txBody>
      </p:sp>
    </p:spTree>
  </p:cSld>
  <p:clrMapOvr>
    <a:masterClrMapping/>
  </p:clrMapOvr>
  <p:transition spd="med">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KEY CONCEPTS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Key Concepts — Personalisation, .Rules and Skills for Excel</a:t>
            </a:r>
          </a:p>
        </p:txBody>
      </p:sp>
      <p:sp>
        <p:nvSpPr>
          <p:cNvPr id="5" name="Rounded Rectangle 4"/>
          <p:cNvSpPr/>
          <p:nvPr/>
        </p:nvSpPr>
        <p:spPr>
          <a:xfrm>
            <a:off x="777240" y="1783080"/>
            <a:ext cx="3361944" cy="4370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361944"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3694176"/>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2154936" cy="4187952"/>
          </a:xfrm>
          <a:prstGeom prst="rect">
            <a:avLst/>
          </a:prstGeom>
          <a:noFill/>
        </p:spPr>
        <p:txBody>
          <a:bodyPr wrap="square" anchor="ctr">
            <a:spAutoFit/>
          </a:bodyPr>
          <a:lstStyle/>
          <a:p>
            <a:pPr algn="l">
              <a:spcAft>
                <a:spcPts val="300"/>
              </a:spcAft>
            </a:pPr>
            <a:r>
              <a:rPr sz="1800" b="1">
                <a:solidFill>
                  <a:srgbClr val="21201C"/>
                </a:solidFill>
                <a:latin typeface="Cambria"/>
              </a:rPr>
              <a:t>Personalisation</a:t>
            </a:r>
          </a:p>
          <a:p>
            <a:pPr algn="l">
              <a:spcAft>
                <a:spcPts val="300"/>
              </a:spcAft>
            </a:pPr>
            <a:r>
              <a:rPr sz="1400" b="0">
                <a:solidFill>
                  <a:srgbClr val="6B6862"/>
                </a:solidFill>
                <a:latin typeface="Calibri"/>
              </a:rPr>
              <a:t>Your account preferences, applied across every workbook.</a:t>
            </a:r>
          </a:p>
        </p:txBody>
      </p:sp>
      <p:sp>
        <p:nvSpPr>
          <p:cNvPr id="10" name="Rounded Rectangle 9"/>
          <p:cNvSpPr/>
          <p:nvPr/>
        </p:nvSpPr>
        <p:spPr>
          <a:xfrm>
            <a:off x="4413504" y="1783080"/>
            <a:ext cx="3361944" cy="4370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4413504" y="1783080"/>
            <a:ext cx="3361944" cy="64008"/>
          </a:xfrm>
          <a:prstGeom prst="rect">
            <a:avLst/>
          </a:prstGeom>
          <a:solidFill>
            <a:srgbClr val="3A7D7B"/>
          </a:solidFill>
          <a:ln>
            <a:noFill/>
          </a:ln>
          <a:effectLst/>
        </p:spPr>
        <p:txBody>
          <a:bodyPr rtlCol="0" anchor="ctr"/>
          <a:lstStyle/>
          <a:p>
            <a:pPr algn="ctr"/>
          </a:p>
        </p:txBody>
      </p:sp>
      <p:sp>
        <p:nvSpPr>
          <p:cNvPr id="12" name="Oval 11"/>
          <p:cNvSpPr/>
          <p:nvPr/>
        </p:nvSpPr>
        <p:spPr>
          <a:xfrm>
            <a:off x="4669536" y="3694176"/>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4669536"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5401056" y="1911096"/>
            <a:ext cx="2154936" cy="4187952"/>
          </a:xfrm>
          <a:prstGeom prst="rect">
            <a:avLst/>
          </a:prstGeom>
          <a:noFill/>
        </p:spPr>
        <p:txBody>
          <a:bodyPr wrap="square" anchor="ctr">
            <a:spAutoFit/>
          </a:bodyPr>
          <a:lstStyle/>
          <a:p>
            <a:pPr algn="l">
              <a:spcAft>
                <a:spcPts val="300"/>
              </a:spcAft>
            </a:pPr>
            <a:r>
              <a:rPr sz="1800" b="1">
                <a:solidFill>
                  <a:srgbClr val="21201C"/>
                </a:solidFill>
                <a:latin typeface="Cambria"/>
              </a:rPr>
              <a:t>.Rules</a:t>
            </a:r>
          </a:p>
          <a:p>
            <a:pPr algn="l">
              <a:spcAft>
                <a:spcPts val="300"/>
              </a:spcAft>
            </a:pPr>
            <a:r>
              <a:rPr sz="1400" b="0">
                <a:solidFill>
                  <a:srgbClr val="6B6862"/>
                </a:solidFill>
                <a:latin typeface="Calibri"/>
              </a:rPr>
              <a:t>Visible column-A instructions that travel with the workbook.</a:t>
            </a:r>
          </a:p>
        </p:txBody>
      </p:sp>
      <p:sp>
        <p:nvSpPr>
          <p:cNvPr id="15" name="Rounded Rectangle 14"/>
          <p:cNvSpPr/>
          <p:nvPr/>
        </p:nvSpPr>
        <p:spPr>
          <a:xfrm>
            <a:off x="8049768" y="1783080"/>
            <a:ext cx="3361944" cy="4370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8049768" y="1783080"/>
            <a:ext cx="3361944" cy="64008"/>
          </a:xfrm>
          <a:prstGeom prst="rect">
            <a:avLst/>
          </a:prstGeom>
          <a:solidFill>
            <a:srgbClr val="5B4B8A"/>
          </a:solidFill>
          <a:ln>
            <a:noFill/>
          </a:ln>
          <a:effectLst/>
        </p:spPr>
        <p:txBody>
          <a:bodyPr rtlCol="0" anchor="ctr"/>
          <a:lstStyle/>
          <a:p>
            <a:pPr algn="ctr"/>
          </a:p>
        </p:txBody>
      </p:sp>
      <p:sp>
        <p:nvSpPr>
          <p:cNvPr id="17" name="Oval 16"/>
          <p:cNvSpPr/>
          <p:nvPr/>
        </p:nvSpPr>
        <p:spPr>
          <a:xfrm>
            <a:off x="8305800"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8305800"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9037320" y="1911096"/>
            <a:ext cx="2154936" cy="4187952"/>
          </a:xfrm>
          <a:prstGeom prst="rect">
            <a:avLst/>
          </a:prstGeom>
          <a:noFill/>
        </p:spPr>
        <p:txBody>
          <a:bodyPr wrap="square" anchor="ctr">
            <a:spAutoFit/>
          </a:bodyPr>
          <a:lstStyle/>
          <a:p>
            <a:pPr algn="l">
              <a:spcAft>
                <a:spcPts val="300"/>
              </a:spcAft>
            </a:pPr>
            <a:r>
              <a:rPr sz="1800" b="1">
                <a:solidFill>
                  <a:srgbClr val="21201C"/>
                </a:solidFill>
                <a:latin typeface="Cambria"/>
              </a:rPr>
              <a:t>Skills</a:t>
            </a:r>
          </a:p>
          <a:p>
            <a:pPr algn="l">
              <a:spcAft>
                <a:spcPts val="300"/>
              </a:spcAft>
            </a:pPr>
            <a:r>
              <a:rPr sz="1400" b="0">
                <a:solidFill>
                  <a:srgbClr val="6B6862"/>
                </a:solidFill>
                <a:latin typeface="Calibri"/>
              </a:rPr>
              <a:t>Reusable methods: built-in @chart-design, or your own SKILL.md such as Pareto and dashboard Skills.</a:t>
            </a:r>
          </a:p>
        </p:txBody>
      </p:sp>
      <p:sp>
        <p:nvSpPr>
          <p:cNvPr id="20" name="TextBox 1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1" name="TextBox 2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2" name="TextBox 2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42</a:t>
            </a:r>
          </a:p>
        </p:txBody>
      </p:sp>
    </p:spTree>
  </p:cSld>
  <p:clrMapOvr>
    <a:masterClrMapping/>
  </p:clrMapOvr>
  <p:transition spd="med">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WHAT YOU'LL DO</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Hands-On Labs — Personalisation, .Rules and Skills for Excel</a:t>
            </a:r>
          </a:p>
        </p:txBody>
      </p:sp>
      <p:sp>
        <p:nvSpPr>
          <p:cNvPr id="5" name="Rounded Rectangle 4"/>
          <p:cNvSpPr/>
          <p:nvPr/>
        </p:nvSpPr>
        <p:spPr>
          <a:xfrm>
            <a:off x="777240" y="1783080"/>
            <a:ext cx="5225796"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225796"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4814316" cy="548640"/>
          </a:xfrm>
          <a:prstGeom prst="rect">
            <a:avLst/>
          </a:prstGeom>
          <a:noFill/>
        </p:spPr>
        <p:txBody>
          <a:bodyPr wrap="square" anchor="t">
            <a:spAutoFit/>
          </a:bodyPr>
          <a:lstStyle/>
          <a:p>
            <a:pPr algn="l">
              <a:spcAft>
                <a:spcPts val="400"/>
              </a:spcAft>
            </a:pPr>
            <a:r>
              <a:rPr sz="1900" b="1">
                <a:solidFill>
                  <a:srgbClr val="D97757"/>
                </a:solidFill>
                <a:latin typeface="Cambria"/>
              </a:rPr>
              <a:t>Labs 3–4</a:t>
            </a:r>
          </a:p>
        </p:txBody>
      </p:sp>
      <p:sp>
        <p:nvSpPr>
          <p:cNvPr id="8" name="TextBox 7"/>
          <p:cNvSpPr txBox="1"/>
          <p:nvPr/>
        </p:nvSpPr>
        <p:spPr>
          <a:xfrm>
            <a:off x="1005840" y="2697480"/>
            <a:ext cx="4814316" cy="3108960"/>
          </a:xfrm>
          <a:prstGeom prst="rect">
            <a:avLst/>
          </a:prstGeom>
          <a:noFill/>
        </p:spPr>
        <p:txBody>
          <a:bodyPr wrap="square">
            <a:spAutoFit/>
          </a:bodyPr>
          <a:lstStyle/>
          <a:p>
            <a:pPr>
              <a:spcAft>
                <a:spcPts val="900"/>
              </a:spcAft>
            </a:pPr>
            <a:r>
              <a:rPr sz="1400" b="1">
                <a:solidFill>
                  <a:srgbClr val="21201C"/>
                </a:solidFill>
                <a:latin typeface="Calibri"/>
              </a:rPr>
              <a:t>•  Personalisation</a:t>
            </a:r>
          </a:p>
          <a:p>
            <a:pPr>
              <a:spcAft>
                <a:spcPts val="900"/>
              </a:spcAft>
            </a:pPr>
            <a:r>
              <a:rPr sz="1200" b="0">
                <a:solidFill>
                  <a:srgbClr val="6B6862"/>
                </a:solidFill>
                <a:latin typeface="Calibri"/>
              </a:rPr>
              <a:t>–  Personalise Copilot in Excel for Consistent Service Reports</a:t>
            </a:r>
          </a:p>
          <a:p>
            <a:pPr>
              <a:spcAft>
                <a:spcPts val="900"/>
              </a:spcAft>
            </a:pPr>
            <a:r>
              <a:rPr sz="1400" b="1">
                <a:solidFill>
                  <a:srgbClr val="21201C"/>
                </a:solidFill>
                <a:latin typeface="Calibri"/>
              </a:rPr>
              <a:t>•  Workbook .Rules</a:t>
            </a:r>
          </a:p>
          <a:p>
            <a:pPr>
              <a:spcAft>
                <a:spcPts val="900"/>
              </a:spcAft>
            </a:pPr>
            <a:r>
              <a:rPr sz="1200" b="0">
                <a:solidFill>
                  <a:srgbClr val="6B6862"/>
                </a:solidFill>
                <a:latin typeface="Calibri"/>
              </a:rPr>
              <a:t>–  Create and Test Workbook .Rules for Water Service Reporting</a:t>
            </a:r>
          </a:p>
        </p:txBody>
      </p:sp>
      <p:sp>
        <p:nvSpPr>
          <p:cNvPr id="9" name="Rounded Rectangle 8"/>
          <p:cNvSpPr/>
          <p:nvPr/>
        </p:nvSpPr>
        <p:spPr>
          <a:xfrm>
            <a:off x="6185916" y="1783080"/>
            <a:ext cx="5225796"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6185916" y="1783080"/>
            <a:ext cx="5225796"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6414516" y="2011680"/>
            <a:ext cx="4814316" cy="548640"/>
          </a:xfrm>
          <a:prstGeom prst="rect">
            <a:avLst/>
          </a:prstGeom>
          <a:noFill/>
        </p:spPr>
        <p:txBody>
          <a:bodyPr wrap="square" anchor="t">
            <a:spAutoFit/>
          </a:bodyPr>
          <a:lstStyle/>
          <a:p>
            <a:pPr algn="l">
              <a:spcAft>
                <a:spcPts val="400"/>
              </a:spcAft>
            </a:pPr>
            <a:r>
              <a:rPr sz="1900" b="1">
                <a:solidFill>
                  <a:srgbClr val="3A7D7B"/>
                </a:solidFill>
                <a:latin typeface="Cambria"/>
              </a:rPr>
              <a:t>Labs 5–6</a:t>
            </a:r>
          </a:p>
        </p:txBody>
      </p:sp>
      <p:sp>
        <p:nvSpPr>
          <p:cNvPr id="12" name="TextBox 11"/>
          <p:cNvSpPr txBox="1"/>
          <p:nvPr/>
        </p:nvSpPr>
        <p:spPr>
          <a:xfrm>
            <a:off x="6414516" y="2697480"/>
            <a:ext cx="4814316" cy="3108960"/>
          </a:xfrm>
          <a:prstGeom prst="rect">
            <a:avLst/>
          </a:prstGeom>
          <a:noFill/>
        </p:spPr>
        <p:txBody>
          <a:bodyPr wrap="square">
            <a:spAutoFit/>
          </a:bodyPr>
          <a:lstStyle/>
          <a:p>
            <a:pPr>
              <a:spcAft>
                <a:spcPts val="900"/>
              </a:spcAft>
            </a:pPr>
            <a:r>
              <a:rPr sz="1400" b="1">
                <a:solidFill>
                  <a:srgbClr val="21201C"/>
                </a:solidFill>
                <a:latin typeface="Calibri"/>
              </a:rPr>
              <a:t>•  Custom Pareto Chart Skill</a:t>
            </a:r>
          </a:p>
          <a:p>
            <a:pPr>
              <a:spcAft>
                <a:spcPts val="900"/>
              </a:spcAft>
            </a:pPr>
            <a:r>
              <a:rPr sz="1200" b="0">
                <a:solidFill>
                  <a:srgbClr val="6B6862"/>
                </a:solidFill>
                <a:latin typeface="Calibri"/>
              </a:rPr>
              <a:t>–  Use the Built-in Chart Skill, then Create a Custom Pareto Skill</a:t>
            </a:r>
          </a:p>
          <a:p>
            <a:pPr>
              <a:spcAft>
                <a:spcPts val="900"/>
              </a:spcAft>
            </a:pPr>
            <a:r>
              <a:rPr sz="1400" b="1">
                <a:solidFill>
                  <a:srgbClr val="21201C"/>
                </a:solidFill>
                <a:latin typeface="Calibri"/>
              </a:rPr>
              <a:t>•  Reporting Skill</a:t>
            </a:r>
          </a:p>
          <a:p>
            <a:pPr>
              <a:spcAft>
                <a:spcPts val="900"/>
              </a:spcAft>
            </a:pPr>
            <a:r>
              <a:rPr sz="1200" b="0">
                <a:solidFill>
                  <a:srgbClr val="6B6862"/>
                </a:solidFill>
                <a:latin typeface="Calibri"/>
              </a:rPr>
              <a:t>–  Create, Use and Improve the Maintenance Reporting Skill</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43</a:t>
            </a:r>
          </a:p>
        </p:txBody>
      </p:sp>
    </p:spTree>
  </p:cSld>
  <p:clrMapOvr>
    <a:masterClrMapping/>
  </p:clrMapOvr>
  <p:transition spd="med">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EDITABLE SCOPE COMPARISON</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Four Scopes of Customisation</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D97757"/>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Personalisation: your account</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D97757"/>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D97757"/>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.Rules: this workbook</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D97757"/>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D97757"/>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Skill: repeated method</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D97757"/>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D97757"/>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Prompt: this request</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44</a:t>
            </a:r>
          </a:p>
        </p:txBody>
      </p:sp>
    </p:spTree>
  </p:cSld>
  <p:clrMapOvr>
    <a:masterClrMapping/>
  </p:clrMapOvr>
  <p:transition spd="med">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Account Personalisation and Specific Requests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Excel Copilot Personalisation stores account-level preferences for display, writing style and formula conventions.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Consistent S$ display and short explanations reduce repetitive requests without changing numeric values.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value of 35827.5 can display as S$35,827.50 or S$35,827.5000.</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45</a:t>
            </a:r>
          </a:p>
        </p:txBody>
      </p:sp>
    </p:spTree>
  </p:cSld>
  <p:clrMapOvr>
    <a:masterClrMapping/>
  </p:clrMapOvr>
  <p:transition spd="med">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Account Personalisation and Specific Requests</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3A7D7B"/>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3A7D7B"/>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Choose recurring display preferences.</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3A7D7B"/>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3A7D7B"/>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Save them to the account.</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3A7D7B"/>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3A7D7B"/>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Compare two workbook outputs.</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3A7D7B"/>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3A7D7B"/>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Test a specific request and restore.</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46</a:t>
            </a:r>
          </a:p>
        </p:txBody>
      </p:sp>
    </p:spTree>
  </p:cSld>
  <p:clrMapOvr>
    <a:masterClrMapping/>
  </p:clrMapOvr>
  <p:transition spd="med">
    <p:fade/>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Apply the Concept — Account Personalisation and Specific Requests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Changing a number format does not change its numeric value.</a:t>
            </a:r>
          </a:p>
          <a:p>
            <a:pPr>
              <a:spcAft>
                <a:spcPts val="1000"/>
              </a:spcAft>
            </a:pPr>
            <a:r>
              <a:rPr sz="1600" b="0">
                <a:solidFill>
                  <a:srgbClr val="21201C"/>
                </a:solidFill>
                <a:latin typeface="Calibri"/>
              </a:rPr>
              <a:t>•  Another user opening the file does not receive your account preferences.</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47</a:t>
            </a:r>
          </a:p>
        </p:txBody>
      </p:sp>
    </p:spTree>
  </p:cSld>
  <p:clrMapOvr>
    <a:masterClrMapping/>
  </p:clrMapOvr>
  <p:transition spd="med">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THEME · PERSONALISATION</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Personalise Copilot in Excel for Consistent Service Reports</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3</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700" b="0">
                <a:solidFill>
                  <a:srgbClr val="21201C"/>
                </a:solidFill>
                <a:latin typeface="Calibri"/>
              </a:rPr>
              <a:t>Configure temporary account-level display and explanation preferences, test them in two copies of the same verified Northstar workbook, and distinguish preferences from workbook-specific definitions. A task-specific prompt can supersede Personalisation.</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600" b="1">
                <a:solidFill>
                  <a:srgbClr val="21201C"/>
                </a:solidFill>
                <a:latin typeface="Calibri"/>
              </a:rPr>
              <a:t>Northstar_Personalisation_Test.xlsx, a two-workbook preference comparison and a private note confirming settings restored.</a:t>
            </a:r>
          </a:p>
        </p:txBody>
      </p:sp>
      <p:sp>
        <p:nvSpPr>
          <p:cNvPr id="12" name="Rectangle 11"/>
          <p:cNvSpPr/>
          <p:nvPr/>
        </p:nvSpPr>
        <p:spPr>
          <a:xfrm>
            <a:off x="1005840"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1  Ground</a:t>
            </a:r>
          </a:p>
        </p:txBody>
      </p:sp>
      <p:sp>
        <p:nvSpPr>
          <p:cNvPr id="14" name="Rectangle 13"/>
          <p:cNvSpPr/>
          <p:nvPr/>
        </p:nvSpPr>
        <p:spPr>
          <a:xfrm>
            <a:off x="3561588"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616452"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2  Build</a:t>
            </a:r>
          </a:p>
        </p:txBody>
      </p:sp>
      <p:sp>
        <p:nvSpPr>
          <p:cNvPr id="16" name="Rectangle 15"/>
          <p:cNvSpPr/>
          <p:nvPr/>
        </p:nvSpPr>
        <p:spPr>
          <a:xfrm>
            <a:off x="6117336"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6172200"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3  Verify</a:t>
            </a:r>
          </a:p>
        </p:txBody>
      </p:sp>
      <p:sp>
        <p:nvSpPr>
          <p:cNvPr id="18" name="Rectangle 17"/>
          <p:cNvSpPr/>
          <p:nvPr/>
        </p:nvSpPr>
        <p:spPr>
          <a:xfrm>
            <a:off x="8673084"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8727948"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4  Handoff</a:t>
            </a:r>
          </a:p>
        </p:txBody>
      </p:sp>
      <p:sp>
        <p:nvSpPr>
          <p:cNvPr id="20" name="TextBox 19"/>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Microsoft 365 Copilot in Excel · OneDrive</a:t>
            </a:r>
          </a:p>
        </p:txBody>
      </p:sp>
      <p:sp>
        <p:nvSpPr>
          <p:cNvPr id="21" name="TextBox 20"/>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2" name="TextBox 21"/>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3" name="TextBox 22"/>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48</a:t>
            </a:r>
          </a:p>
        </p:txBody>
      </p:sp>
    </p:spTree>
  </p:cSld>
  <p:clrMapOvr>
    <a:masterClrMapping/>
  </p:clrMapOvr>
  <p:transition spd="med">
    <p:fade/>
  </p:transition>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3</a:t>
            </a:r>
          </a:p>
        </p:txBody>
      </p:sp>
      <p:sp>
        <p:nvSpPr>
          <p:cNvPr id="5" name="Rounded Rectangle 4"/>
          <p:cNvSpPr/>
          <p:nvPr/>
        </p:nvSpPr>
        <p:spPr>
          <a:xfrm>
            <a:off x="777240" y="1828800"/>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10634472"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Scope: State actual source, report date and selected scope before acting.</a:t>
            </a:r>
          </a:p>
        </p:txBody>
      </p:sp>
      <p:sp>
        <p:nvSpPr>
          <p:cNvPr id="10" name="Rounded Rectangle 9"/>
          <p:cNvSpPr/>
          <p:nvPr/>
        </p:nvSpPr>
        <p:spPr>
          <a:xfrm>
            <a:off x="777240" y="4059936"/>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777240" y="4059936"/>
            <a:ext cx="10634472" cy="64008"/>
          </a:xfrm>
          <a:prstGeom prst="rect">
            <a:avLst/>
          </a:prstGeom>
          <a:solidFill>
            <a:srgbClr val="D97757"/>
          </a:solidFill>
          <a:ln>
            <a:noFill/>
          </a:ln>
          <a:effectLst/>
        </p:spPr>
        <p:txBody>
          <a:bodyPr rtlCol="0" anchor="ctr"/>
          <a:lstStyle/>
          <a:p>
            <a:pPr algn="ctr"/>
          </a:p>
        </p:txBody>
      </p:sp>
      <p:sp>
        <p:nvSpPr>
          <p:cNvPr id="12" name="Oval 11"/>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Verify: Explain the source/formula checks and preserve unknowns and original records.</a:t>
            </a:r>
          </a:p>
        </p:txBody>
      </p:sp>
      <p:sp>
        <p:nvSpPr>
          <p:cNvPr id="15" name="TextBox 1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6" name="TextBox 1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7" name="TextBox 1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49</a:t>
            </a:r>
          </a:p>
        </p:txBody>
      </p:sp>
    </p:spTree>
  </p:cSld>
  <p:clrMapOvr>
    <a:masterClrMapping/>
  </p:clrMapOvr>
  <p:transition spd="med">
    <p:fade/>
  </p:transition>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3</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Source controls</a:t>
            </a:r>
          </a:p>
          <a:p>
            <a:pPr algn="l">
              <a:spcAft>
                <a:spcPts val="300"/>
              </a:spcAft>
            </a:pPr>
            <a:r>
              <a:rPr sz="1300" b="0">
                <a:solidFill>
                  <a:srgbClr val="6B6862"/>
                </a:solidFill>
                <a:latin typeface="Calibri"/>
              </a:rPr>
              <a:t>Both copies retain120 unique IDs, original owners/statuses and exact cost 35827.50.</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Display check</a:t>
            </a:r>
          </a:p>
          <a:p>
            <a:pPr algn="l">
              <a:spcAft>
                <a:spcPts val="300"/>
              </a:spcAft>
            </a:pPr>
            <a:r>
              <a:rPr sz="1300" b="0">
                <a:solidFill>
                  <a:srgbClr val="6B6862"/>
                </a:solidFill>
                <a:latin typeface="Calibri"/>
              </a:rPr>
              <a:t>Saved S$ two-decimal/date/explanation preferences are checked in two workbooks; observed misses are recorded.</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Specific request</a:t>
            </a:r>
          </a:p>
          <a:p>
            <a:pPr algn="l">
              <a:spcAft>
                <a:spcPts val="300"/>
              </a:spcAft>
            </a:pPr>
            <a:r>
              <a:rPr sz="1300" b="0">
                <a:solidFill>
                  <a:srgbClr val="6B6862"/>
                </a:solidFill>
                <a:latin typeface="Calibri"/>
              </a:rPr>
              <a:t>The output can show35,827.5000 without changing its value or the saved preferences.</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Restoration</a:t>
            </a:r>
          </a:p>
          <a:p>
            <a:pPr algn="l">
              <a:spcAft>
                <a:spcPts val="300"/>
              </a:spcAft>
            </a:pPr>
            <a:r>
              <a:rPr sz="1300" b="0">
                <a:solidFill>
                  <a:srgbClr val="6B6862"/>
                </a:solidFill>
                <a:latin typeface="Calibri"/>
              </a:rPr>
              <a:t>Previous account preferences restored; private baseline note stays outside public courseware.</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50</a:t>
            </a:r>
          </a:p>
        </p:txBody>
      </p:sp>
    </p:spTree>
  </p:cSld>
  <p:clrMapOvr>
    <a:masterClrMapping/>
  </p:clrMapOvr>
  <p:transition spd="med">
    <p:fade/>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EDITABLE WORKBOOK MODEL</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Visible .Rules: Instructions Travel with the Workbook</a:t>
            </a:r>
          </a:p>
        </p:txBody>
      </p:sp>
      <p:sp>
        <p:nvSpPr>
          <p:cNvPr id="5" name="Rounded Rectangle 4"/>
          <p:cNvSpPr/>
          <p:nvPr/>
        </p:nvSpPr>
        <p:spPr>
          <a:xfrm>
            <a:off x="822960" y="1828800"/>
            <a:ext cx="10515600" cy="6400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TextBox 5"/>
          <p:cNvSpPr txBox="1"/>
          <p:nvPr/>
        </p:nvSpPr>
        <p:spPr>
          <a:xfrm>
            <a:off x="1005840" y="1920240"/>
            <a:ext cx="1097280" cy="411480"/>
          </a:xfrm>
          <a:prstGeom prst="rect">
            <a:avLst/>
          </a:prstGeom>
          <a:noFill/>
        </p:spPr>
        <p:txBody>
          <a:bodyPr wrap="square" anchor="t">
            <a:spAutoFit/>
          </a:bodyPr>
          <a:lstStyle/>
          <a:p>
            <a:pPr algn="l">
              <a:spcAft>
                <a:spcPts val="400"/>
              </a:spcAft>
            </a:pPr>
            <a:r>
              <a:rPr sz="2000" b="1">
                <a:solidFill>
                  <a:srgbClr val="21201C"/>
                </a:solidFill>
                <a:latin typeface="Cambria"/>
              </a:rPr>
              <a:t>A1</a:t>
            </a:r>
          </a:p>
        </p:txBody>
      </p:sp>
      <p:sp>
        <p:nvSpPr>
          <p:cNvPr id="7" name="TextBox 6"/>
          <p:cNvSpPr txBox="1"/>
          <p:nvPr/>
        </p:nvSpPr>
        <p:spPr>
          <a:xfrm>
            <a:off x="2286000" y="1920240"/>
            <a:ext cx="8686800" cy="411480"/>
          </a:xfrm>
          <a:prstGeom prst="rect">
            <a:avLst/>
          </a:prstGeom>
          <a:noFill/>
        </p:spPr>
        <p:txBody>
          <a:bodyPr wrap="square" anchor="t">
            <a:spAutoFit/>
          </a:bodyPr>
          <a:lstStyle/>
          <a:p>
            <a:pPr algn="l">
              <a:spcAft>
                <a:spcPts val="400"/>
              </a:spcAft>
            </a:pPr>
            <a:r>
              <a:rPr sz="2100" b="0">
                <a:solidFill>
                  <a:srgbClr val="21201C"/>
                </a:solidFill>
                <a:latin typeface="Calibri"/>
              </a:rPr>
              <a:t>Northstar reporting conventions</a:t>
            </a:r>
          </a:p>
        </p:txBody>
      </p:sp>
      <p:sp>
        <p:nvSpPr>
          <p:cNvPr id="8" name="Rounded Rectangle 7"/>
          <p:cNvSpPr/>
          <p:nvPr/>
        </p:nvSpPr>
        <p:spPr>
          <a:xfrm>
            <a:off x="822960" y="2606040"/>
            <a:ext cx="10515600" cy="6400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TextBox 8"/>
          <p:cNvSpPr txBox="1"/>
          <p:nvPr/>
        </p:nvSpPr>
        <p:spPr>
          <a:xfrm>
            <a:off x="1005840" y="2697480"/>
            <a:ext cx="1097280" cy="411480"/>
          </a:xfrm>
          <a:prstGeom prst="rect">
            <a:avLst/>
          </a:prstGeom>
          <a:noFill/>
        </p:spPr>
        <p:txBody>
          <a:bodyPr wrap="square" anchor="t">
            <a:spAutoFit/>
          </a:bodyPr>
          <a:lstStyle/>
          <a:p>
            <a:pPr algn="l">
              <a:spcAft>
                <a:spcPts val="400"/>
              </a:spcAft>
            </a:pPr>
            <a:r>
              <a:rPr sz="2000" b="1">
                <a:solidFill>
                  <a:srgbClr val="21201C"/>
                </a:solidFill>
                <a:latin typeface="Cambria"/>
              </a:rPr>
              <a:t>A2</a:t>
            </a:r>
          </a:p>
        </p:txBody>
      </p:sp>
      <p:sp>
        <p:nvSpPr>
          <p:cNvPr id="10" name="TextBox 9"/>
          <p:cNvSpPr txBox="1"/>
          <p:nvPr/>
        </p:nvSpPr>
        <p:spPr>
          <a:xfrm>
            <a:off x="2286000" y="2697480"/>
            <a:ext cx="8686800" cy="411480"/>
          </a:xfrm>
          <a:prstGeom prst="rect">
            <a:avLst/>
          </a:prstGeom>
          <a:noFill/>
        </p:spPr>
        <p:txBody>
          <a:bodyPr wrap="square" anchor="t">
            <a:spAutoFit/>
          </a:bodyPr>
          <a:lstStyle/>
          <a:p>
            <a:pPr algn="l">
              <a:spcAft>
                <a:spcPts val="400"/>
              </a:spcAft>
            </a:pPr>
            <a:r>
              <a:rPr sz="2100" b="0">
                <a:solidFill>
                  <a:srgbClr val="21201C"/>
                </a:solidFill>
                <a:latin typeface="Calibri"/>
              </a:rPr>
              <a:t>Preserve original IDs and current owners</a:t>
            </a:r>
          </a:p>
        </p:txBody>
      </p:sp>
      <p:sp>
        <p:nvSpPr>
          <p:cNvPr id="11" name="Rounded Rectangle 10"/>
          <p:cNvSpPr/>
          <p:nvPr/>
        </p:nvSpPr>
        <p:spPr>
          <a:xfrm>
            <a:off x="822960" y="3383280"/>
            <a:ext cx="10515600" cy="6400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TextBox 11"/>
          <p:cNvSpPr txBox="1"/>
          <p:nvPr/>
        </p:nvSpPr>
        <p:spPr>
          <a:xfrm>
            <a:off x="1005840" y="3474720"/>
            <a:ext cx="1097280" cy="411480"/>
          </a:xfrm>
          <a:prstGeom prst="rect">
            <a:avLst/>
          </a:prstGeom>
          <a:noFill/>
        </p:spPr>
        <p:txBody>
          <a:bodyPr wrap="square" anchor="t">
            <a:spAutoFit/>
          </a:bodyPr>
          <a:lstStyle/>
          <a:p>
            <a:pPr algn="l">
              <a:spcAft>
                <a:spcPts val="400"/>
              </a:spcAft>
            </a:pPr>
            <a:r>
              <a:rPr sz="2000" b="1">
                <a:solidFill>
                  <a:srgbClr val="21201C"/>
                </a:solidFill>
                <a:latin typeface="Cambria"/>
              </a:rPr>
              <a:t>A3</a:t>
            </a:r>
          </a:p>
        </p:txBody>
      </p:sp>
      <p:sp>
        <p:nvSpPr>
          <p:cNvPr id="13" name="TextBox 12"/>
          <p:cNvSpPr txBox="1"/>
          <p:nvPr/>
        </p:nvSpPr>
        <p:spPr>
          <a:xfrm>
            <a:off x="2286000" y="3474720"/>
            <a:ext cx="8686800" cy="411480"/>
          </a:xfrm>
          <a:prstGeom prst="rect">
            <a:avLst/>
          </a:prstGeom>
          <a:noFill/>
        </p:spPr>
        <p:txBody>
          <a:bodyPr wrap="square" anchor="t">
            <a:spAutoFit/>
          </a:bodyPr>
          <a:lstStyle/>
          <a:p>
            <a:pPr algn="l">
              <a:spcAft>
                <a:spcPts val="400"/>
              </a:spcAft>
            </a:pPr>
            <a:r>
              <a:rPr sz="2100" b="0">
                <a:solidFill>
                  <a:srgbClr val="21201C"/>
                </a:solidFill>
                <a:latin typeface="Calibri"/>
              </a:rPr>
              <a:t>Backlog excludes Closed and Cancelled</a:t>
            </a:r>
          </a:p>
        </p:txBody>
      </p:sp>
      <p:sp>
        <p:nvSpPr>
          <p:cNvPr id="14" name="Rounded Rectangle 13"/>
          <p:cNvSpPr/>
          <p:nvPr/>
        </p:nvSpPr>
        <p:spPr>
          <a:xfrm>
            <a:off x="822960" y="4160520"/>
            <a:ext cx="10515600" cy="6400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5" name="TextBox 14"/>
          <p:cNvSpPr txBox="1"/>
          <p:nvPr/>
        </p:nvSpPr>
        <p:spPr>
          <a:xfrm>
            <a:off x="1005840" y="4251959"/>
            <a:ext cx="1097280" cy="411480"/>
          </a:xfrm>
          <a:prstGeom prst="rect">
            <a:avLst/>
          </a:prstGeom>
          <a:noFill/>
        </p:spPr>
        <p:txBody>
          <a:bodyPr wrap="square" anchor="t">
            <a:spAutoFit/>
          </a:bodyPr>
          <a:lstStyle/>
          <a:p>
            <a:pPr algn="l">
              <a:spcAft>
                <a:spcPts val="400"/>
              </a:spcAft>
            </a:pPr>
            <a:r>
              <a:rPr sz="2000" b="1">
                <a:solidFill>
                  <a:srgbClr val="21201C"/>
                </a:solidFill>
                <a:latin typeface="Cambria"/>
              </a:rPr>
              <a:t>A4</a:t>
            </a:r>
          </a:p>
        </p:txBody>
      </p:sp>
      <p:sp>
        <p:nvSpPr>
          <p:cNvPr id="16" name="TextBox 15"/>
          <p:cNvSpPr txBox="1"/>
          <p:nvPr/>
        </p:nvSpPr>
        <p:spPr>
          <a:xfrm>
            <a:off x="2286000" y="4251959"/>
            <a:ext cx="8686800" cy="411480"/>
          </a:xfrm>
          <a:prstGeom prst="rect">
            <a:avLst/>
          </a:prstGeom>
          <a:noFill/>
        </p:spPr>
        <p:txBody>
          <a:bodyPr wrap="square" anchor="t">
            <a:spAutoFit/>
          </a:bodyPr>
          <a:lstStyle/>
          <a:p>
            <a:pPr algn="l">
              <a:spcAft>
                <a:spcPts val="400"/>
              </a:spcAft>
            </a:pPr>
            <a:r>
              <a:rPr sz="2100" b="0">
                <a:solidFill>
                  <a:srgbClr val="21201C"/>
                </a:solidFill>
                <a:latin typeface="Calibri"/>
              </a:rPr>
              <a:t>Reporting date: 2026-09-30</a:t>
            </a:r>
          </a:p>
        </p:txBody>
      </p:sp>
      <p:sp>
        <p:nvSpPr>
          <p:cNvPr id="17" name="TextBox 16"/>
          <p:cNvSpPr txBox="1"/>
          <p:nvPr/>
        </p:nvSpPr>
        <p:spPr>
          <a:xfrm>
            <a:off x="914400" y="5212080"/>
            <a:ext cx="10058400" cy="411480"/>
          </a:xfrm>
          <a:prstGeom prst="rect">
            <a:avLst/>
          </a:prstGeom>
          <a:noFill/>
        </p:spPr>
        <p:txBody>
          <a:bodyPr wrap="square" anchor="t">
            <a:spAutoFit/>
          </a:bodyPr>
          <a:lstStyle/>
          <a:p>
            <a:pPr algn="l">
              <a:spcAft>
                <a:spcPts val="400"/>
              </a:spcAft>
            </a:pPr>
            <a:r>
              <a:rPr sz="1800" b="0">
                <a:solidFill>
                  <a:srgbClr val="21201C"/>
                </a:solidFill>
                <a:latin typeface="Calibri"/>
              </a:rPr>
              <a:t>Formula rule reads Control!B2; Copilot uses the recalculated result on the next request.</a:t>
            </a:r>
          </a:p>
        </p:txBody>
      </p:sp>
      <p:sp>
        <p:nvSpPr>
          <p:cNvPr id="18" name="TextBox 17"/>
          <p:cNvSpPr txBox="1"/>
          <p:nvPr/>
        </p:nvSpPr>
        <p:spPr>
          <a:xfrm>
            <a:off x="777240" y="5989320"/>
            <a:ext cx="10698480" cy="274320"/>
          </a:xfrm>
          <a:prstGeom prst="rect">
            <a:avLst/>
          </a:prstGeom>
          <a:noFill/>
        </p:spPr>
        <p:txBody>
          <a:bodyPr wrap="square" anchor="t">
            <a:spAutoFit/>
          </a:bodyPr>
          <a:lstStyle/>
          <a:p>
            <a:pPr algn="l">
              <a:spcAft>
                <a:spcPts val="400"/>
              </a:spcAft>
            </a:pPr>
            <a:r>
              <a:rPr sz="1100" b="0">
                <a:solidFill>
                  <a:srgbClr val="21201C"/>
                </a:solidFill>
                <a:latin typeface="Calibri"/>
              </a:rPr>
              <a:t>Source: synthetic tblWorkOrders | 30 Sep 2026 | All filters All unless stated</a:t>
            </a:r>
          </a:p>
        </p:txBody>
      </p:sp>
      <p:sp>
        <p:nvSpPr>
          <p:cNvPr id="19" name="TextBox 18"/>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0" name="TextBox 19"/>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1" name="TextBox 20"/>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51</a:t>
            </a:r>
          </a:p>
        </p:txBody>
      </p:sp>
    </p:spTree>
  </p:cSld>
  <p:clrMapOvr>
    <a:masterClrMapping/>
  </p:clrMapOvr>
  <p:transition spd="med">
    <p:fade/>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Visible Workbook .Rules and Formula Results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visible worksheet named exactly .Rules, including the dot, supplies workbook-specific Copilot instructions in column A.</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The workbook can carry stable scope, status, cost-display and preservation instructions alongside the source.</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The date rule returns Reporting date: 2026-09-30 from Control!B2.</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52</a:t>
            </a:r>
          </a:p>
        </p:txBody>
      </p:sp>
    </p:spTree>
  </p:cSld>
  <p:clrMapOvr>
    <a:masterClrMapping/>
  </p:clrMapOvr>
  <p:transition spd="med">
    <p:fade/>
  </p:transition>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Visible Workbook .Rules and Formula Results</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3A7D7B"/>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3A7D7B"/>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Name the visible sheet exactly .Rules.</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3A7D7B"/>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3A7D7B"/>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Place one instruction per column-A cell.</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3A7D7B"/>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3A7D7B"/>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Recalculate a formula-driven rule.</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3A7D7B"/>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3A7D7B"/>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Check the next output and copied workbook.</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53</a:t>
            </a:r>
          </a:p>
        </p:txBody>
      </p:sp>
    </p:spTree>
  </p:cSld>
  <p:clrMapOvr>
    <a:masterClrMapping/>
  </p:clrMapOvr>
  <p:transition spd="med">
    <p:fade/>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Apply the Concept — Visible Workbook .Rules and Formula Results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Hidden .Rules is not used; keep the final sheet visible.</a:t>
            </a:r>
          </a:p>
          <a:p>
            <a:pPr>
              <a:spcAft>
                <a:spcPts val="1000"/>
              </a:spcAft>
            </a:pPr>
            <a:r>
              <a:rPr sz="1600" b="0">
                <a:solidFill>
                  <a:srgbClr val="21201C"/>
                </a:solidFill>
                <a:latin typeface="Calibri"/>
              </a:rPr>
              <a:t>•  No universal precedence among rules, preferences and Skills is assumed.</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54</a:t>
            </a:r>
          </a:p>
        </p:txBody>
      </p:sp>
    </p:spTree>
  </p:cSld>
  <p:clrMapOvr>
    <a:masterClrMapping/>
  </p:clrMapOvr>
  <p:transition spd="med">
    <p:fade/>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THEME · WORKBOOK .RULES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Create and Test Workbook .Rules for Water Service Reporting</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4</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700" b="0">
                <a:solidFill>
                  <a:srgbClr val="21201C"/>
                </a:solidFill>
                <a:latin typeface="Calibri"/>
              </a:rPr>
              <a:t>Turn Northstar’s workbook conventions into a visible .Rules worksheet. Keep one rule per cell in column A, include a formula-driven reporting-date rule, test the output, and verify that the sheet travels with a copied workbook.</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600" b="1">
                <a:solidFill>
                  <a:srgbClr val="21201C"/>
                </a:solidFill>
                <a:latin typeface="Calibri"/>
              </a:rPr>
              <a:t>Northstar_Rules_Workbook.xlsx with visible .Rules column A, a checked Rules_Test output and a copied-workbook sharing check.</a:t>
            </a:r>
          </a:p>
        </p:txBody>
      </p:sp>
      <p:sp>
        <p:nvSpPr>
          <p:cNvPr id="12" name="Rectangle 11"/>
          <p:cNvSpPr/>
          <p:nvPr/>
        </p:nvSpPr>
        <p:spPr>
          <a:xfrm>
            <a:off x="1005840"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1  Ground</a:t>
            </a:r>
          </a:p>
        </p:txBody>
      </p:sp>
      <p:sp>
        <p:nvSpPr>
          <p:cNvPr id="14" name="Rectangle 13"/>
          <p:cNvSpPr/>
          <p:nvPr/>
        </p:nvSpPr>
        <p:spPr>
          <a:xfrm>
            <a:off x="3561588"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616452"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2  Build</a:t>
            </a:r>
          </a:p>
        </p:txBody>
      </p:sp>
      <p:sp>
        <p:nvSpPr>
          <p:cNvPr id="16" name="Rectangle 15"/>
          <p:cNvSpPr/>
          <p:nvPr/>
        </p:nvSpPr>
        <p:spPr>
          <a:xfrm>
            <a:off x="6117336"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6172200"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3  Verify</a:t>
            </a:r>
          </a:p>
        </p:txBody>
      </p:sp>
      <p:sp>
        <p:nvSpPr>
          <p:cNvPr id="18" name="Rectangle 17"/>
          <p:cNvSpPr/>
          <p:nvPr/>
        </p:nvSpPr>
        <p:spPr>
          <a:xfrm>
            <a:off x="8673084"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8727948"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4  Handoff</a:t>
            </a:r>
          </a:p>
        </p:txBody>
      </p:sp>
      <p:sp>
        <p:nvSpPr>
          <p:cNvPr id="20" name="TextBox 19"/>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Microsoft 365 Copilot in Excel · OneDrive</a:t>
            </a:r>
          </a:p>
        </p:txBody>
      </p:sp>
      <p:sp>
        <p:nvSpPr>
          <p:cNvPr id="21" name="TextBox 20"/>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2" name="TextBox 21"/>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3" name="TextBox 22"/>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55</a:t>
            </a:r>
          </a:p>
        </p:txBody>
      </p:sp>
    </p:spTree>
  </p:cSld>
  <p:clrMapOvr>
    <a:masterClrMapping/>
  </p:clrMapOvr>
  <p:transition spd="med">
    <p:fade/>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4</a:t>
            </a:r>
          </a:p>
        </p:txBody>
      </p:sp>
      <p:sp>
        <p:nvSpPr>
          <p:cNvPr id="5" name="Rounded Rectangle 4"/>
          <p:cNvSpPr/>
          <p:nvPr/>
        </p:nvSpPr>
        <p:spPr>
          <a:xfrm>
            <a:off x="777240" y="1828800"/>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10634472"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Scope: State actual source, report date and selected scope before acting.</a:t>
            </a:r>
          </a:p>
        </p:txBody>
      </p:sp>
      <p:sp>
        <p:nvSpPr>
          <p:cNvPr id="10" name="Rounded Rectangle 9"/>
          <p:cNvSpPr/>
          <p:nvPr/>
        </p:nvSpPr>
        <p:spPr>
          <a:xfrm>
            <a:off x="777240" y="4059936"/>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777240" y="4059936"/>
            <a:ext cx="10634472" cy="64008"/>
          </a:xfrm>
          <a:prstGeom prst="rect">
            <a:avLst/>
          </a:prstGeom>
          <a:solidFill>
            <a:srgbClr val="D97757"/>
          </a:solidFill>
          <a:ln>
            <a:noFill/>
          </a:ln>
          <a:effectLst/>
        </p:spPr>
        <p:txBody>
          <a:bodyPr rtlCol="0" anchor="ctr"/>
          <a:lstStyle/>
          <a:p>
            <a:pPr algn="ctr"/>
          </a:p>
        </p:txBody>
      </p:sp>
      <p:sp>
        <p:nvSpPr>
          <p:cNvPr id="12" name="Oval 11"/>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Verify: Explain the source/formula checks and preserve unknowns and original records.</a:t>
            </a:r>
          </a:p>
        </p:txBody>
      </p:sp>
      <p:sp>
        <p:nvSpPr>
          <p:cNvPr id="15" name="TextBox 1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6" name="TextBox 1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7" name="TextBox 1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56</a:t>
            </a:r>
          </a:p>
        </p:txBody>
      </p:sp>
    </p:spTree>
  </p:cSld>
  <p:clrMapOvr>
    <a:masterClrMapping/>
  </p:clrMapOvr>
  <p:transition spd="med">
    <p:fade/>
  </p:transition>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4</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Recognition</a:t>
            </a:r>
          </a:p>
          <a:p>
            <a:pPr algn="l">
              <a:spcAft>
                <a:spcPts val="300"/>
              </a:spcAft>
            </a:pPr>
            <a:r>
              <a:rPr sz="1300" b="0">
                <a:solidFill>
                  <a:srgbClr val="6B6862"/>
                </a:solidFill>
                <a:latin typeface="Calibri"/>
              </a:rPr>
              <a:t>Exactly .Rules; visible worksheet; instructions in column A, one idea per cell.</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Formula rule</a:t>
            </a:r>
          </a:p>
          <a:p>
            <a:pPr algn="l">
              <a:spcAft>
                <a:spcPts val="300"/>
              </a:spcAft>
            </a:pPr>
            <a:r>
              <a:rPr sz="1300" b="0">
                <a:solidFill>
                  <a:srgbClr val="6B6862"/>
                </a:solidFill>
                <a:latin typeface="Calibri"/>
              </a:rPr>
              <a:t>Reporting-date formula recalculates and displays2026-09-30; no source values changed.</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Output controls</a:t>
            </a:r>
          </a:p>
          <a:p>
            <a:pPr algn="l">
              <a:spcAft>
                <a:spcPts val="300"/>
              </a:spcAft>
            </a:pPr>
            <a:r>
              <a:rPr sz="1300" b="0">
                <a:solidFill>
                  <a:srgbClr val="6B6862"/>
                </a:solidFill>
                <a:latin typeface="Calibri"/>
              </a:rPr>
              <a:t>120 total;60 backlog;50 overdue;30/48 on-time;S$35,827.50 at All scope.</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Workbook copy</a:t>
            </a:r>
          </a:p>
          <a:p>
            <a:pPr algn="l">
              <a:spcAft>
                <a:spcPts val="300"/>
              </a:spcAft>
            </a:pPr>
            <a:r>
              <a:rPr sz="1300" b="0">
                <a:solidFill>
                  <a:srgbClr val="6B6862"/>
                </a:solidFill>
                <a:latin typeface="Calibri"/>
              </a:rPr>
              <a:t>Visible .Rules travels with the copy; account preferences are not exported.</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57</a:t>
            </a:r>
          </a:p>
        </p:txBody>
      </p:sp>
    </p:spTree>
  </p:cSld>
  <p:clrMapOvr>
    <a:masterClrMapping/>
  </p:clrMapOvr>
  <p:transition spd="med">
    <p:fade/>
  </p:transition>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NATIVE EDITABLE PARETO EVIDENCE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Overdue Contribution: 50 Work Orders, Five Categories</a:t>
            </a:r>
          </a:p>
        </p:txBody>
      </p:sp>
      <p:graphicFrame>
        <p:nvGraphicFramePr>
          <p:cNvPr id="5" name="Chart 4"/>
          <p:cNvGraphicFramePr>
            <a:graphicFrameLocks noGrp="1"/>
          </p:cNvGraphicFramePr>
          <p:nvPr/>
        </p:nvGraphicFramePr>
        <p:xfrm>
          <a:off x="822960" y="1828800"/>
          <a:ext cx="5029200" cy="3566160"/>
        </p:xfrm>
        <a:graphic>
          <a:graphicData uri="http://schemas.openxmlformats.org/drawingml/2006/chart">
            <c:chart xmlns:c="http://schemas.openxmlformats.org/drawingml/2006/chart" r:id="rId2"/>
          </a:graphicData>
        </a:graphic>
      </p:graphicFrame>
      <p:graphicFrame>
        <p:nvGraphicFramePr>
          <p:cNvPr id="6" name="Chart 5"/>
          <p:cNvGraphicFramePr>
            <a:graphicFrameLocks noGrp="1"/>
          </p:cNvGraphicFramePr>
          <p:nvPr/>
        </p:nvGraphicFramePr>
        <p:xfrm>
          <a:off x="6217920" y="1828800"/>
          <a:ext cx="5029200" cy="3566160"/>
        </p:xfrm>
        <a:graphic>
          <a:graphicData uri="http://schemas.openxmlformats.org/drawingml/2006/chart">
            <c:chart xmlns:c="http://schemas.openxmlformats.org/drawingml/2006/chart" r:id="rId3"/>
          </a:graphicData>
        </a:graphic>
      </p:graphicFrame>
      <p:sp>
        <p:nvSpPr>
          <p:cNvPr id="7" name="TextBox 6"/>
          <p:cNvSpPr txBox="1"/>
          <p:nvPr/>
        </p:nvSpPr>
        <p:spPr>
          <a:xfrm>
            <a:off x="914400" y="5486400"/>
            <a:ext cx="10058400" cy="365760"/>
          </a:xfrm>
          <a:prstGeom prst="rect">
            <a:avLst/>
          </a:prstGeom>
          <a:noFill/>
        </p:spPr>
        <p:txBody>
          <a:bodyPr wrap="square" anchor="t">
            <a:spAutoFit/>
          </a:bodyPr>
          <a:lstStyle/>
          <a:p>
            <a:pPr algn="l">
              <a:spcAft>
                <a:spcPts val="400"/>
              </a:spcAft>
            </a:pPr>
            <a:r>
              <a:rPr sz="1700" b="0">
                <a:solidFill>
                  <a:srgbClr val="21201C"/>
                </a:solidFill>
                <a:latin typeface="Calibri"/>
              </a:rPr>
              <a:t>Four categories first reach 80%. Equal counts use alphabetical ties. Contribution is not cause.</a:t>
            </a:r>
          </a:p>
        </p:txBody>
      </p:sp>
      <p:sp>
        <p:nvSpPr>
          <p:cNvPr id="8" name="TextBox 7"/>
          <p:cNvSpPr txBox="1"/>
          <p:nvPr/>
        </p:nvSpPr>
        <p:spPr>
          <a:xfrm>
            <a:off x="777240" y="5989320"/>
            <a:ext cx="10698480" cy="274320"/>
          </a:xfrm>
          <a:prstGeom prst="rect">
            <a:avLst/>
          </a:prstGeom>
          <a:noFill/>
        </p:spPr>
        <p:txBody>
          <a:bodyPr wrap="square" anchor="t">
            <a:spAutoFit/>
          </a:bodyPr>
          <a:lstStyle/>
          <a:p>
            <a:pPr algn="l">
              <a:spcAft>
                <a:spcPts val="400"/>
              </a:spcAft>
            </a:pPr>
            <a:r>
              <a:rPr sz="1100" b="0">
                <a:solidFill>
                  <a:srgbClr val="21201C"/>
                </a:solidFill>
                <a:latin typeface="Calibri"/>
              </a:rPr>
              <a:t>Source: synthetic tblWorkOrders | 30 Sep 2026 | All filters All unless stated</a:t>
            </a:r>
          </a:p>
        </p:txBody>
      </p:sp>
      <p:sp>
        <p:nvSpPr>
          <p:cNvPr id="9" name="TextBox 8"/>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0" name="TextBox 9"/>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1" name="TextBox 10"/>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58</a:t>
            </a:r>
          </a:p>
        </p:txBody>
      </p:sp>
    </p:spTree>
  </p:cSld>
  <p:clrMapOvr>
    <a:masterClrMapping/>
  </p:clrMapOvr>
  <p:transition spd="med">
    <p:fade/>
  </p:transition>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Built-in and Custom Skills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Copilot in Excel ships with built-in skills you call with @, such as @chart-design for charts.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Start with a built-in skill when the task is generic, such as making a clear chart.</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@chart-design draws a clean overdue-by-category bar chart.</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59</a:t>
            </a:r>
          </a:p>
        </p:txBody>
      </p:sp>
    </p:spTree>
  </p:cSld>
  <p:clrMapOvr>
    <a:masterClrMapping/>
  </p:clrMapOvr>
  <p:transition spd="med">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Built-in and Custom Skills</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3A7D7B"/>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3A7D7B"/>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Turn on chart-design under Visualization.</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3A7D7B"/>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3A7D7B"/>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Call @chart-design for a generic chart.</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3A7D7B"/>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3A7D7B"/>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Spot the rules it cannot know.</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3A7D7B"/>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3A7D7B"/>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Write a custom SKILL.md for those rules.</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60</a:t>
            </a:r>
          </a:p>
        </p:txBody>
      </p:sp>
    </p:spTree>
  </p:cSld>
  <p:clrMapOvr>
    <a:masterClrMapping/>
  </p:clrMapOvr>
  <p:transition spd="med">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Apply the Concept — Built-in and Custom Skills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It does not know the overdue population or Pareto tie order.</a:t>
            </a:r>
          </a:p>
          <a:p>
            <a:pPr>
              <a:spcAft>
                <a:spcPts val="1000"/>
              </a:spcAft>
            </a:pPr>
            <a:r>
              <a:rPr sz="1600" b="0">
                <a:solidFill>
                  <a:srgbClr val="21201C"/>
                </a:solidFill>
                <a:latin typeface="Calibri"/>
              </a:rPr>
              <a:t>•  water-service-pareto adds the cumulative line and named output.</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61</a:t>
            </a:r>
          </a:p>
        </p:txBody>
      </p:sp>
    </p:spTree>
  </p:cSld>
  <p:clrMapOvr>
    <a:masterClrMapping/>
  </p:clrMapOvr>
  <p:transition spd="med">
    <p:fade/>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Pareto Skill: Counts, Sorting and Cumulative Share</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Pareto contribution chart orders category counts from largest to smallest and adds a cumulative-percentage line.</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The Skill turns a recurring grouping-and-charting method into reusable instructions.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Pump 18; Meter 12; Leak 8; Valve 8; Pipe 4: total 50.</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62</a:t>
            </a:r>
          </a:p>
        </p:txBody>
      </p:sp>
    </p:spTree>
  </p:cSld>
  <p:clrMapOvr>
    <a:masterClrMapping/>
  </p:clrMapOvr>
  <p:transition spd="med">
    <p:fade/>
  </p:transition>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Pareto Skill: Counts, Sorting and Cumulative Share</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3A7D7B"/>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3A7D7B"/>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Define source, population, date and grouping.</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3A7D7B"/>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3A7D7B"/>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Count and sort with stable ties.</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3A7D7B"/>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3A7D7B"/>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Calculate cumulative count / eligible total.</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3A7D7B"/>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3A7D7B"/>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Build and verify an editable dual-axis chart.</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63</a:t>
            </a:r>
          </a:p>
        </p:txBody>
      </p:sp>
    </p:spTree>
  </p:cSld>
  <p:clrMapOvr>
    <a:masterClrMapping/>
  </p:clrMapOvr>
  <p:transition spd="med">
    <p:fade/>
  </p:transition>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Apply the Concept — Pareto Skill: Counts, Sorting and Cumulative Share</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Cumulative percentages are 36%, 60%, 76%, 92%, 100%.</a:t>
            </a:r>
          </a:p>
          <a:p>
            <a:pPr>
              <a:spcAft>
                <a:spcPts val="1000"/>
              </a:spcAft>
            </a:pPr>
            <a:r>
              <a:rPr sz="1600" b="0">
                <a:solidFill>
                  <a:srgbClr val="21201C"/>
                </a:solidFill>
                <a:latin typeface="Calibri"/>
              </a:rPr>
              <a:t>•  Four of five categories first reach 80%; do not force an 80/20 conclusion.</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64</a:t>
            </a:r>
          </a:p>
        </p:txBody>
      </p:sp>
    </p:spTree>
  </p:cSld>
  <p:clrMapOvr>
    <a:masterClrMapping/>
  </p:clrMapOvr>
  <p:transition spd="med">
    <p:fade/>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THEME · CUSTOM PARETO CHART SKILL</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Use the Built-in Chart Skill, then Create a Custom Pareto Skill</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5</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700" b="0">
                <a:solidFill>
                  <a:srgbClr val="21201C"/>
                </a:solidFill>
                <a:latin typeface="Calibri"/>
              </a:rPr>
              <a:t>Start with Excel’s built-in @chart-design skill, then author water-service-pareto/SKILL.md with Copilot, install it in Excel and apply it to the same overdue work-order queue. Build a descending count chart plus cumulative-percentage line, then check a controlled rerun and a second grouping.</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600" b="1">
                <a:solidFill>
                  <a:srgbClr val="21201C"/>
                </a:solidFill>
                <a:latin typeface="Calibri"/>
              </a:rPr>
              <a:t>water-service-pareto/SKILL.md, Northstar_Pareto.xlsx with Pareto_Job_Category and Pareto_Site, and a verified rerun record.</a:t>
            </a:r>
          </a:p>
        </p:txBody>
      </p:sp>
      <p:sp>
        <p:nvSpPr>
          <p:cNvPr id="12" name="Rectangle 11"/>
          <p:cNvSpPr/>
          <p:nvPr/>
        </p:nvSpPr>
        <p:spPr>
          <a:xfrm>
            <a:off x="1005840"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1  Ground</a:t>
            </a:r>
          </a:p>
        </p:txBody>
      </p:sp>
      <p:sp>
        <p:nvSpPr>
          <p:cNvPr id="14" name="Rectangle 13"/>
          <p:cNvSpPr/>
          <p:nvPr/>
        </p:nvSpPr>
        <p:spPr>
          <a:xfrm>
            <a:off x="3561588"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616452"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2  Build</a:t>
            </a:r>
          </a:p>
        </p:txBody>
      </p:sp>
      <p:sp>
        <p:nvSpPr>
          <p:cNvPr id="16" name="Rectangle 15"/>
          <p:cNvSpPr/>
          <p:nvPr/>
        </p:nvSpPr>
        <p:spPr>
          <a:xfrm>
            <a:off x="6117336"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6172200"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3  Verify</a:t>
            </a:r>
          </a:p>
        </p:txBody>
      </p:sp>
      <p:sp>
        <p:nvSpPr>
          <p:cNvPr id="18" name="Rectangle 17"/>
          <p:cNvSpPr/>
          <p:nvPr/>
        </p:nvSpPr>
        <p:spPr>
          <a:xfrm>
            <a:off x="8673084"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8727948"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4  Handoff</a:t>
            </a:r>
          </a:p>
        </p:txBody>
      </p:sp>
      <p:sp>
        <p:nvSpPr>
          <p:cNvPr id="20" name="TextBox 19"/>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Copilot · Microsoft 365 Copilot web · OneDrive</a:t>
            </a:r>
          </a:p>
        </p:txBody>
      </p:sp>
      <p:sp>
        <p:nvSpPr>
          <p:cNvPr id="21" name="TextBox 20"/>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2" name="TextBox 21"/>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3" name="TextBox 22"/>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65</a:t>
            </a:r>
          </a:p>
        </p:txBody>
      </p:sp>
    </p:spTree>
  </p:cSld>
  <p:clrMapOvr>
    <a:masterClrMapping/>
  </p:clrMapOvr>
  <p:transition spd="med">
    <p:fade/>
  </p:transition>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5</a:t>
            </a:r>
          </a:p>
        </p:txBody>
      </p:sp>
      <p:sp>
        <p:nvSpPr>
          <p:cNvPr id="5" name="Rounded Rectangle 4"/>
          <p:cNvSpPr/>
          <p:nvPr/>
        </p:nvSpPr>
        <p:spPr>
          <a:xfrm>
            <a:off x="777240" y="1828800"/>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10634472"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Scope: State actual source, report date and selected scope before acting.</a:t>
            </a:r>
          </a:p>
        </p:txBody>
      </p:sp>
      <p:sp>
        <p:nvSpPr>
          <p:cNvPr id="10" name="Rounded Rectangle 9"/>
          <p:cNvSpPr/>
          <p:nvPr/>
        </p:nvSpPr>
        <p:spPr>
          <a:xfrm>
            <a:off x="777240" y="4059936"/>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777240" y="4059936"/>
            <a:ext cx="10634472" cy="64008"/>
          </a:xfrm>
          <a:prstGeom prst="rect">
            <a:avLst/>
          </a:prstGeom>
          <a:solidFill>
            <a:srgbClr val="D97757"/>
          </a:solidFill>
          <a:ln>
            <a:noFill/>
          </a:ln>
          <a:effectLst/>
        </p:spPr>
        <p:txBody>
          <a:bodyPr rtlCol="0" anchor="ctr"/>
          <a:lstStyle/>
          <a:p>
            <a:pPr algn="ctr"/>
          </a:p>
        </p:txBody>
      </p:sp>
      <p:sp>
        <p:nvSpPr>
          <p:cNvPr id="12" name="Oval 11"/>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Verify: Explain the source/formula checks and preserve unknowns and original records.</a:t>
            </a:r>
          </a:p>
        </p:txBody>
      </p:sp>
      <p:sp>
        <p:nvSpPr>
          <p:cNvPr id="15" name="TextBox 1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6" name="TextBox 1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7" name="TextBox 1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66</a:t>
            </a:r>
          </a:p>
        </p:txBody>
      </p:sp>
    </p:spTree>
  </p:cSld>
  <p:clrMapOvr>
    <a:masterClrMapping/>
  </p:clrMapOvr>
  <p:transition spd="med">
    <p:fade/>
  </p:transition>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5</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Built-in skill</a:t>
            </a:r>
          </a:p>
          <a:p>
            <a:pPr algn="l">
              <a:spcAft>
                <a:spcPts val="300"/>
              </a:spcAft>
            </a:pPr>
            <a:r>
              <a:rPr sz="1300" b="0">
                <a:solidFill>
                  <a:srgbClr val="6B6862"/>
                </a:solidFill>
                <a:latin typeface="Calibri"/>
              </a:rPr>
              <a:t>chart-design enabled under Visualization; @chart-design demo chart created without changing the source.</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Eligible population</a:t>
            </a:r>
          </a:p>
          <a:p>
            <a:pPr algn="l">
              <a:spcAft>
                <a:spcPts val="300"/>
              </a:spcAft>
            </a:pPr>
            <a:r>
              <a:rPr sz="1300" b="0">
                <a:solidFill>
                  <a:srgbClr val="6B6862"/>
                </a:solidFill>
                <a:latin typeface="Calibri"/>
              </a:rPr>
              <a:t>Overdue backlog50; no Closed or Cancelled records included.</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Category counts</a:t>
            </a:r>
          </a:p>
          <a:p>
            <a:pPr algn="l">
              <a:spcAft>
                <a:spcPts val="300"/>
              </a:spcAft>
            </a:pPr>
            <a:r>
              <a:rPr sz="1300" b="0">
                <a:solidFill>
                  <a:srgbClr val="6B6862"/>
                </a:solidFill>
                <a:latin typeface="Calibri"/>
              </a:rPr>
              <a:t>Pump Service=18; Meter Service=12; Leak Repair=8; Valve Repair=8; Pipe Replacement=4</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Cumulative percentages</a:t>
            </a:r>
          </a:p>
          <a:p>
            <a:pPr algn="l">
              <a:spcAft>
                <a:spcPts val="300"/>
              </a:spcAft>
            </a:pPr>
            <a:r>
              <a:rPr sz="1300" b="0">
                <a:solidFill>
                  <a:srgbClr val="6B6862"/>
                </a:solidFill>
                <a:latin typeface="Calibri"/>
              </a:rPr>
              <a:t>36%,60%,76%,92%,100%; Leak Repair precedes Valve Repair in the8-count tie.</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Chart and rerun</a:t>
            </a:r>
          </a:p>
          <a:p>
            <a:pPr algn="l">
              <a:spcAft>
                <a:spcPts val="300"/>
              </a:spcAft>
            </a:pPr>
            <a:r>
              <a:rPr sz="1300" b="0">
                <a:solidFill>
                  <a:srgbClr val="6B6862"/>
                </a:solidFill>
                <a:latin typeface="Calibri"/>
              </a:rPr>
              <a:t>Editable columns plus cumulative line; right axis0%-100%; matching output replaced only after review, without duplicates.</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Source and interpretation</a:t>
            </a:r>
          </a:p>
          <a:p>
            <a:pPr algn="l">
              <a:spcAft>
                <a:spcPts val="300"/>
              </a:spcAft>
            </a:pPr>
            <a:r>
              <a:rPr sz="1300" b="0">
                <a:solidFill>
                  <a:srgbClr val="6B6862"/>
                </a:solidFill>
                <a:latin typeface="Calibri"/>
              </a:rPr>
              <a:t>120 original records preserved; Site grouping also totals50; no invented root cause.</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67</a:t>
            </a:r>
          </a:p>
        </p:txBody>
      </p:sp>
    </p:spTree>
  </p:cSld>
  <p:clrMapOvr>
    <a:masterClrMapping/>
  </p:clrMapOvr>
  <p:transition spd="med">
    <p:fade/>
  </p:transition>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EDITABLE SKILL CONTRACT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Anatomy of the Maintenance Skill</a:t>
            </a:r>
          </a:p>
        </p:txBody>
      </p:sp>
      <p:sp>
        <p:nvSpPr>
          <p:cNvPr id="5" name="Rounded Rectangle 4"/>
          <p:cNvSpPr/>
          <p:nvPr/>
        </p:nvSpPr>
        <p:spPr>
          <a:xfrm>
            <a:off x="777240" y="1645920"/>
            <a:ext cx="10652760" cy="65836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TextBox 5"/>
          <p:cNvSpPr txBox="1"/>
          <p:nvPr/>
        </p:nvSpPr>
        <p:spPr>
          <a:xfrm>
            <a:off x="914400" y="1755648"/>
            <a:ext cx="2011680" cy="457200"/>
          </a:xfrm>
          <a:prstGeom prst="rect">
            <a:avLst/>
          </a:prstGeom>
          <a:noFill/>
        </p:spPr>
        <p:txBody>
          <a:bodyPr wrap="square" anchor="t">
            <a:spAutoFit/>
          </a:bodyPr>
          <a:lstStyle/>
          <a:p>
            <a:pPr algn="l">
              <a:spcAft>
                <a:spcPts val="400"/>
              </a:spcAft>
            </a:pPr>
            <a:r>
              <a:rPr sz="1900" b="1">
                <a:solidFill>
                  <a:srgbClr val="21201C"/>
                </a:solidFill>
                <a:latin typeface="Cambria"/>
              </a:rPr>
              <a:t>Discovery</a:t>
            </a:r>
          </a:p>
        </p:txBody>
      </p:sp>
      <p:sp>
        <p:nvSpPr>
          <p:cNvPr id="7" name="TextBox 6"/>
          <p:cNvSpPr txBox="1"/>
          <p:nvPr/>
        </p:nvSpPr>
        <p:spPr>
          <a:xfrm>
            <a:off x="3108960" y="1755648"/>
            <a:ext cx="4114800" cy="457200"/>
          </a:xfrm>
          <a:prstGeom prst="rect">
            <a:avLst/>
          </a:prstGeom>
          <a:noFill/>
        </p:spPr>
        <p:txBody>
          <a:bodyPr wrap="square" anchor="t">
            <a:spAutoFit/>
          </a:bodyPr>
          <a:lstStyle/>
          <a:p>
            <a:pPr algn="l">
              <a:spcAft>
                <a:spcPts val="400"/>
              </a:spcAft>
            </a:pPr>
            <a:r>
              <a:rPr sz="1700" b="0">
                <a:solidFill>
                  <a:srgbClr val="21201C"/>
                </a:solidFill>
                <a:latin typeface="Calibri"/>
              </a:rPr>
              <a:t>name + description</a:t>
            </a:r>
          </a:p>
        </p:txBody>
      </p:sp>
      <p:sp>
        <p:nvSpPr>
          <p:cNvPr id="8" name="TextBox 7"/>
          <p:cNvSpPr txBox="1"/>
          <p:nvPr/>
        </p:nvSpPr>
        <p:spPr>
          <a:xfrm>
            <a:off x="7315200" y="1755648"/>
            <a:ext cx="3840480" cy="457200"/>
          </a:xfrm>
          <a:prstGeom prst="rect">
            <a:avLst/>
          </a:prstGeom>
          <a:noFill/>
        </p:spPr>
        <p:txBody>
          <a:bodyPr wrap="square" anchor="t">
            <a:spAutoFit/>
          </a:bodyPr>
          <a:lstStyle/>
          <a:p>
            <a:pPr algn="l">
              <a:spcAft>
                <a:spcPts val="400"/>
              </a:spcAft>
            </a:pPr>
            <a:r>
              <a:rPr sz="1700" b="0">
                <a:solidFill>
                  <a:srgbClr val="21201C"/>
                </a:solidFill>
                <a:latin typeface="Calibri"/>
              </a:rPr>
              <a:t>When should Copilot use it?</a:t>
            </a:r>
          </a:p>
        </p:txBody>
      </p:sp>
      <p:sp>
        <p:nvSpPr>
          <p:cNvPr id="9" name="Rounded Rectangle 8"/>
          <p:cNvSpPr/>
          <p:nvPr/>
        </p:nvSpPr>
        <p:spPr>
          <a:xfrm>
            <a:off x="777240" y="2432304"/>
            <a:ext cx="10652760" cy="65836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TextBox 9"/>
          <p:cNvSpPr txBox="1"/>
          <p:nvPr/>
        </p:nvSpPr>
        <p:spPr>
          <a:xfrm>
            <a:off x="914400" y="2542032"/>
            <a:ext cx="2011680" cy="457200"/>
          </a:xfrm>
          <a:prstGeom prst="rect">
            <a:avLst/>
          </a:prstGeom>
          <a:noFill/>
        </p:spPr>
        <p:txBody>
          <a:bodyPr wrap="square" anchor="t">
            <a:spAutoFit/>
          </a:bodyPr>
          <a:lstStyle/>
          <a:p>
            <a:pPr algn="l">
              <a:spcAft>
                <a:spcPts val="400"/>
              </a:spcAft>
            </a:pPr>
            <a:r>
              <a:rPr sz="1900" b="1">
                <a:solidFill>
                  <a:srgbClr val="21201C"/>
                </a:solidFill>
                <a:latin typeface="Cambria"/>
              </a:rPr>
              <a:t>Input guard</a:t>
            </a:r>
          </a:p>
        </p:txBody>
      </p:sp>
      <p:sp>
        <p:nvSpPr>
          <p:cNvPr id="11" name="TextBox 10"/>
          <p:cNvSpPr txBox="1"/>
          <p:nvPr/>
        </p:nvSpPr>
        <p:spPr>
          <a:xfrm>
            <a:off x="3108960" y="2542032"/>
            <a:ext cx="4114800" cy="457200"/>
          </a:xfrm>
          <a:prstGeom prst="rect">
            <a:avLst/>
          </a:prstGeom>
          <a:noFill/>
        </p:spPr>
        <p:txBody>
          <a:bodyPr wrap="square" anchor="t">
            <a:spAutoFit/>
          </a:bodyPr>
          <a:lstStyle/>
          <a:p>
            <a:pPr algn="l">
              <a:spcAft>
                <a:spcPts val="400"/>
              </a:spcAft>
            </a:pPr>
            <a:r>
              <a:rPr sz="1700" b="0">
                <a:solidFill>
                  <a:srgbClr val="21201C"/>
                </a:solidFill>
                <a:latin typeface="Calibri"/>
              </a:rPr>
              <a:t>table or snapshot + date + scope</a:t>
            </a:r>
          </a:p>
        </p:txBody>
      </p:sp>
      <p:sp>
        <p:nvSpPr>
          <p:cNvPr id="12" name="TextBox 11"/>
          <p:cNvSpPr txBox="1"/>
          <p:nvPr/>
        </p:nvSpPr>
        <p:spPr>
          <a:xfrm>
            <a:off x="7315200" y="2542032"/>
            <a:ext cx="3840480" cy="457200"/>
          </a:xfrm>
          <a:prstGeom prst="rect">
            <a:avLst/>
          </a:prstGeom>
          <a:noFill/>
        </p:spPr>
        <p:txBody>
          <a:bodyPr wrap="square" anchor="t">
            <a:spAutoFit/>
          </a:bodyPr>
          <a:lstStyle/>
          <a:p>
            <a:pPr algn="l">
              <a:spcAft>
                <a:spcPts val="400"/>
              </a:spcAft>
            </a:pPr>
            <a:r>
              <a:rPr sz="1700" b="0">
                <a:solidFill>
                  <a:srgbClr val="21201C"/>
                </a:solidFill>
                <a:latin typeface="Calibri"/>
              </a:rPr>
              <a:t>What evidence is missing?</a:t>
            </a:r>
          </a:p>
        </p:txBody>
      </p:sp>
      <p:sp>
        <p:nvSpPr>
          <p:cNvPr id="13" name="Rounded Rectangle 12"/>
          <p:cNvSpPr/>
          <p:nvPr/>
        </p:nvSpPr>
        <p:spPr>
          <a:xfrm>
            <a:off x="777240" y="3218688"/>
            <a:ext cx="10652760" cy="65836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TextBox 13"/>
          <p:cNvSpPr txBox="1"/>
          <p:nvPr/>
        </p:nvSpPr>
        <p:spPr>
          <a:xfrm>
            <a:off x="914400" y="3328416"/>
            <a:ext cx="2011680" cy="457200"/>
          </a:xfrm>
          <a:prstGeom prst="rect">
            <a:avLst/>
          </a:prstGeom>
          <a:noFill/>
        </p:spPr>
        <p:txBody>
          <a:bodyPr wrap="square" anchor="t">
            <a:spAutoFit/>
          </a:bodyPr>
          <a:lstStyle/>
          <a:p>
            <a:pPr algn="l">
              <a:spcAft>
                <a:spcPts val="400"/>
              </a:spcAft>
            </a:pPr>
            <a:r>
              <a:rPr sz="1900" b="1">
                <a:solidFill>
                  <a:srgbClr val="21201C"/>
                </a:solidFill>
                <a:latin typeface="Cambria"/>
              </a:rPr>
              <a:t>Method</a:t>
            </a:r>
          </a:p>
        </p:txBody>
      </p:sp>
      <p:sp>
        <p:nvSpPr>
          <p:cNvPr id="15" name="TextBox 14"/>
          <p:cNvSpPr txBox="1"/>
          <p:nvPr/>
        </p:nvSpPr>
        <p:spPr>
          <a:xfrm>
            <a:off x="3108960" y="3328416"/>
            <a:ext cx="4114800" cy="457200"/>
          </a:xfrm>
          <a:prstGeom prst="rect">
            <a:avLst/>
          </a:prstGeom>
          <a:noFill/>
        </p:spPr>
        <p:txBody>
          <a:bodyPr wrap="square" anchor="t">
            <a:spAutoFit/>
          </a:bodyPr>
          <a:lstStyle/>
          <a:p>
            <a:pPr algn="l">
              <a:spcAft>
                <a:spcPts val="400"/>
              </a:spcAft>
            </a:pPr>
            <a:r>
              <a:rPr sz="1700" b="0">
                <a:solidFill>
                  <a:srgbClr val="21201C"/>
                </a:solidFill>
                <a:latin typeface="Calibri"/>
              </a:rPr>
              <a:t>definitions + source preservation</a:t>
            </a:r>
          </a:p>
        </p:txBody>
      </p:sp>
      <p:sp>
        <p:nvSpPr>
          <p:cNvPr id="16" name="TextBox 15"/>
          <p:cNvSpPr txBox="1"/>
          <p:nvPr/>
        </p:nvSpPr>
        <p:spPr>
          <a:xfrm>
            <a:off x="7315200" y="3328416"/>
            <a:ext cx="3840480" cy="457200"/>
          </a:xfrm>
          <a:prstGeom prst="rect">
            <a:avLst/>
          </a:prstGeom>
          <a:noFill/>
        </p:spPr>
        <p:txBody>
          <a:bodyPr wrap="square" anchor="t">
            <a:spAutoFit/>
          </a:bodyPr>
          <a:lstStyle/>
          <a:p>
            <a:pPr algn="l">
              <a:spcAft>
                <a:spcPts val="400"/>
              </a:spcAft>
            </a:pPr>
            <a:r>
              <a:rPr sz="1700" b="0">
                <a:solidFill>
                  <a:srgbClr val="21201C"/>
                </a:solidFill>
                <a:latin typeface="Calibri"/>
              </a:rPr>
              <a:t>How should measures be calculated?</a:t>
            </a:r>
          </a:p>
        </p:txBody>
      </p:sp>
      <p:sp>
        <p:nvSpPr>
          <p:cNvPr id="17" name="Rounded Rectangle 16"/>
          <p:cNvSpPr/>
          <p:nvPr/>
        </p:nvSpPr>
        <p:spPr>
          <a:xfrm>
            <a:off x="777240" y="4005072"/>
            <a:ext cx="10652760" cy="65836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TextBox 17"/>
          <p:cNvSpPr txBox="1"/>
          <p:nvPr/>
        </p:nvSpPr>
        <p:spPr>
          <a:xfrm>
            <a:off x="914400" y="4114800"/>
            <a:ext cx="2011680" cy="457200"/>
          </a:xfrm>
          <a:prstGeom prst="rect">
            <a:avLst/>
          </a:prstGeom>
          <a:noFill/>
        </p:spPr>
        <p:txBody>
          <a:bodyPr wrap="square" anchor="t">
            <a:spAutoFit/>
          </a:bodyPr>
          <a:lstStyle/>
          <a:p>
            <a:pPr algn="l">
              <a:spcAft>
                <a:spcPts val="400"/>
              </a:spcAft>
            </a:pPr>
            <a:r>
              <a:rPr sz="1900" b="1">
                <a:solidFill>
                  <a:srgbClr val="21201C"/>
                </a:solidFill>
                <a:latin typeface="Cambria"/>
              </a:rPr>
              <a:t>Outputs</a:t>
            </a:r>
          </a:p>
        </p:txBody>
      </p:sp>
      <p:sp>
        <p:nvSpPr>
          <p:cNvPr id="19" name="TextBox 18"/>
          <p:cNvSpPr txBox="1"/>
          <p:nvPr/>
        </p:nvSpPr>
        <p:spPr>
          <a:xfrm>
            <a:off x="3108960" y="4114800"/>
            <a:ext cx="4114800" cy="457200"/>
          </a:xfrm>
          <a:prstGeom prst="rect">
            <a:avLst/>
          </a:prstGeom>
          <a:noFill/>
        </p:spPr>
        <p:txBody>
          <a:bodyPr wrap="square" anchor="t">
            <a:spAutoFit/>
          </a:bodyPr>
          <a:lstStyle/>
          <a:p>
            <a:pPr algn="l">
              <a:spcAft>
                <a:spcPts val="400"/>
              </a:spcAft>
            </a:pPr>
            <a:r>
              <a:rPr sz="1700" b="0">
                <a:solidFill>
                  <a:srgbClr val="21201C"/>
                </a:solidFill>
                <a:latin typeface="Calibri"/>
              </a:rPr>
              <a:t>summary / charts / proposals</a:t>
            </a:r>
          </a:p>
        </p:txBody>
      </p:sp>
      <p:sp>
        <p:nvSpPr>
          <p:cNvPr id="20" name="TextBox 19"/>
          <p:cNvSpPr txBox="1"/>
          <p:nvPr/>
        </p:nvSpPr>
        <p:spPr>
          <a:xfrm>
            <a:off x="7315200" y="4114800"/>
            <a:ext cx="3840480" cy="457200"/>
          </a:xfrm>
          <a:prstGeom prst="rect">
            <a:avLst/>
          </a:prstGeom>
          <a:noFill/>
        </p:spPr>
        <p:txBody>
          <a:bodyPr wrap="square" anchor="t">
            <a:spAutoFit/>
          </a:bodyPr>
          <a:lstStyle/>
          <a:p>
            <a:pPr algn="l">
              <a:spcAft>
                <a:spcPts val="400"/>
              </a:spcAft>
            </a:pPr>
            <a:r>
              <a:rPr sz="1700" b="0">
                <a:solidFill>
                  <a:srgbClr val="21201C"/>
                </a:solidFill>
                <a:latin typeface="Calibri"/>
              </a:rPr>
              <a:t>Which named areas may change?</a:t>
            </a:r>
          </a:p>
        </p:txBody>
      </p:sp>
      <p:sp>
        <p:nvSpPr>
          <p:cNvPr id="21" name="Rounded Rectangle 20"/>
          <p:cNvSpPr/>
          <p:nvPr/>
        </p:nvSpPr>
        <p:spPr>
          <a:xfrm>
            <a:off x="777240" y="4791456"/>
            <a:ext cx="10652760" cy="65836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2" name="TextBox 21"/>
          <p:cNvSpPr txBox="1"/>
          <p:nvPr/>
        </p:nvSpPr>
        <p:spPr>
          <a:xfrm>
            <a:off x="914400" y="4901184"/>
            <a:ext cx="2011680" cy="457200"/>
          </a:xfrm>
          <a:prstGeom prst="rect">
            <a:avLst/>
          </a:prstGeom>
          <a:noFill/>
        </p:spPr>
        <p:txBody>
          <a:bodyPr wrap="square" anchor="t">
            <a:spAutoFit/>
          </a:bodyPr>
          <a:lstStyle/>
          <a:p>
            <a:pPr algn="l">
              <a:spcAft>
                <a:spcPts val="400"/>
              </a:spcAft>
            </a:pPr>
            <a:r>
              <a:rPr sz="1900" b="1">
                <a:solidFill>
                  <a:srgbClr val="21201C"/>
                </a:solidFill>
                <a:latin typeface="Cambria"/>
              </a:rPr>
              <a:t>Verification</a:t>
            </a:r>
          </a:p>
        </p:txBody>
      </p:sp>
      <p:sp>
        <p:nvSpPr>
          <p:cNvPr id="23" name="TextBox 22"/>
          <p:cNvSpPr txBox="1"/>
          <p:nvPr/>
        </p:nvSpPr>
        <p:spPr>
          <a:xfrm>
            <a:off x="3108960" y="4901184"/>
            <a:ext cx="4114800" cy="457200"/>
          </a:xfrm>
          <a:prstGeom prst="rect">
            <a:avLst/>
          </a:prstGeom>
          <a:noFill/>
        </p:spPr>
        <p:txBody>
          <a:bodyPr wrap="square" anchor="t">
            <a:spAutoFit/>
          </a:bodyPr>
          <a:lstStyle/>
          <a:p>
            <a:pPr algn="l">
              <a:spcAft>
                <a:spcPts val="400"/>
              </a:spcAft>
            </a:pPr>
            <a:r>
              <a:rPr sz="1700" b="0">
                <a:solidFill>
                  <a:srgbClr val="21201C"/>
                </a:solidFill>
                <a:latin typeface="Calibri"/>
              </a:rPr>
              <a:t>counts + denominators + reruns</a:t>
            </a:r>
          </a:p>
        </p:txBody>
      </p:sp>
      <p:sp>
        <p:nvSpPr>
          <p:cNvPr id="24" name="TextBox 23"/>
          <p:cNvSpPr txBox="1"/>
          <p:nvPr/>
        </p:nvSpPr>
        <p:spPr>
          <a:xfrm>
            <a:off x="7315200" y="4901184"/>
            <a:ext cx="3840480" cy="457200"/>
          </a:xfrm>
          <a:prstGeom prst="rect">
            <a:avLst/>
          </a:prstGeom>
          <a:noFill/>
        </p:spPr>
        <p:txBody>
          <a:bodyPr wrap="square" anchor="t">
            <a:spAutoFit/>
          </a:bodyPr>
          <a:lstStyle/>
          <a:p>
            <a:pPr algn="l">
              <a:spcAft>
                <a:spcPts val="400"/>
              </a:spcAft>
            </a:pPr>
            <a:r>
              <a:rPr sz="1700" b="0">
                <a:solidFill>
                  <a:srgbClr val="21201C"/>
                </a:solidFill>
                <a:latin typeface="Calibri"/>
              </a:rPr>
              <a:t>What proves the result?</a:t>
            </a:r>
          </a:p>
        </p:txBody>
      </p:sp>
      <p:sp>
        <p:nvSpPr>
          <p:cNvPr id="25" name="TextBox 24"/>
          <p:cNvSpPr txBox="1"/>
          <p:nvPr/>
        </p:nvSpPr>
        <p:spPr>
          <a:xfrm>
            <a:off x="777240" y="5989320"/>
            <a:ext cx="10698480" cy="274320"/>
          </a:xfrm>
          <a:prstGeom prst="rect">
            <a:avLst/>
          </a:prstGeom>
          <a:noFill/>
        </p:spPr>
        <p:txBody>
          <a:bodyPr wrap="square" anchor="t">
            <a:spAutoFit/>
          </a:bodyPr>
          <a:lstStyle/>
          <a:p>
            <a:pPr algn="l">
              <a:spcAft>
                <a:spcPts val="400"/>
              </a:spcAft>
            </a:pPr>
            <a:r>
              <a:rPr sz="1100" b="0">
                <a:solidFill>
                  <a:srgbClr val="21201C"/>
                </a:solidFill>
                <a:latin typeface="Calibri"/>
              </a:rPr>
              <a:t>Source: synthetic tblWorkOrders | 30 Sep 2026 | All filters All unless stated</a:t>
            </a:r>
          </a:p>
        </p:txBody>
      </p:sp>
      <p:sp>
        <p:nvSpPr>
          <p:cNvPr id="26" name="TextBox 25"/>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7" name="TextBox 26"/>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8" name="TextBox 27"/>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68</a:t>
            </a:r>
          </a:p>
        </p:txBody>
      </p:sp>
    </p:spTree>
  </p:cSld>
  <p:clrMapOvr>
    <a:masterClrMapping/>
  </p:clrMapOvr>
  <p:transition spd="med">
    <p:fade/>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REPEATABLE IMPROVEMENT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 Skill Improves Through Evidence</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3A7D7B"/>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3A7D7B"/>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v1 instructions</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3A7D7B"/>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3A7D7B"/>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Run on verified inputs</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3A7D7B"/>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3A7D7B"/>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Find one concrete defect</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3A7D7B"/>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3A7D7B"/>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v2 + repeat the check</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69</a:t>
            </a:r>
          </a:p>
        </p:txBody>
      </p:sp>
    </p:spTree>
  </p:cSld>
  <p:clrMapOvr>
    <a:masterClrMapping/>
  </p:clrMapOvr>
  <p:transition spd="med">
    <p:fade/>
  </p:transition>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Skills, Prompts and Workbook Rules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prompt is one request.</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The skill makes stable definitions and review boundaries reusable: backlog excludes two terminal statuses, overdue uses a fixed date, missing owners stay missing and output reruns do not duplicate sheets.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maintenance-reporting contains definitions and output boundaries.</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70</a:t>
            </a:r>
          </a:p>
        </p:txBody>
      </p:sp>
    </p:spTree>
  </p:cSld>
  <p:clrMapOvr>
    <a:masterClrMapping/>
  </p:clrMapOvr>
  <p:transition spd="med">
    <p:fade/>
  </p:transition>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Skills, Prompts and Workbook Rules</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3A7D7B"/>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3A7D7B"/>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Identify a recurring task.</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3A7D7B"/>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3A7D7B"/>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Separate stable rules from current inputs.</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3A7D7B"/>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3A7D7B"/>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Write name, description and instructions.</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3A7D7B"/>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3A7D7B"/>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Install, invoke and inspect the result.</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71</a:t>
            </a:r>
          </a:p>
        </p:txBody>
      </p:sp>
    </p:spTree>
  </p:cSld>
  <p:clrMapOvr>
    <a:masterClrMapping/>
  </p:clrMapOvr>
  <p:transition spd="med">
    <p:fade/>
  </p:transition>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Apply the Concept — Skills, Prompts and Workbook Rules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Each request still supplies this month’s source, date and scope.</a:t>
            </a:r>
          </a:p>
          <a:p>
            <a:pPr>
              <a:spcAft>
                <a:spcPts val="1000"/>
              </a:spcAft>
            </a:pPr>
            <a:r>
              <a:rPr sz="1600" b="0">
                <a:solidFill>
                  <a:srgbClr val="21201C"/>
                </a:solidFill>
                <a:latin typeface="Calibri"/>
              </a:rPr>
              <a:t>•  Native skill use and pasted manual instructions are recorded differently.</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72</a:t>
            </a:r>
          </a:p>
        </p:txBody>
      </p:sp>
    </p:spTree>
  </p:cSld>
  <p:clrMapOvr>
    <a:masterClrMapping/>
  </p:clrMapOvr>
  <p:transition spd="med">
    <p:fade/>
  </p:transition>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Custom Skill Discovery in Each App</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Excel uses its Manage plugins &amp; skills interface and an app-created OneDrive skills folder.</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Folder-name/frontmatter mismatches, an extra .txt extension, unavailable licence features and disabled skills can all prevent discovery.</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Folder maintenance-reporting matches YAML name maintenance-reporting.</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73</a:t>
            </a:r>
          </a:p>
        </p:txBody>
      </p:sp>
    </p:spTree>
  </p:cSld>
  <p:clrMapOvr>
    <a:masterClrMapping/>
  </p:clrMapOvr>
  <p:transition spd="med">
    <p:fade/>
  </p:transition>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Custom Skill Discovery in Each App</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3A7D7B"/>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3A7D7B"/>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Save complete UTF-8 SKILL.md.</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3A7D7B"/>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3A7D7B"/>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Use the app-created skills location.</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3A7D7B"/>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3A7D7B"/>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Refresh and verify the matching name.</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3A7D7B"/>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3A7D7B"/>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Run and record a smoke test.</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74</a:t>
            </a:r>
          </a:p>
        </p:txBody>
      </p:sp>
    </p:spTree>
  </p:cSld>
  <p:clrMapOvr>
    <a:masterClrMapping/>
  </p:clrMapOvr>
  <p:transition spd="med">
    <p:fade/>
  </p:transition>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Apply the Concept — Custom Skill Discovery in Each App</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Excel and PowerPoint both show the skill before native invocation.</a:t>
            </a:r>
          </a:p>
          <a:p>
            <a:pPr>
              <a:spcAft>
                <a:spcPts val="1000"/>
              </a:spcAft>
            </a:pPr>
            <a:r>
              <a:rPr sz="1600" b="0">
                <a:solidFill>
                  <a:srgbClr val="21201C"/>
                </a:solidFill>
                <a:latin typeface="Calibri"/>
              </a:rPr>
              <a:t>•  If a menu is absent, manual practice is labelled feature unavailable.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75</a:t>
            </a:r>
          </a:p>
        </p:txBody>
      </p:sp>
    </p:spTree>
  </p:cSld>
  <p:clrMapOvr>
    <a:masterClrMapping/>
  </p:clrMapOvr>
  <p:transition spd="med">
    <p:fade/>
  </p:transition>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Repeatability and Safe Skill Reruns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Repeatability means the same verified inputs and method yield equivalent business measures and a controlled output structure.</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Reporting skills may be used every week or month, so uncontrolled output accumulation quickly creates conflicting summaries.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120 source IDs remain 120 after rerunning Maintenance_Summary.</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76</a:t>
            </a:r>
          </a:p>
        </p:txBody>
      </p:sp>
    </p:spTree>
  </p:cSld>
  <p:clrMapOvr>
    <a:masterClrMapping/>
  </p:clrMapOvr>
  <p:transition spd="med">
    <p:fade/>
  </p:transition>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Repeatability and Safe Skill Reruns</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3A7D7B"/>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3A7D7B"/>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Capture the source fingerprint and outputs.</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3A7D7B"/>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3A7D7B"/>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Request a reviewed rerun plan.</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3A7D7B"/>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3A7D7B"/>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Replace only named output areas.</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3A7D7B"/>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3A7D7B"/>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Compare source and measures again.</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77</a:t>
            </a:r>
          </a:p>
        </p:txBody>
      </p:sp>
    </p:spTree>
  </p:cSld>
  <p:clrMapOvr>
    <a:masterClrMapping/>
  </p:clrMapOvr>
  <p:transition spd="med">
    <p:fade/>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Apply the Concept — Repeatability and Safe Skill Reruns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Missing report date causes a clarification request, not invented numbers.</a:t>
            </a:r>
          </a:p>
          <a:p>
            <a:pPr>
              <a:spcAft>
                <a:spcPts val="1000"/>
              </a:spcAft>
            </a:pPr>
            <a:r>
              <a:rPr sz="1600" b="0">
                <a:solidFill>
                  <a:srgbClr val="21201C"/>
                </a:solidFill>
                <a:latin typeface="Calibri"/>
              </a:rPr>
              <a:t>•  A second output sheet is a defect when replacement was requested.</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78</a:t>
            </a:r>
          </a:p>
        </p:txBody>
      </p:sp>
    </p:spTree>
  </p:cSld>
  <p:clrMapOvr>
    <a:masterClrMapping/>
  </p:clrMapOvr>
  <p:transition spd="med">
    <p:fade/>
  </p:transition>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Assignment Proposals and Capacity Evidence</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Assignment planning combines the work category, existing owner, estimated hours, technician primary category and available hours.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The same skill can improve Excel analysis and PowerPoint wording by preserving this boundary.</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Unassigned work is counted only within nonterminal statuses.</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79</a:t>
            </a:r>
          </a:p>
        </p:txBody>
      </p:sp>
    </p:spTree>
  </p:cSld>
  <p:clrMapOvr>
    <a:masterClrMapping/>
  </p:clrMapOvr>
  <p:transition spd="med">
    <p:fade/>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Assignment Proposals and Capacity Evidence</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3A7D7B"/>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3A7D7B"/>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Identify unassigned backlog.</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3A7D7B"/>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3A7D7B"/>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Compare category and available hours.</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3A7D7B"/>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3A7D7B"/>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Record the proposal and assumptions.</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3A7D7B"/>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3A7D7B"/>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Request the manager decision.</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80</a:t>
            </a:r>
          </a:p>
        </p:txBody>
      </p:sp>
    </p:spTree>
  </p:cSld>
  <p:clrMapOvr>
    <a:masterClrMapping/>
  </p:clrMapOvr>
  <p:transition spd="med">
    <p:fade/>
  </p:transition>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Apply the Concept — Assignment Proposals and Capacity Evidence</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Available hours minus proposed effort is a planning check.</a:t>
            </a:r>
          </a:p>
          <a:p>
            <a:pPr>
              <a:spcAft>
                <a:spcPts val="1000"/>
              </a:spcAft>
            </a:pPr>
            <a:r>
              <a:rPr sz="1600" b="0">
                <a:solidFill>
                  <a:srgbClr val="21201C"/>
                </a:solidFill>
                <a:latin typeface="Calibri"/>
              </a:rPr>
              <a:t>•  The source Assigned_To stays unchanged until a real authorised operational update.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81</a:t>
            </a:r>
          </a:p>
        </p:txBody>
      </p:sp>
    </p:spTree>
  </p:cSld>
  <p:clrMapOvr>
    <a:masterClrMapping/>
  </p:clrMapOvr>
  <p:transition spd="med">
    <p:fade/>
  </p:transition>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THEME · REPORTING SKILL</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Create, Use and Improve the Maintenance Reporting Skill</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6</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700" b="0">
                <a:solidFill>
                  <a:srgbClr val="21201C"/>
                </a:solidFill>
                <a:latin typeface="Calibri"/>
              </a:rPr>
              <a:t>Reuse the Skill-authoring and installation method from Lab 5 to create maintenance-reporting. Apply it in Excel and PowerPoint, test missing inputs and a controlled rerun, then refine v2 using actual evidence.</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600" b="1">
                <a:solidFill>
                  <a:srgbClr val="21201C"/>
                </a:solidFill>
                <a:latin typeface="Calibri"/>
              </a:rPr>
              <a:t>Northstar_Skill_Report.xlsx with Maintenance_Summary and Assignment_Proposals, Northstar_Skill_Update.pptx, SKILL.md v2 and a before/after improvement log.</a:t>
            </a:r>
          </a:p>
        </p:txBody>
      </p:sp>
      <p:sp>
        <p:nvSpPr>
          <p:cNvPr id="12" name="Rectangle 11"/>
          <p:cNvSpPr/>
          <p:nvPr/>
        </p:nvSpPr>
        <p:spPr>
          <a:xfrm>
            <a:off x="1005840"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1  Ground</a:t>
            </a:r>
          </a:p>
        </p:txBody>
      </p:sp>
      <p:sp>
        <p:nvSpPr>
          <p:cNvPr id="14" name="Rectangle 13"/>
          <p:cNvSpPr/>
          <p:nvPr/>
        </p:nvSpPr>
        <p:spPr>
          <a:xfrm>
            <a:off x="3561588"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616452"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2  Build</a:t>
            </a:r>
          </a:p>
        </p:txBody>
      </p:sp>
      <p:sp>
        <p:nvSpPr>
          <p:cNvPr id="16" name="Rectangle 15"/>
          <p:cNvSpPr/>
          <p:nvPr/>
        </p:nvSpPr>
        <p:spPr>
          <a:xfrm>
            <a:off x="6117336"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6172200"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3  Verify</a:t>
            </a:r>
          </a:p>
        </p:txBody>
      </p:sp>
      <p:sp>
        <p:nvSpPr>
          <p:cNvPr id="18" name="Rectangle 17"/>
          <p:cNvSpPr/>
          <p:nvPr/>
        </p:nvSpPr>
        <p:spPr>
          <a:xfrm>
            <a:off x="8673084"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8727948"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4  Handoff</a:t>
            </a:r>
          </a:p>
        </p:txBody>
      </p:sp>
      <p:sp>
        <p:nvSpPr>
          <p:cNvPr id="20" name="TextBox 19"/>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and PowerPoint Copilot · Microsoft 365 Copilot web · OneDrive</a:t>
            </a:r>
          </a:p>
        </p:txBody>
      </p:sp>
      <p:sp>
        <p:nvSpPr>
          <p:cNvPr id="21" name="TextBox 20"/>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2" name="TextBox 21"/>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3" name="TextBox 22"/>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82</a:t>
            </a:r>
          </a:p>
        </p:txBody>
      </p:sp>
    </p:spTree>
  </p:cSld>
  <p:clrMapOvr>
    <a:masterClrMapping/>
  </p:clrMapOvr>
  <p:transition spd="med">
    <p:fade/>
  </p:transition>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6</a:t>
            </a:r>
          </a:p>
        </p:txBody>
      </p:sp>
      <p:sp>
        <p:nvSpPr>
          <p:cNvPr id="5" name="Rounded Rectangle 4"/>
          <p:cNvSpPr/>
          <p:nvPr/>
        </p:nvSpPr>
        <p:spPr>
          <a:xfrm>
            <a:off x="777240" y="1828800"/>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10634472"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Scope: State actual source, report date and selected scope before acting.</a:t>
            </a:r>
          </a:p>
        </p:txBody>
      </p:sp>
      <p:sp>
        <p:nvSpPr>
          <p:cNvPr id="10" name="Rounded Rectangle 9"/>
          <p:cNvSpPr/>
          <p:nvPr/>
        </p:nvSpPr>
        <p:spPr>
          <a:xfrm>
            <a:off x="777240" y="4059936"/>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777240" y="4059936"/>
            <a:ext cx="10634472" cy="64008"/>
          </a:xfrm>
          <a:prstGeom prst="rect">
            <a:avLst/>
          </a:prstGeom>
          <a:solidFill>
            <a:srgbClr val="D97757"/>
          </a:solidFill>
          <a:ln>
            <a:noFill/>
          </a:ln>
          <a:effectLst/>
        </p:spPr>
        <p:txBody>
          <a:bodyPr rtlCol="0" anchor="ctr"/>
          <a:lstStyle/>
          <a:p>
            <a:pPr algn="ctr"/>
          </a:p>
        </p:txBody>
      </p:sp>
      <p:sp>
        <p:nvSpPr>
          <p:cNvPr id="12" name="Oval 11"/>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Verify: Explain the source/formula checks and preserve unknowns and original records.</a:t>
            </a:r>
          </a:p>
        </p:txBody>
      </p:sp>
      <p:sp>
        <p:nvSpPr>
          <p:cNvPr id="15" name="TextBox 1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6" name="TextBox 1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7" name="TextBox 1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83</a:t>
            </a:r>
          </a:p>
        </p:txBody>
      </p:sp>
    </p:spTree>
  </p:cSld>
  <p:clrMapOvr>
    <a:masterClrMapping/>
  </p:clrMapOvr>
  <p:transition spd="med">
    <p:fade/>
  </p:transition>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6</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Source preserved</a:t>
            </a:r>
          </a:p>
          <a:p>
            <a:pPr algn="l">
              <a:spcAft>
                <a:spcPts val="300"/>
              </a:spcAft>
            </a:pPr>
            <a:r>
              <a:rPr sz="1300" b="0">
                <a:solidFill>
                  <a:srgbClr val="6B6862"/>
                </a:solidFill>
                <a:latin typeface="Calibri"/>
              </a:rPr>
              <a:t>120 unique orders; current owner/status unchanged.</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Skill outputs</a:t>
            </a:r>
          </a:p>
          <a:p>
            <a:pPr algn="l">
              <a:spcAft>
                <a:spcPts val="300"/>
              </a:spcAft>
            </a:pPr>
            <a:r>
              <a:rPr sz="1300" b="0">
                <a:solidFill>
                  <a:srgbClr val="6B6862"/>
                </a:solidFill>
                <a:latin typeface="Calibri"/>
              </a:rPr>
              <a:t>Backlog 60; overdue 50; on-time closed 30/48; cost S$35,827.50.</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Improvement evidence</a:t>
            </a:r>
          </a:p>
          <a:p>
            <a:pPr algn="l">
              <a:spcAft>
                <a:spcPts val="300"/>
              </a:spcAft>
            </a:pPr>
            <a:r>
              <a:rPr sz="1300" b="0">
                <a:solidFill>
                  <a:srgbClr val="6B6862"/>
                </a:solidFill>
                <a:latin typeface="Calibri"/>
              </a:rPr>
              <a:t>Input guard and rerun tested; v1/v2 retained; PowerPoint four-slide output accurate.</a:t>
            </a:r>
          </a:p>
        </p:txBody>
      </p:sp>
      <p:sp>
        <p:nvSpPr>
          <p:cNvPr id="20" name="TextBox 1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1" name="TextBox 2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2" name="TextBox 2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84</a:t>
            </a:r>
          </a:p>
        </p:txBody>
      </p:sp>
    </p:spTree>
  </p:cSld>
  <p:clrMapOvr>
    <a:masterClrMapping/>
  </p:clrMapOvr>
  <p:transition spd="med">
    <p:fade/>
  </p:transition>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TOPIC RECAP</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Recap - Personalisation, .Rules and Skills for Excel</a:t>
            </a:r>
          </a:p>
        </p:txBody>
      </p:sp>
      <p:sp>
        <p:nvSpPr>
          <p:cNvPr id="5" name="Rounded Rectangle 4"/>
          <p:cNvSpPr/>
          <p:nvPr/>
        </p:nvSpPr>
        <p:spPr>
          <a:xfrm>
            <a:off x="777240" y="1828800"/>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10634472"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LO2: Personalisation, .Rules, built-in @chart-design, Pareto and reporting Skills tested.</a:t>
            </a:r>
          </a:p>
        </p:txBody>
      </p:sp>
      <p:sp>
        <p:nvSpPr>
          <p:cNvPr id="10" name="Rounded Rectangle 9"/>
          <p:cNvSpPr/>
          <p:nvPr/>
        </p:nvSpPr>
        <p:spPr>
          <a:xfrm>
            <a:off x="777240" y="4059936"/>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777240" y="4059936"/>
            <a:ext cx="10634472" cy="64008"/>
          </a:xfrm>
          <a:prstGeom prst="rect">
            <a:avLst/>
          </a:prstGeom>
          <a:solidFill>
            <a:srgbClr val="D97757"/>
          </a:solidFill>
          <a:ln>
            <a:noFill/>
          </a:ln>
          <a:effectLst/>
        </p:spPr>
        <p:txBody>
          <a:bodyPr rtlCol="0" anchor="ctr"/>
          <a:lstStyle/>
          <a:p>
            <a:pPr algn="ctr"/>
          </a:p>
        </p:txBody>
      </p:sp>
      <p:sp>
        <p:nvSpPr>
          <p:cNvPr id="12" name="Oval 11"/>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Verify: Preserved source plus missing-input and rerun tests.</a:t>
            </a:r>
          </a:p>
        </p:txBody>
      </p:sp>
      <p:sp>
        <p:nvSpPr>
          <p:cNvPr id="15" name="TextBox 1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6" name="TextBox 1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7" name="TextBox 1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85</a:t>
            </a:r>
          </a:p>
        </p:txBody>
      </p:sp>
    </p:spTree>
  </p:cSld>
  <p:clrMapOvr>
    <a:masterClrMapping/>
  </p:clrMapOvr>
  <p:transition spd="med">
    <p:fade/>
  </p:transition>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TOPIC 3</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Interactive Dashboards with Custom Skills</a:t>
            </a:r>
          </a:p>
        </p:txBody>
      </p:sp>
      <p:sp>
        <p:nvSpPr>
          <p:cNvPr id="7" name="Rectangle 6"/>
          <p:cNvSpPr/>
          <p:nvPr/>
        </p:nvSpPr>
        <p:spPr>
          <a:xfrm>
            <a:off x="841248" y="4206240"/>
            <a:ext cx="1143000" cy="64008"/>
          </a:xfrm>
          <a:prstGeom prst="rect">
            <a:avLst/>
          </a:prstGeom>
          <a:solidFill>
            <a:srgbClr val="D97757"/>
          </a:solidFill>
          <a:ln>
            <a:noFill/>
          </a:ln>
          <a:effectLst/>
        </p:spPr>
        <p:txBody>
          <a:bodyPr rtlCol="0" anchor="ctr"/>
          <a:lstStyle/>
          <a:p>
            <a:pPr algn="ctr"/>
          </a:p>
        </p:txBody>
      </p:sp>
      <p:sp>
        <p:nvSpPr>
          <p:cNvPr id="8" name="TextBox 7"/>
          <p:cNvSpPr txBox="1"/>
          <p:nvPr/>
        </p:nvSpPr>
        <p:spPr>
          <a:xfrm>
            <a:off x="822960" y="4434840"/>
            <a:ext cx="8412480" cy="1097280"/>
          </a:xfrm>
          <a:prstGeom prst="rect">
            <a:avLst/>
          </a:prstGeom>
          <a:noFill/>
        </p:spPr>
        <p:txBody>
          <a:bodyPr wrap="square" anchor="t">
            <a:spAutoFit/>
          </a:bodyPr>
          <a:lstStyle/>
          <a:p>
            <a:pPr algn="l">
              <a:spcAft>
                <a:spcPts val="400"/>
              </a:spcAft>
            </a:pPr>
            <a:r>
              <a:rPr sz="1500" b="0">
                <a:solidFill>
                  <a:srgbClr val="B9B4A9"/>
                </a:solidFill>
                <a:latin typeface="Calibri"/>
              </a:rPr>
              <a:t>Create the Skill, build the dashboard and prove interactions</a:t>
            </a:r>
          </a:p>
        </p:txBody>
      </p:sp>
      <p:sp>
        <p:nvSpPr>
          <p:cNvPr id="9" name="TextBox 8"/>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IES Academy</a:t>
            </a:r>
          </a:p>
        </p:txBody>
      </p:sp>
      <p:sp>
        <p:nvSpPr>
          <p:cNvPr id="10" name="TextBox 9"/>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GenAI for Engineers</a:t>
            </a:r>
          </a:p>
        </p:txBody>
      </p:sp>
      <p:sp>
        <p:nvSpPr>
          <p:cNvPr id="11" name="TextBox 10"/>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86</a:t>
            </a:r>
          </a:p>
        </p:txBody>
      </p:sp>
    </p:spTree>
  </p:cSld>
  <p:clrMapOvr>
    <a:masterClrMapping/>
  </p:clrMapOvr>
  <p:transition spd="med">
    <p:fade/>
  </p:transition>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KEY CONCEPTS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Key Concepts — Interactive Dashboards with Custom Skills</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800" b="1">
                <a:solidFill>
                  <a:srgbClr val="21201C"/>
                </a:solidFill>
                <a:latin typeface="Cambria"/>
              </a:rPr>
              <a:t>Measures</a:t>
            </a:r>
          </a:p>
          <a:p>
            <a:pPr algn="l">
              <a:spcAft>
                <a:spcPts val="300"/>
              </a:spcAft>
            </a:pPr>
            <a:r>
              <a:rPr sz="1400" b="0">
                <a:solidFill>
                  <a:srgbClr val="6B6862"/>
                </a:solidFill>
                <a:latin typeface="Calibri"/>
              </a:rPr>
              <a:t>Six formula KPIs with clear denominators and N/A rules.</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800" b="1">
                <a:solidFill>
                  <a:srgbClr val="21201C"/>
                </a:solidFill>
                <a:latin typeface="Cambria"/>
              </a:rPr>
              <a:t>Visual design</a:t>
            </a:r>
          </a:p>
          <a:p>
            <a:pPr algn="l">
              <a:spcAft>
                <a:spcPts val="300"/>
              </a:spcAft>
            </a:pPr>
            <a:r>
              <a:rPr sz="1400" b="0">
                <a:solidFill>
                  <a:srgbClr val="6B6862"/>
                </a:solidFill>
                <a:latin typeface="Calibri"/>
              </a:rPr>
              <a:t>KPI tiles and charts whose titles state the finding.</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800" b="1">
                <a:solidFill>
                  <a:srgbClr val="21201C"/>
                </a:solidFill>
                <a:latin typeface="Cambria"/>
              </a:rPr>
              <a:t>Interactions</a:t>
            </a:r>
          </a:p>
          <a:p>
            <a:pPr algn="l">
              <a:spcAft>
                <a:spcPts val="300"/>
              </a:spcAft>
            </a:pPr>
            <a:r>
              <a:rPr sz="1400" b="0">
                <a:solidFill>
                  <a:srgbClr val="6B6862"/>
                </a:solidFill>
                <a:latin typeface="Calibri"/>
              </a:rPr>
              <a:t>Dropdowns and slicers filter every tile and chart.</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800" b="1">
                <a:solidFill>
                  <a:srgbClr val="21201C"/>
                </a:solidFill>
                <a:latin typeface="Cambria"/>
              </a:rPr>
              <a:t>Refresh</a:t>
            </a:r>
          </a:p>
          <a:p>
            <a:pPr algn="l">
              <a:spcAft>
                <a:spcPts val="300"/>
              </a:spcAft>
            </a:pPr>
            <a:r>
              <a:rPr sz="1400" b="0">
                <a:solidFill>
                  <a:srgbClr val="6B6862"/>
                </a:solidFill>
                <a:latin typeface="Calibri"/>
              </a:rPr>
              <a:t>Known deltas in an isolated test copy.</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87</a:t>
            </a:r>
          </a:p>
        </p:txBody>
      </p:sp>
    </p:spTree>
  </p:cSld>
  <p:clrMapOvr>
    <a:masterClrMapping/>
  </p:clrMapOvr>
  <p:transition spd="med">
    <p:fade/>
  </p:transition>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WHAT YOU'LL DO</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Hands-On Labs — Interactive Dashboards with Custom Skills</a:t>
            </a:r>
          </a:p>
        </p:txBody>
      </p:sp>
      <p:sp>
        <p:nvSpPr>
          <p:cNvPr id="5" name="Rounded Rectangle 4"/>
          <p:cNvSpPr/>
          <p:nvPr/>
        </p:nvSpPr>
        <p:spPr>
          <a:xfrm>
            <a:off x="777240" y="1783080"/>
            <a:ext cx="5225796"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225796"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4814316" cy="548640"/>
          </a:xfrm>
          <a:prstGeom prst="rect">
            <a:avLst/>
          </a:prstGeom>
          <a:noFill/>
        </p:spPr>
        <p:txBody>
          <a:bodyPr wrap="square" anchor="t">
            <a:spAutoFit/>
          </a:bodyPr>
          <a:lstStyle/>
          <a:p>
            <a:pPr algn="l">
              <a:spcAft>
                <a:spcPts val="400"/>
              </a:spcAft>
            </a:pPr>
            <a:r>
              <a:rPr sz="1900" b="1">
                <a:solidFill>
                  <a:srgbClr val="D97757"/>
                </a:solidFill>
                <a:latin typeface="Cambria"/>
              </a:rPr>
              <a:t>Lab 7</a:t>
            </a:r>
          </a:p>
        </p:txBody>
      </p:sp>
      <p:sp>
        <p:nvSpPr>
          <p:cNvPr id="8" name="TextBox 7"/>
          <p:cNvSpPr txBox="1"/>
          <p:nvPr/>
        </p:nvSpPr>
        <p:spPr>
          <a:xfrm>
            <a:off x="1005840" y="2697480"/>
            <a:ext cx="4814316" cy="3108960"/>
          </a:xfrm>
          <a:prstGeom prst="rect">
            <a:avLst/>
          </a:prstGeom>
          <a:noFill/>
        </p:spPr>
        <p:txBody>
          <a:bodyPr wrap="square">
            <a:spAutoFit/>
          </a:bodyPr>
          <a:lstStyle/>
          <a:p>
            <a:pPr>
              <a:spcAft>
                <a:spcPts val="900"/>
              </a:spcAft>
            </a:pPr>
            <a:r>
              <a:rPr sz="1400" b="1">
                <a:solidFill>
                  <a:srgbClr val="21201C"/>
                </a:solidFill>
                <a:latin typeface="Calibri"/>
              </a:rPr>
              <a:t>•  Custom Dashboard Skill</a:t>
            </a:r>
          </a:p>
          <a:p>
            <a:pPr>
              <a:spcAft>
                <a:spcPts val="900"/>
              </a:spcAft>
            </a:pPr>
            <a:r>
              <a:rPr sz="1200" b="0">
                <a:solidFill>
                  <a:srgbClr val="6B6862"/>
                </a:solidFill>
                <a:latin typeface="Calibri"/>
              </a:rPr>
              <a:t>–  Create and Apply a Custom Interactive Dashboard Skill</a:t>
            </a:r>
          </a:p>
        </p:txBody>
      </p:sp>
      <p:sp>
        <p:nvSpPr>
          <p:cNvPr id="9" name="Rounded Rectangle 8"/>
          <p:cNvSpPr/>
          <p:nvPr/>
        </p:nvSpPr>
        <p:spPr>
          <a:xfrm>
            <a:off x="6185916" y="1783080"/>
            <a:ext cx="5225796"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6185916" y="1783080"/>
            <a:ext cx="5225796"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6414516" y="2011680"/>
            <a:ext cx="4814316" cy="548640"/>
          </a:xfrm>
          <a:prstGeom prst="rect">
            <a:avLst/>
          </a:prstGeom>
          <a:noFill/>
        </p:spPr>
        <p:txBody>
          <a:bodyPr wrap="square" anchor="t">
            <a:spAutoFit/>
          </a:bodyPr>
          <a:lstStyle/>
          <a:p>
            <a:pPr algn="l">
              <a:spcAft>
                <a:spcPts val="400"/>
              </a:spcAft>
            </a:pPr>
            <a:r>
              <a:rPr sz="1900" b="1">
                <a:solidFill>
                  <a:srgbClr val="3A7D7B"/>
                </a:solidFill>
                <a:latin typeface="Cambria"/>
              </a:rPr>
              <a:t>Lab 8</a:t>
            </a:r>
          </a:p>
        </p:txBody>
      </p:sp>
      <p:sp>
        <p:nvSpPr>
          <p:cNvPr id="12" name="TextBox 11"/>
          <p:cNvSpPr txBox="1"/>
          <p:nvPr/>
        </p:nvSpPr>
        <p:spPr>
          <a:xfrm>
            <a:off x="6414516" y="2697480"/>
            <a:ext cx="4814316" cy="3108960"/>
          </a:xfrm>
          <a:prstGeom prst="rect">
            <a:avLst/>
          </a:prstGeom>
          <a:noFill/>
        </p:spPr>
        <p:txBody>
          <a:bodyPr wrap="square">
            <a:spAutoFit/>
          </a:bodyPr>
          <a:lstStyle/>
          <a:p>
            <a:pPr>
              <a:spcAft>
                <a:spcPts val="900"/>
              </a:spcAft>
            </a:pPr>
            <a:r>
              <a:rPr sz="1400" b="1">
                <a:solidFill>
                  <a:srgbClr val="21201C"/>
                </a:solidFill>
                <a:latin typeface="Calibri"/>
              </a:rPr>
              <a:t>•  Interactive Filters and Refresh</a:t>
            </a:r>
          </a:p>
          <a:p>
            <a:pPr>
              <a:spcAft>
                <a:spcPts val="900"/>
              </a:spcAft>
            </a:pPr>
            <a:r>
              <a:rPr sz="1200" b="0">
                <a:solidFill>
                  <a:srgbClr val="6B6862"/>
                </a:solidFill>
                <a:latin typeface="Calibri"/>
              </a:rPr>
              <a:t>–  Use the Dashboard Skill for Filters, Refresh and Safe Reruns</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88</a:t>
            </a:r>
          </a:p>
        </p:txBody>
      </p:sp>
    </p:spTree>
  </p:cSld>
  <p:clrMapOvr>
    <a:masterClrMapping/>
  </p:clrMapOvr>
  <p:transition spd="med">
    <p:fade/>
  </p:transition>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WORKED DASHBOARD SNAPSHOT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Northstar Portfolio at a Glance</a:t>
            </a:r>
          </a:p>
        </p:txBody>
      </p:sp>
      <p:sp>
        <p:nvSpPr>
          <p:cNvPr id="5" name="Rounded Rectangle 4"/>
          <p:cNvSpPr/>
          <p:nvPr/>
        </p:nvSpPr>
        <p:spPr>
          <a:xfrm>
            <a:off x="777240" y="1737360"/>
            <a:ext cx="3383280" cy="15087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TextBox 5"/>
          <p:cNvSpPr txBox="1"/>
          <p:nvPr/>
        </p:nvSpPr>
        <p:spPr>
          <a:xfrm>
            <a:off x="941832" y="1847088"/>
            <a:ext cx="3108960" cy="365760"/>
          </a:xfrm>
          <a:prstGeom prst="rect">
            <a:avLst/>
          </a:prstGeom>
          <a:noFill/>
        </p:spPr>
        <p:txBody>
          <a:bodyPr wrap="square" anchor="t">
            <a:spAutoFit/>
          </a:bodyPr>
          <a:lstStyle/>
          <a:p>
            <a:pPr algn="l">
              <a:spcAft>
                <a:spcPts val="400"/>
              </a:spcAft>
            </a:pPr>
            <a:r>
              <a:rPr sz="1900" b="1">
                <a:solidFill>
                  <a:srgbClr val="21201C"/>
                </a:solidFill>
                <a:latin typeface="Cambria"/>
              </a:rPr>
              <a:t>Total orders</a:t>
            </a:r>
          </a:p>
        </p:txBody>
      </p:sp>
      <p:sp>
        <p:nvSpPr>
          <p:cNvPr id="7" name="TextBox 6"/>
          <p:cNvSpPr txBox="1"/>
          <p:nvPr/>
        </p:nvSpPr>
        <p:spPr>
          <a:xfrm>
            <a:off x="941832" y="2286000"/>
            <a:ext cx="3108960" cy="640080"/>
          </a:xfrm>
          <a:prstGeom prst="rect">
            <a:avLst/>
          </a:prstGeom>
          <a:noFill/>
        </p:spPr>
        <p:txBody>
          <a:bodyPr wrap="square" anchor="t">
            <a:spAutoFit/>
          </a:bodyPr>
          <a:lstStyle/>
          <a:p>
            <a:pPr algn="l">
              <a:spcAft>
                <a:spcPts val="400"/>
              </a:spcAft>
            </a:pPr>
            <a:r>
              <a:rPr sz="3500" b="1">
                <a:solidFill>
                  <a:srgbClr val="21201C"/>
                </a:solidFill>
                <a:latin typeface="Cambria"/>
              </a:rPr>
              <a:t>120</a:t>
            </a:r>
          </a:p>
        </p:txBody>
      </p:sp>
      <p:sp>
        <p:nvSpPr>
          <p:cNvPr id="8" name="Rounded Rectangle 7"/>
          <p:cNvSpPr/>
          <p:nvPr/>
        </p:nvSpPr>
        <p:spPr>
          <a:xfrm>
            <a:off x="4434840" y="1737360"/>
            <a:ext cx="3383280" cy="15087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TextBox 8"/>
          <p:cNvSpPr txBox="1"/>
          <p:nvPr/>
        </p:nvSpPr>
        <p:spPr>
          <a:xfrm>
            <a:off x="4599431" y="1847088"/>
            <a:ext cx="3108960" cy="365760"/>
          </a:xfrm>
          <a:prstGeom prst="rect">
            <a:avLst/>
          </a:prstGeom>
          <a:noFill/>
        </p:spPr>
        <p:txBody>
          <a:bodyPr wrap="square" anchor="t">
            <a:spAutoFit/>
          </a:bodyPr>
          <a:lstStyle/>
          <a:p>
            <a:pPr algn="l">
              <a:spcAft>
                <a:spcPts val="400"/>
              </a:spcAft>
            </a:pPr>
            <a:r>
              <a:rPr sz="1900" b="1">
                <a:solidFill>
                  <a:srgbClr val="21201C"/>
                </a:solidFill>
                <a:latin typeface="Cambria"/>
              </a:rPr>
              <a:t>Backlog</a:t>
            </a:r>
          </a:p>
        </p:txBody>
      </p:sp>
      <p:sp>
        <p:nvSpPr>
          <p:cNvPr id="10" name="TextBox 9"/>
          <p:cNvSpPr txBox="1"/>
          <p:nvPr/>
        </p:nvSpPr>
        <p:spPr>
          <a:xfrm>
            <a:off x="4599431" y="2286000"/>
            <a:ext cx="3108960" cy="640080"/>
          </a:xfrm>
          <a:prstGeom prst="rect">
            <a:avLst/>
          </a:prstGeom>
          <a:noFill/>
        </p:spPr>
        <p:txBody>
          <a:bodyPr wrap="square" anchor="t">
            <a:spAutoFit/>
          </a:bodyPr>
          <a:lstStyle/>
          <a:p>
            <a:pPr algn="l">
              <a:spcAft>
                <a:spcPts val="400"/>
              </a:spcAft>
            </a:pPr>
            <a:r>
              <a:rPr sz="3500" b="1">
                <a:solidFill>
                  <a:srgbClr val="21201C"/>
                </a:solidFill>
                <a:latin typeface="Cambria"/>
              </a:rPr>
              <a:t>60</a:t>
            </a:r>
          </a:p>
        </p:txBody>
      </p:sp>
      <p:sp>
        <p:nvSpPr>
          <p:cNvPr id="11" name="Rounded Rectangle 10"/>
          <p:cNvSpPr/>
          <p:nvPr/>
        </p:nvSpPr>
        <p:spPr>
          <a:xfrm>
            <a:off x="8092440" y="1737360"/>
            <a:ext cx="3383280" cy="15087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TextBox 11"/>
          <p:cNvSpPr txBox="1"/>
          <p:nvPr/>
        </p:nvSpPr>
        <p:spPr>
          <a:xfrm>
            <a:off x="8257031" y="1847088"/>
            <a:ext cx="3108960" cy="365760"/>
          </a:xfrm>
          <a:prstGeom prst="rect">
            <a:avLst/>
          </a:prstGeom>
          <a:noFill/>
        </p:spPr>
        <p:txBody>
          <a:bodyPr wrap="square" anchor="t">
            <a:spAutoFit/>
          </a:bodyPr>
          <a:lstStyle/>
          <a:p>
            <a:pPr algn="l">
              <a:spcAft>
                <a:spcPts val="400"/>
              </a:spcAft>
            </a:pPr>
            <a:r>
              <a:rPr sz="1900" b="1">
                <a:solidFill>
                  <a:srgbClr val="21201C"/>
                </a:solidFill>
                <a:latin typeface="Cambria"/>
              </a:rPr>
              <a:t>Overdue</a:t>
            </a:r>
          </a:p>
        </p:txBody>
      </p:sp>
      <p:sp>
        <p:nvSpPr>
          <p:cNvPr id="13" name="TextBox 12"/>
          <p:cNvSpPr txBox="1"/>
          <p:nvPr/>
        </p:nvSpPr>
        <p:spPr>
          <a:xfrm>
            <a:off x="8257031" y="2286000"/>
            <a:ext cx="3108960" cy="640080"/>
          </a:xfrm>
          <a:prstGeom prst="rect">
            <a:avLst/>
          </a:prstGeom>
          <a:noFill/>
        </p:spPr>
        <p:txBody>
          <a:bodyPr wrap="square" anchor="t">
            <a:spAutoFit/>
          </a:bodyPr>
          <a:lstStyle/>
          <a:p>
            <a:pPr algn="l">
              <a:spcAft>
                <a:spcPts val="400"/>
              </a:spcAft>
            </a:pPr>
            <a:r>
              <a:rPr sz="3500" b="1">
                <a:solidFill>
                  <a:srgbClr val="21201C"/>
                </a:solidFill>
                <a:latin typeface="Cambria"/>
              </a:rPr>
              <a:t>50</a:t>
            </a:r>
          </a:p>
        </p:txBody>
      </p:sp>
      <p:sp>
        <p:nvSpPr>
          <p:cNvPr id="14" name="Rounded Rectangle 13"/>
          <p:cNvSpPr/>
          <p:nvPr/>
        </p:nvSpPr>
        <p:spPr>
          <a:xfrm>
            <a:off x="777240" y="3520439"/>
            <a:ext cx="3383280" cy="15087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5" name="TextBox 14"/>
          <p:cNvSpPr txBox="1"/>
          <p:nvPr/>
        </p:nvSpPr>
        <p:spPr>
          <a:xfrm>
            <a:off x="941832" y="3630168"/>
            <a:ext cx="3108960" cy="365760"/>
          </a:xfrm>
          <a:prstGeom prst="rect">
            <a:avLst/>
          </a:prstGeom>
          <a:noFill/>
        </p:spPr>
        <p:txBody>
          <a:bodyPr wrap="square" anchor="t">
            <a:spAutoFit/>
          </a:bodyPr>
          <a:lstStyle/>
          <a:p>
            <a:pPr algn="l">
              <a:spcAft>
                <a:spcPts val="400"/>
              </a:spcAft>
            </a:pPr>
            <a:r>
              <a:rPr sz="1900" b="1">
                <a:solidFill>
                  <a:srgbClr val="21201C"/>
                </a:solidFill>
                <a:latin typeface="Cambria"/>
              </a:rPr>
              <a:t>Closed</a:t>
            </a:r>
          </a:p>
        </p:txBody>
      </p:sp>
      <p:sp>
        <p:nvSpPr>
          <p:cNvPr id="16" name="TextBox 15"/>
          <p:cNvSpPr txBox="1"/>
          <p:nvPr/>
        </p:nvSpPr>
        <p:spPr>
          <a:xfrm>
            <a:off x="941832" y="4069079"/>
            <a:ext cx="3108960" cy="640080"/>
          </a:xfrm>
          <a:prstGeom prst="rect">
            <a:avLst/>
          </a:prstGeom>
          <a:noFill/>
        </p:spPr>
        <p:txBody>
          <a:bodyPr wrap="square" anchor="t">
            <a:spAutoFit/>
          </a:bodyPr>
          <a:lstStyle/>
          <a:p>
            <a:pPr algn="l">
              <a:spcAft>
                <a:spcPts val="400"/>
              </a:spcAft>
            </a:pPr>
            <a:r>
              <a:rPr sz="3500" b="1">
                <a:solidFill>
                  <a:srgbClr val="21201C"/>
                </a:solidFill>
                <a:latin typeface="Cambria"/>
              </a:rPr>
              <a:t>48</a:t>
            </a:r>
          </a:p>
        </p:txBody>
      </p:sp>
      <p:sp>
        <p:nvSpPr>
          <p:cNvPr id="17" name="Rounded Rectangle 16"/>
          <p:cNvSpPr/>
          <p:nvPr/>
        </p:nvSpPr>
        <p:spPr>
          <a:xfrm>
            <a:off x="4434840" y="3520439"/>
            <a:ext cx="3383280" cy="15087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TextBox 17"/>
          <p:cNvSpPr txBox="1"/>
          <p:nvPr/>
        </p:nvSpPr>
        <p:spPr>
          <a:xfrm>
            <a:off x="4599431" y="3630168"/>
            <a:ext cx="3108960" cy="365760"/>
          </a:xfrm>
          <a:prstGeom prst="rect">
            <a:avLst/>
          </a:prstGeom>
          <a:noFill/>
        </p:spPr>
        <p:txBody>
          <a:bodyPr wrap="square" anchor="t">
            <a:spAutoFit/>
          </a:bodyPr>
          <a:lstStyle/>
          <a:p>
            <a:pPr algn="l">
              <a:spcAft>
                <a:spcPts val="400"/>
              </a:spcAft>
            </a:pPr>
            <a:r>
              <a:rPr sz="1900" b="1">
                <a:solidFill>
                  <a:srgbClr val="21201C"/>
                </a:solidFill>
                <a:latin typeface="Cambria"/>
              </a:rPr>
              <a:t>On-time closed</a:t>
            </a:r>
          </a:p>
        </p:txBody>
      </p:sp>
      <p:sp>
        <p:nvSpPr>
          <p:cNvPr id="19" name="TextBox 18"/>
          <p:cNvSpPr txBox="1"/>
          <p:nvPr/>
        </p:nvSpPr>
        <p:spPr>
          <a:xfrm>
            <a:off x="4599431" y="4069079"/>
            <a:ext cx="3108960" cy="640080"/>
          </a:xfrm>
          <a:prstGeom prst="rect">
            <a:avLst/>
          </a:prstGeom>
          <a:noFill/>
        </p:spPr>
        <p:txBody>
          <a:bodyPr wrap="square" anchor="t">
            <a:spAutoFit/>
          </a:bodyPr>
          <a:lstStyle/>
          <a:p>
            <a:pPr algn="l">
              <a:spcAft>
                <a:spcPts val="400"/>
              </a:spcAft>
            </a:pPr>
            <a:r>
              <a:rPr sz="3500" b="1">
                <a:solidFill>
                  <a:srgbClr val="21201C"/>
                </a:solidFill>
                <a:latin typeface="Cambria"/>
              </a:rPr>
              <a:t>30/48</a:t>
            </a:r>
          </a:p>
        </p:txBody>
      </p:sp>
      <p:sp>
        <p:nvSpPr>
          <p:cNvPr id="20" name="Rounded Rectangle 19"/>
          <p:cNvSpPr/>
          <p:nvPr/>
        </p:nvSpPr>
        <p:spPr>
          <a:xfrm>
            <a:off x="8092440" y="3520439"/>
            <a:ext cx="3383280" cy="15087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TextBox 20"/>
          <p:cNvSpPr txBox="1"/>
          <p:nvPr/>
        </p:nvSpPr>
        <p:spPr>
          <a:xfrm>
            <a:off x="8257031" y="3630168"/>
            <a:ext cx="3108960" cy="365760"/>
          </a:xfrm>
          <a:prstGeom prst="rect">
            <a:avLst/>
          </a:prstGeom>
          <a:noFill/>
        </p:spPr>
        <p:txBody>
          <a:bodyPr wrap="square" anchor="t">
            <a:spAutoFit/>
          </a:bodyPr>
          <a:lstStyle/>
          <a:p>
            <a:pPr algn="l">
              <a:spcAft>
                <a:spcPts val="400"/>
              </a:spcAft>
            </a:pPr>
            <a:r>
              <a:rPr sz="1900" b="1">
                <a:solidFill>
                  <a:srgbClr val="21201C"/>
                </a:solidFill>
                <a:latin typeface="Cambria"/>
              </a:rPr>
              <a:t>Recorded cost</a:t>
            </a:r>
          </a:p>
        </p:txBody>
      </p:sp>
      <p:sp>
        <p:nvSpPr>
          <p:cNvPr id="22" name="TextBox 21"/>
          <p:cNvSpPr txBox="1"/>
          <p:nvPr/>
        </p:nvSpPr>
        <p:spPr>
          <a:xfrm>
            <a:off x="8257031" y="4069079"/>
            <a:ext cx="3108960" cy="640080"/>
          </a:xfrm>
          <a:prstGeom prst="rect">
            <a:avLst/>
          </a:prstGeom>
          <a:noFill/>
        </p:spPr>
        <p:txBody>
          <a:bodyPr wrap="square" anchor="t">
            <a:spAutoFit/>
          </a:bodyPr>
          <a:lstStyle/>
          <a:p>
            <a:pPr algn="l">
              <a:spcAft>
                <a:spcPts val="400"/>
              </a:spcAft>
            </a:pPr>
            <a:r>
              <a:rPr sz="3500" b="1">
                <a:solidFill>
                  <a:srgbClr val="21201C"/>
                </a:solidFill>
                <a:latin typeface="Cambria"/>
              </a:rPr>
              <a:t>S$35,828</a:t>
            </a:r>
          </a:p>
        </p:txBody>
      </p:sp>
      <p:sp>
        <p:nvSpPr>
          <p:cNvPr id="23" name="TextBox 22"/>
          <p:cNvSpPr txBox="1"/>
          <p:nvPr/>
        </p:nvSpPr>
        <p:spPr>
          <a:xfrm>
            <a:off x="777240" y="5989320"/>
            <a:ext cx="10698480" cy="274320"/>
          </a:xfrm>
          <a:prstGeom prst="rect">
            <a:avLst/>
          </a:prstGeom>
          <a:noFill/>
        </p:spPr>
        <p:txBody>
          <a:bodyPr wrap="square" anchor="t">
            <a:spAutoFit/>
          </a:bodyPr>
          <a:lstStyle/>
          <a:p>
            <a:pPr algn="l">
              <a:spcAft>
                <a:spcPts val="400"/>
              </a:spcAft>
            </a:pPr>
            <a:r>
              <a:rPr sz="1100" b="0">
                <a:solidFill>
                  <a:srgbClr val="21201C"/>
                </a:solidFill>
                <a:latin typeface="Calibri"/>
              </a:rPr>
              <a:t>Source: synthetic tblWorkOrders | 30 Sep 2026 | All filters All unless stated</a:t>
            </a:r>
          </a:p>
        </p:txBody>
      </p:sp>
      <p:sp>
        <p:nvSpPr>
          <p:cNvPr id="24" name="TextBox 23"/>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5" name="TextBox 24"/>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6" name="TextBox 25"/>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89</a:t>
            </a:r>
          </a:p>
        </p:txBody>
      </p:sp>
    </p:spTree>
  </p:cSld>
  <p:clrMapOvr>
    <a:masterClrMapping/>
  </p:clrMapOvr>
  <p:transition spd="med">
    <p:fade/>
  </p:transition>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NATIVE EDITABLE CHART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Backlog by Site: Count the Nonterminal Work</a:t>
            </a:r>
          </a:p>
        </p:txBody>
      </p:sp>
      <p:graphicFrame>
        <p:nvGraphicFramePr>
          <p:cNvPr id="5" name="Chart 4"/>
          <p:cNvGraphicFramePr>
            <a:graphicFrameLocks noGrp="1"/>
          </p:cNvGraphicFramePr>
          <p:nvPr/>
        </p:nvGraphicFramePr>
        <p:xfrm>
          <a:off x="868680" y="1691640"/>
          <a:ext cx="10332720" cy="4069080"/>
        </p:xfrm>
        <a:graphic>
          <a:graphicData uri="http://schemas.openxmlformats.org/drawingml/2006/chart">
            <c:chart xmlns:c="http://schemas.openxmlformats.org/drawingml/2006/chart" r:id="rId2"/>
          </a:graphicData>
        </a:graphic>
      </p:graphicFrame>
      <p:sp>
        <p:nvSpPr>
          <p:cNvPr id="6" name="TextBox 5"/>
          <p:cNvSpPr txBox="1"/>
          <p:nvPr/>
        </p:nvSpPr>
        <p:spPr>
          <a:xfrm>
            <a:off x="777240" y="5989320"/>
            <a:ext cx="10698480" cy="274320"/>
          </a:xfrm>
          <a:prstGeom prst="rect">
            <a:avLst/>
          </a:prstGeom>
          <a:noFill/>
        </p:spPr>
        <p:txBody>
          <a:bodyPr wrap="square" anchor="t">
            <a:spAutoFit/>
          </a:bodyPr>
          <a:lstStyle/>
          <a:p>
            <a:pPr algn="l">
              <a:spcAft>
                <a:spcPts val="400"/>
              </a:spcAft>
            </a:pPr>
            <a:r>
              <a:rPr sz="1100" b="0">
                <a:solidFill>
                  <a:srgbClr val="21201C"/>
                </a:solidFill>
                <a:latin typeface="Calibri"/>
              </a:rPr>
              <a:t>Source: synthetic tblWorkOrders | 30 Sep 2026 | All filters All unless stated</a:t>
            </a:r>
          </a:p>
        </p:txBody>
      </p:sp>
      <p:sp>
        <p:nvSpPr>
          <p:cNvPr id="7" name="TextBox 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8" name="TextBox 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9" name="TextBox 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90</a:t>
            </a:r>
          </a:p>
        </p:txBody>
      </p:sp>
    </p:spTree>
  </p:cSld>
  <p:clrMapOvr>
    <a:masterClrMapping/>
  </p:clrMapOvr>
  <p:transition spd="med">
    <p:fade/>
  </p:transition>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REUSABLE DASHBOARD METHOD</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The Interactive Dashboard Skill Contract</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3A7D7B"/>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3A7D7B"/>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Named source + date</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3A7D7B"/>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3A7D7B"/>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Six shared-scope KPIs</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3A7D7B"/>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3A7D7B"/>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Four filters + three charts</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3A7D7B"/>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3A7D7B"/>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Refresh + safe rerun checks</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91</a:t>
            </a:r>
          </a:p>
        </p:txBody>
      </p:sp>
    </p:spTree>
  </p:cSld>
  <p:clrMapOvr>
    <a:masterClrMapping/>
  </p:clrMapOvr>
  <p:transition spd="med">
    <p:fade/>
  </p:transition>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Custom Dashboard Skill as a Reusable Contract</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water-service-dashboard is a separate custom Skill whose instructions define inputs, six KPI formulas, four shared filter selectors, three editable charts and controlled output boundaries.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reusable contract makes every KPI and chart obey the same AND filter logic and allows a safe refresh using table references.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Dashboard B2:B5 select site, category, status and owner.</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92</a:t>
            </a:r>
          </a:p>
        </p:txBody>
      </p:sp>
    </p:spTree>
  </p:cSld>
  <p:clrMapOvr>
    <a:masterClrMapping/>
  </p:clrMapOvr>
  <p:transition spd="med">
    <p:fade/>
  </p:transition>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Custom Dashboard Skill as a Reusable Contract</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5B4B8A"/>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5B4B8A"/>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Author and review the complete SKILL.md.</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5B4B8A"/>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5B4B8A"/>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Install and verify the dashboard name.</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5B4B8A"/>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5B4B8A"/>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Invoke a plan and build the reviewed output.</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5B4B8A"/>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5B4B8A"/>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Test common filters, append refresh and reruns.</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93</a:t>
            </a:r>
          </a:p>
        </p:txBody>
      </p:sp>
    </p:spTree>
  </p:cSld>
  <p:clrMapOvr>
    <a:masterClrMapping/>
  </p:clrMapOvr>
  <p:transition spd="med">
    <p:fade/>
  </p:transition>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Apply the Concept — Custom Dashboard Skill as a Reusable Contract</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B7:B12 and all chart summaries use the identical selected rows.</a:t>
            </a:r>
          </a:p>
          <a:p>
            <a:pPr>
              <a:spcAft>
                <a:spcPts val="1000"/>
              </a:spcAft>
            </a:pPr>
            <a:r>
              <a:rPr sz="1600" b="0">
                <a:solidFill>
                  <a:srgbClr val="21201C"/>
                </a:solidFill>
                <a:latin typeface="Calibri"/>
              </a:rPr>
              <a:t>•  A 122-row sandbox is separate from the untouched 120-row baseline.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94</a:t>
            </a:r>
          </a:p>
        </p:txBody>
      </p:sp>
    </p:spTree>
  </p:cSld>
  <p:clrMapOvr>
    <a:masterClrMapping/>
  </p:clrMapOvr>
  <p:transition spd="med">
    <p:fade/>
  </p:transition>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Dashboard Measures and Denominators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dashboard measure needs a business definition, numerator, denominator where relevant, date rule and filter scope.</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Changing the denominator can make an attractive rate meaningless.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Closed-only rate is different from closed/total completion share.</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95</a:t>
            </a:r>
          </a:p>
        </p:txBody>
      </p:sp>
    </p:spTree>
  </p:cSld>
  <p:clrMapOvr>
    <a:masterClrMapping/>
  </p:clrMapOvr>
  <p:transition spd="med">
    <p:fade/>
  </p:transition>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Dashboard Measures and Denominators</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5B4B8A"/>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5B4B8A"/>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Define source fields and scope.</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5B4B8A"/>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5B4B8A"/>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Compute count and denominator.</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5B4B8A"/>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5B4B8A"/>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Handle empty selections explicitly.</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5B4B8A"/>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5B4B8A"/>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Reconcile against controls.</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96</a:t>
            </a:r>
          </a:p>
        </p:txBody>
      </p:sp>
    </p:spTree>
  </p:cSld>
  <p:clrMapOvr>
    <a:masterClrMapping/>
  </p:clrMapOvr>
  <p:transition spd="med">
    <p:fade/>
  </p:transition>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Apply the Concept — Dashboard Measures and Denominators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A due-today backlog item is not overdue under a strict before-date rule.</a:t>
            </a:r>
          </a:p>
          <a:p>
            <a:pPr>
              <a:spcAft>
                <a:spcPts val="1000"/>
              </a:spcAft>
            </a:pPr>
            <a:r>
              <a:rPr sz="1600" b="0">
                <a:solidFill>
                  <a:srgbClr val="21201C"/>
                </a:solidFill>
                <a:latin typeface="Calibri"/>
              </a:rPr>
              <a:t>•  All selected status/chart counts reconcile to total selected work orders.</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97</a:t>
            </a:r>
          </a:p>
        </p:txBody>
      </p:sp>
    </p:spTree>
  </p:cSld>
  <p:clrMapOvr>
    <a:masterClrMapping/>
  </p:clrMapOvr>
  <p:transition spd="med">
    <p:fade/>
  </p:transition>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Visual Dashboard Design for Maintenance</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dashboard should make an operational decision easier.</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Consistent chart scales, short labels, whitespace and limited accents help a manager compare the work queue quickly.</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Status count chart shows the portfolio mix.</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98</a:t>
            </a:r>
          </a:p>
        </p:txBody>
      </p:sp>
    </p:spTree>
  </p:cSld>
  <p:clrMapOvr>
    <a:masterClrMapping/>
  </p:clrMapOvr>
  <p:transition spd="med">
    <p:fade/>
  </p:transition>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Visual Dashboard Design for Maintenance</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5B4B8A"/>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5B4B8A"/>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Name the maintenance decision.</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5B4B8A"/>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5B4B8A"/>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Choose the measure and comparison.</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5B4B8A"/>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5B4B8A"/>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Use an appropriate labelled chart.</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5B4B8A"/>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5B4B8A"/>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Check meaning and readability.</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99</a:t>
            </a:r>
          </a:p>
        </p:txBody>
      </p:sp>
    </p:spTree>
  </p:cSld>
  <p:clrMapOvr>
    <a:masterClrMapping/>
  </p:clrMapOvr>
  <p:transition spd="med">
    <p:fade/>
  </p:transition>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Apply the Concept — Visual Dashboard Design for Maintenance</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Site backlog chart excludes Closed and Cancelled.</a:t>
            </a:r>
          </a:p>
          <a:p>
            <a:pPr>
              <a:spcAft>
                <a:spcPts val="1000"/>
              </a:spcAft>
            </a:pPr>
            <a:r>
              <a:rPr sz="1600" b="0">
                <a:solidFill>
                  <a:srgbClr val="21201C"/>
                </a:solidFill>
                <a:latin typeface="Calibri"/>
              </a:rPr>
              <a:t>•  A category count does not establish the root cause of overdue jobs.</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100</a:t>
            </a:r>
          </a:p>
        </p:txBody>
      </p:sp>
    </p:spTree>
  </p:cSld>
  <p:clrMapOvr>
    <a:masterClrMapping/>
  </p:clrMapOvr>
  <p:transition spd="med">
    <p:fade/>
  </p:transition>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THEME · CUSTOM DASHBOARD SKILL</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Create and Apply a Custom Interactive Dashboard Skill</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7</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700" b="0">
                <a:solidFill>
                  <a:srgbClr val="21201C"/>
                </a:solidFill>
                <a:latin typeface="Calibri"/>
              </a:rPr>
              <a:t>Create water-service-dashboard/SKILL.md for the Northstar maintenance workflow, install it in Excel, then invoke it to plan and build an interactive dashboard. Six KPIs and three charts share four filter selections.</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600" b="1">
                <a:solidFill>
                  <a:srgbClr val="21201C"/>
                </a:solidFill>
                <a:latin typeface="Calibri"/>
              </a:rPr>
              <a:t>Northstar_Dashboard.xlsx with a Dashboard layout, six verified measures, three labelled charts and a measure dictionary ready for Lab 8 filters.</a:t>
            </a:r>
          </a:p>
        </p:txBody>
      </p:sp>
      <p:sp>
        <p:nvSpPr>
          <p:cNvPr id="12" name="Rectangle 11"/>
          <p:cNvSpPr/>
          <p:nvPr/>
        </p:nvSpPr>
        <p:spPr>
          <a:xfrm>
            <a:off x="1005840"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1  Ground</a:t>
            </a:r>
          </a:p>
        </p:txBody>
      </p:sp>
      <p:sp>
        <p:nvSpPr>
          <p:cNvPr id="14" name="Rectangle 13"/>
          <p:cNvSpPr/>
          <p:nvPr/>
        </p:nvSpPr>
        <p:spPr>
          <a:xfrm>
            <a:off x="3561588"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616452"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2  Build</a:t>
            </a:r>
          </a:p>
        </p:txBody>
      </p:sp>
      <p:sp>
        <p:nvSpPr>
          <p:cNvPr id="16" name="Rectangle 15"/>
          <p:cNvSpPr/>
          <p:nvPr/>
        </p:nvSpPr>
        <p:spPr>
          <a:xfrm>
            <a:off x="6117336"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6172200"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3  Verify</a:t>
            </a:r>
          </a:p>
        </p:txBody>
      </p:sp>
      <p:sp>
        <p:nvSpPr>
          <p:cNvPr id="18" name="Rectangle 17"/>
          <p:cNvSpPr/>
          <p:nvPr/>
        </p:nvSpPr>
        <p:spPr>
          <a:xfrm>
            <a:off x="8673084"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8727948"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4  Handoff</a:t>
            </a:r>
          </a:p>
        </p:txBody>
      </p:sp>
      <p:sp>
        <p:nvSpPr>
          <p:cNvPr id="20" name="TextBox 19"/>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Copilot · Microsoft 365 Copilot web · OneDrive</a:t>
            </a:r>
          </a:p>
        </p:txBody>
      </p:sp>
      <p:sp>
        <p:nvSpPr>
          <p:cNvPr id="21" name="TextBox 20"/>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2" name="TextBox 21"/>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3" name="TextBox 22"/>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101</a:t>
            </a:r>
          </a:p>
        </p:txBody>
      </p:sp>
    </p:spTree>
  </p:cSld>
  <p:clrMapOvr>
    <a:masterClrMapping/>
  </p:clrMapOvr>
  <p:transition spd="med">
    <p:fade/>
  </p:transition>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7</a:t>
            </a:r>
          </a:p>
        </p:txBody>
      </p:sp>
      <p:sp>
        <p:nvSpPr>
          <p:cNvPr id="5" name="Rounded Rectangle 4"/>
          <p:cNvSpPr/>
          <p:nvPr/>
        </p:nvSpPr>
        <p:spPr>
          <a:xfrm>
            <a:off x="777240" y="1828800"/>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10634472"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Scope: State actual source, report date and selected scope before acting.</a:t>
            </a:r>
          </a:p>
        </p:txBody>
      </p:sp>
      <p:sp>
        <p:nvSpPr>
          <p:cNvPr id="10" name="Rounded Rectangle 9"/>
          <p:cNvSpPr/>
          <p:nvPr/>
        </p:nvSpPr>
        <p:spPr>
          <a:xfrm>
            <a:off x="777240" y="4059936"/>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777240" y="4059936"/>
            <a:ext cx="10634472" cy="64008"/>
          </a:xfrm>
          <a:prstGeom prst="rect">
            <a:avLst/>
          </a:prstGeom>
          <a:solidFill>
            <a:srgbClr val="D97757"/>
          </a:solidFill>
          <a:ln>
            <a:noFill/>
          </a:ln>
          <a:effectLst/>
        </p:spPr>
        <p:txBody>
          <a:bodyPr rtlCol="0" anchor="ctr"/>
          <a:lstStyle/>
          <a:p>
            <a:pPr algn="ctr"/>
          </a:p>
        </p:txBody>
      </p:sp>
      <p:sp>
        <p:nvSpPr>
          <p:cNvPr id="12" name="Oval 11"/>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Verify: Explain the source/formula checks and preserve unknowns and original records.</a:t>
            </a:r>
          </a:p>
        </p:txBody>
      </p:sp>
      <p:sp>
        <p:nvSpPr>
          <p:cNvPr id="15" name="TextBox 1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6" name="TextBox 1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7" name="TextBox 1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102</a:t>
            </a:r>
          </a:p>
        </p:txBody>
      </p:sp>
    </p:spTree>
  </p:cSld>
  <p:clrMapOvr>
    <a:masterClrMapping/>
  </p:clrMapOvr>
  <p:transition spd="med">
    <p:fade/>
  </p:transition>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7</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Baseline</a:t>
            </a:r>
          </a:p>
          <a:p>
            <a:pPr algn="l">
              <a:spcAft>
                <a:spcPts val="300"/>
              </a:spcAft>
            </a:pPr>
            <a:r>
              <a:rPr sz="1300" b="0">
                <a:solidFill>
                  <a:srgbClr val="6B6862"/>
                </a:solidFill>
                <a:latin typeface="Calibri"/>
              </a:rPr>
              <a:t>Total 120; backlog 60; overdue 50; closed 48.</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SLA and cost</a:t>
            </a:r>
          </a:p>
          <a:p>
            <a:pPr algn="l">
              <a:spcAft>
                <a:spcPts val="300"/>
              </a:spcAft>
            </a:pPr>
            <a:r>
              <a:rPr sz="1300" b="0">
                <a:solidFill>
                  <a:srgbClr val="6B6862"/>
                </a:solidFill>
                <a:latin typeface="Calibri"/>
              </a:rPr>
              <a:t>30/48 = 62.5%; S$35,827.50.</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Chart reconciliation</a:t>
            </a:r>
          </a:p>
          <a:p>
            <a:pPr algn="l">
              <a:spcAft>
                <a:spcPts val="300"/>
              </a:spcAft>
            </a:pPr>
            <a:r>
              <a:rPr sz="1300" b="0">
                <a:solidFill>
                  <a:srgbClr val="6B6862"/>
                </a:solidFill>
                <a:latin typeface="Calibri"/>
              </a:rPr>
              <a:t>Three count summaries each total 120; formulas reference tblWorkOrders.</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Decision design</a:t>
            </a:r>
          </a:p>
          <a:p>
            <a:pPr algn="l">
              <a:spcAft>
                <a:spcPts val="300"/>
              </a:spcAft>
            </a:pPr>
            <a:r>
              <a:rPr sz="1300" b="0">
                <a:solidFill>
                  <a:srgbClr val="6B6862"/>
                </a:solidFill>
                <a:latin typeface="Calibri"/>
              </a:rPr>
              <a:t>Measures dictionary and source/date visible; no unsupported cause claims.</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103</a:t>
            </a:r>
          </a:p>
        </p:txBody>
      </p:sp>
    </p:spTree>
  </p:cSld>
  <p:clrMapOvr>
    <a:masterClrMapping/>
  </p:clrMapOvr>
  <p:transition spd="med">
    <p:fade/>
  </p:transition>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EDITABLE WORKED COMPARISON</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Same Data, Different Filter Scope</a:t>
            </a:r>
          </a:p>
        </p:txBody>
      </p:sp>
      <p:sp>
        <p:nvSpPr>
          <p:cNvPr id="5" name="Rounded Rectangle 4"/>
          <p:cNvSpPr/>
          <p:nvPr/>
        </p:nvSpPr>
        <p:spPr>
          <a:xfrm>
            <a:off x="777240" y="1691640"/>
            <a:ext cx="5166360" cy="3977639"/>
          </a:xfrm>
          <a:prstGeom prst="roundRect">
            <a:avLst>
              <a:gd name="adj" fmla="val 5517"/>
            </a:avLst>
          </a:prstGeom>
          <a:solidFill>
            <a:srgbClr val="FFFFFE"/>
          </a:solidFill>
          <a:ln w="12700">
            <a:solidFill>
              <a:srgbClr val="DCD8CF"/>
            </a:solidFill>
          </a:ln>
          <a:effectLst/>
        </p:spPr>
        <p:txBody>
          <a:bodyPr rtlCol="0" anchor="ctr"/>
          <a:lstStyle/>
          <a:p>
            <a:pPr algn="ctr"/>
          </a:p>
        </p:txBody>
      </p:sp>
      <p:sp>
        <p:nvSpPr>
          <p:cNvPr id="6" name="TextBox 5"/>
          <p:cNvSpPr txBox="1"/>
          <p:nvPr/>
        </p:nvSpPr>
        <p:spPr>
          <a:xfrm>
            <a:off x="960120" y="1828800"/>
            <a:ext cx="4754880" cy="548640"/>
          </a:xfrm>
          <a:prstGeom prst="rect">
            <a:avLst/>
          </a:prstGeom>
          <a:noFill/>
        </p:spPr>
        <p:txBody>
          <a:bodyPr wrap="square" anchor="t">
            <a:spAutoFit/>
          </a:bodyPr>
          <a:lstStyle/>
          <a:p>
            <a:pPr algn="l">
              <a:spcAft>
                <a:spcPts val="400"/>
              </a:spcAft>
            </a:pPr>
            <a:r>
              <a:rPr sz="2600" b="1">
                <a:solidFill>
                  <a:srgbClr val="21201C"/>
                </a:solidFill>
                <a:latin typeface="Cambria"/>
              </a:rPr>
              <a:t>All sites</a:t>
            </a:r>
          </a:p>
        </p:txBody>
      </p:sp>
      <p:sp>
        <p:nvSpPr>
          <p:cNvPr id="7" name="TextBox 6"/>
          <p:cNvSpPr txBox="1"/>
          <p:nvPr/>
        </p:nvSpPr>
        <p:spPr>
          <a:xfrm>
            <a:off x="960120" y="2560320"/>
            <a:ext cx="4754880" cy="411480"/>
          </a:xfrm>
          <a:prstGeom prst="rect">
            <a:avLst/>
          </a:prstGeom>
          <a:noFill/>
        </p:spPr>
        <p:txBody>
          <a:bodyPr wrap="square" anchor="t">
            <a:spAutoFit/>
          </a:bodyPr>
          <a:lstStyle/>
          <a:p>
            <a:pPr algn="l">
              <a:spcAft>
                <a:spcPts val="400"/>
              </a:spcAft>
            </a:pPr>
            <a:r>
              <a:rPr sz="2300" b="0">
                <a:solidFill>
                  <a:srgbClr val="21201C"/>
                </a:solidFill>
                <a:latin typeface="Calibri"/>
              </a:rPr>
              <a:t>Total: 120</a:t>
            </a:r>
          </a:p>
        </p:txBody>
      </p:sp>
      <p:sp>
        <p:nvSpPr>
          <p:cNvPr id="8" name="TextBox 7"/>
          <p:cNvSpPr txBox="1"/>
          <p:nvPr/>
        </p:nvSpPr>
        <p:spPr>
          <a:xfrm>
            <a:off x="960120" y="3072384"/>
            <a:ext cx="4754880" cy="411480"/>
          </a:xfrm>
          <a:prstGeom prst="rect">
            <a:avLst/>
          </a:prstGeom>
          <a:noFill/>
        </p:spPr>
        <p:txBody>
          <a:bodyPr wrap="square" anchor="t">
            <a:spAutoFit/>
          </a:bodyPr>
          <a:lstStyle/>
          <a:p>
            <a:pPr algn="l">
              <a:spcAft>
                <a:spcPts val="400"/>
              </a:spcAft>
            </a:pPr>
            <a:r>
              <a:rPr sz="2300" b="0">
                <a:solidFill>
                  <a:srgbClr val="21201C"/>
                </a:solidFill>
                <a:latin typeface="Calibri"/>
              </a:rPr>
              <a:t>Backlog: 60</a:t>
            </a:r>
          </a:p>
        </p:txBody>
      </p:sp>
      <p:sp>
        <p:nvSpPr>
          <p:cNvPr id="9" name="TextBox 8"/>
          <p:cNvSpPr txBox="1"/>
          <p:nvPr/>
        </p:nvSpPr>
        <p:spPr>
          <a:xfrm>
            <a:off x="960120" y="3584448"/>
            <a:ext cx="4754880" cy="411480"/>
          </a:xfrm>
          <a:prstGeom prst="rect">
            <a:avLst/>
          </a:prstGeom>
          <a:noFill/>
        </p:spPr>
        <p:txBody>
          <a:bodyPr wrap="square" anchor="t">
            <a:spAutoFit/>
          </a:bodyPr>
          <a:lstStyle/>
          <a:p>
            <a:pPr algn="l">
              <a:spcAft>
                <a:spcPts val="400"/>
              </a:spcAft>
            </a:pPr>
            <a:r>
              <a:rPr sz="2300" b="0">
                <a:solidFill>
                  <a:srgbClr val="21201C"/>
                </a:solidFill>
                <a:latin typeface="Calibri"/>
              </a:rPr>
              <a:t>Overdue: 50</a:t>
            </a:r>
          </a:p>
        </p:txBody>
      </p:sp>
      <p:sp>
        <p:nvSpPr>
          <p:cNvPr id="10" name="TextBox 9"/>
          <p:cNvSpPr txBox="1"/>
          <p:nvPr/>
        </p:nvSpPr>
        <p:spPr>
          <a:xfrm>
            <a:off x="960120" y="4096512"/>
            <a:ext cx="4754880" cy="411480"/>
          </a:xfrm>
          <a:prstGeom prst="rect">
            <a:avLst/>
          </a:prstGeom>
          <a:noFill/>
        </p:spPr>
        <p:txBody>
          <a:bodyPr wrap="square" anchor="t">
            <a:spAutoFit/>
          </a:bodyPr>
          <a:lstStyle/>
          <a:p>
            <a:pPr algn="l">
              <a:spcAft>
                <a:spcPts val="400"/>
              </a:spcAft>
            </a:pPr>
            <a:r>
              <a:rPr sz="2300" b="0">
                <a:solidFill>
                  <a:srgbClr val="21201C"/>
                </a:solidFill>
                <a:latin typeface="Calibri"/>
              </a:rPr>
              <a:t>Closed: 48</a:t>
            </a:r>
          </a:p>
        </p:txBody>
      </p:sp>
      <p:sp>
        <p:nvSpPr>
          <p:cNvPr id="11" name="TextBox 10"/>
          <p:cNvSpPr txBox="1"/>
          <p:nvPr/>
        </p:nvSpPr>
        <p:spPr>
          <a:xfrm>
            <a:off x="960120" y="4608576"/>
            <a:ext cx="4754880" cy="411480"/>
          </a:xfrm>
          <a:prstGeom prst="rect">
            <a:avLst/>
          </a:prstGeom>
          <a:noFill/>
        </p:spPr>
        <p:txBody>
          <a:bodyPr wrap="square" anchor="t">
            <a:spAutoFit/>
          </a:bodyPr>
          <a:lstStyle/>
          <a:p>
            <a:pPr algn="l">
              <a:spcAft>
                <a:spcPts val="400"/>
              </a:spcAft>
            </a:pPr>
            <a:r>
              <a:rPr sz="2300" b="0">
                <a:solidFill>
                  <a:srgbClr val="21201C"/>
                </a:solidFill>
                <a:latin typeface="Calibri"/>
              </a:rPr>
              <a:t>On-time closed: 30/48</a:t>
            </a:r>
          </a:p>
        </p:txBody>
      </p:sp>
      <p:sp>
        <p:nvSpPr>
          <p:cNvPr id="12" name="Rounded Rectangle 11"/>
          <p:cNvSpPr/>
          <p:nvPr/>
        </p:nvSpPr>
        <p:spPr>
          <a:xfrm>
            <a:off x="6263640" y="1691640"/>
            <a:ext cx="5166360" cy="3977639"/>
          </a:xfrm>
          <a:prstGeom prst="roundRect">
            <a:avLst>
              <a:gd name="adj" fmla="val 5517"/>
            </a:avLst>
          </a:prstGeom>
          <a:solidFill>
            <a:srgbClr val="FFFFFE"/>
          </a:solidFill>
          <a:ln w="12700">
            <a:solidFill>
              <a:srgbClr val="DCD8CF"/>
            </a:solidFill>
          </a:ln>
          <a:effectLst/>
        </p:spPr>
        <p:txBody>
          <a:bodyPr rtlCol="0" anchor="ctr"/>
          <a:lstStyle/>
          <a:p>
            <a:pPr algn="ctr"/>
          </a:p>
        </p:txBody>
      </p:sp>
      <p:sp>
        <p:nvSpPr>
          <p:cNvPr id="13" name="TextBox 12"/>
          <p:cNvSpPr txBox="1"/>
          <p:nvPr/>
        </p:nvSpPr>
        <p:spPr>
          <a:xfrm>
            <a:off x="6446520" y="1828800"/>
            <a:ext cx="4754880" cy="548640"/>
          </a:xfrm>
          <a:prstGeom prst="rect">
            <a:avLst/>
          </a:prstGeom>
          <a:noFill/>
        </p:spPr>
        <p:txBody>
          <a:bodyPr wrap="square" anchor="t">
            <a:spAutoFit/>
          </a:bodyPr>
          <a:lstStyle/>
          <a:p>
            <a:pPr algn="l">
              <a:spcAft>
                <a:spcPts val="400"/>
              </a:spcAft>
            </a:pPr>
            <a:r>
              <a:rPr sz="2600" b="1">
                <a:solidFill>
                  <a:srgbClr val="21201C"/>
                </a:solidFill>
                <a:latin typeface="Cambria"/>
              </a:rPr>
              <a:t>Woodlands Hub</a:t>
            </a:r>
          </a:p>
        </p:txBody>
      </p:sp>
      <p:sp>
        <p:nvSpPr>
          <p:cNvPr id="14" name="TextBox 13"/>
          <p:cNvSpPr txBox="1"/>
          <p:nvPr/>
        </p:nvSpPr>
        <p:spPr>
          <a:xfrm>
            <a:off x="6446520" y="2560320"/>
            <a:ext cx="4754880" cy="411480"/>
          </a:xfrm>
          <a:prstGeom prst="rect">
            <a:avLst/>
          </a:prstGeom>
          <a:noFill/>
        </p:spPr>
        <p:txBody>
          <a:bodyPr wrap="square" anchor="t">
            <a:spAutoFit/>
          </a:bodyPr>
          <a:lstStyle/>
          <a:p>
            <a:pPr algn="l">
              <a:spcAft>
                <a:spcPts val="400"/>
              </a:spcAft>
            </a:pPr>
            <a:r>
              <a:rPr sz="2300" b="0">
                <a:solidFill>
                  <a:srgbClr val="21201C"/>
                </a:solidFill>
                <a:latin typeface="Calibri"/>
              </a:rPr>
              <a:t>Total: 24</a:t>
            </a:r>
          </a:p>
        </p:txBody>
      </p:sp>
      <p:sp>
        <p:nvSpPr>
          <p:cNvPr id="15" name="TextBox 14"/>
          <p:cNvSpPr txBox="1"/>
          <p:nvPr/>
        </p:nvSpPr>
        <p:spPr>
          <a:xfrm>
            <a:off x="6446520" y="3072384"/>
            <a:ext cx="4754880" cy="411480"/>
          </a:xfrm>
          <a:prstGeom prst="rect">
            <a:avLst/>
          </a:prstGeom>
          <a:noFill/>
        </p:spPr>
        <p:txBody>
          <a:bodyPr wrap="square" anchor="t">
            <a:spAutoFit/>
          </a:bodyPr>
          <a:lstStyle/>
          <a:p>
            <a:pPr algn="l">
              <a:spcAft>
                <a:spcPts val="400"/>
              </a:spcAft>
            </a:pPr>
            <a:r>
              <a:rPr sz="2300" b="0">
                <a:solidFill>
                  <a:srgbClr val="21201C"/>
                </a:solidFill>
                <a:latin typeface="Calibri"/>
              </a:rPr>
              <a:t>Backlog: 8</a:t>
            </a:r>
          </a:p>
        </p:txBody>
      </p:sp>
      <p:sp>
        <p:nvSpPr>
          <p:cNvPr id="16" name="TextBox 15"/>
          <p:cNvSpPr txBox="1"/>
          <p:nvPr/>
        </p:nvSpPr>
        <p:spPr>
          <a:xfrm>
            <a:off x="6446520" y="3584448"/>
            <a:ext cx="4754880" cy="411480"/>
          </a:xfrm>
          <a:prstGeom prst="rect">
            <a:avLst/>
          </a:prstGeom>
          <a:noFill/>
        </p:spPr>
        <p:txBody>
          <a:bodyPr wrap="square" anchor="t">
            <a:spAutoFit/>
          </a:bodyPr>
          <a:lstStyle/>
          <a:p>
            <a:pPr algn="l">
              <a:spcAft>
                <a:spcPts val="400"/>
              </a:spcAft>
            </a:pPr>
            <a:r>
              <a:rPr sz="2300" b="0">
                <a:solidFill>
                  <a:srgbClr val="21201C"/>
                </a:solidFill>
                <a:latin typeface="Calibri"/>
              </a:rPr>
              <a:t>Overdue: 7</a:t>
            </a:r>
          </a:p>
        </p:txBody>
      </p:sp>
      <p:sp>
        <p:nvSpPr>
          <p:cNvPr id="17" name="TextBox 16"/>
          <p:cNvSpPr txBox="1"/>
          <p:nvPr/>
        </p:nvSpPr>
        <p:spPr>
          <a:xfrm>
            <a:off x="6446520" y="4096512"/>
            <a:ext cx="4754880" cy="411480"/>
          </a:xfrm>
          <a:prstGeom prst="rect">
            <a:avLst/>
          </a:prstGeom>
          <a:noFill/>
        </p:spPr>
        <p:txBody>
          <a:bodyPr wrap="square" anchor="t">
            <a:spAutoFit/>
          </a:bodyPr>
          <a:lstStyle/>
          <a:p>
            <a:pPr algn="l">
              <a:spcAft>
                <a:spcPts val="400"/>
              </a:spcAft>
            </a:pPr>
            <a:r>
              <a:rPr sz="2300" b="0">
                <a:solidFill>
                  <a:srgbClr val="21201C"/>
                </a:solidFill>
                <a:latin typeface="Calibri"/>
              </a:rPr>
              <a:t>Closed: 16</a:t>
            </a:r>
          </a:p>
        </p:txBody>
      </p:sp>
      <p:sp>
        <p:nvSpPr>
          <p:cNvPr id="18" name="TextBox 17"/>
          <p:cNvSpPr txBox="1"/>
          <p:nvPr/>
        </p:nvSpPr>
        <p:spPr>
          <a:xfrm>
            <a:off x="6446520" y="4608576"/>
            <a:ext cx="4754880" cy="411480"/>
          </a:xfrm>
          <a:prstGeom prst="rect">
            <a:avLst/>
          </a:prstGeom>
          <a:noFill/>
        </p:spPr>
        <p:txBody>
          <a:bodyPr wrap="square" anchor="t">
            <a:spAutoFit/>
          </a:bodyPr>
          <a:lstStyle/>
          <a:p>
            <a:pPr algn="l">
              <a:spcAft>
                <a:spcPts val="400"/>
              </a:spcAft>
            </a:pPr>
            <a:r>
              <a:rPr sz="2300" b="0">
                <a:solidFill>
                  <a:srgbClr val="21201C"/>
                </a:solidFill>
                <a:latin typeface="Calibri"/>
              </a:rPr>
              <a:t>On-time closed: 10/16</a:t>
            </a:r>
          </a:p>
        </p:txBody>
      </p:sp>
      <p:sp>
        <p:nvSpPr>
          <p:cNvPr id="19" name="TextBox 18"/>
          <p:cNvSpPr txBox="1"/>
          <p:nvPr/>
        </p:nvSpPr>
        <p:spPr>
          <a:xfrm>
            <a:off x="777240" y="5989320"/>
            <a:ext cx="10698480" cy="274320"/>
          </a:xfrm>
          <a:prstGeom prst="rect">
            <a:avLst/>
          </a:prstGeom>
          <a:noFill/>
        </p:spPr>
        <p:txBody>
          <a:bodyPr wrap="square" anchor="t">
            <a:spAutoFit/>
          </a:bodyPr>
          <a:lstStyle/>
          <a:p>
            <a:pPr algn="l">
              <a:spcAft>
                <a:spcPts val="400"/>
              </a:spcAft>
            </a:pPr>
            <a:r>
              <a:rPr sz="1100" b="0">
                <a:solidFill>
                  <a:srgbClr val="21201C"/>
                </a:solidFill>
                <a:latin typeface="Calibri"/>
              </a:rPr>
              <a:t>Source: synthetic tblWorkOrders | 30 Sep 2026 | All filters All unless stated</a:t>
            </a:r>
          </a:p>
        </p:txBody>
      </p:sp>
      <p:sp>
        <p:nvSpPr>
          <p:cNvPr id="20" name="TextBox 1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1" name="TextBox 2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2" name="TextBox 2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104</a:t>
            </a:r>
          </a:p>
        </p:txBody>
      </p:sp>
    </p:spTree>
  </p:cSld>
  <p:clrMapOvr>
    <a:masterClrMapping/>
  </p:clrMapOvr>
  <p:transition spd="med">
    <p:fade/>
  </p:transition>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One Filter Scope for Every Visual</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Interactive means a learner-controlled selection changes the evidence shown.</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dashboard can appear interactive while only one chart changes.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Woodlands Hub in B2 or in the Site slicer gives 24 work orders.</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105</a:t>
            </a:r>
          </a:p>
        </p:txBody>
      </p:sp>
    </p:spTree>
  </p:cSld>
  <p:clrMapOvr>
    <a:masterClrMapping/>
  </p:clrMapOvr>
  <p:transition spd="med">
    <p:fade/>
  </p:transition>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One Filter Scope for Every Visual</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5B4B8A"/>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5B4B8A"/>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Define the selector cells.</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5B4B8A"/>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5B4B8A"/>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Apply the same AND mask everywhere.</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5B4B8A"/>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5B4B8A"/>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Test each control and edge case.</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5B4B8A"/>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5B4B8A"/>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Reconcile selected chart and KPI totals.</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106</a:t>
            </a:r>
          </a:p>
        </p:txBody>
      </p:sp>
    </p:spTree>
  </p:cSld>
  <p:clrMapOvr>
    <a:masterClrMapping/>
  </p:clrMapOvr>
  <p:transition spd="med">
    <p:fade/>
  </p:transition>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Apply the Concept — One Filter Scope for Every Visual</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Status New gives zero Closed and an N/A closure rate.</a:t>
            </a:r>
          </a:p>
          <a:p>
            <a:pPr>
              <a:spcAft>
                <a:spcPts val="1000"/>
              </a:spcAft>
            </a:pPr>
            <a:r>
              <a:rPr sz="1600" b="0">
                <a:solidFill>
                  <a:srgbClr val="21201C"/>
                </a:solidFill>
                <a:latin typeface="Calibri"/>
              </a:rPr>
              <a:t>•  D3 warns while any slicer hides source rows.</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107</a:t>
            </a:r>
          </a:p>
        </p:txBody>
      </p:sp>
    </p:spTree>
  </p:cSld>
  <p:clrMapOvr>
    <a:masterClrMapping/>
  </p:clrMapOvr>
  <p:transition spd="med">
    <p:fade/>
  </p:transition>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Refresh Tests and Static Snapshots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refresh test deliberately introduces known new records and verifies the expected delta.</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correct dashboard today may fail after the next export if formulas reference a fixed cell range.</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Two test rows increase total by2 and recorded cost byS$400.</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108</a:t>
            </a:r>
          </a:p>
        </p:txBody>
      </p:sp>
    </p:spTree>
  </p:cSld>
  <p:clrMapOvr>
    <a:masterClrMapping/>
  </p:clrMapOvr>
  <p:transition spd="med">
    <p:fade/>
  </p:transition>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Refresh Tests and Static Snapshots</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5B4B8A"/>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5B4B8A"/>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Save an isolated sandbox copy.</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5B4B8A"/>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5B4B8A"/>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Append known unique test rows.</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5B4B8A"/>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5B4B8A"/>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Recalculate and verify expected deltas.</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5B4B8A"/>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5B4B8A"/>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Handoff the untouched baseline.</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109</a:t>
            </a:r>
          </a:p>
        </p:txBody>
      </p:sp>
    </p:spTree>
  </p:cSld>
  <p:clrMapOvr>
    <a:masterClrMapping/>
  </p:clrMapOvr>
  <p:transition spd="med">
    <p:fade/>
  </p:transition>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Apply the Concept — Refresh Tests and Static Snapshots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Only one new row adds to backlog/overdue; the other adds to on-time Closed.</a:t>
            </a:r>
          </a:p>
          <a:p>
            <a:pPr>
              <a:spcAft>
                <a:spcPts val="1000"/>
              </a:spcAft>
            </a:pPr>
            <a:r>
              <a:rPr sz="1600" b="0">
                <a:solidFill>
                  <a:srgbClr val="21201C"/>
                </a:solidFill>
                <a:latin typeface="Calibri"/>
              </a:rPr>
              <a:t>•  The final deck uses the untouched 120-row baseline, not the test copy.</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110</a:t>
            </a:r>
          </a:p>
        </p:txBody>
      </p:sp>
    </p:spTree>
  </p:cSld>
  <p:clrMapOvr>
    <a:masterClrMapping/>
  </p:clrMapOvr>
  <p:transition spd="med">
    <p:fade/>
  </p:transition>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THEME · INTERACTIVE FILTERS AND REFRESH</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Use the Dashboard Skill for Filters, Refresh and Safe Reruns</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8</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2100" b="0">
                <a:solidFill>
                  <a:srgbClr val="21201C"/>
                </a:solidFill>
                <a:latin typeface="Calibri"/>
              </a:rPr>
              <a:t>Continue Lab 7 by making four dropdown selectors control every KPI and chart. Test a single site, a zero-denominator selection and a combined category/owner filter.</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600" b="1">
                <a:solidFill>
                  <a:srgbClr val="21201C"/>
                </a:solidFill>
                <a:latin typeface="Calibri"/>
              </a:rPr>
              <a:t>Northstar_Dashboard.xlsx with four working filters plus Northstar_Dashboard_Refresh_Test.xlsx, filter evidence and a verified baseline snapshot for PowerPoint.</a:t>
            </a:r>
          </a:p>
        </p:txBody>
      </p:sp>
      <p:sp>
        <p:nvSpPr>
          <p:cNvPr id="12" name="Rectangle 11"/>
          <p:cNvSpPr/>
          <p:nvPr/>
        </p:nvSpPr>
        <p:spPr>
          <a:xfrm>
            <a:off x="1005840"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1  Ground</a:t>
            </a:r>
          </a:p>
        </p:txBody>
      </p:sp>
      <p:sp>
        <p:nvSpPr>
          <p:cNvPr id="14" name="Rectangle 13"/>
          <p:cNvSpPr/>
          <p:nvPr/>
        </p:nvSpPr>
        <p:spPr>
          <a:xfrm>
            <a:off x="3561588"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616452"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2  Build</a:t>
            </a:r>
          </a:p>
        </p:txBody>
      </p:sp>
      <p:sp>
        <p:nvSpPr>
          <p:cNvPr id="16" name="Rectangle 15"/>
          <p:cNvSpPr/>
          <p:nvPr/>
        </p:nvSpPr>
        <p:spPr>
          <a:xfrm>
            <a:off x="6117336"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6172200"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3  Verify</a:t>
            </a:r>
          </a:p>
        </p:txBody>
      </p:sp>
      <p:sp>
        <p:nvSpPr>
          <p:cNvPr id="18" name="Rectangle 17"/>
          <p:cNvSpPr/>
          <p:nvPr/>
        </p:nvSpPr>
        <p:spPr>
          <a:xfrm>
            <a:off x="8673084"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8727948"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4  Handoff</a:t>
            </a:r>
          </a:p>
        </p:txBody>
      </p:sp>
      <p:sp>
        <p:nvSpPr>
          <p:cNvPr id="20" name="TextBox 19"/>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Copilot · Microsoft 365 Copilot web · OneDrive</a:t>
            </a:r>
          </a:p>
        </p:txBody>
      </p:sp>
      <p:sp>
        <p:nvSpPr>
          <p:cNvPr id="21" name="TextBox 20"/>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2" name="TextBox 21"/>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3" name="TextBox 22"/>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111</a:t>
            </a:r>
          </a:p>
        </p:txBody>
      </p:sp>
    </p:spTree>
  </p:cSld>
  <p:clrMapOvr>
    <a:masterClrMapping/>
  </p:clrMapOvr>
  <p:transition spd="med">
    <p:fade/>
  </p:transition>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8</a:t>
            </a:r>
          </a:p>
        </p:txBody>
      </p:sp>
      <p:sp>
        <p:nvSpPr>
          <p:cNvPr id="5" name="Rounded Rectangle 4"/>
          <p:cNvSpPr/>
          <p:nvPr/>
        </p:nvSpPr>
        <p:spPr>
          <a:xfrm>
            <a:off x="777240" y="1828800"/>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10634472"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Scope: State actual source, report date and selected scope before acting.</a:t>
            </a:r>
          </a:p>
        </p:txBody>
      </p:sp>
      <p:sp>
        <p:nvSpPr>
          <p:cNvPr id="10" name="Rounded Rectangle 9"/>
          <p:cNvSpPr/>
          <p:nvPr/>
        </p:nvSpPr>
        <p:spPr>
          <a:xfrm>
            <a:off x="777240" y="4059936"/>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777240" y="4059936"/>
            <a:ext cx="10634472" cy="64008"/>
          </a:xfrm>
          <a:prstGeom prst="rect">
            <a:avLst/>
          </a:prstGeom>
          <a:solidFill>
            <a:srgbClr val="D97757"/>
          </a:solidFill>
          <a:ln>
            <a:noFill/>
          </a:ln>
          <a:effectLst/>
        </p:spPr>
        <p:txBody>
          <a:bodyPr rtlCol="0" anchor="ctr"/>
          <a:lstStyle/>
          <a:p>
            <a:pPr algn="ctr"/>
          </a:p>
        </p:txBody>
      </p:sp>
      <p:sp>
        <p:nvSpPr>
          <p:cNvPr id="12" name="Oval 11"/>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Verify: Explain the source/formula checks and preserve unknowns and original records.</a:t>
            </a:r>
          </a:p>
        </p:txBody>
      </p:sp>
      <p:sp>
        <p:nvSpPr>
          <p:cNvPr id="15" name="TextBox 1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6" name="TextBox 1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7" name="TextBox 1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112</a:t>
            </a:r>
          </a:p>
        </p:txBody>
      </p:sp>
    </p:spTree>
  </p:cSld>
  <p:clrMapOvr>
    <a:masterClrMapping/>
  </p:clrMapOvr>
  <p:transition spd="med">
    <p:fade/>
  </p:transition>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8</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Woodlands control</a:t>
            </a:r>
          </a:p>
          <a:p>
            <a:pPr algn="l">
              <a:spcAft>
                <a:spcPts val="300"/>
              </a:spcAft>
            </a:pPr>
            <a:r>
              <a:rPr sz="1300" b="0">
                <a:solidFill>
                  <a:srgbClr val="6B6862"/>
                </a:solidFill>
                <a:latin typeface="Calibri"/>
              </a:rPr>
              <a:t>Total 24; backlog 8; overdue 7; closed 16; cost S$6,668.50; on-time 10/16.</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Interactive scope</a:t>
            </a:r>
          </a:p>
          <a:p>
            <a:pPr algn="l">
              <a:spcAft>
                <a:spcPts val="300"/>
              </a:spcAft>
            </a:pPr>
            <a:r>
              <a:rPr sz="1300" b="0">
                <a:solidFill>
                  <a:srgbClr val="6B6862"/>
                </a:solidFill>
                <a:latin typeface="Calibri"/>
              </a:rPr>
              <a:t>Changing any dropdown or slicer affects all six KPI tiles and all chart counts; D3 reports slicer filters.</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Edge case</a:t>
            </a:r>
          </a:p>
          <a:p>
            <a:pPr algn="l">
              <a:spcAft>
                <a:spcPts val="300"/>
              </a:spcAft>
            </a:pPr>
            <a:r>
              <a:rPr sz="1300" b="0">
                <a:solidFill>
                  <a:srgbClr val="6B6862"/>
                </a:solidFill>
                <a:latin typeface="Calibri"/>
              </a:rPr>
              <a:t>No Closed -&gt; N/A; no rows -&gt; zero count/cost and N/A rate.</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Refresh sandbox</a:t>
            </a:r>
          </a:p>
          <a:p>
            <a:pPr algn="l">
              <a:spcAft>
                <a:spcPts val="300"/>
              </a:spcAft>
            </a:pPr>
            <a:r>
              <a:rPr sz="1300" b="0">
                <a:solidFill>
                  <a:srgbClr val="6B6862"/>
                </a:solidFill>
                <a:latin typeface="Calibri"/>
              </a:rPr>
              <a:t>122 total;49 closed;61 backlog;51 overdue;S$36,227.50;31/49 on-time.</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Handoff baseline</a:t>
            </a:r>
          </a:p>
          <a:p>
            <a:pPr algn="l">
              <a:spcAft>
                <a:spcPts val="300"/>
              </a:spcAft>
            </a:pPr>
            <a:r>
              <a:rPr sz="1300" b="0">
                <a:solidFill>
                  <a:srgbClr val="6B6862"/>
                </a:solidFill>
                <a:latin typeface="Calibri"/>
              </a:rPr>
              <a:t>Return to 120-row untouched baseline; date and All scope recorded.</a:t>
            </a:r>
          </a:p>
        </p:txBody>
      </p:sp>
      <p:sp>
        <p:nvSpPr>
          <p:cNvPr id="30" name="TextBox 2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31" name="TextBox 3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2" name="TextBox 3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113</a:t>
            </a:r>
          </a:p>
        </p:txBody>
      </p:sp>
    </p:spTree>
  </p:cSld>
  <p:clrMapOvr>
    <a:masterClrMapping/>
  </p:clrMapOvr>
  <p:transition spd="med">
    <p:fade/>
  </p:transition>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TOPIC RECAP</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Recap - Interactive Dashboards with Custom Skills</a:t>
            </a:r>
          </a:p>
        </p:txBody>
      </p:sp>
      <p:sp>
        <p:nvSpPr>
          <p:cNvPr id="5" name="Rounded Rectangle 4"/>
          <p:cNvSpPr/>
          <p:nvPr/>
        </p:nvSpPr>
        <p:spPr>
          <a:xfrm>
            <a:off x="777240" y="1828800"/>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10634472"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LO3: Six KPI tiles and three charts follow four dropdowns and slicers.</a:t>
            </a:r>
          </a:p>
        </p:txBody>
      </p:sp>
      <p:sp>
        <p:nvSpPr>
          <p:cNvPr id="10" name="Rounded Rectangle 9"/>
          <p:cNvSpPr/>
          <p:nvPr/>
        </p:nvSpPr>
        <p:spPr>
          <a:xfrm>
            <a:off x="777240" y="4059936"/>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777240" y="4059936"/>
            <a:ext cx="10634472" cy="64008"/>
          </a:xfrm>
          <a:prstGeom prst="rect">
            <a:avLst/>
          </a:prstGeom>
          <a:solidFill>
            <a:srgbClr val="D97757"/>
          </a:solidFill>
          <a:ln>
            <a:noFill/>
          </a:ln>
          <a:effectLst/>
        </p:spPr>
        <p:txBody>
          <a:bodyPr rtlCol="0" anchor="ctr"/>
          <a:lstStyle/>
          <a:p>
            <a:pPr algn="ctr"/>
          </a:p>
        </p:txBody>
      </p:sp>
      <p:sp>
        <p:nvSpPr>
          <p:cNvPr id="12" name="Oval 11"/>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Verify: Baseline controls and known refresh deltas.</a:t>
            </a:r>
          </a:p>
        </p:txBody>
      </p:sp>
      <p:sp>
        <p:nvSpPr>
          <p:cNvPr id="15" name="TextBox 1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6" name="TextBox 1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7" name="TextBox 1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114</a:t>
            </a:r>
          </a:p>
        </p:txBody>
      </p:sp>
    </p:spTree>
  </p:cSld>
  <p:clrMapOvr>
    <a:masterClrMapping/>
  </p:clrMapOvr>
  <p:transition spd="med">
    <p:fade/>
  </p:transition>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TOPIC 4</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Create a Professional Presentation with PowerPoint Copilot</a:t>
            </a:r>
          </a:p>
        </p:txBody>
      </p:sp>
      <p:sp>
        <p:nvSpPr>
          <p:cNvPr id="7" name="Rectangle 6"/>
          <p:cNvSpPr/>
          <p:nvPr/>
        </p:nvSpPr>
        <p:spPr>
          <a:xfrm>
            <a:off x="841248" y="4206240"/>
            <a:ext cx="1143000" cy="64008"/>
          </a:xfrm>
          <a:prstGeom prst="rect">
            <a:avLst/>
          </a:prstGeom>
          <a:solidFill>
            <a:srgbClr val="C2603F"/>
          </a:solidFill>
          <a:ln>
            <a:noFill/>
          </a:ln>
          <a:effectLst/>
        </p:spPr>
        <p:txBody>
          <a:bodyPr rtlCol="0" anchor="ctr"/>
          <a:lstStyle/>
          <a:p>
            <a:pPr algn="ctr"/>
          </a:p>
        </p:txBody>
      </p:sp>
      <p:sp>
        <p:nvSpPr>
          <p:cNvPr id="8" name="TextBox 7"/>
          <p:cNvSpPr txBox="1"/>
          <p:nvPr/>
        </p:nvSpPr>
        <p:spPr>
          <a:xfrm>
            <a:off x="822960" y="4434840"/>
            <a:ext cx="8412480" cy="1097280"/>
          </a:xfrm>
          <a:prstGeom prst="rect">
            <a:avLst/>
          </a:prstGeom>
          <a:noFill/>
        </p:spPr>
        <p:txBody>
          <a:bodyPr wrap="square" anchor="t">
            <a:spAutoFit/>
          </a:bodyPr>
          <a:lstStyle/>
          <a:p>
            <a:pPr algn="l">
              <a:spcAft>
                <a:spcPts val="400"/>
              </a:spcAft>
            </a:pPr>
            <a:r>
              <a:rPr sz="1500" b="0">
                <a:solidFill>
                  <a:srgbClr val="B9B4A9"/>
                </a:solidFill>
                <a:latin typeface="Calibri"/>
              </a:rPr>
              <a:t>Continue the dashboard into a decision pack</a:t>
            </a:r>
          </a:p>
        </p:txBody>
      </p:sp>
      <p:sp>
        <p:nvSpPr>
          <p:cNvPr id="9" name="TextBox 8"/>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IES Academy</a:t>
            </a:r>
          </a:p>
        </p:txBody>
      </p:sp>
      <p:sp>
        <p:nvSpPr>
          <p:cNvPr id="10" name="TextBox 9"/>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GenAI for Engineers</a:t>
            </a:r>
          </a:p>
        </p:txBody>
      </p:sp>
      <p:sp>
        <p:nvSpPr>
          <p:cNvPr id="11" name="TextBox 10"/>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115</a:t>
            </a:r>
          </a:p>
        </p:txBody>
      </p:sp>
    </p:spTree>
  </p:cSld>
  <p:clrMapOvr>
    <a:masterClrMapping/>
  </p:clrMapOvr>
  <p:transition spd="med">
    <p:fade/>
  </p:transition>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KEY CONCEPTS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Key Concepts — Create a Professional Presentation with PowerPoint Copilot</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800" b="1">
                <a:solidFill>
                  <a:srgbClr val="21201C"/>
                </a:solidFill>
                <a:latin typeface="Cambria"/>
              </a:rPr>
              <a:t>Evidence story</a:t>
            </a:r>
          </a:p>
          <a:p>
            <a:pPr algn="l">
              <a:spcAft>
                <a:spcPts val="300"/>
              </a:spcAft>
            </a:pPr>
            <a:r>
              <a:rPr sz="1400" b="0">
                <a:solidFill>
                  <a:srgbClr val="6B6862"/>
                </a:solidFill>
                <a:latin typeface="Calibri"/>
              </a:rPr>
              <a:t>Observation, implication, action and decision.</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800" b="1">
                <a:solidFill>
                  <a:srgbClr val="21201C"/>
                </a:solidFill>
                <a:latin typeface="Cambria"/>
              </a:rPr>
              <a:t>Charts</a:t>
            </a:r>
          </a:p>
          <a:p>
            <a:pPr algn="l">
              <a:spcAft>
                <a:spcPts val="300"/>
              </a:spcAft>
            </a:pPr>
            <a:r>
              <a:rPr sz="1400" b="0">
                <a:solidFill>
                  <a:srgbClr val="6B6862"/>
                </a:solidFill>
                <a:latin typeface="Calibri"/>
              </a:rPr>
              <a:t>Reviewed values, provenance and snapshot date.</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800" b="1">
                <a:solidFill>
                  <a:srgbClr val="21201C"/>
                </a:solidFill>
                <a:latin typeface="Cambria"/>
              </a:rPr>
              <a:t>Refinement</a:t>
            </a:r>
          </a:p>
          <a:p>
            <a:pPr algn="l">
              <a:spcAft>
                <a:spcPts val="300"/>
              </a:spcAft>
            </a:pPr>
            <a:r>
              <a:rPr sz="1400" b="0">
                <a:solidFill>
                  <a:srgbClr val="6B6862"/>
                </a:solidFill>
                <a:latin typeface="Calibri"/>
              </a:rPr>
              <a:t>Hierarchy, notes and actual rehearsal feedback.</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800" b="1">
                <a:solidFill>
                  <a:srgbClr val="21201C"/>
                </a:solidFill>
                <a:latin typeface="Cambria"/>
              </a:rPr>
              <a:t>Handoff</a:t>
            </a:r>
          </a:p>
          <a:p>
            <a:pPr algn="l">
              <a:spcAft>
                <a:spcPts val="300"/>
              </a:spcAft>
            </a:pPr>
            <a:r>
              <a:rPr sz="1400" b="0">
                <a:solidFill>
                  <a:srgbClr val="6B6862"/>
                </a:solidFill>
                <a:latin typeface="Calibri"/>
              </a:rPr>
              <a:t>Reconciled pack and unsent communication.</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116</a:t>
            </a:r>
          </a:p>
        </p:txBody>
      </p:sp>
    </p:spTree>
  </p:cSld>
  <p:clrMapOvr>
    <a:masterClrMapping/>
  </p:clrMapOvr>
  <p:transition spd="med">
    <p:fade/>
  </p:transition>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WHAT YOU'LL DO</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Hands-On Labs — Create a Professional Presentation with PowerPoint Copilot</a:t>
            </a:r>
          </a:p>
        </p:txBody>
      </p:sp>
      <p:sp>
        <p:nvSpPr>
          <p:cNvPr id="5" name="Rounded Rectangle 4"/>
          <p:cNvSpPr/>
          <p:nvPr/>
        </p:nvSpPr>
        <p:spPr>
          <a:xfrm>
            <a:off x="777240" y="1783080"/>
            <a:ext cx="5225796"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225796"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4814316" cy="548640"/>
          </a:xfrm>
          <a:prstGeom prst="rect">
            <a:avLst/>
          </a:prstGeom>
          <a:noFill/>
        </p:spPr>
        <p:txBody>
          <a:bodyPr wrap="square" anchor="t">
            <a:spAutoFit/>
          </a:bodyPr>
          <a:lstStyle/>
          <a:p>
            <a:pPr algn="l">
              <a:spcAft>
                <a:spcPts val="400"/>
              </a:spcAft>
            </a:pPr>
            <a:r>
              <a:rPr sz="1900" b="1">
                <a:solidFill>
                  <a:srgbClr val="D97757"/>
                </a:solidFill>
                <a:latin typeface="Cambria"/>
              </a:rPr>
              <a:t>Lab 9</a:t>
            </a:r>
          </a:p>
        </p:txBody>
      </p:sp>
      <p:sp>
        <p:nvSpPr>
          <p:cNvPr id="8" name="TextBox 7"/>
          <p:cNvSpPr txBox="1"/>
          <p:nvPr/>
        </p:nvSpPr>
        <p:spPr>
          <a:xfrm>
            <a:off x="1005840" y="2697480"/>
            <a:ext cx="4814316" cy="3108960"/>
          </a:xfrm>
          <a:prstGeom prst="rect">
            <a:avLst/>
          </a:prstGeom>
          <a:noFill/>
        </p:spPr>
        <p:txBody>
          <a:bodyPr wrap="square">
            <a:spAutoFit/>
          </a:bodyPr>
          <a:lstStyle/>
          <a:p>
            <a:pPr>
              <a:spcAft>
                <a:spcPts val="900"/>
              </a:spcAft>
            </a:pPr>
            <a:r>
              <a:rPr sz="1400" b="1">
                <a:solidFill>
                  <a:srgbClr val="21201C"/>
                </a:solidFill>
                <a:latin typeface="Calibri"/>
              </a:rPr>
              <a:t>•  Dashboard to presentation</a:t>
            </a:r>
          </a:p>
          <a:p>
            <a:pPr>
              <a:spcAft>
                <a:spcPts val="900"/>
              </a:spcAft>
            </a:pPr>
            <a:r>
              <a:rPr sz="1200" b="0">
                <a:solidFill>
                  <a:srgbClr val="6B6862"/>
                </a:solidFill>
                <a:latin typeface="Calibri"/>
              </a:rPr>
              <a:t>–  Turn Dashboard Evidence into a Management Story</a:t>
            </a:r>
          </a:p>
        </p:txBody>
      </p:sp>
      <p:sp>
        <p:nvSpPr>
          <p:cNvPr id="9" name="Rounded Rectangle 8"/>
          <p:cNvSpPr/>
          <p:nvPr/>
        </p:nvSpPr>
        <p:spPr>
          <a:xfrm>
            <a:off x="6185916" y="1783080"/>
            <a:ext cx="5225796"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6185916" y="1783080"/>
            <a:ext cx="5225796"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6414516" y="2011680"/>
            <a:ext cx="4814316" cy="548640"/>
          </a:xfrm>
          <a:prstGeom prst="rect">
            <a:avLst/>
          </a:prstGeom>
          <a:noFill/>
        </p:spPr>
        <p:txBody>
          <a:bodyPr wrap="square" anchor="t">
            <a:spAutoFit/>
          </a:bodyPr>
          <a:lstStyle/>
          <a:p>
            <a:pPr algn="l">
              <a:spcAft>
                <a:spcPts val="400"/>
              </a:spcAft>
            </a:pPr>
            <a:r>
              <a:rPr sz="1900" b="1">
                <a:solidFill>
                  <a:srgbClr val="3A7D7B"/>
                </a:solidFill>
                <a:latin typeface="Cambria"/>
              </a:rPr>
              <a:t>Lab 10</a:t>
            </a:r>
          </a:p>
        </p:txBody>
      </p:sp>
      <p:sp>
        <p:nvSpPr>
          <p:cNvPr id="12" name="TextBox 11"/>
          <p:cNvSpPr txBox="1"/>
          <p:nvPr/>
        </p:nvSpPr>
        <p:spPr>
          <a:xfrm>
            <a:off x="6414516" y="2697480"/>
            <a:ext cx="4814316" cy="3108960"/>
          </a:xfrm>
          <a:prstGeom prst="rect">
            <a:avLst/>
          </a:prstGeom>
          <a:noFill/>
        </p:spPr>
        <p:txBody>
          <a:bodyPr wrap="square">
            <a:spAutoFit/>
          </a:bodyPr>
          <a:lstStyle/>
          <a:p>
            <a:pPr>
              <a:spcAft>
                <a:spcPts val="900"/>
              </a:spcAft>
            </a:pPr>
            <a:r>
              <a:rPr sz="1400" b="1">
                <a:solidFill>
                  <a:srgbClr val="21201C"/>
                </a:solidFill>
                <a:latin typeface="Calibri"/>
              </a:rPr>
              <a:t>•  Professional handoff</a:t>
            </a:r>
          </a:p>
          <a:p>
            <a:pPr>
              <a:spcAft>
                <a:spcPts val="900"/>
              </a:spcAft>
            </a:pPr>
            <a:r>
              <a:rPr sz="1200" b="0">
                <a:solidFill>
                  <a:srgbClr val="6B6862"/>
                </a:solidFill>
                <a:latin typeface="Calibri"/>
              </a:rPr>
              <a:t>–  Refine and Present the Maintenance Decision Deck</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117</a:t>
            </a:r>
          </a:p>
        </p:txBody>
      </p:sp>
    </p:spTree>
  </p:cSld>
  <p:clrMapOvr>
    <a:masterClrMapping/>
  </p:clrMapOvr>
  <p:transition spd="med">
    <p:fade/>
  </p:transition>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EVIDENCE TO NARRATIVE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 Verified Chart Becomes a Decision</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5B4B8A"/>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5B4B8A"/>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Observed backlog</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5B4B8A"/>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5B4B8A"/>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Operational implication</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5B4B8A"/>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5B4B8A"/>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Proposed recovery action</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5B4B8A"/>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5B4B8A"/>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Manager decision requested</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118</a:t>
            </a:r>
          </a:p>
        </p:txBody>
      </p:sp>
    </p:spTree>
  </p:cSld>
  <p:clrMapOvr>
    <a:masterClrMapping/>
  </p:clrMapOvr>
  <p:transition spd="med">
    <p:fade/>
  </p:transition>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9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From Dashboard Evidence to a Decision Story</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C2603F"/>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C2603F"/>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management presentation transforms evidence into a sequence of observations, implications, proposed actions and a decision request.</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Copilot can accelerate outlines and drafting, but a persuasive invented conclusion is still wrong.</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Backlog by site supports prioritisation, not a proven cause.</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119</a:t>
            </a:r>
          </a:p>
        </p:txBody>
      </p:sp>
    </p:spTree>
  </p:cSld>
  <p:clrMapOvr>
    <a:masterClrMapping/>
  </p:clrMapOvr>
  <p:transition spd="med">
    <p:fade/>
  </p:transition>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9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From Dashboard Evidence to a Decision Story</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C2603F"/>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C2603F"/>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Freeze the verified dashboard snapshot.</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C2603F"/>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C2603F"/>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C2603F"/>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Register each proposed claim.</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C2603F"/>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C2603F"/>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C2603F"/>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Write a reviewed Word brief.</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C2603F"/>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C2603F"/>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C2603F"/>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Generate and reconcile the deck.</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120</a:t>
            </a:r>
          </a:p>
        </p:txBody>
      </p:sp>
    </p:spTree>
  </p:cSld>
  <p:clrMapOvr>
    <a:masterClrMapping/>
  </p:clrMapOvr>
  <p:transition spd="med">
    <p:fade/>
  </p:transition>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9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Apply the Concept — From Dashboard Evidence to a Decision Story</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Available-hours evidence supports a capacity discussion, not confirmed allocation.</a:t>
            </a:r>
          </a:p>
          <a:p>
            <a:pPr>
              <a:spcAft>
                <a:spcPts val="1000"/>
              </a:spcAft>
            </a:pPr>
            <a:r>
              <a:rPr sz="1600" b="0">
                <a:solidFill>
                  <a:srgbClr val="21201C"/>
                </a:solidFill>
                <a:latin typeface="Calibri"/>
              </a:rPr>
              <a:t>•  The final slide asks management to decide on a proposed plan.</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121</a:t>
            </a:r>
          </a:p>
        </p:txBody>
      </p:sp>
    </p:spTree>
  </p:cSld>
  <p:clrMapOvr>
    <a:masterClrMapping/>
  </p:clrMapOvr>
  <p:transition spd="med">
    <p:fade/>
  </p:transition>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9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Charts, Templates and Source Provenance</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C2603F"/>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C2603F"/>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template supplies slide layouts, typography and colours; it does not supply correct facts.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Approximate AI-generated charts can contradict source values while looking plausible.</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An editable embedded chart remains a copy rather than a tested live link.</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122</a:t>
            </a:r>
          </a:p>
        </p:txBody>
      </p:sp>
    </p:spTree>
  </p:cSld>
  <p:clrMapOvr>
    <a:masterClrMapping/>
  </p:clrMapOvr>
  <p:transition spd="med">
    <p:fade/>
  </p:transition>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9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Charts, Templates and Source Provenance</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C2603F"/>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C2603F"/>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Select the reviewed brief.</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C2603F"/>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C2603F"/>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C2603F"/>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Apply the existing template.</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C2603F"/>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C2603F"/>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C2603F"/>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Insert verified charts or tables.</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C2603F"/>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C2603F"/>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C2603F"/>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Record source and snapshot scope.</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123</a:t>
            </a:r>
          </a:p>
        </p:txBody>
      </p:sp>
    </p:spTree>
  </p:cSld>
  <p:clrMapOvr>
    <a:masterClrMapping/>
  </p:clrMapOvr>
  <p:transition spd="med">
    <p:fade/>
  </p:transition>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9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Apply the Concept — Charts, Templates and Source Provenance</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An image is labelled as a snapshot at 30 September.</a:t>
            </a:r>
          </a:p>
          <a:p>
            <a:pPr>
              <a:spcAft>
                <a:spcPts val="1000"/>
              </a:spcAft>
            </a:pPr>
            <a:r>
              <a:rPr sz="1600" b="0">
                <a:solidFill>
                  <a:srgbClr val="21201C"/>
                </a:solidFill>
                <a:latin typeface="Calibri"/>
              </a:rPr>
              <a:t>•  All eight slides use one reviewed baseline.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124</a:t>
            </a:r>
          </a:p>
        </p:txBody>
      </p:sp>
    </p:spTree>
  </p:cSld>
  <p:clrMapOvr>
    <a:masterClrMapping/>
  </p:clrMapOvr>
  <p:transition spd="med">
    <p:fade/>
  </p:transition>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9 THEME · DASHBOARD TO PRESENTATION</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Turn Dashboard Evidence into a Management Story</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9</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2100" b="0">
                <a:solidFill>
                  <a:srgbClr val="21201C"/>
                </a:solidFill>
                <a:latin typeface="Calibri"/>
              </a:rPr>
              <a:t>Continue the baseline dashboard from Topic 3. Build a slide evidence register and a Word presentation brief before asking PowerPoint Copilot for an eight-slide management deck.</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600" b="1">
                <a:solidFill>
                  <a:srgbClr val="21201C"/>
                </a:solidFill>
                <a:latin typeface="Calibri"/>
              </a:rPr>
              <a:t>Northstar_Presentation_Brief.docx, Northstar_Management_Draft.pptx and a slide-by-slide evidence register tied to the 120-row dashboard snapshot.</a:t>
            </a:r>
          </a:p>
        </p:txBody>
      </p:sp>
      <p:sp>
        <p:nvSpPr>
          <p:cNvPr id="12" name="Rectangle 11"/>
          <p:cNvSpPr/>
          <p:nvPr/>
        </p:nvSpPr>
        <p:spPr>
          <a:xfrm>
            <a:off x="1005840"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1  Ground</a:t>
            </a:r>
          </a:p>
        </p:txBody>
      </p:sp>
      <p:sp>
        <p:nvSpPr>
          <p:cNvPr id="14" name="Rectangle 13"/>
          <p:cNvSpPr/>
          <p:nvPr/>
        </p:nvSpPr>
        <p:spPr>
          <a:xfrm>
            <a:off x="3561588"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616452"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2  Build</a:t>
            </a:r>
          </a:p>
        </p:txBody>
      </p:sp>
      <p:sp>
        <p:nvSpPr>
          <p:cNvPr id="16" name="Rectangle 15"/>
          <p:cNvSpPr/>
          <p:nvPr/>
        </p:nvSpPr>
        <p:spPr>
          <a:xfrm>
            <a:off x="6117336"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6172200"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3  Verify</a:t>
            </a:r>
          </a:p>
        </p:txBody>
      </p:sp>
      <p:sp>
        <p:nvSpPr>
          <p:cNvPr id="18" name="Rectangle 17"/>
          <p:cNvSpPr/>
          <p:nvPr/>
        </p:nvSpPr>
        <p:spPr>
          <a:xfrm>
            <a:off x="8673084"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8727948"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4  Handoff</a:t>
            </a:r>
          </a:p>
        </p:txBody>
      </p:sp>
      <p:sp>
        <p:nvSpPr>
          <p:cNvPr id="20" name="TextBox 19"/>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Microsoft 365 Copilot · Excel · Word · PowerPoint · Outlook · OneDrive</a:t>
            </a:r>
          </a:p>
        </p:txBody>
      </p:sp>
      <p:sp>
        <p:nvSpPr>
          <p:cNvPr id="21" name="TextBox 20"/>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2" name="TextBox 21"/>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3" name="TextBox 22"/>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125</a:t>
            </a:r>
          </a:p>
        </p:txBody>
      </p:sp>
    </p:spTree>
  </p:cSld>
  <p:clrMapOvr>
    <a:masterClrMapping/>
  </p:clrMapOvr>
  <p:transition spd="med">
    <p:fade/>
  </p:transition>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9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9</a:t>
            </a:r>
          </a:p>
        </p:txBody>
      </p:sp>
      <p:sp>
        <p:nvSpPr>
          <p:cNvPr id="5" name="Rounded Rectangle 4"/>
          <p:cNvSpPr/>
          <p:nvPr/>
        </p:nvSpPr>
        <p:spPr>
          <a:xfrm>
            <a:off x="777240" y="1828800"/>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10634472"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Scope: State actual source, report date and selected scope before acting.</a:t>
            </a:r>
          </a:p>
        </p:txBody>
      </p:sp>
      <p:sp>
        <p:nvSpPr>
          <p:cNvPr id="10" name="Rounded Rectangle 9"/>
          <p:cNvSpPr/>
          <p:nvPr/>
        </p:nvSpPr>
        <p:spPr>
          <a:xfrm>
            <a:off x="777240" y="4059936"/>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777240" y="4059936"/>
            <a:ext cx="10634472" cy="64008"/>
          </a:xfrm>
          <a:prstGeom prst="rect">
            <a:avLst/>
          </a:prstGeom>
          <a:solidFill>
            <a:srgbClr val="D97757"/>
          </a:solidFill>
          <a:ln>
            <a:noFill/>
          </a:ln>
          <a:effectLst/>
        </p:spPr>
        <p:txBody>
          <a:bodyPr rtlCol="0" anchor="ctr"/>
          <a:lstStyle/>
          <a:p>
            <a:pPr algn="ctr"/>
          </a:p>
        </p:txBody>
      </p:sp>
      <p:sp>
        <p:nvSpPr>
          <p:cNvPr id="12" name="Oval 11"/>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Verify: Explain the source/formula checks and preserve unknowns and original records.</a:t>
            </a:r>
          </a:p>
        </p:txBody>
      </p:sp>
      <p:sp>
        <p:nvSpPr>
          <p:cNvPr id="15" name="TextBox 1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6" name="TextBox 1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7" name="TextBox 1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126</a:t>
            </a:r>
          </a:p>
        </p:txBody>
      </p:sp>
    </p:spTree>
  </p:cSld>
  <p:clrMapOvr>
    <a:masterClrMapping/>
  </p:clrMapOvr>
  <p:transition spd="med">
    <p:fade/>
  </p:transition>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9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9</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Evidence continuity</a:t>
            </a:r>
          </a:p>
          <a:p>
            <a:pPr algn="l">
              <a:spcAft>
                <a:spcPts val="300"/>
              </a:spcAft>
            </a:pPr>
            <a:r>
              <a:rPr sz="1300" b="0">
                <a:solidFill>
                  <a:srgbClr val="6B6862"/>
                </a:solidFill>
                <a:latin typeface="Calibri"/>
              </a:rPr>
              <a:t>Every deck figure maps to the 120-row Lab 8 baseline and slide evidence register.</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Eight-slide narrative</a:t>
            </a:r>
          </a:p>
          <a:p>
            <a:pPr algn="l">
              <a:spcAft>
                <a:spcPts val="300"/>
              </a:spcAft>
            </a:pPr>
            <a:r>
              <a:rPr sz="1300" b="0">
                <a:solidFill>
                  <a:srgbClr val="6B6862"/>
                </a:solidFill>
                <a:latin typeface="Calibri"/>
              </a:rPr>
              <a:t>Observation -&gt; implication -&gt; proposed action -&gt; decision; no invented cause/savings.</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Chart semantics</a:t>
            </a:r>
          </a:p>
          <a:p>
            <a:pPr algn="l">
              <a:spcAft>
                <a:spcPts val="300"/>
              </a:spcAft>
            </a:pPr>
            <a:r>
              <a:rPr sz="1300" b="0">
                <a:solidFill>
                  <a:srgbClr val="6B6862"/>
                </a:solidFill>
                <a:latin typeface="Calibri"/>
              </a:rPr>
              <a:t>Backlog charts exclude Closed/Cancelled; embedded/image copies labelled snapshot.</a:t>
            </a:r>
          </a:p>
        </p:txBody>
      </p:sp>
      <p:sp>
        <p:nvSpPr>
          <p:cNvPr id="20" name="TextBox 1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1" name="TextBox 2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2" name="TextBox 2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127</a:t>
            </a:r>
          </a:p>
        </p:txBody>
      </p:sp>
    </p:spTree>
  </p:cSld>
  <p:clrMapOvr>
    <a:masterClrMapping/>
  </p:clrMapOvr>
  <p:transition spd="med">
    <p:fade/>
  </p:transition>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ARTIFACT LIFECYCLE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The Maintenance Reporting Handoff</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3A7D7B"/>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3A7D7B"/>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Interactive workbook</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3A7D7B"/>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3A7D7B"/>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Dated Word evidence</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3A7D7B"/>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3A7D7B"/>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Static PPTX + PDF</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3A7D7B"/>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3A7D7B"/>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Reviewed unsent email</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128</a:t>
            </a:r>
          </a:p>
        </p:txBody>
      </p:sp>
    </p:spTree>
  </p:cSld>
  <p:clrMapOvr>
    <a:masterClrMapping/>
  </p:clrMapOvr>
  <p:transition spd="med">
    <p:fade/>
  </p:transition>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10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Professional Refinement and Rehearsal</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C2603F"/>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C2603F"/>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Refinement improves the clarity of the existing evidence without changing its meaning.</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well-designed deck can still fail when the speaker’s notes contain different numbers or a proposal is spoken as an approved action.</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One message per slide; chart labels remain readable.</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129</a:t>
            </a:r>
          </a:p>
        </p:txBody>
      </p:sp>
    </p:spTree>
  </p:cSld>
  <p:clrMapOvr>
    <a:masterClrMapping/>
  </p:clrMapOvr>
  <p:transition spd="med">
    <p:fade/>
  </p:transition>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10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Professional Refinement and Rehearsal</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C2603F"/>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C2603F"/>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Audit the draft against evidence.</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C2603F"/>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C2603F"/>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C2603F"/>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Apply reviewed design changes.</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C2603F"/>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C2603F"/>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C2603F"/>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Rehearse and record actual feedback.</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C2603F"/>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C2603F"/>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C2603F"/>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Inspect PPTX and exported PDF.</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130</a:t>
            </a:r>
          </a:p>
        </p:txBody>
      </p:sp>
    </p:spTree>
  </p:cSld>
  <p:clrMapOvr>
    <a:masterClrMapping/>
  </p:clrMapOvr>
  <p:transition spd="med">
    <p:fade/>
  </p:transition>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10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Apply the Concept — Professional Refinement and Rehearsal</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A 45-second note explains evidence and limitation.</a:t>
            </a:r>
          </a:p>
          <a:p>
            <a:pPr>
              <a:spcAft>
                <a:spcPts val="1000"/>
              </a:spcAft>
            </a:pPr>
            <a:r>
              <a:rPr sz="1600" b="0">
                <a:solidFill>
                  <a:srgbClr val="21201C"/>
                </a:solidFill>
                <a:latin typeface="Calibri"/>
              </a:rPr>
              <a:t>•  Partner feedback leads to one recorded revision.</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131</a:t>
            </a:r>
          </a:p>
        </p:txBody>
      </p:sp>
    </p:spTree>
  </p:cSld>
  <p:clrMapOvr>
    <a:masterClrMapping/>
  </p:clrMapOvr>
  <p:transition spd="med">
    <p:fade/>
  </p:transition>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10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Reviewed Handoff and Artifact Lifecycle</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C2603F"/>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C2603F"/>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The final pack contains an interactive Excel dashboard, a fixed reporting brief, a static PowerPoint/PDF snapshot, the custom skill and a reviewed communication draft.</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Updating one artifact without the others creates inconsistent communication.</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PowerPoint and PDF both show eight slides/pages from the same baseline.</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132</a:t>
            </a:r>
          </a:p>
        </p:txBody>
      </p:sp>
    </p:spTree>
  </p:cSld>
  <p:clrMapOvr>
    <a:masterClrMapping/>
  </p:clrMapOvr>
  <p:transition spd="med">
    <p:fade/>
  </p:transition>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10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Reviewed Handoff and Artifact Lifecycle</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C2603F"/>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C2603F"/>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Reconcile final artifacts.</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C2603F"/>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C2603F"/>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C2603F"/>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Record actual filenames and links.</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C2603F"/>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C2603F"/>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C2603F"/>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Review the handoff draft.</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C2603F"/>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C2603F"/>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C2603F"/>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Preserve the dated snapshot and skill.</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133</a:t>
            </a:r>
          </a:p>
        </p:txBody>
      </p:sp>
    </p:spTree>
  </p:cSld>
  <p:clrMapOvr>
    <a:masterClrMapping/>
  </p:clrMapOvr>
  <p:transition spd="med">
    <p:fade/>
  </p:transition>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10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Apply the Concept — Reviewed Handoff and Artifact Lifecycle</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Outlook does not claim a missing attachment was sent.</a:t>
            </a:r>
          </a:p>
          <a:p>
            <a:pPr>
              <a:spcAft>
                <a:spcPts val="1000"/>
              </a:spcAft>
            </a:pPr>
            <a:r>
              <a:rPr sz="1600" b="0">
                <a:solidFill>
                  <a:srgbClr val="21201C"/>
                </a:solidFill>
                <a:latin typeface="Calibri"/>
              </a:rPr>
              <a:t>•  The next update reruns the method with new verified inputs.</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134</a:t>
            </a:r>
          </a:p>
        </p:txBody>
      </p:sp>
    </p:spTree>
  </p:cSld>
  <p:clrMapOvr>
    <a:masterClrMapping/>
  </p:clrMapOvr>
  <p:transition spd="med">
    <p:fade/>
  </p:transition>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10 THEME · PROFESSIONAL HANDOFF</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Refine and Present the Maintenance Decision Deck</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10</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700" b="0">
                <a:solidFill>
                  <a:srgbClr val="21201C"/>
                </a:solidFill>
                <a:latin typeface="Calibri"/>
              </a:rPr>
              <a:t>Refine the management deck using the same custom skill and reviewed dashboard evidence. Improve hierarchy, consistency and speaker notes, test the story in a short rehearsal, and prepare a reviewed Outlook handoff draft.</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600" b="1">
                <a:solidFill>
                  <a:srgbClr val="21201C"/>
                </a:solidFill>
                <a:latin typeface="Calibri"/>
              </a:rPr>
              <a:t>Northstar_Management_Final.pptx/PDF, a rehearsal record, final evidence register and unsent Outlook handoff draft with accurate artifact links.</a:t>
            </a:r>
          </a:p>
        </p:txBody>
      </p:sp>
      <p:sp>
        <p:nvSpPr>
          <p:cNvPr id="12" name="Rectangle 11"/>
          <p:cNvSpPr/>
          <p:nvPr/>
        </p:nvSpPr>
        <p:spPr>
          <a:xfrm>
            <a:off x="1005840"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1  Ground</a:t>
            </a:r>
          </a:p>
        </p:txBody>
      </p:sp>
      <p:sp>
        <p:nvSpPr>
          <p:cNvPr id="14" name="Rectangle 13"/>
          <p:cNvSpPr/>
          <p:nvPr/>
        </p:nvSpPr>
        <p:spPr>
          <a:xfrm>
            <a:off x="3561588"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616452"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2  Build</a:t>
            </a:r>
          </a:p>
        </p:txBody>
      </p:sp>
      <p:sp>
        <p:nvSpPr>
          <p:cNvPr id="16" name="Rectangle 15"/>
          <p:cNvSpPr/>
          <p:nvPr/>
        </p:nvSpPr>
        <p:spPr>
          <a:xfrm>
            <a:off x="6117336"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6172200"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3  Verify</a:t>
            </a:r>
          </a:p>
        </p:txBody>
      </p:sp>
      <p:sp>
        <p:nvSpPr>
          <p:cNvPr id="18" name="Rectangle 17"/>
          <p:cNvSpPr/>
          <p:nvPr/>
        </p:nvSpPr>
        <p:spPr>
          <a:xfrm>
            <a:off x="8673084"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8727948"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4  Handoff</a:t>
            </a:r>
          </a:p>
        </p:txBody>
      </p:sp>
      <p:sp>
        <p:nvSpPr>
          <p:cNvPr id="20" name="TextBox 19"/>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Microsoft 365 Copilot · Excel · Word · PowerPoint · Outlook · OneDrive</a:t>
            </a:r>
          </a:p>
        </p:txBody>
      </p:sp>
      <p:sp>
        <p:nvSpPr>
          <p:cNvPr id="21" name="TextBox 20"/>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2" name="TextBox 21"/>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3" name="TextBox 22"/>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135</a:t>
            </a:r>
          </a:p>
        </p:txBody>
      </p:sp>
    </p:spTree>
  </p:cSld>
  <p:clrMapOvr>
    <a:masterClrMapping/>
  </p:clrMapOvr>
  <p:transition spd="med">
    <p:fade/>
  </p:transition>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10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10</a:t>
            </a:r>
          </a:p>
        </p:txBody>
      </p:sp>
      <p:sp>
        <p:nvSpPr>
          <p:cNvPr id="5" name="Rounded Rectangle 4"/>
          <p:cNvSpPr/>
          <p:nvPr/>
        </p:nvSpPr>
        <p:spPr>
          <a:xfrm>
            <a:off x="777240" y="1828800"/>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10634472"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Scope: State actual source, report date and selected scope before acting.</a:t>
            </a:r>
          </a:p>
        </p:txBody>
      </p:sp>
      <p:sp>
        <p:nvSpPr>
          <p:cNvPr id="10" name="Rounded Rectangle 9"/>
          <p:cNvSpPr/>
          <p:nvPr/>
        </p:nvSpPr>
        <p:spPr>
          <a:xfrm>
            <a:off x="777240" y="4059936"/>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777240" y="4059936"/>
            <a:ext cx="10634472" cy="64008"/>
          </a:xfrm>
          <a:prstGeom prst="rect">
            <a:avLst/>
          </a:prstGeom>
          <a:solidFill>
            <a:srgbClr val="D97757"/>
          </a:solidFill>
          <a:ln>
            <a:noFill/>
          </a:ln>
          <a:effectLst/>
        </p:spPr>
        <p:txBody>
          <a:bodyPr rtlCol="0" anchor="ctr"/>
          <a:lstStyle/>
          <a:p>
            <a:pPr algn="ctr"/>
          </a:p>
        </p:txBody>
      </p:sp>
      <p:sp>
        <p:nvSpPr>
          <p:cNvPr id="12" name="Oval 11"/>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Verify: Explain the source/formula checks and preserve unknowns and original records.</a:t>
            </a:r>
          </a:p>
        </p:txBody>
      </p:sp>
      <p:sp>
        <p:nvSpPr>
          <p:cNvPr id="15" name="TextBox 1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6" name="TextBox 1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7" name="TextBox 1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136</a:t>
            </a:r>
          </a:p>
        </p:txBody>
      </p:sp>
    </p:spTree>
  </p:cSld>
  <p:clrMapOvr>
    <a:masterClrMapping/>
  </p:clrMapOvr>
  <p:transition spd="med">
    <p:fade/>
  </p:transition>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10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10</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Presentation integrity</a:t>
            </a:r>
          </a:p>
          <a:p>
            <a:pPr algn="l">
              <a:spcAft>
                <a:spcPts val="300"/>
              </a:spcAft>
            </a:pPr>
            <a:r>
              <a:rPr sz="1300" b="0">
                <a:solidFill>
                  <a:srgbClr val="6B6862"/>
                </a:solidFill>
                <a:latin typeface="Calibri"/>
              </a:rPr>
              <a:t>Eight slides and eight PDF pages; visible figures agree with verified register.</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Professional delivery</a:t>
            </a:r>
          </a:p>
          <a:p>
            <a:pPr algn="l">
              <a:spcAft>
                <a:spcPts val="300"/>
              </a:spcAft>
            </a:pPr>
            <a:r>
              <a:rPr sz="1300" b="0">
                <a:solidFill>
                  <a:srgbClr val="6B6862"/>
                </a:solidFill>
                <a:latin typeface="Calibri"/>
              </a:rPr>
              <a:t>Readable chart labels, consistent design, evidence-specific notes and actual rehearsal improvement.</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Final continuity</a:t>
            </a:r>
          </a:p>
          <a:p>
            <a:pPr algn="l">
              <a:spcAft>
                <a:spcPts val="300"/>
              </a:spcAft>
            </a:pPr>
            <a:r>
              <a:rPr sz="1300" b="0">
                <a:solidFill>
                  <a:srgbClr val="6B6862"/>
                </a:solidFill>
                <a:latin typeface="Calibri"/>
              </a:rPr>
              <a:t>Baseline dashboard, brief, deck and unsent draft agree; static snapshot stated.</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Decision boundary</a:t>
            </a:r>
          </a:p>
          <a:p>
            <a:pPr algn="l">
              <a:spcAft>
                <a:spcPts val="300"/>
              </a:spcAft>
            </a:pPr>
            <a:r>
              <a:rPr sz="1300" b="0">
                <a:solidFill>
                  <a:srgbClr val="6B6862"/>
                </a:solidFill>
                <a:latin typeface="Calibri"/>
              </a:rPr>
              <a:t>No real email sent or work order reassigned; proposed actions remain proposed.</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137</a:t>
            </a:r>
          </a:p>
        </p:txBody>
      </p:sp>
    </p:spTree>
  </p:cSld>
  <p:clrMapOvr>
    <a:masterClrMapping/>
  </p:clrMapOvr>
  <p:transition spd="med">
    <p:fade/>
  </p:transition>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TOPIC RECAP</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Recap - Create a Professional Presentation with PowerPoint Copilot</a:t>
            </a:r>
          </a:p>
        </p:txBody>
      </p:sp>
      <p:sp>
        <p:nvSpPr>
          <p:cNvPr id="5" name="Rounded Rectangle 4"/>
          <p:cNvSpPr/>
          <p:nvPr/>
        </p:nvSpPr>
        <p:spPr>
          <a:xfrm>
            <a:off x="777240" y="1828800"/>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10634472"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LO4: Eight-slide evidence story and reviewed handoff.</a:t>
            </a:r>
          </a:p>
        </p:txBody>
      </p:sp>
      <p:sp>
        <p:nvSpPr>
          <p:cNvPr id="10" name="Rounded Rectangle 9"/>
          <p:cNvSpPr/>
          <p:nvPr/>
        </p:nvSpPr>
        <p:spPr>
          <a:xfrm>
            <a:off x="777240" y="4059936"/>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777240" y="4059936"/>
            <a:ext cx="10634472" cy="64008"/>
          </a:xfrm>
          <a:prstGeom prst="rect">
            <a:avLst/>
          </a:prstGeom>
          <a:solidFill>
            <a:srgbClr val="D97757"/>
          </a:solidFill>
          <a:ln>
            <a:noFill/>
          </a:ln>
          <a:effectLst/>
        </p:spPr>
        <p:txBody>
          <a:bodyPr rtlCol="0" anchor="ctr"/>
          <a:lstStyle/>
          <a:p>
            <a:pPr algn="ctr"/>
          </a:p>
        </p:txBody>
      </p:sp>
      <p:sp>
        <p:nvSpPr>
          <p:cNvPr id="12" name="Oval 11"/>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Verify: PDF, notes, register and actual rehearsal agree.</a:t>
            </a:r>
          </a:p>
        </p:txBody>
      </p:sp>
      <p:sp>
        <p:nvSpPr>
          <p:cNvPr id="15" name="TextBox 1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6" name="TextBox 1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7" name="TextBox 1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138</a:t>
            </a:r>
          </a:p>
        </p:txBody>
      </p:sp>
    </p:spTree>
  </p:cSld>
  <p:clrMapOvr>
    <a:masterClrMapping/>
  </p:clrMapOvr>
  <p:transition spd="med">
    <p:fade/>
  </p:transition>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TOPIC 5</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Copilot Agents and Mini Capstone</a:t>
            </a:r>
          </a:p>
        </p:txBody>
      </p:sp>
      <p:sp>
        <p:nvSpPr>
          <p:cNvPr id="7" name="Rectangle 6"/>
          <p:cNvSpPr/>
          <p:nvPr/>
        </p:nvSpPr>
        <p:spPr>
          <a:xfrm>
            <a:off x="841248" y="4206240"/>
            <a:ext cx="1143000" cy="64008"/>
          </a:xfrm>
          <a:prstGeom prst="rect">
            <a:avLst/>
          </a:prstGeom>
          <a:solidFill>
            <a:srgbClr val="D97757"/>
          </a:solidFill>
          <a:ln>
            <a:noFill/>
          </a:ln>
          <a:effectLst/>
        </p:spPr>
        <p:txBody>
          <a:bodyPr rtlCol="0" anchor="ctr"/>
          <a:lstStyle/>
          <a:p>
            <a:pPr algn="ctr"/>
          </a:p>
        </p:txBody>
      </p:sp>
      <p:sp>
        <p:nvSpPr>
          <p:cNvPr id="8" name="TextBox 7"/>
          <p:cNvSpPr txBox="1"/>
          <p:nvPr/>
        </p:nvSpPr>
        <p:spPr>
          <a:xfrm>
            <a:off x="822960" y="4434840"/>
            <a:ext cx="8412480" cy="1097280"/>
          </a:xfrm>
          <a:prstGeom prst="rect">
            <a:avLst/>
          </a:prstGeom>
          <a:noFill/>
        </p:spPr>
        <p:txBody>
          <a:bodyPr wrap="square" anchor="t">
            <a:spAutoFit/>
          </a:bodyPr>
          <a:lstStyle/>
          <a:p>
            <a:pPr algn="l">
              <a:spcAft>
                <a:spcPts val="400"/>
              </a:spcAft>
            </a:pPr>
            <a:r>
              <a:rPr sz="1500" b="0">
                <a:solidFill>
                  <a:srgbClr val="B9B4A9"/>
                </a:solidFill>
                <a:latin typeface="Calibri"/>
              </a:rPr>
              <a:t>Build a work-order agent, then apply the whole workflow in groups</a:t>
            </a:r>
          </a:p>
        </p:txBody>
      </p:sp>
      <p:sp>
        <p:nvSpPr>
          <p:cNvPr id="9" name="TextBox 8"/>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IES Academy</a:t>
            </a:r>
          </a:p>
        </p:txBody>
      </p:sp>
      <p:sp>
        <p:nvSpPr>
          <p:cNvPr id="10" name="TextBox 9"/>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GenAI for Engineers</a:t>
            </a:r>
          </a:p>
        </p:txBody>
      </p:sp>
      <p:sp>
        <p:nvSpPr>
          <p:cNvPr id="11" name="TextBox 10"/>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139</a:t>
            </a:r>
          </a:p>
        </p:txBody>
      </p:sp>
    </p:spTree>
  </p:cSld>
  <p:clrMapOvr>
    <a:masterClrMapping/>
  </p:clrMapOvr>
  <p:transition spd="med">
    <p:fade/>
  </p:transition>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KEY CONCEPTS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Key Concepts — Copilot Agents and Mini Capstone</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800" b="1">
                <a:solidFill>
                  <a:srgbClr val="21201C"/>
                </a:solidFill>
                <a:latin typeface="Cambria"/>
              </a:rPr>
              <a:t>Agent Builder</a:t>
            </a:r>
          </a:p>
          <a:p>
            <a:pPr algn="l">
              <a:spcAft>
                <a:spcPts val="300"/>
              </a:spcAft>
            </a:pPr>
            <a:r>
              <a:rPr sz="1400" b="0">
                <a:solidFill>
                  <a:srgbClr val="6B6862"/>
                </a:solidFill>
                <a:latin typeface="Calibri"/>
              </a:rPr>
              <a:t>Create a specialist Copilot agent without code.</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800" b="1">
                <a:solidFill>
                  <a:srgbClr val="21201C"/>
                </a:solidFill>
                <a:latin typeface="Cambria"/>
              </a:rPr>
              <a:t>Knowledge</a:t>
            </a:r>
          </a:p>
          <a:p>
            <a:pPr algn="l">
              <a:spcAft>
                <a:spcPts val="300"/>
              </a:spcAft>
            </a:pPr>
            <a:r>
              <a:rPr sz="1400" b="0">
                <a:solidFill>
                  <a:srgbClr val="6B6862"/>
                </a:solidFill>
                <a:latin typeface="Calibri"/>
              </a:rPr>
              <a:t>OneDrive files the agent searches and cites.</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800" b="1">
                <a:solidFill>
                  <a:srgbClr val="21201C"/>
                </a:solidFill>
                <a:latin typeface="Cambria"/>
              </a:rPr>
              <a:t>Instructions &amp; Skills</a:t>
            </a:r>
          </a:p>
          <a:p>
            <a:pPr algn="l">
              <a:spcAft>
                <a:spcPts val="300"/>
              </a:spcAft>
            </a:pPr>
            <a:r>
              <a:rPr sz="1400" b="0">
                <a:solidFill>
                  <a:srgbClr val="6B6862"/>
                </a:solidFill>
                <a:latin typeface="Calibri"/>
              </a:rPr>
              <a:t>Role, rules and a reusable work-order Q&amp;A method.</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800" b="1">
                <a:solidFill>
                  <a:srgbClr val="21201C"/>
                </a:solidFill>
                <a:latin typeface="Cambria"/>
              </a:rPr>
              <a:t>Mini capstone</a:t>
            </a:r>
          </a:p>
          <a:p>
            <a:pPr algn="l">
              <a:spcAft>
                <a:spcPts val="300"/>
              </a:spcAft>
            </a:pPr>
            <a:r>
              <a:rPr sz="1400" b="0">
                <a:solidFill>
                  <a:srgbClr val="6B6862"/>
                </a:solidFill>
                <a:latin typeface="Calibri"/>
              </a:rPr>
              <a:t>Groups turn safe data into a dashboard and decision deck.</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140</a:t>
            </a:r>
          </a:p>
        </p:txBody>
      </p:sp>
    </p:spTree>
  </p:cSld>
  <p:clrMapOvr>
    <a:masterClrMapping/>
  </p:clrMapOvr>
  <p:transition spd="med">
    <p:fade/>
  </p:transition>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WHAT YOU'LL DO</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Hands-On Labs — Copilot Agents and Mini Capstone</a:t>
            </a:r>
          </a:p>
        </p:txBody>
      </p:sp>
      <p:sp>
        <p:nvSpPr>
          <p:cNvPr id="5" name="Rounded Rectangle 4"/>
          <p:cNvSpPr/>
          <p:nvPr/>
        </p:nvSpPr>
        <p:spPr>
          <a:xfrm>
            <a:off x="777240" y="1783080"/>
            <a:ext cx="5225796"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225796"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4814316" cy="548640"/>
          </a:xfrm>
          <a:prstGeom prst="rect">
            <a:avLst/>
          </a:prstGeom>
          <a:noFill/>
        </p:spPr>
        <p:txBody>
          <a:bodyPr wrap="square" anchor="t">
            <a:spAutoFit/>
          </a:bodyPr>
          <a:lstStyle/>
          <a:p>
            <a:pPr algn="l">
              <a:spcAft>
                <a:spcPts val="400"/>
              </a:spcAft>
            </a:pPr>
            <a:r>
              <a:rPr sz="1900" b="1">
                <a:solidFill>
                  <a:srgbClr val="D97757"/>
                </a:solidFill>
                <a:latin typeface="Cambria"/>
              </a:rPr>
              <a:t>Lab 11</a:t>
            </a:r>
          </a:p>
        </p:txBody>
      </p:sp>
      <p:sp>
        <p:nvSpPr>
          <p:cNvPr id="8" name="TextBox 7"/>
          <p:cNvSpPr txBox="1"/>
          <p:nvPr/>
        </p:nvSpPr>
        <p:spPr>
          <a:xfrm>
            <a:off x="1005840" y="2697480"/>
            <a:ext cx="4814316" cy="3108960"/>
          </a:xfrm>
          <a:prstGeom prst="rect">
            <a:avLst/>
          </a:prstGeom>
          <a:noFill/>
        </p:spPr>
        <p:txBody>
          <a:bodyPr wrap="square">
            <a:spAutoFit/>
          </a:bodyPr>
          <a:lstStyle/>
          <a:p>
            <a:pPr>
              <a:spcAft>
                <a:spcPts val="900"/>
              </a:spcAft>
            </a:pPr>
            <a:r>
              <a:rPr sz="1400" b="1">
                <a:solidFill>
                  <a:srgbClr val="21201C"/>
                </a:solidFill>
                <a:latin typeface="Calibri"/>
              </a:rPr>
              <a:t>•  Copilot Agent Builder</a:t>
            </a:r>
          </a:p>
          <a:p>
            <a:pPr>
              <a:spcAft>
                <a:spcPts val="900"/>
              </a:spcAft>
            </a:pPr>
            <a:r>
              <a:rPr sz="1200" b="0">
                <a:solidFill>
                  <a:srgbClr val="6B6862"/>
                </a:solidFill>
                <a:latin typeface="Calibri"/>
              </a:rPr>
              <a:t>–  Build a Work-Order Agent with Agent Builder</a:t>
            </a:r>
          </a:p>
        </p:txBody>
      </p:sp>
      <p:sp>
        <p:nvSpPr>
          <p:cNvPr id="9" name="Rounded Rectangle 8"/>
          <p:cNvSpPr/>
          <p:nvPr/>
        </p:nvSpPr>
        <p:spPr>
          <a:xfrm>
            <a:off x="6185916" y="1783080"/>
            <a:ext cx="5225796"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6185916" y="1783080"/>
            <a:ext cx="5225796"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6414516" y="2011680"/>
            <a:ext cx="4814316" cy="548640"/>
          </a:xfrm>
          <a:prstGeom prst="rect">
            <a:avLst/>
          </a:prstGeom>
          <a:noFill/>
        </p:spPr>
        <p:txBody>
          <a:bodyPr wrap="square" anchor="t">
            <a:spAutoFit/>
          </a:bodyPr>
          <a:lstStyle/>
          <a:p>
            <a:pPr algn="l">
              <a:spcAft>
                <a:spcPts val="400"/>
              </a:spcAft>
            </a:pPr>
            <a:r>
              <a:rPr sz="1900" b="1">
                <a:solidFill>
                  <a:srgbClr val="3A7D7B"/>
                </a:solidFill>
                <a:latin typeface="Cambria"/>
              </a:rPr>
              <a:t>Lab 12</a:t>
            </a:r>
          </a:p>
        </p:txBody>
      </p:sp>
      <p:sp>
        <p:nvSpPr>
          <p:cNvPr id="12" name="TextBox 11"/>
          <p:cNvSpPr txBox="1"/>
          <p:nvPr/>
        </p:nvSpPr>
        <p:spPr>
          <a:xfrm>
            <a:off x="6414516" y="2697480"/>
            <a:ext cx="4814316" cy="3108960"/>
          </a:xfrm>
          <a:prstGeom prst="rect">
            <a:avLst/>
          </a:prstGeom>
          <a:noFill/>
        </p:spPr>
        <p:txBody>
          <a:bodyPr wrap="square">
            <a:spAutoFit/>
          </a:bodyPr>
          <a:lstStyle/>
          <a:p>
            <a:pPr>
              <a:spcAft>
                <a:spcPts val="900"/>
              </a:spcAft>
            </a:pPr>
            <a:r>
              <a:rPr sz="1400" b="1">
                <a:solidFill>
                  <a:srgbClr val="21201C"/>
                </a:solidFill>
                <a:latin typeface="Calibri"/>
              </a:rPr>
              <a:t>•  Mini Capstone</a:t>
            </a:r>
          </a:p>
          <a:p>
            <a:pPr>
              <a:spcAft>
                <a:spcPts val="900"/>
              </a:spcAft>
            </a:pPr>
            <a:r>
              <a:rPr sz="1200" b="0">
                <a:solidFill>
                  <a:srgbClr val="6B6862"/>
                </a:solidFill>
                <a:latin typeface="Calibri"/>
              </a:rPr>
              <a:t>–  Mini Capstone: Group Dashboard and Decision Deck</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141</a:t>
            </a:r>
          </a:p>
        </p:txBody>
      </p:sp>
    </p:spTree>
  </p:cSld>
  <p:clrMapOvr>
    <a:masterClrMapping/>
  </p:clrMapOvr>
  <p:transition spd="med">
    <p:fade/>
  </p:transition>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11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What Is Agent Builder?</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Agent Builder is the no-code tool in Microsoft Copilot for creating your own specialist agent.</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An agent packages a recurring job, here answering work-order questions, so colleagues get consistent, grounded and bounded answers without rewriting prompts.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Knowledge: the handbook and the clean work-order file from OneDrive.</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142</a:t>
            </a:r>
          </a:p>
        </p:txBody>
      </p:sp>
    </p:spTree>
  </p:cSld>
  <p:clrMapOvr>
    <a:masterClrMapping/>
  </p:clrMapOvr>
  <p:transition spd="med">
    <p:fade/>
  </p:transition>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11 · AGENT BUILDER</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Agent Builder: What You Configure</a:t>
            </a:r>
          </a:p>
        </p:txBody>
      </p:sp>
      <p:sp>
        <p:nvSpPr>
          <p:cNvPr id="5" name="Rounded Rectangle 4"/>
          <p:cNvSpPr/>
          <p:nvPr/>
        </p:nvSpPr>
        <p:spPr>
          <a:xfrm>
            <a:off x="777240" y="1783080"/>
            <a:ext cx="3361944"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361944"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2154936" cy="1883664"/>
          </a:xfrm>
          <a:prstGeom prst="rect">
            <a:avLst/>
          </a:prstGeom>
          <a:noFill/>
        </p:spPr>
        <p:txBody>
          <a:bodyPr wrap="square" anchor="ctr">
            <a:spAutoFit/>
          </a:bodyPr>
          <a:lstStyle/>
          <a:p>
            <a:pPr algn="l">
              <a:spcAft>
                <a:spcPts val="300"/>
              </a:spcAft>
            </a:pPr>
            <a:r>
              <a:rPr sz="1600" b="1">
                <a:solidFill>
                  <a:srgbClr val="21201C"/>
                </a:solidFill>
                <a:latin typeface="Calibri"/>
              </a:rPr>
              <a:t>Describe</a:t>
            </a:r>
          </a:p>
          <a:p>
            <a:pPr algn="l">
              <a:spcAft>
                <a:spcPts val="300"/>
              </a:spcAft>
            </a:pPr>
            <a:r>
              <a:rPr sz="1200" b="0">
                <a:solidFill>
                  <a:srgbClr val="6B6862"/>
                </a:solidFill>
                <a:latin typeface="Calibri"/>
              </a:rPr>
              <a:t>Chat with Agent Builder to draft the agent in plain English.</a:t>
            </a:r>
          </a:p>
        </p:txBody>
      </p:sp>
      <p:sp>
        <p:nvSpPr>
          <p:cNvPr id="10" name="Rounded Rectangle 9"/>
          <p:cNvSpPr/>
          <p:nvPr/>
        </p:nvSpPr>
        <p:spPr>
          <a:xfrm>
            <a:off x="4413504" y="1783080"/>
            <a:ext cx="3361944"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4413504" y="1783080"/>
            <a:ext cx="3361944" cy="64008"/>
          </a:xfrm>
          <a:prstGeom prst="rect">
            <a:avLst/>
          </a:prstGeom>
          <a:solidFill>
            <a:srgbClr val="3A7D7B"/>
          </a:solidFill>
          <a:ln>
            <a:noFill/>
          </a:ln>
          <a:effectLst/>
        </p:spPr>
        <p:txBody>
          <a:bodyPr rtlCol="0" anchor="ctr"/>
          <a:lstStyle/>
          <a:p>
            <a:pPr algn="ctr"/>
          </a:p>
        </p:txBody>
      </p:sp>
      <p:sp>
        <p:nvSpPr>
          <p:cNvPr id="12" name="Oval 11"/>
          <p:cNvSpPr/>
          <p:nvPr/>
        </p:nvSpPr>
        <p:spPr>
          <a:xfrm>
            <a:off x="4669536"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4669536"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5401056" y="1911096"/>
            <a:ext cx="2154936" cy="1883664"/>
          </a:xfrm>
          <a:prstGeom prst="rect">
            <a:avLst/>
          </a:prstGeom>
          <a:noFill/>
        </p:spPr>
        <p:txBody>
          <a:bodyPr wrap="square" anchor="ctr">
            <a:spAutoFit/>
          </a:bodyPr>
          <a:lstStyle/>
          <a:p>
            <a:pPr algn="l">
              <a:spcAft>
                <a:spcPts val="300"/>
              </a:spcAft>
            </a:pPr>
            <a:r>
              <a:rPr sz="1600" b="1">
                <a:solidFill>
                  <a:srgbClr val="21201C"/>
                </a:solidFill>
                <a:latin typeface="Calibri"/>
              </a:rPr>
              <a:t>Name &amp; description</a:t>
            </a:r>
          </a:p>
          <a:p>
            <a:pPr algn="l">
              <a:spcAft>
                <a:spcPts val="300"/>
              </a:spcAft>
            </a:pPr>
            <a:r>
              <a:rPr sz="1200" b="0">
                <a:solidFill>
                  <a:srgbClr val="6B6862"/>
                </a:solidFill>
                <a:latin typeface="Calibri"/>
              </a:rPr>
              <a:t>What the agent is for; shown to people you share it with.</a:t>
            </a:r>
          </a:p>
        </p:txBody>
      </p:sp>
      <p:sp>
        <p:nvSpPr>
          <p:cNvPr id="15" name="Rounded Rectangle 14"/>
          <p:cNvSpPr/>
          <p:nvPr/>
        </p:nvSpPr>
        <p:spPr>
          <a:xfrm>
            <a:off x="8049768" y="1783080"/>
            <a:ext cx="3361944"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8049768" y="1783080"/>
            <a:ext cx="3361944" cy="64008"/>
          </a:xfrm>
          <a:prstGeom prst="rect">
            <a:avLst/>
          </a:prstGeom>
          <a:solidFill>
            <a:srgbClr val="5B4B8A"/>
          </a:solidFill>
          <a:ln>
            <a:noFill/>
          </a:ln>
          <a:effectLst/>
        </p:spPr>
        <p:txBody>
          <a:bodyPr rtlCol="0" anchor="ctr"/>
          <a:lstStyle/>
          <a:p>
            <a:pPr algn="ctr"/>
          </a:p>
        </p:txBody>
      </p:sp>
      <p:sp>
        <p:nvSpPr>
          <p:cNvPr id="17" name="Oval 16"/>
          <p:cNvSpPr/>
          <p:nvPr/>
        </p:nvSpPr>
        <p:spPr>
          <a:xfrm>
            <a:off x="8305800" y="2542032"/>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8305800"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9037320" y="1911096"/>
            <a:ext cx="2154936" cy="1883664"/>
          </a:xfrm>
          <a:prstGeom prst="rect">
            <a:avLst/>
          </a:prstGeom>
          <a:noFill/>
        </p:spPr>
        <p:txBody>
          <a:bodyPr wrap="square" anchor="ctr">
            <a:spAutoFit/>
          </a:bodyPr>
          <a:lstStyle/>
          <a:p>
            <a:pPr algn="l">
              <a:spcAft>
                <a:spcPts val="300"/>
              </a:spcAft>
            </a:pPr>
            <a:r>
              <a:rPr sz="1600" b="1">
                <a:solidFill>
                  <a:srgbClr val="21201C"/>
                </a:solidFill>
                <a:latin typeface="Calibri"/>
              </a:rPr>
              <a:t>Instructions</a:t>
            </a:r>
          </a:p>
          <a:p>
            <a:pPr algn="l">
              <a:spcAft>
                <a:spcPts val="300"/>
              </a:spcAft>
            </a:pPr>
            <a:r>
              <a:rPr sz="1200" b="0">
                <a:solidFill>
                  <a:srgbClr val="6B6862"/>
                </a:solidFill>
                <a:latin typeface="Calibri"/>
              </a:rPr>
              <a:t>Role, sources, definitions, tone and boundaries (8,000 characters).</a:t>
            </a:r>
          </a:p>
        </p:txBody>
      </p:sp>
      <p:sp>
        <p:nvSpPr>
          <p:cNvPr id="20" name="Rounded Rectangle 19"/>
          <p:cNvSpPr/>
          <p:nvPr/>
        </p:nvSpPr>
        <p:spPr>
          <a:xfrm>
            <a:off x="777240" y="4087368"/>
            <a:ext cx="3361944"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777240" y="4087368"/>
            <a:ext cx="3361944" cy="64008"/>
          </a:xfrm>
          <a:prstGeom prst="rect">
            <a:avLst/>
          </a:prstGeom>
          <a:solidFill>
            <a:srgbClr val="C2603F"/>
          </a:solidFill>
          <a:ln>
            <a:noFill/>
          </a:ln>
          <a:effectLst/>
        </p:spPr>
        <p:txBody>
          <a:bodyPr rtlCol="0" anchor="ctr"/>
          <a:lstStyle/>
          <a:p>
            <a:pPr algn="ctr"/>
          </a:p>
        </p:txBody>
      </p:sp>
      <p:sp>
        <p:nvSpPr>
          <p:cNvPr id="22" name="Oval 21"/>
          <p:cNvSpPr/>
          <p:nvPr/>
        </p:nvSpPr>
        <p:spPr>
          <a:xfrm>
            <a:off x="1033272"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1764792" y="4215384"/>
            <a:ext cx="2154936" cy="1883664"/>
          </a:xfrm>
          <a:prstGeom prst="rect">
            <a:avLst/>
          </a:prstGeom>
          <a:noFill/>
        </p:spPr>
        <p:txBody>
          <a:bodyPr wrap="square" anchor="ctr">
            <a:spAutoFit/>
          </a:bodyPr>
          <a:lstStyle/>
          <a:p>
            <a:pPr algn="l">
              <a:spcAft>
                <a:spcPts val="300"/>
              </a:spcAft>
            </a:pPr>
            <a:r>
              <a:rPr sz="1600" b="1">
                <a:solidFill>
                  <a:srgbClr val="21201C"/>
                </a:solidFill>
                <a:latin typeface="Calibri"/>
              </a:rPr>
              <a:t>Knowledge</a:t>
            </a:r>
          </a:p>
          <a:p>
            <a:pPr algn="l">
              <a:spcAft>
                <a:spcPts val="300"/>
              </a:spcAft>
            </a:pPr>
            <a:r>
              <a:rPr sz="1200" b="0">
                <a:solidFill>
                  <a:srgbClr val="6B6862"/>
                </a:solidFill>
                <a:latin typeface="Calibri"/>
              </a:rPr>
              <a:t>OneDrive/SharePoint files, uploads or websites it can search.</a:t>
            </a:r>
          </a:p>
        </p:txBody>
      </p:sp>
      <p:sp>
        <p:nvSpPr>
          <p:cNvPr id="25" name="Rounded Rectangle 24"/>
          <p:cNvSpPr/>
          <p:nvPr/>
        </p:nvSpPr>
        <p:spPr>
          <a:xfrm>
            <a:off x="4413504" y="4087368"/>
            <a:ext cx="3361944"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4413504" y="4087368"/>
            <a:ext cx="3361944" cy="64008"/>
          </a:xfrm>
          <a:prstGeom prst="rect">
            <a:avLst/>
          </a:prstGeom>
          <a:solidFill>
            <a:srgbClr val="D97757"/>
          </a:solidFill>
          <a:ln>
            <a:noFill/>
          </a:ln>
          <a:effectLst/>
        </p:spPr>
        <p:txBody>
          <a:bodyPr rtlCol="0" anchor="ctr"/>
          <a:lstStyle/>
          <a:p>
            <a:pPr algn="ctr"/>
          </a:p>
        </p:txBody>
      </p:sp>
      <p:sp>
        <p:nvSpPr>
          <p:cNvPr id="27" name="Oval 26"/>
          <p:cNvSpPr/>
          <p:nvPr/>
        </p:nvSpPr>
        <p:spPr>
          <a:xfrm>
            <a:off x="4669536" y="4846320"/>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4669536"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5401056" y="4215384"/>
            <a:ext cx="2154936" cy="1883664"/>
          </a:xfrm>
          <a:prstGeom prst="rect">
            <a:avLst/>
          </a:prstGeom>
          <a:noFill/>
        </p:spPr>
        <p:txBody>
          <a:bodyPr wrap="square" anchor="ctr">
            <a:spAutoFit/>
          </a:bodyPr>
          <a:lstStyle/>
          <a:p>
            <a:pPr algn="l">
              <a:spcAft>
                <a:spcPts val="300"/>
              </a:spcAft>
            </a:pPr>
            <a:r>
              <a:rPr sz="1600" b="1">
                <a:solidFill>
                  <a:srgbClr val="21201C"/>
                </a:solidFill>
                <a:latin typeface="Calibri"/>
              </a:rPr>
              <a:t>Skills</a:t>
            </a:r>
          </a:p>
          <a:p>
            <a:pPr algn="l">
              <a:spcAft>
                <a:spcPts val="300"/>
              </a:spcAft>
            </a:pPr>
            <a:r>
              <a:rPr sz="1200" b="0">
                <a:solidFill>
                  <a:srgbClr val="6B6862"/>
                </a:solidFill>
                <a:latin typeface="Calibri"/>
              </a:rPr>
              <a:t>Reusable SKILL.md packages uploaded as a .zip (preview).</a:t>
            </a:r>
          </a:p>
        </p:txBody>
      </p:sp>
      <p:sp>
        <p:nvSpPr>
          <p:cNvPr id="30" name="Rounded Rectangle 29"/>
          <p:cNvSpPr/>
          <p:nvPr/>
        </p:nvSpPr>
        <p:spPr>
          <a:xfrm>
            <a:off x="8049768" y="4087368"/>
            <a:ext cx="3361944"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8049768" y="4087368"/>
            <a:ext cx="3361944" cy="64008"/>
          </a:xfrm>
          <a:prstGeom prst="rect">
            <a:avLst/>
          </a:prstGeom>
          <a:solidFill>
            <a:srgbClr val="3A7D7B"/>
          </a:solidFill>
          <a:ln>
            <a:noFill/>
          </a:ln>
          <a:effectLst/>
        </p:spPr>
        <p:txBody>
          <a:bodyPr rtlCol="0" anchor="ctr"/>
          <a:lstStyle/>
          <a:p>
            <a:pPr algn="ctr"/>
          </a:p>
        </p:txBody>
      </p:sp>
      <p:sp>
        <p:nvSpPr>
          <p:cNvPr id="32" name="Oval 31"/>
          <p:cNvSpPr/>
          <p:nvPr/>
        </p:nvSpPr>
        <p:spPr>
          <a:xfrm>
            <a:off x="8305800" y="4846320"/>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8305800"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9037320" y="4215384"/>
            <a:ext cx="2154936" cy="1883664"/>
          </a:xfrm>
          <a:prstGeom prst="rect">
            <a:avLst/>
          </a:prstGeom>
          <a:noFill/>
        </p:spPr>
        <p:txBody>
          <a:bodyPr wrap="square" anchor="ctr">
            <a:spAutoFit/>
          </a:bodyPr>
          <a:lstStyle/>
          <a:p>
            <a:pPr algn="l">
              <a:spcAft>
                <a:spcPts val="300"/>
              </a:spcAft>
            </a:pPr>
            <a:r>
              <a:rPr sz="1600" b="1">
                <a:solidFill>
                  <a:srgbClr val="21201C"/>
                </a:solidFill>
                <a:latin typeface="Calibri"/>
              </a:rPr>
              <a:t>Try it &amp; share</a:t>
            </a:r>
          </a:p>
          <a:p>
            <a:pPr algn="l">
              <a:spcAft>
                <a:spcPts val="300"/>
              </a:spcAft>
            </a:pPr>
            <a:r>
              <a:rPr sz="1200" b="0">
                <a:solidFill>
                  <a:srgbClr val="6B6862"/>
                </a:solidFill>
                <a:latin typeface="Calibri"/>
              </a:rPr>
              <a:t>Test, select Create, then share as Can chat or Can edit.</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143</a:t>
            </a:r>
          </a:p>
        </p:txBody>
      </p:sp>
    </p:spTree>
  </p:cSld>
  <p:clrMapOvr>
    <a:masterClrMapping/>
  </p:clrMapOvr>
  <p:transition spd="med">
    <p:fade/>
  </p:transition>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11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What Is Agent Builder?</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D97757"/>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Describe the agent’s job.</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D97757"/>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D97757"/>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Configure instructions and knowledge.</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D97757"/>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D97757"/>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Add a Skill and starter prompts.</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D97757"/>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D97757"/>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Test, create and share safely.</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144</a:t>
            </a:r>
          </a:p>
        </p:txBody>
      </p:sp>
    </p:spTree>
  </p:cSld>
  <p:clrMapOvr>
    <a:masterClrMapping/>
  </p:clrMapOvr>
  <p:transition spd="med">
    <p:fade/>
  </p:transition>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11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Apply the Concept — What Is Agent Builder?</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Skill: work-order-qa sets definitions, citations and UNKNOWN rules.</a:t>
            </a:r>
          </a:p>
          <a:p>
            <a:pPr>
              <a:spcAft>
                <a:spcPts val="1000"/>
              </a:spcAft>
            </a:pPr>
            <a:r>
              <a:rPr sz="1600" b="0">
                <a:solidFill>
                  <a:srgbClr val="21201C"/>
                </a:solidFill>
                <a:latin typeface="Calibri"/>
              </a:rPr>
              <a:t>•  Boundary test: the agent refuses to approve a reassignment.</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145</a:t>
            </a:r>
          </a:p>
        </p:txBody>
      </p:sp>
    </p:spTree>
  </p:cSld>
  <p:clrMapOvr>
    <a:masterClrMapping/>
  </p:clrMapOvr>
  <p:transition spd="med">
    <p:fade/>
  </p:transition>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11 THEME · COPILOT AGENT BUILDER</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Build a Work-Order Agent with Agent Builder</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11</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700" b="0">
                <a:solidFill>
                  <a:srgbClr val="21201C"/>
                </a:solidFill>
                <a:latin typeface="Calibri"/>
              </a:rPr>
              <a:t>Create Northstar Work Order Assistant, a specialist Copilot agent that answers questions about the 30 September work-order snapshot. Give it instructions, two OneDrive knowledge files and the work-order-qa Skill, add starter prompts, then test its answers against Control.</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400" b="1">
                <a:solidFill>
                  <a:srgbClr val="21201C"/>
                </a:solidFill>
                <a:latin typeface="Calibri"/>
              </a:rPr>
              <a:t>A private Northstar Work Order Assistant agent with reviewed instructions, two OneDrive knowledge files, the work-order-qa Skill (or its labelled manual route), four starter prompts and a verified test record.</a:t>
            </a:r>
          </a:p>
        </p:txBody>
      </p:sp>
      <p:sp>
        <p:nvSpPr>
          <p:cNvPr id="12" name="Rectangle 11"/>
          <p:cNvSpPr/>
          <p:nvPr/>
        </p:nvSpPr>
        <p:spPr>
          <a:xfrm>
            <a:off x="1005840"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1  Describe</a:t>
            </a:r>
          </a:p>
        </p:txBody>
      </p:sp>
      <p:sp>
        <p:nvSpPr>
          <p:cNvPr id="14" name="Rectangle 13"/>
          <p:cNvSpPr/>
          <p:nvPr/>
        </p:nvSpPr>
        <p:spPr>
          <a:xfrm>
            <a:off x="3561588"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616452"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2  Configure</a:t>
            </a:r>
          </a:p>
        </p:txBody>
      </p:sp>
      <p:sp>
        <p:nvSpPr>
          <p:cNvPr id="16" name="Rectangle 15"/>
          <p:cNvSpPr/>
          <p:nvPr/>
        </p:nvSpPr>
        <p:spPr>
          <a:xfrm>
            <a:off x="6117336"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6172200"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3  Ground</a:t>
            </a:r>
          </a:p>
        </p:txBody>
      </p:sp>
      <p:sp>
        <p:nvSpPr>
          <p:cNvPr id="18" name="Rectangle 17"/>
          <p:cNvSpPr/>
          <p:nvPr/>
        </p:nvSpPr>
        <p:spPr>
          <a:xfrm>
            <a:off x="8673084"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8727948"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4  Test</a:t>
            </a:r>
          </a:p>
        </p:txBody>
      </p:sp>
      <p:sp>
        <p:nvSpPr>
          <p:cNvPr id="20" name="TextBox 19"/>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Microsoft Copilot (copilot.cloud.microsoft) · Agent Builder · OneDrive</a:t>
            </a:r>
          </a:p>
        </p:txBody>
      </p:sp>
      <p:sp>
        <p:nvSpPr>
          <p:cNvPr id="21" name="TextBox 20"/>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2" name="TextBox 21"/>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3" name="TextBox 22"/>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146</a:t>
            </a:r>
          </a:p>
        </p:txBody>
      </p:sp>
    </p:spTree>
  </p:cSld>
  <p:clrMapOvr>
    <a:masterClrMapping/>
  </p:clrMapOvr>
  <p:transition spd="med">
    <p:fade/>
  </p:transition>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11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11</a:t>
            </a:r>
          </a:p>
        </p:txBody>
      </p:sp>
      <p:sp>
        <p:nvSpPr>
          <p:cNvPr id="5" name="Rounded Rectangle 4"/>
          <p:cNvSpPr/>
          <p:nvPr/>
        </p:nvSpPr>
        <p:spPr>
          <a:xfrm>
            <a:off x="777240" y="1828800"/>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10634472"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Describe: Create a Northstar work-order agent that cites its files and says UNKNOWN when unsure.</a:t>
            </a:r>
          </a:p>
        </p:txBody>
      </p:sp>
      <p:sp>
        <p:nvSpPr>
          <p:cNvPr id="10" name="Rounded Rectangle 9"/>
          <p:cNvSpPr/>
          <p:nvPr/>
        </p:nvSpPr>
        <p:spPr>
          <a:xfrm>
            <a:off x="777240" y="4059936"/>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777240" y="4059936"/>
            <a:ext cx="10634472" cy="64008"/>
          </a:xfrm>
          <a:prstGeom prst="rect">
            <a:avLst/>
          </a:prstGeom>
          <a:solidFill>
            <a:srgbClr val="D97757"/>
          </a:solidFill>
          <a:ln>
            <a:noFill/>
          </a:ln>
          <a:effectLst/>
        </p:spPr>
        <p:txBody>
          <a:bodyPr rtlCol="0" anchor="ctr"/>
          <a:lstStyle/>
          <a:p>
            <a:pPr algn="ctr"/>
          </a:p>
        </p:txBody>
      </p:sp>
      <p:sp>
        <p:nvSpPr>
          <p:cNvPr id="12" name="Oval 11"/>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Try it: Which hubs have the most overdue backlog? Cite the file and give the definition.</a:t>
            </a:r>
          </a:p>
        </p:txBody>
      </p:sp>
      <p:sp>
        <p:nvSpPr>
          <p:cNvPr id="15" name="TextBox 1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6" name="TextBox 1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7" name="TextBox 1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147</a:t>
            </a:r>
          </a:p>
        </p:txBody>
      </p:sp>
    </p:spTree>
  </p:cSld>
  <p:clrMapOvr>
    <a:masterClrMapping/>
  </p:clrMapOvr>
  <p:transition spd="med">
    <p:fade/>
  </p:transition>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11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11</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Grounded counts</a:t>
            </a:r>
          </a:p>
          <a:p>
            <a:pPr algn="l">
              <a:spcAft>
                <a:spcPts val="300"/>
              </a:spcAft>
            </a:pPr>
            <a:r>
              <a:rPr sz="1300" b="0">
                <a:solidFill>
                  <a:srgbClr val="6B6862"/>
                </a:solidFill>
                <a:latin typeface="Calibri"/>
              </a:rPr>
              <a:t>Backlog 60; overdue 50; unassigned backlog 6; on-time 30/48 = 62.5%; S$35,827.50.</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Citations</a:t>
            </a:r>
          </a:p>
          <a:p>
            <a:pPr algn="l">
              <a:spcAft>
                <a:spcPts val="300"/>
              </a:spcAft>
            </a:pPr>
            <a:r>
              <a:rPr sz="1300" b="0">
                <a:solidFill>
                  <a:srgbClr val="6B6862"/>
                </a:solidFill>
                <a:latin typeface="Calibri"/>
              </a:rPr>
              <a:t>Every figure cites the handbook or the work-order file and states its definition.</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Boundaries</a:t>
            </a:r>
          </a:p>
          <a:p>
            <a:pPr algn="l">
              <a:spcAft>
                <a:spcPts val="300"/>
              </a:spcAft>
            </a:pPr>
            <a:r>
              <a:rPr sz="1300" b="0">
                <a:solidFill>
                  <a:srgbClr val="6B6862"/>
                </a:solidFill>
                <a:latin typeface="Calibri"/>
              </a:rPr>
              <a:t>No approval, record change or invented contact details; missing facts are UNKNOWN.</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Configuration</a:t>
            </a:r>
          </a:p>
          <a:p>
            <a:pPr algn="l">
              <a:spcAft>
                <a:spcPts val="300"/>
              </a:spcAft>
            </a:pPr>
            <a:r>
              <a:rPr sz="1300" b="0">
                <a:solidFill>
                  <a:srgbClr val="6B6862"/>
                </a:solidFill>
                <a:latin typeface="Calibri"/>
              </a:rPr>
              <a:t>Name, description, instructions, OneDrive knowledge, Skill or labelled manual route, four starter prompts; agent private.</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148</a:t>
            </a:r>
          </a:p>
        </p:txBody>
      </p:sp>
    </p:spTree>
  </p:cSld>
  <p:clrMapOvr>
    <a:masterClrMapping/>
  </p:clrMapOvr>
  <p:transition spd="med">
    <p:fade/>
  </p:transition>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12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Mini Capstone: From Your Data to a Decision</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The mini capstone applies the whole course to a dataset your group chooses: safe data, workbook .Rules, a dashboard Skill, an interactive dashboard, a verified decision deck and a short showcase.</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Repeating the workflow on unfamiliar data shows what transfers: definitions written as rules, reusable skills, independent checks and a decision-focused story.</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150-row synthetic lift-maintenance table replaces real records.</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149</a:t>
            </a:r>
          </a:p>
        </p:txBody>
      </p:sp>
    </p:spTree>
  </p:cSld>
  <p:clrMapOvr>
    <a:masterClrMapping/>
  </p:clrMapOvr>
  <p:transition spd="med">
    <p:fade/>
  </p:transition>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12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Mini Capstone: From Your Data to a Decision</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D97757"/>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Choose safe data and roles.</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D97757"/>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D97757"/>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Write .Rules and build with a Skill.</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D97757"/>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D97757"/>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Verify KPIs and slicers.</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D97757"/>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D97757"/>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Build the deck and showcase.</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150</a:t>
            </a:r>
          </a:p>
        </p:txBody>
      </p:sp>
    </p:spTree>
  </p:cSld>
  <p:clrMapOvr>
    <a:masterClrMapping/>
  </p:clrMapOvr>
  <p:transition spd="med">
    <p:fade/>
  </p:transition>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12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Apply the Concept — Mini Capstone: From Your Data to a Decision</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Six KPI tiles reconcile to independent COUNTIFS.</a:t>
            </a:r>
          </a:p>
          <a:p>
            <a:pPr>
              <a:spcAft>
                <a:spcPts val="1000"/>
              </a:spcAft>
            </a:pPr>
            <a:r>
              <a:rPr sz="1600" b="0">
                <a:solidFill>
                  <a:srgbClr val="21201C"/>
                </a:solidFill>
                <a:latin typeface="Calibri"/>
              </a:rPr>
              <a:t>•  A five-slide deck ends with the decision requested.</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151</a:t>
            </a:r>
          </a:p>
        </p:txBody>
      </p:sp>
    </p:spTree>
  </p:cSld>
  <p:clrMapOvr>
    <a:masterClrMapping/>
  </p:clrMapOvr>
  <p:transition spd="med">
    <p:fade/>
  </p:transition>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12 THEME · MINI CAPSTONE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Mini Capstone: Group Dashboard and Decision Deck</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12</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700" b="0">
                <a:solidFill>
                  <a:srgbClr val="21201C"/>
                </a:solidFill>
                <a:latin typeface="Calibri"/>
              </a:rPr>
              <a:t>Work in four groups. Each group brings its own mock or sanitised dataset, writes .Rules for it, uses a dashboard Skill to build an interactive Excel dashboard with KPI tiles, charts and slicers, then turns the verified evidence into a short PowerPoint decision deck and presents it in a three-minute showcase.</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600" b="1">
                <a:solidFill>
                  <a:srgbClr val="21201C"/>
                </a:solidFill>
                <a:latin typeface="Calibri"/>
              </a:rPr>
              <a:t>Per group: a mock or sanitised data table, a visible .Rules sheet, an interactive dashboard (six KPI tiles, three charts, slicers), a five-slide decision deck and a three-minute showcase.</a:t>
            </a:r>
          </a:p>
        </p:txBody>
      </p:sp>
      <p:sp>
        <p:nvSpPr>
          <p:cNvPr id="12" name="Rectangle 11"/>
          <p:cNvSpPr/>
          <p:nvPr/>
        </p:nvSpPr>
        <p:spPr>
          <a:xfrm>
            <a:off x="1005840"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1  Data</a:t>
            </a:r>
          </a:p>
        </p:txBody>
      </p:sp>
      <p:sp>
        <p:nvSpPr>
          <p:cNvPr id="14" name="Rectangle 13"/>
          <p:cNvSpPr/>
          <p:nvPr/>
        </p:nvSpPr>
        <p:spPr>
          <a:xfrm>
            <a:off x="3050438"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105302"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2  Rules</a:t>
            </a:r>
          </a:p>
        </p:txBody>
      </p:sp>
      <p:sp>
        <p:nvSpPr>
          <p:cNvPr id="16" name="Rectangle 15"/>
          <p:cNvSpPr/>
          <p:nvPr/>
        </p:nvSpPr>
        <p:spPr>
          <a:xfrm>
            <a:off x="5095036"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5149900"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3  Dashboard</a:t>
            </a:r>
          </a:p>
        </p:txBody>
      </p:sp>
      <p:sp>
        <p:nvSpPr>
          <p:cNvPr id="18" name="Rectangle 17"/>
          <p:cNvSpPr/>
          <p:nvPr/>
        </p:nvSpPr>
        <p:spPr>
          <a:xfrm>
            <a:off x="7139634"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7194498"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4  Deck</a:t>
            </a:r>
          </a:p>
        </p:txBody>
      </p:sp>
      <p:sp>
        <p:nvSpPr>
          <p:cNvPr id="20" name="Rectangle 19"/>
          <p:cNvSpPr/>
          <p:nvPr/>
        </p:nvSpPr>
        <p:spPr>
          <a:xfrm>
            <a:off x="9184232"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21" name="TextBox 20"/>
          <p:cNvSpPr txBox="1"/>
          <p:nvPr/>
        </p:nvSpPr>
        <p:spPr>
          <a:xfrm>
            <a:off x="9239096"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5  Showcase</a:t>
            </a:r>
          </a:p>
        </p:txBody>
      </p:sp>
      <p:sp>
        <p:nvSpPr>
          <p:cNvPr id="22" name="TextBox 21"/>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Copilot · PowerPoint Copilot · Microsoft 365 Copilot web · OneDrive</a:t>
            </a:r>
          </a:p>
        </p:txBody>
      </p:sp>
      <p:sp>
        <p:nvSpPr>
          <p:cNvPr id="23" name="TextBox 2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4" name="TextBox 2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5" name="TextBox 2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152</a:t>
            </a:r>
          </a:p>
        </p:txBody>
      </p:sp>
    </p:spTree>
  </p:cSld>
  <p:clrMapOvr>
    <a:masterClrMapping/>
  </p:clrMapOvr>
  <p:transition spd="med">
    <p:fade/>
  </p:transition>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12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12</a:t>
            </a:r>
          </a:p>
        </p:txBody>
      </p:sp>
      <p:sp>
        <p:nvSpPr>
          <p:cNvPr id="5" name="Rounded Rectangle 4"/>
          <p:cNvSpPr/>
          <p:nvPr/>
        </p:nvSpPr>
        <p:spPr>
          <a:xfrm>
            <a:off x="777240" y="1828800"/>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10634472"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Data: Create a fictional 150-row engineering dataset; no real people, companies or locations.</a:t>
            </a:r>
          </a:p>
        </p:txBody>
      </p:sp>
      <p:sp>
        <p:nvSpPr>
          <p:cNvPr id="10" name="Rounded Rectangle 9"/>
          <p:cNvSpPr/>
          <p:nvPr/>
        </p:nvSpPr>
        <p:spPr>
          <a:xfrm>
            <a:off x="777240" y="4059936"/>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777240" y="4059936"/>
            <a:ext cx="10634472" cy="64008"/>
          </a:xfrm>
          <a:prstGeom prst="rect">
            <a:avLst/>
          </a:prstGeom>
          <a:solidFill>
            <a:srgbClr val="D97757"/>
          </a:solidFill>
          <a:ln>
            <a:noFill/>
          </a:ln>
          <a:effectLst/>
        </p:spPr>
        <p:txBody>
          <a:bodyPr rtlCol="0" anchor="ctr"/>
          <a:lstStyle/>
          <a:p>
            <a:pPr algn="ctr"/>
          </a:p>
        </p:txBody>
      </p:sp>
      <p:sp>
        <p:nvSpPr>
          <p:cNvPr id="12" name="Oval 11"/>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Dashboard: @interactive-dashboard Plan six KPI tiles, three charts and slicers for tblData.</a:t>
            </a:r>
          </a:p>
        </p:txBody>
      </p:sp>
      <p:sp>
        <p:nvSpPr>
          <p:cNvPr id="15" name="TextBox 1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6" name="TextBox 1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7" name="TextBox 1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153</a:t>
            </a:r>
          </a:p>
        </p:txBody>
      </p:sp>
    </p:spTree>
  </p:cSld>
  <p:clrMapOvr>
    <a:masterClrMapping/>
  </p:clrMapOvr>
  <p:transition spd="med">
    <p:fade/>
  </p:transition>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12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12</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Safe data</a:t>
            </a:r>
          </a:p>
          <a:p>
            <a:pPr algn="l">
              <a:spcAft>
                <a:spcPts val="300"/>
              </a:spcAft>
            </a:pPr>
            <a:r>
              <a:rPr sz="1300" b="0">
                <a:solidFill>
                  <a:srgbClr val="6B6862"/>
                </a:solidFill>
                <a:latin typeface="Calibri"/>
              </a:rPr>
              <a:t>Mock or sanitised only; no personal, customer or confidential data.</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Dashboard</a:t>
            </a:r>
          </a:p>
          <a:p>
            <a:pPr algn="l">
              <a:spcAft>
                <a:spcPts val="300"/>
              </a:spcAft>
            </a:pPr>
            <a:r>
              <a:rPr sz="1300" b="0">
                <a:solidFill>
                  <a:srgbClr val="6B6862"/>
                </a:solidFill>
                <a:latin typeface="Calibri"/>
              </a:rPr>
              <a:t>KPI tiles reconcile to independent formulas; charts and slicers filter together.</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Deck</a:t>
            </a:r>
          </a:p>
          <a:p>
            <a:pPr algn="l">
              <a:spcAft>
                <a:spcPts val="300"/>
              </a:spcAft>
            </a:pPr>
            <a:r>
              <a:rPr sz="1300" b="0">
                <a:solidFill>
                  <a:srgbClr val="6B6862"/>
                </a:solidFill>
                <a:latin typeface="Calibri"/>
              </a:rPr>
              <a:t>Every number matches the dashboard; actions labelled proposed; decision requested.</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Showcase</a:t>
            </a:r>
          </a:p>
          <a:p>
            <a:pPr algn="l">
              <a:spcAft>
                <a:spcPts val="300"/>
              </a:spcAft>
            </a:pPr>
            <a:r>
              <a:rPr sz="1300" b="0">
                <a:solidFill>
                  <a:srgbClr val="6B6862"/>
                </a:solidFill>
                <a:latin typeface="Calibri"/>
              </a:rPr>
              <a:t>Three-minute demo with one live slicer interaction and one caught Copilot error.</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154</a:t>
            </a:r>
          </a:p>
        </p:txBody>
      </p:sp>
    </p:spTree>
  </p:cSld>
  <p:clrMapOvr>
    <a:masterClrMapping/>
  </p:clrMapOvr>
  <p:transition spd="med">
    <p:fade/>
  </p:transition>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TOPIC RECAP</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Recap - Copilot Agents and Mini Capstone</a:t>
            </a:r>
          </a:p>
        </p:txBody>
      </p:sp>
      <p:sp>
        <p:nvSpPr>
          <p:cNvPr id="5" name="Rounded Rectangle 4"/>
          <p:cNvSpPr/>
          <p:nvPr/>
        </p:nvSpPr>
        <p:spPr>
          <a:xfrm>
            <a:off x="777240" y="1828800"/>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10634472"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LO5: A grounded work-order agent and a group dashboard and decision deck.</a:t>
            </a:r>
          </a:p>
        </p:txBody>
      </p:sp>
      <p:sp>
        <p:nvSpPr>
          <p:cNvPr id="10" name="Rounded Rectangle 9"/>
          <p:cNvSpPr/>
          <p:nvPr/>
        </p:nvSpPr>
        <p:spPr>
          <a:xfrm>
            <a:off x="777240" y="4059936"/>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777240" y="4059936"/>
            <a:ext cx="10634472" cy="64008"/>
          </a:xfrm>
          <a:prstGeom prst="rect">
            <a:avLst/>
          </a:prstGeom>
          <a:solidFill>
            <a:srgbClr val="D97757"/>
          </a:solidFill>
          <a:ln>
            <a:noFill/>
          </a:ln>
          <a:effectLst/>
        </p:spPr>
        <p:txBody>
          <a:bodyPr rtlCol="0" anchor="ctr"/>
          <a:lstStyle/>
          <a:p>
            <a:pPr algn="ctr"/>
          </a:p>
        </p:txBody>
      </p:sp>
      <p:sp>
        <p:nvSpPr>
          <p:cNvPr id="12" name="Oval 11"/>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Verify: Agent answers match Control; capstone figures reconcile to the group data.</a:t>
            </a:r>
          </a:p>
        </p:txBody>
      </p:sp>
      <p:sp>
        <p:nvSpPr>
          <p:cNvPr id="15" name="TextBox 1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16" name="TextBox 1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17" name="TextBox 1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155</a:t>
            </a:r>
          </a:p>
        </p:txBody>
      </p:sp>
    </p:spTree>
  </p:cSld>
  <p:clrMapOvr>
    <a:masterClrMapping/>
  </p:clrMapOvr>
  <p:transition spd="med">
    <p:fade/>
  </p:transition>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WRAP-UP</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Course Summary &amp; Next Steps</a:t>
            </a:r>
          </a:p>
        </p:txBody>
      </p:sp>
      <p:sp>
        <p:nvSpPr>
          <p:cNvPr id="7" name="Rectangle 6"/>
          <p:cNvSpPr/>
          <p:nvPr/>
        </p:nvSpPr>
        <p:spPr>
          <a:xfrm>
            <a:off x="841248" y="4206240"/>
            <a:ext cx="1143000" cy="64008"/>
          </a:xfrm>
          <a:prstGeom prst="rect">
            <a:avLst/>
          </a:prstGeom>
          <a:solidFill>
            <a:srgbClr val="D97757"/>
          </a:solidFill>
          <a:ln>
            <a:noFill/>
          </a:ln>
          <a:effectLst/>
        </p:spPr>
        <p:txBody>
          <a:bodyPr rtlCol="0" anchor="ctr"/>
          <a:lstStyle/>
          <a:p>
            <a:pPr algn="ctr"/>
          </a:p>
        </p:txBody>
      </p:sp>
      <p:sp>
        <p:nvSpPr>
          <p:cNvPr id="8" name="TextBox 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IES Academy</a:t>
            </a:r>
          </a:p>
        </p:txBody>
      </p:sp>
      <p:sp>
        <p:nvSpPr>
          <p:cNvPr id="9" name="TextBox 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GenAI for Engineers</a:t>
            </a:r>
          </a:p>
        </p:txBody>
      </p:sp>
      <p:sp>
        <p:nvSpPr>
          <p:cNvPr id="10" name="TextBox 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156</a:t>
            </a:r>
          </a:p>
        </p:txBody>
      </p:sp>
    </p:spTree>
  </p:cSld>
  <p:clrMapOvr>
    <a:masterClrMapping/>
  </p:clrMapOvr>
  <p:transition spd="med">
    <p:fade/>
  </p:transition>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LEARNING OUTCOMES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What You Achieved</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Connected Copilot workflow</a:t>
            </a:r>
          </a:p>
          <a:p>
            <a:pPr algn="l">
              <a:spcAft>
                <a:spcPts val="300"/>
              </a:spcAft>
            </a:pPr>
            <a:r>
              <a:rPr sz="1300" b="0">
                <a:solidFill>
                  <a:srgbClr val="6B6862"/>
                </a:solidFill>
                <a:latin typeface="Calibri"/>
              </a:rPr>
              <a:t>Integrate Word, Excel, PowerPoint and Outlook Copilot in a coherent maintenance workflow with explicit source grounding and verified prompts.</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Reusable maintenance skills</a:t>
            </a:r>
          </a:p>
          <a:p>
            <a:pPr algn="l">
              <a:spcAft>
                <a:spcPts val="300"/>
              </a:spcAft>
            </a:pPr>
            <a:r>
              <a:rPr sz="1300" b="0">
                <a:solidFill>
                  <a:srgbClr val="6B6862"/>
                </a:solidFill>
                <a:latin typeface="Calibri"/>
              </a:rPr>
              <a:t>Distinguish account Personalisation, workbook .Rules and reusable Skills; configure, create, apply and verify Pareto and maintenance-reporting Skills using water-service evidence.</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Interactive dashboard</a:t>
            </a:r>
          </a:p>
          <a:p>
            <a:pPr algn="l">
              <a:spcAft>
                <a:spcPts val="300"/>
              </a:spcAft>
            </a:pPr>
            <a:r>
              <a:rPr sz="1300" b="0">
                <a:solidFill>
                  <a:srgbClr val="6B6862"/>
                </a:solidFill>
                <a:latin typeface="Calibri"/>
              </a:rPr>
              <a:t>Create and apply a custom interactive-dashboard Skill with verified measures, shared filter scope, editable charts and controlled refresh and rerun tests.</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Professional presentation</a:t>
            </a:r>
          </a:p>
          <a:p>
            <a:pPr algn="l">
              <a:spcAft>
                <a:spcPts val="300"/>
              </a:spcAft>
            </a:pPr>
            <a:r>
              <a:rPr sz="1300" b="0">
                <a:solidFill>
                  <a:srgbClr val="6B6862"/>
                </a:solidFill>
                <a:latin typeface="Calibri"/>
              </a:rPr>
              <a:t>Continue from the dashboard to a professional management presentation, with evidence-based headlines, source notes, rehearsal and a reviewed handoff draft.</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Agents and capstone</a:t>
            </a:r>
          </a:p>
          <a:p>
            <a:pPr algn="l">
              <a:spcAft>
                <a:spcPts val="300"/>
              </a:spcAft>
            </a:pPr>
            <a:r>
              <a:rPr sz="1300" b="0">
                <a:solidFill>
                  <a:srgbClr val="6B6862"/>
                </a:solidFill>
                <a:latin typeface="Calibri"/>
              </a:rPr>
              <a:t>Build and test a grounded work-order agent with Agent Builder, then apply the full data-to-decision workflow to your own mock or sanitised data in a group capstone.</a:t>
            </a:r>
          </a:p>
        </p:txBody>
      </p:sp>
      <p:sp>
        <p:nvSpPr>
          <p:cNvPr id="30" name="TextBox 2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31" name="TextBox 3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32" name="TextBox 3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157</a:t>
            </a:r>
          </a:p>
        </p:txBody>
      </p:sp>
    </p:spTree>
  </p:cSld>
  <p:clrMapOvr>
    <a:masterClrMapping/>
  </p:clrMapOvr>
  <p:transition spd="med">
    <p:fade/>
  </p:transition>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NEXT STEPS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Your Next Maintenance Report</a:t>
            </a:r>
          </a:p>
        </p:txBody>
      </p:sp>
      <p:sp>
        <p:nvSpPr>
          <p:cNvPr id="5" name="Rounded Rectangle 4"/>
          <p:cNvSpPr/>
          <p:nvPr/>
        </p:nvSpPr>
        <p:spPr>
          <a:xfrm>
            <a:off x="777240" y="1828800"/>
            <a:ext cx="10634472"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10634472"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316480"/>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9738360" cy="1176528"/>
          </a:xfrm>
          <a:prstGeom prst="rect">
            <a:avLst/>
          </a:prstGeom>
          <a:noFill/>
        </p:spPr>
        <p:txBody>
          <a:bodyPr wrap="square" anchor="ctr">
            <a:spAutoFit/>
          </a:bodyPr>
          <a:lstStyle/>
          <a:p>
            <a:pPr algn="l">
              <a:spcAft>
                <a:spcPts val="400"/>
              </a:spcAft>
            </a:pPr>
            <a:r>
              <a:rPr sz="1700" b="0">
                <a:solidFill>
                  <a:srgbClr val="21201C"/>
                </a:solidFill>
                <a:latin typeface="Calibri"/>
              </a:rPr>
              <a:t>Use a copy and a new explicit reporting date.</a:t>
            </a:r>
          </a:p>
        </p:txBody>
      </p:sp>
      <p:sp>
        <p:nvSpPr>
          <p:cNvPr id="10" name="Rounded Rectangle 9"/>
          <p:cNvSpPr/>
          <p:nvPr/>
        </p:nvSpPr>
        <p:spPr>
          <a:xfrm>
            <a:off x="777240" y="3316224"/>
            <a:ext cx="10634472"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777240" y="3316224"/>
            <a:ext cx="10634472" cy="64008"/>
          </a:xfrm>
          <a:prstGeom prst="rect">
            <a:avLst/>
          </a:prstGeom>
          <a:solidFill>
            <a:srgbClr val="D97757"/>
          </a:solidFill>
          <a:ln>
            <a:noFill/>
          </a:ln>
          <a:effectLst/>
        </p:spPr>
        <p:txBody>
          <a:bodyPr rtlCol="0" anchor="ctr"/>
          <a:lstStyle/>
          <a:p>
            <a:pPr algn="ctr"/>
          </a:p>
        </p:txBody>
      </p:sp>
      <p:sp>
        <p:nvSpPr>
          <p:cNvPr id="12" name="Oval 11"/>
          <p:cNvSpPr/>
          <p:nvPr/>
        </p:nvSpPr>
        <p:spPr>
          <a:xfrm>
            <a:off x="960120" y="3803904"/>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1453896" y="3389376"/>
            <a:ext cx="9738360" cy="1176528"/>
          </a:xfrm>
          <a:prstGeom prst="rect">
            <a:avLst/>
          </a:prstGeom>
          <a:noFill/>
        </p:spPr>
        <p:txBody>
          <a:bodyPr wrap="square" anchor="ctr">
            <a:spAutoFit/>
          </a:bodyPr>
          <a:lstStyle/>
          <a:p>
            <a:pPr algn="l">
              <a:spcAft>
                <a:spcPts val="400"/>
              </a:spcAft>
            </a:pPr>
            <a:r>
              <a:rPr sz="1700" b="0">
                <a:solidFill>
                  <a:srgbClr val="21201C"/>
                </a:solidFill>
                <a:latin typeface="Calibri"/>
              </a:rPr>
              <a:t>Supply verified source/date/scope and test skill reruns.</a:t>
            </a:r>
          </a:p>
        </p:txBody>
      </p:sp>
      <p:sp>
        <p:nvSpPr>
          <p:cNvPr id="15" name="Rounded Rectangle 14"/>
          <p:cNvSpPr/>
          <p:nvPr/>
        </p:nvSpPr>
        <p:spPr>
          <a:xfrm>
            <a:off x="777240" y="4803648"/>
            <a:ext cx="10634472"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803648"/>
            <a:ext cx="10634472"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5291328"/>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4876800"/>
            <a:ext cx="9738360" cy="1176528"/>
          </a:xfrm>
          <a:prstGeom prst="rect">
            <a:avLst/>
          </a:prstGeom>
          <a:noFill/>
        </p:spPr>
        <p:txBody>
          <a:bodyPr wrap="square" anchor="ctr">
            <a:spAutoFit/>
          </a:bodyPr>
          <a:lstStyle/>
          <a:p>
            <a:pPr algn="l">
              <a:spcAft>
                <a:spcPts val="400"/>
              </a:spcAft>
            </a:pPr>
            <a:r>
              <a:rPr sz="1700" b="0">
                <a:solidFill>
                  <a:srgbClr val="21201C"/>
                </a:solidFill>
                <a:latin typeface="Calibri"/>
              </a:rPr>
              <a:t>Reconcile every claim and decision boundary.</a:t>
            </a:r>
          </a:p>
        </p:txBody>
      </p:sp>
      <p:sp>
        <p:nvSpPr>
          <p:cNvPr id="20" name="TextBox 1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1" name="TextBox 2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2" name="TextBox 2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158</a:t>
            </a:r>
          </a:p>
        </p:txBody>
      </p:sp>
    </p:spTree>
  </p:cSld>
  <p:clrMapOvr>
    <a:masterClrMapping/>
  </p:clrMapOvr>
  <p:transition spd="med">
    <p:fade/>
  </p:transition>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WRAP-UP</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Keep Practising After the Course</a:t>
            </a:r>
          </a:p>
        </p:txBody>
      </p:sp>
      <p:sp>
        <p:nvSpPr>
          <p:cNvPr id="5" name="Rounded Rectangle 4"/>
          <p:cNvSpPr/>
          <p:nvPr/>
        </p:nvSpPr>
        <p:spPr>
          <a:xfrm>
            <a:off x="777240"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Re-run the labs on your own machine — repetition is what makes the skills stick.</a:t>
            </a:r>
          </a:p>
        </p:txBody>
      </p:sp>
      <p:sp>
        <p:nvSpPr>
          <p:cNvPr id="10" name="Rounded Rectangle 9"/>
          <p:cNvSpPr/>
          <p:nvPr/>
        </p:nvSpPr>
        <p:spPr>
          <a:xfrm>
            <a:off x="6176772"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688336"/>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Apply the techniques to a real process or project in your own organisation.</a:t>
            </a:r>
          </a:p>
        </p:txBody>
      </p:sp>
      <p:sp>
        <p:nvSpPr>
          <p:cNvPr id="15" name="Rounded Rectangle 14"/>
          <p:cNvSpPr/>
          <p:nvPr/>
        </p:nvSpPr>
        <p:spPr>
          <a:xfrm>
            <a:off x="777240"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59936"/>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Keep your downloaded course files; every lab folder has its own starting workbook.</a:t>
            </a:r>
          </a:p>
        </p:txBody>
      </p:sp>
      <p:sp>
        <p:nvSpPr>
          <p:cNvPr id="20" name="Rounded Rectangle 19"/>
          <p:cNvSpPr/>
          <p:nvPr/>
        </p:nvSpPr>
        <p:spPr>
          <a:xfrm>
            <a:off x="6176772"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4059936"/>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4919472"/>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Keep practising with the IES Academy course materials.</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IES Academy</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GenAI for Engineers</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159</a:t>
            </a:r>
          </a:p>
        </p:txBody>
      </p:sp>
    </p:spTree>
  </p:cSld>
  <p:clrMapOvr>
    <a:masterClrMapping/>
  </p:clrMapOvr>
  <p:transition spd="med">
    <p:fade/>
  </p:transition>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914400" y="1828800"/>
            <a:ext cx="8412480" cy="457200"/>
          </a:xfrm>
          <a:prstGeom prst="rect">
            <a:avLst/>
          </a:prstGeom>
          <a:noFill/>
        </p:spPr>
        <p:txBody>
          <a:bodyPr wrap="square" anchor="t">
            <a:spAutoFit/>
          </a:bodyPr>
          <a:lstStyle/>
          <a:p>
            <a:pPr algn="l">
              <a:spcAft>
                <a:spcPts val="400"/>
              </a:spcAft>
            </a:pPr>
            <a:r>
              <a:rPr sz="1400" b="1">
                <a:solidFill>
                  <a:srgbClr val="D97757"/>
                </a:solidFill>
                <a:latin typeface="Calibri"/>
              </a:rPr>
              <a:t>THANK YOU FOR ATTENDING</a:t>
            </a:r>
          </a:p>
        </p:txBody>
      </p:sp>
      <p:sp>
        <p:nvSpPr>
          <p:cNvPr id="6" name="TextBox 5"/>
          <p:cNvSpPr txBox="1"/>
          <p:nvPr/>
        </p:nvSpPr>
        <p:spPr>
          <a:xfrm>
            <a:off x="868680" y="2331720"/>
            <a:ext cx="8503920" cy="2103120"/>
          </a:xfrm>
          <a:prstGeom prst="rect">
            <a:avLst/>
          </a:prstGeom>
          <a:noFill/>
        </p:spPr>
        <p:txBody>
          <a:bodyPr wrap="square" anchor="t">
            <a:spAutoFit/>
          </a:bodyPr>
          <a:lstStyle/>
          <a:p>
            <a:pPr algn="l">
              <a:spcAft>
                <a:spcPts val="400"/>
              </a:spcAft>
            </a:pPr>
            <a:r>
              <a:rPr sz="4000" b="1">
                <a:solidFill>
                  <a:srgbClr val="FFFFFF"/>
                </a:solidFill>
                <a:latin typeface="Cambria"/>
              </a:rPr>
              <a:t>Thank You!</a:t>
            </a:r>
          </a:p>
        </p:txBody>
      </p:sp>
      <p:sp>
        <p:nvSpPr>
          <p:cNvPr id="7" name="TextBox 6"/>
          <p:cNvSpPr txBox="1"/>
          <p:nvPr/>
        </p:nvSpPr>
        <p:spPr>
          <a:xfrm>
            <a:off x="914400" y="4526280"/>
            <a:ext cx="8412480" cy="1280160"/>
          </a:xfrm>
          <a:prstGeom prst="rect">
            <a:avLst/>
          </a:prstGeom>
          <a:noFill/>
        </p:spPr>
        <p:txBody>
          <a:bodyPr wrap="square" anchor="t">
            <a:spAutoFit/>
          </a:bodyPr>
          <a:lstStyle/>
          <a:p>
            <a:pPr algn="l">
              <a:spcAft>
                <a:spcPts val="400"/>
              </a:spcAft>
            </a:pPr>
            <a:r>
              <a:rPr sz="1800" b="0">
                <a:solidFill>
                  <a:srgbClr val="B9B4A9"/>
                </a:solidFill>
                <a:latin typeface="Calibri"/>
              </a:rPr>
              <a:t>You now have the practical skills from every lab in this course — keep applying them to your own work.</a:t>
            </a:r>
          </a:p>
        </p:txBody>
      </p:sp>
      <p:sp>
        <p:nvSpPr>
          <p:cNvPr id="8" name="TextBox 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IES Academy</a:t>
            </a:r>
          </a:p>
        </p:txBody>
      </p:sp>
      <p:sp>
        <p:nvSpPr>
          <p:cNvPr id="9" name="TextBox 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GenAI for Engineers</a:t>
            </a:r>
          </a:p>
        </p:txBody>
      </p:sp>
      <p:sp>
        <p:nvSpPr>
          <p:cNvPr id="10" name="TextBox 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160</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