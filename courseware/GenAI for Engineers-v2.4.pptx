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Descending overdue counts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Pump Service</c:v>
                </c:pt>
                <c:pt idx="1">
                  <c:v>Meter Service</c:v>
                </c:pt>
                <c:pt idx="2">
                  <c:v>Leak Repair</c:v>
                </c:pt>
                <c:pt idx="3">
                  <c:v>Valve Repair</c:v>
                </c:pt>
                <c:pt idx="4">
                  <c:v>Pipe Replacement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12</c:v>
                </c:pt>
                <c:pt idx="2">
                  <c:v>8</c:v>
                </c:pt>
                <c:pt idx="3">
                  <c:v>8</c:v>
                </c:pt>
                <c:pt idx="4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share (%)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Pump Service</c:v>
                </c:pt>
                <c:pt idx="1">
                  <c:v>Meter Service</c:v>
                </c:pt>
                <c:pt idx="2">
                  <c:v>Leak Repair</c:v>
                </c:pt>
                <c:pt idx="3">
                  <c:v>Valve Repair</c:v>
                </c:pt>
                <c:pt idx="4">
                  <c:v>Pipe Replacement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</c:v>
                </c:pt>
                <c:pt idx="1">
                  <c:v>60</c:v>
                </c:pt>
                <c:pt idx="2">
                  <c:v>76</c:v>
                </c:pt>
                <c:pt idx="3">
                  <c:v>92</c:v>
                </c:pt>
                <c:pt idx="4">
                  <c:v>100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Backlog work orders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Sheet1!$A$2:$A$6</c:f>
              <c:strCache>
                <c:ptCount val="5"/>
                <c:pt idx="0">
                  <c:v>Woodlands Hub</c:v>
                </c:pt>
                <c:pt idx="1">
                  <c:v>Jurong Depot</c:v>
                </c:pt>
                <c:pt idx="2">
                  <c:v>Tampines Centre</c:v>
                </c:pt>
                <c:pt idx="3">
                  <c:v>Changi Workshop</c:v>
                </c:pt>
                <c:pt idx="4">
                  <c:v>Paya Lebar Office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IES ACADEMY  • 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9B4A9"/>
                </a:solidFill>
                <a:latin typeface="Calibri"/>
              </a:rPr>
              <a:t>Version v2.4  ·  19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241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200" b="1">
                <a:solidFill>
                  <a:srgbClr val="FFFFFF"/>
                </a:solidFill>
                <a:latin typeface="Cambria"/>
              </a:rPr>
              <a:t>GenAI for 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12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IES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9B4A9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3550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Welcome &amp; Housekeeping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Let's Know Each Other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Your name, role and one maintenance reporting task.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6772" y="1828800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6772" y="1828800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Which app holds the work-order source?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59936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59936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Which date and status definitions determine overdue work?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6772" y="4059936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6772" y="4059936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Check which Copilot buttons and skills menus are available in your assigned apps.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Ground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Set your mobile phone to silent mode.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Participate actively — no question is too small.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Mutual respect: agree to disagree.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One conversation at a 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55464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Be punctual; return from breaks on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4855464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Learn by doing — try every hands-on lab.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COURSE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Access Course Materials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Open the IES Academy course folder supplied by your trainer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6313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Open the courseware links for this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5386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Download the Slides, Learner Guide and Lesson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44459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Open the labs folder for all 13 lab folders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33532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Keep the files together as you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Course materials: trainer-supplied IES Academy folder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Lesson Plan — 1 Day, 7.5 instructional hours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Course sequence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Day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1: Fundamentals of Microsoft 365 Copilot (Labs 1–2)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2: Personalisation, .Rules and Skills for Excel (Labs 3–7)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3: Interactive Dashboards with Custom Skills (Labs 8–9)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4: Create a Professional Presentation with PowerPoint Copilot (Labs 10–11)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5: Copilot Agents and Mini Capstone (Labs 12–13)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Daily timing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–  9:30 am - 6:30 pm (1-hour lunch; two 15-minute tea breaks; 7.5 instructional hours)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Instructional time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–  7.5 hours · 13 connected labs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Learning arc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–  Concept → demonstrate → build → verify → discuss → recap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Learning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Connected Copilot workflow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Integrate Word, Excel, PowerPoint and Outlook Copilot in a coherent maintenance workflow with explicit source grounding and verified prompts.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Reusable maintenance skills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Distinguish account Personalisation, workbook .Rules and reusable Skills; configure, create, apply and verify Pareto and maintenance-reporting Skills using water-service evidence.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Interactive dashboard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Create and apply a custom interactive-dashboard Skill with verified measures, shared filter scope, editable charts and controlled refresh and rerun tests.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Professional presentation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Continue from the dashboard to a professional management presentation, with evidence-based headlines, source notes, rehearsal and a reviewed handoff draft.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55464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Agents and capstone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Build and test a grounded work-order agent with Agent Builder, then apply the full data-to-decision workflow to your own mock or sanitised data in a group capstone.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LEARNING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How You'll Learn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Trainer demonstrates the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6313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You build it yourself in the hands-on lab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5386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Verify with the lab's 'Test it' 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44459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Discuss and troubleshoot together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33532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Recap against the learning outcomes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Fundamentals of Microsoft 365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One verified maintenance workflow across four apps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THE BIG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Copilot: One Agentic AI Interface, Four Tools</a:t>
            </a:r>
          </a:p>
        </p:txBody>
      </p:sp>
      <p:cxnSp>
        <p:nvCxnSpPr>
          <p:cNvPr id="5" name="Connector 4"/>
          <p:cNvCxnSpPr/>
          <p:nvPr/>
        </p:nvCxnSpPr>
        <p:spPr>
          <a:xfrm flipH="1" flipV="1">
            <a:off x="4206240" y="2446020"/>
            <a:ext cx="1889607" cy="1394460"/>
          </a:xfrm>
          <a:prstGeom prst="line">
            <a:avLst/>
          </a:prstGeom>
          <a:ln w="38100">
            <a:solidFill>
              <a:srgbClr val="217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6095847" y="2446020"/>
            <a:ext cx="1889608" cy="1394460"/>
          </a:xfrm>
          <a:prstGeom prst="line">
            <a:avLst/>
          </a:prstGeom>
          <a:ln w="38100">
            <a:solidFill>
              <a:srgbClr val="2B57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4206240" y="3840480"/>
            <a:ext cx="1889607" cy="1348740"/>
          </a:xfrm>
          <a:prstGeom prst="line">
            <a:avLst/>
          </a:prstGeom>
          <a:ln w="38100">
            <a:solidFill>
              <a:srgbClr val="C43E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3840480"/>
            <a:ext cx="1889608" cy="1348740"/>
          </a:xfrm>
          <a:prstGeom prst="line">
            <a:avLst/>
          </a:prstGeom>
          <a:ln w="38100">
            <a:solidFill>
              <a:srgbClr val="0F6C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751679" y="2496312"/>
            <a:ext cx="2688336" cy="2688336"/>
          </a:xfrm>
          <a:prstGeom prst="ellipse">
            <a:avLst/>
          </a:prstGeom>
          <a:solidFill>
            <a:srgbClr val="DCD8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61407" y="2606040"/>
            <a:ext cx="2468880" cy="246888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8567" y="2606040"/>
            <a:ext cx="21945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Microsoft 365 Copilot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Agentic AI interface: understands your request, plans the steps and acts in each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783080"/>
            <a:ext cx="109728" cy="1325880"/>
          </a:xfrm>
          <a:prstGeom prst="rect">
            <a:avLst/>
          </a:prstGeom>
          <a:solidFill>
            <a:srgbClr val="21734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874520"/>
            <a:ext cx="30175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217346"/>
                </a:solidFill>
                <a:latin typeface="Cambria"/>
              </a:rPr>
              <a:t>Excel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Cleans data, writes formulas, builds charts and dashboards.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5455" y="178308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85455" y="1783080"/>
            <a:ext cx="109728" cy="1325880"/>
          </a:xfrm>
          <a:prstGeom prst="rect">
            <a:avLst/>
          </a:prstGeom>
          <a:solidFill>
            <a:srgbClr val="2B57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9775" y="1874520"/>
            <a:ext cx="30175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2B579A"/>
                </a:solidFill>
                <a:latin typeface="Cambria"/>
              </a:rPr>
              <a:t>Word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Drafts and checks reports and briefs from your files.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52628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526280"/>
            <a:ext cx="109728" cy="1325880"/>
          </a:xfrm>
          <a:prstGeom prst="rect">
            <a:avLst/>
          </a:prstGeom>
          <a:solidFill>
            <a:srgbClr val="C43E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17720"/>
            <a:ext cx="30175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C43E1C"/>
                </a:solidFill>
                <a:latin typeface="Cambria"/>
              </a:rPr>
              <a:t>PowerPoint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Builds and redesigns decks from a brief.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5455" y="452628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5455" y="4526280"/>
            <a:ext cx="109728" cy="13258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9775" y="4617720"/>
            <a:ext cx="30175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F6CBD"/>
                </a:solidFill>
                <a:latin typeface="Cambria"/>
              </a:rPr>
              <a:t>Outlook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Drafts emails and replies for you to review.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You ask in plain English   →   Copilot plans and acts in the app   →   You review and 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Key Concepts — Fundamentals of Microsoft 365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Large language models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Understand your request and generate natural-language answers.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Grounding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Answers anchored in your work data: emails, files, meetings.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Permissions &amp; privacy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Shows only data you can access; prompts do not train the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Prompts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State the goal, context, source and expectations.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Hands-On Labs — Fundamentals of Microsoft 365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2579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Excel to Word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Prepare Work Orders and Draft the Operations Brief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5916" y="1783080"/>
            <a:ext cx="522579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Word to PowerPoint and Outlook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Create the Cross-App Maintenance 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CONNECTED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Northstar Maintenance Evidence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Excel: clean and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Word: operations brief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PowerPoint: decision 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Outlook: reviewed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 Work Order Has State, Scope and Ownership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WO-2026-0003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Woodlands Hub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2880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Leak Repair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9184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832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In Progress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29184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3832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49039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Chloe Goh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2120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Current owner is evidence. Proposed owner is a separate planning output.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Microsoft 365 Copilot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Copilot in the browser and in each Office app shares one set of controls.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Knowing where each control lives lets you choose how much reasoning, context and authority Copilot gets for a task.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Auto is the default model; Think deeper suits multi-step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Microsoft 365 Copilot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Model selection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Auto, Quick response or Think deeper; Auto chooses for you.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New chat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Starts a clean conversation; each chat is its own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History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Earlier chats in the left pane to reopen or continue.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Mode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Excel/Word: Chat only, Plan or Allow editing (Edit).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+ Add content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Upload a local file, / a OneDrive file, or choose a skill.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9768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087368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Personalisation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Settings (...) &gt; Personalization: your account preferences.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Microsoft 365 Copilot Interface (cont.)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Skills &amp; plugins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Settings (...) &gt; Manage plugins &amp; skills; call one with @.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Agents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Agents &amp; Skills in the left pane; build with Agent Builder.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Data protection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The green shield shows enterprise data protection is 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Two Ways to Give Copilot a File: Local or OneDrive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2404872" y="1783080"/>
            <a:ext cx="4462272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04872" y="1783080"/>
            <a:ext cx="44622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Local file (this course)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22008" y="1783080"/>
            <a:ext cx="4462272" cy="4572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22008" y="1783080"/>
            <a:ext cx="44622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OneDrive / SharePoint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95144"/>
            <a:ext cx="10634472" cy="6553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29514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Where it lives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29514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Your computer, e.g. the downloaded lab folder.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4304" y="229514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OneDrive or SharePoint in Microsoft 365.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95046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In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295046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Desktop Excel Copilot works on the open workbook; no upload needed.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4304" y="295046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Excel desktop or web; AutoSave keeps the cloud copy current.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605784"/>
            <a:ext cx="10634472" cy="6553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60578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In Word, PowerPoint, Outlook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360578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+ &gt; Upload images and files, then pick the file on your device.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360578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Type / or use + &gt; Attach cloud files and pick the file.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26110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/ or @ mention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26110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Not available: / lists only cloud files; @ calls skills and agents.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304" y="426110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/ lists the OneDrive and SharePoint files you can open.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916424"/>
            <a:ext cx="10634472" cy="6553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91642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After you 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87168" y="491642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upload is a copy: upload again after changing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91642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reference reads the latest saved cloud version.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57174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Use it for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7168" y="557174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Training labs and files you do not want in the cloud.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557174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Shared team files, agent knowledge and folder references.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Microsoft 365 Copilot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Pick the model and start a new chat.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Reference the file or choose a skill.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Chat only, Plan or Allow editing.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 history, settings and skills.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The Microsoft 365 Copilot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Local file: upload it with +. OneDrive file: reference it with /.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Chat only for inspection, Plan before edits, Allow editing to apply.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Grounding Across Microsoft 365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Grounding gives an AI request the specific evidence it should 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maintenance figure can be correct in Excel yet become wrong in an email when the source, reporting date or filter scope changes.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Excel analyses tblWorkOrders; Word receives the checked summary.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Grounding Across Microsoft 365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Identify the authoritative work-order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Provide goal, context, source and expected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 against the named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Pass a verified snapshot to the next app.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Grounding Across Microsoft 365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PowerPoint receives the reviewed Word brief; Outlook receives the same checked values.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An Excel chat transcript is not an automatic PowerPoint data 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Work-Order Grain and Reporting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row represents one work order, identified by Work_Order_ID.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An exact duplicated export row changes counts and cost without representing new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122 raw rows contain 120 distinct work-order IDs.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Work-Order Grain and Reporting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Define one ID per work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Find exact repeated export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Standardise labels without inventing facts.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cleaned counts and cost.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Work-Order Grain and Reporting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Total = Closed + Cancelled + Backlog after exact duplicate removal.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Due on 30 September is not overdue at the 30 September snapshot.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THEME · EXCEL TO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Prepare Work Orders and Draft the Operations Brief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You are the maintenance coordinator at Northstar Water Services, a fictional water-pipe maintenance company. Clean a messy work-order export with Copilot in Excel, add check formulas, then turn the clean data into a one-page Word brief..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clean Northstar_Work_Orders.xlsx (120 rows and a Checks sheet) and Northstar_Operations_Brief.docx.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Excel · Word · PowerPoint · Outlook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Clean table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120 rows, one per Work_Order_ID; 5 job categories.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Checks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120 total, 48 closed, 12 cancelled, 60 backlog, 50 overdue, 6 unassigned, cost S$35,827.50.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Word brief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Same numbers as the Checks sheet; empty owners left empty.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Prompts and Verified App Handoffs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useful prompt combines the intended goal, operational context, named source and output expectations.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same number may have different meaning when a chart counts all work orders while an email calls it open backlog.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Goal: draft a maintenance update for the operations manager.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Prompts and Verified App Handoffs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the goal and audience.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Upload the local file or paste the verified source.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Specify definitions and missing-value behaviour.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the returned claims.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Prompts and Verified App Handoffs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Source: reviewed Northstar operations brief, all filters All, 30 September.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Expectation: label assignment suggestions as proposals and leave unknown approvals UNKNOWN.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Outlook Drafting and Operational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Copilot can help structure a draft email from supplied context.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An apparently routine update can accidentally promise technician reassignment or imply that a manager approved a recovery plan.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Current owner blank; proposed owner Aisha remains unapproved.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Outlook Drafting and Operational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Provide the synthetic thread and checked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Draft a concise update.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 recipients, facts and action wording.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Save the unsent draft and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Outlook Drafting and Operational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draft addressed to example.invalid is a training artifact.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handoff says decision requested, not decision approved.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THEME · WORD TO POWERPOINT AND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Create the Cross-App Maintenance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Turn the Northstar operations brief into a 4-slide PowerPoint update and an Outlook email draft, then check that all three show the same numbers..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Northstar_Initial_Update.pptx (4 slides) and an unsent Outlook email draft.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Excel · Word · PowerPoint · Outlook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4370832"/>
          </a:xfrm>
          <a:prstGeom prst="roundRect">
            <a:avLst>
              <a:gd name="adj" fmla="val 502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Same numbers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Brief, slides and email all show 120 total, 60 backlog, 50 overdue and 6 unassigned.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4370832"/>
          </a:xfrm>
          <a:prstGeom prst="roundRect">
            <a:avLst>
              <a:gd name="adj" fmla="val 502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Draft only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The email stays in Drafts; nothing is approved.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Recap - Fundamentals of Microsoft 365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LO1: Same work-order evidence across four apps.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120 clean IDs and reconciled brief/update/draft.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Personalisation, .Rules and Skills for Excel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Account preferences, workbook conventions and reusable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Key Concepts — Personalisation, .Rules and Skills for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4370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Personalisation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Your account preferences, applied across every workbook.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4370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.Rules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Visible column-A instructions that travel with the workbook.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4370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Skills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Reusable methods: built-in @chart-design, or your own SKILL.md such as Pareto and dashboard Skills.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Hands-On Labs — Personalisation, .Rules and Skills for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Labs 3–4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Personalisation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Personalise Copilot in Excel for Consistent Service Reports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Workbook .Rules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Create and Test Workbook .Rules for Water Service Reporting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Labs 5–6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Custom Pareto Chart Skill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Find the Vital Few Failure Modes with a Pareto Skill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Reporting Skill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Build a Maintenance Report with Two Skills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Lab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PowerPoint Design Skill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Create a PowerPoint Design Skill: From Plain to Professional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SCOPE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Four Scopes of Customisation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Personalisation: your 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.Rules: this workbook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Skill: repeated 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Prompt: this request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Account Personalisation and Specific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Excel Copilot Personalisation stores account-level preferences for display, writing style and formula conventions.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Consistent S$ display and short explanations reduce repetitive requests without changing numeric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value of 35827.5 can display as S$35,827.50 or S$35,827.5000.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Account Personalisation and Specific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recurring display preferences.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Save them to the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Compare two workbook outputs.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Test a specific request and restore.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Account Personalisation and Specific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Changing a number format does not change its numeric value.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Another user opening the file does not receive your account preferences.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THEME · PERSONALISATION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Personalise Copilot in Excel for Consistent Service Reports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Save personal preferences in Copilot, see Excel use them without being asked, change one for a single prompt, then put your settings back..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Preference_Check sheet that follows your saved preferences, and your original settings restored.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in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Preferences used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Date 30-Sep-2026 and cost S$35,827.50 without asking in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One-off change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S$35,827.5000 shown; saved preferences unchanged.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Restored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Your original Personalization settings are 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WORKBOOK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Visible .Rules: Instructions Travel with the Workbook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97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92024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Northstar reporting conventions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97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69748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Preserve original IDs and current owners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8328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1097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47472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Backlog excludes Closed and Cancelled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6052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59"/>
            <a:ext cx="1097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251959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Reporting date: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120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Formula rule reads Control!B2; Copilot uses the recalculated result on the next request.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Visible Workbook .Rules and Formula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visible worksheet named exactly .Rules, including the dot, supplies workbook-specific Copilot instructions in column 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workbook can carry stable scope, status, cost-display and preservation instructions alongside the source.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date rule returns Reporting date: 2026-09-30 from Control!B2.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Visible Workbook .Rules and Formula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Name the visible sheet exactly .Rules.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Place one instruction per column-A cell.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Recalculate a formula-driven rule.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the next output and copied workbook.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Visible Workbook .Rules and Formula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Hidden .Rules is not used; keep the final sheet visible.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No universal precedence among rules, preferences and Skills is assumed.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THEME · WORKBOOK .RULES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Create and Test Workbook .Rules for Water Service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Give a workbook its own rules with a .Rules sheet, then see Copilot follow them without being told..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workbook with a visible .Rules sheet and a Rules_Test sheet that follows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in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.Rules sheet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Named exactly .Rules, visible, one rule per cell in column 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Rules followed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Rules_Test: 120 total, 60 backlog, 50 overdue, 30/48 = 62.5%, S$35,827.50.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Copy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The saved copy still has the .Rules sheet.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NATIVE EDITABLE PARETO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Overdue Contribution: 50 Work Orders, Five Categories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828800"/>
          <a:ext cx="50292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828800"/>
          <a:ext cx="502920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Four categories first reach 80%. Equal counts use alphabetical ties. Contribution is not cause.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Is a Skill? Inside SKILL.md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skill is a folder with a SKILL.md file.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Skills are triggered on demand: Copilot reads a skill only when you call it with @name or your request matches its description, so skills do not crowd every chat.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name: water-service-pareto (the same as its folder name).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Anatomy of a Skill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Triggered on demand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Loaded only when you @mention it or your request matches its description.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Metadata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Between --- lines: name (same as the folder) and description (when to use it).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Steps and procedure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The body: numbered steps, rules and the checks Copilot must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Reference files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The folder can also hold templates, examples or data the steps refer 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One folder per skill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skills &gt; pareto-chart &gt; SKILL.md, plus any reference files.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9768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087368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Install once, reuse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Works in every file; turn it on or off in Manage skills.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Is a Skill? Inside SKILL.md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Name the skill and describe when to use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the steps, rules and checks.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reference files to the folder if needed.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Install it, then call it with @name.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What Is a Skill? Inside SKILL.md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description: Use when I ask for a Pareto chart or failure-mode analysis.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Steps: count, sort high to low, add Cumulative %, list the vital few.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Built-in and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Copilot in Excel ships with built-in skills you call with @, such as @chart-design for charts.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Start with a built-in skill when the task is generic, such as making a clear chart.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@chart-design draws a clean bar chart of work orders by failure mode.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Built-in and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Turn on chart-design under Visualization.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Call @chart-design for a generic chart.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Spot the rules it cannot know.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a custom SKILL.md for those rules.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Apply the Concept — Built-in and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It does not add the cumulative line or the vital-few list.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water-service-pareto adds both, the same way every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Pareto Skill: Find the Vital Few Failure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Pareto chart sorts categories from highest to lowest count and adds a cumulative-percentage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water-service-pareto Skill turns the method into reusable instructions: count, sort high to low, add Share % and Cumulative %, chart it and list the categories needed to reach 80%.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All 120 work orders: Corrosion 42, Joint seal leak 30, Valve seat wear 22.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Pareto Skill: Find the Vital Few Failure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the table and the column to analyse.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Count and sort from highest to lowest.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Share % and Cumulative 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List the vital few that reach 80%.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Pareto Skill: Find the Vital Few Failure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These 3 of 8 failure modes cause 78% of the work.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Overdue jobs only: Joint seal leak moves to the top (14 of 50).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THEME · CUSTOM PARETO CHART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Find the Vital Few Failure Modes with a Pareto 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Engineers use Pareto charts to find the vital few failure modes behind most of the work. Make a chart with Excel’s built-in @chart-design skill, then install a custom Pareto skill that sorts failure modes from highest to lowest..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ChartDesign_Demo sheet, a Pareto_Failure_Mode chart for all work orders and one for the overdue jobs.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Copilot · Microsoft 365 Copilot web · OneDrive (Skills folder 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Built-in skill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chart-design turned on; ChartDesign_Demo sorted highest to lowest.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All work orders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Corrosion 42, Joint seal leak 30, Valve seat wear 22, Pump bearing wear 10, Pressure surge 8, Meter fault 4, Blockage 2, Third-party damage 2; top 3 = 78%.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Overdue only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Joint seal leak 14, Corrosion 13, Valve seat wear 8, Pump bearing wear 7, Pressure surge 3, Blockage 2, Meter fault 2, Third-party damage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SKILL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Anatomy of the Maintenance Skill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755648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name +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5564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When should Copilot use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32304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4203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Input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542032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table or snapshot + date +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542032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What evidence is missing?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18688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28416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328416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definitions + source preservation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328416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How should measures be calculated?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05072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1148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summary / charts / proposals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11480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Which named areas may change?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91456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4901184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counts + denominators + reruns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901184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What proves the result?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REPEATABLE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 Skill Improves Through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v1 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Run on verified 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Find one concrete defect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v2 + repeat the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Skills, Prompts and Workbook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prompt is one request.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skill makes stable definitions and review boundaries reusable: backlog excludes two terminal statuses, overdue uses a fixed date, missing owners stay missing and output reruns do not duplicate sheets.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maintenance-reporting contains definitions and output boundaries.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Skills, Prompts and Workbook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Identify a recurring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Separate stable rules from current inputs.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name, description and instructions.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Install, invoke and inspect the result.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Skills, Prompts and Workbook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Each request still supplies this month’s source, date and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Native skill use and pasted manual instructions are recorded differently.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Custom Skill Discovery in Each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Excel uses its Manage plugins &amp; skills interface and an app-created OneDrive skills folder.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Folder-name/frontmatter mismatches, an extra .txt extension, unavailable licence features and disabled skills can all prevent discovery.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Folder maintenance-reporting matches YAML name maintenance-reporting.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Custom Skill Discovery in Each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Save complete UTF-8 SKILL.md.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app-created skills location.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Refresh and verify the matching name.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Run and record a smoke test.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Custom Skill Discovery in Each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Excel and PowerPoint both show the skill before native invocation.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If a menu is absent, manual practice is labelled feature unavailable.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72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Repeatability and Safe Skill Reruns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Repeatability means the same verified inputs and method yield equivalent business measures and a controlled output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Reporting skills may be used every week or month, so uncontrolled output accumulation quickly creates conflicting summaries.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120 source IDs remain 120 after rerunning Maintenance_Summary.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Repeatability and Safe Skill Reruns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Capture the source fingerprint and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Request a reviewed rerun plan.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Replace only named output areas.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Compare source and measures again.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Repeatability and Safe Skill Reruns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Missing report date causes a clarification request, not invented numbers.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second output sheet is a defect when replacement was requested.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Assignment Proposals and Capacity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Assignment planning combines the work category, existing owner, estimated hours, technician primary category and available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same skill can improve Excel analysis and PowerPoint wording by preserving this boundary.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Unassigned work is counted only within nonterminal statuses.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Assignment Proposals and Capacity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Identify unassigned backlog.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Compare category and available hours.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Record the proposal and assumptions.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Request the manager decision.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Assignment Proposals and Capacity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Available hours minus proposed effort is a planning check.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source Assigned_To stays unchanged until a real authorised operational update.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THEME · REPORTING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Build a Maintenance Report with Two Skills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Install two skills, water-service-pareto and maintenance-reporting, and use them together to build a maintenance report in Excel, then use the reporting skill in PowerPoint..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Maintenance_Summary with a failure-mode Pareto, Assignment_Proposals, and an improved Northstar_Initial_Update.pptx.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and PowerPoint Copilot · Microsoft 365 Copilot web · OneDrive (Skills folder 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79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120 total; 60 backlog; 50 overdue; 30/48 = 62.5%; S$35,827.50.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Pareto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Corrosion 42, Joint seal leak 30, Valve seat wear 22, Pump bearing wear 10, Pressure surge 8, Meter fault 4, Blockage 2, Third-party damage 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Proposals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6 proposals; Assigned_To unchanged.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PowerPoint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4 slides, same numbers, clearer headlines.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WORKED DASHBOARD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Northstar Portfolio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4708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Total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8600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120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84708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Backlog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228600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737360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4708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Overdue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228600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39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63016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Closed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6907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520439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63016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On-time closed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1" y="406907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30/48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520439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1" y="363016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Recorded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06907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S$35,828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NATIVE EDITABLE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Backlog by Site: Count the Nonterminal Work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691640"/>
          <a:ext cx="1033272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REUSABLE DASHBOARD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Interactive Dashboard Skill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Named source + 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Six shared-scope KPIs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Four filters + three charts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Refresh + safe rerun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PowerPoint Design Skill: From Plain to Professional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design skill holds your brand rules, fonts, colours, header bar, footer, KPI cards and spacing, as steps Copilot in PowerPoint follows.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Most decks start plain: black text, no header, no branding.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Title slide: navy background, white title, teal subtitle.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DESIGN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Northstar Deck Design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Fonts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Segoe UI Semibold titles; Segoe UI body 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Colours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Navy #1F4E79, blue #2E75B6, teal #2A9D8F, light grey cards.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Header and footer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Navy title bar on every slide; footer with date and slide number.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KPI cards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Big bold numbers with a short label instead of long sentences.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Space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At most 4 short bullets; the same margins on every slide.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9768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087368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Keep the facts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Every slide, number and chart value stays the same.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PowerPoint Design Skill: From Plain to Professional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the brand rules as a SKILL.md.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it with + &gt; Choose skills &gt; Manage skills &gt; Add skill.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Call it on a plain deck.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every number is unchanged.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86</a:t>
            </a:r>
          </a:p>
        </p:txBody>
      </p:sp>
    </p:spTree>
  </p:cSld>
  <p:clrMapOvr>
    <a:masterClrMapping/>
  </p:clrMapOvr>
  <p:transition spd="med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PowerPoint Design Skill: From Plain to Professional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Content slides: navy header bar, KPI cards, footer with slide number.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Numbers such as 120 work orders and 50 overdue stay the same.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87</a:t>
            </a:r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THEME · POWERPOINT DESIGN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Create a PowerPoint Design Skill: From Plain to Professional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Turn a plain, unbranded PowerPoint deck into a professional Northstar deck by creating a design skill once and calling it with @..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Northstar_Professional_Update.pptx, redesigned by your own northstar-deck-design skill.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PowerPoint · Microsoft 365 Copilot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Skill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northstar-deck-design added in PowerPoint and called with @.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Design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Navy title slide; header bar, KPI cards and footer on the other slides; Segoe UI fonts.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Facts unchanged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6 slides; 120 total, 60 backlog, 50 overdue and 6 unassigned; S$35,827.50.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89</a:t>
            </a:r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Recap - Personalisation, .Rules and Skills for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LO2: Personalisation, .Rules, built-in @chart-design, Pareto and reporting Skills tested.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Preserved source plus missing-input and rerun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</p:spTree>
  </p:cSld>
  <p:clrMapOvr>
    <a:masterClrMapping/>
  </p:clrMapOvr>
  <p:transition spd="med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Interactive Dashboards with Custom Skills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Create the Skill, build the dashboard and prove interactions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91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Key Concepts — Interactive Dashboards with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Measures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Six formula KPIs with clear denominators and N/A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Visual design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KPI tiles and charts whose titles state the finding.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Interactions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Dropdowns and slicers filter every tile and chart.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Refresh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Known deltas in an isolated test copy.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92</a:t>
            </a:r>
          </a:p>
        </p:txBody>
      </p:sp>
    </p:spTree>
  </p:cSld>
  <p:clrMapOvr>
    <a:masterClrMapping/>
  </p:clrMapOvr>
  <p:transition spd="med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Hands-On Labs — Interactive Dashboards with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2579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Custom Dashboard Skill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Build an Interactive Dashboard with a Custom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5916" y="1783080"/>
            <a:ext cx="522579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Interactive Filters and Refresh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Test Dashboard Filters and a Data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93</a:t>
            </a:r>
          </a:p>
        </p:txBody>
      </p:sp>
    </p:spTree>
  </p:cSld>
  <p:clrMapOvr>
    <a:masterClrMapping/>
  </p:clrMapOvr>
  <p:transition spd="med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WORKED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Same Data, Different Filter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5166360" cy="3977639"/>
          </a:xfrm>
          <a:prstGeom prst="roundRect">
            <a:avLst>
              <a:gd name="adj" fmla="val 5517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01C"/>
                </a:solidFill>
                <a:latin typeface="Cambria"/>
              </a:rPr>
              <a:t>All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Total: 120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72384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Backlog: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84448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Overdue: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96512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Closed: 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08576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On-time closed: 30/48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166360" cy="3977639"/>
          </a:xfrm>
          <a:prstGeom prst="roundRect">
            <a:avLst>
              <a:gd name="adj" fmla="val 5517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01C"/>
                </a:solidFill>
                <a:latin typeface="Cambria"/>
              </a:rPr>
              <a:t>Woodlands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6032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Total: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72384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Backlog: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584448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Overdue: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96512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Closed: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608576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On-time closed: 10/16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94</a:t>
            </a:r>
          </a:p>
        </p:txBody>
      </p:sp>
    </p:spTree>
  </p:cSld>
  <p:clrMapOvr>
    <a:masterClrMapping/>
  </p:clrMapOvr>
  <p:transition spd="med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Custom Dashboard Skill as a Reusable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water-service-dashboard is a separate custom Skill whose instructions define inputs, six KPI formulas, four shared filter selectors, three editable charts and controlled output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reusable contract makes every KPI and chart obey the same AND filter logic and allows a safe refresh using table references.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Dashboard B2:B5 select site, category, status and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95</a:t>
            </a:r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Custom Dashboard Skill as a Reusable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Author and review the complete SKILL.md.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Install and verify the dashboard name.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Invoke a plan and build the reviewed output.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Test common filters, append refresh and reruns.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Custom Dashboard Skill as a Reusable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B7:B12 and all chart summaries use the identical selected rows.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122-row sandbox is separate from the untouched 120-row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97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Dashboard Measures and Denominators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dashboard measure needs a business definition, numerator, denominator where relevant, date rule and filter scope.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Changing the denominator can make an attractive rate meaningless.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Closed-only rate is different from closed/total completion share.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98</a:t>
            </a:r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Dashboard Measures and Denominators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Define source fields and scope.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Compute count and denominator.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Handle empty selections explicitly.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against controls.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99</a:t>
            </a:r>
          </a:p>
        </p:txBody>
      </p:sp>
    </p:spTree>
  </p:cSld>
  <p:clrMapOvr>
    <a:masterClrMapping/>
  </p:clrMapOvr>
  <p:transition spd="med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Dashboard Measures and Denominators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due-today backlog item is not overdue under a strict before-date rule.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All selected status/chart counts reconcile to total selected work orders.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Visual Dashboard Design for Maintenance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dashboard should make an operational decision easier.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Consistent chart scales, short labels, whitespace and limited accents help a manager compare the work queue quickly.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Status count chart shows the portfolio mix.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101</a:t>
            </a:r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Visual Dashboard Design for Maintenance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Name the maintenance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the measure and comparison.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an appropriate labelled chart.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meaning and readability.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102</a:t>
            </a:r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Visual Dashboard Design for Maintenance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Site backlog chart excludes Closed and Cancelled.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category count does not establish the root cause of overdue jobs.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103</a:t>
            </a:r>
          </a:p>
        </p:txBody>
      </p:sp>
    </p:spTree>
  </p:cSld>
  <p:clrMapOvr>
    <a:masterClrMapping/>
  </p:clrMapOvr>
  <p:transition spd="med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THEME · CUSTOM DASHBOARD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Build an Interactive Dashboard with a Custom 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Install the water-service-dashboard skill and use it to build an interactive dashboard..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Northstar_Dashboard.xlsx with six KPI tiles, three charts and slicers.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Copilot · Microsoft 365 Copilot web · OneDrive (Skills folder 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Tiles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120; 60; 50; 48; 62.5%; S$35,827.50.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Charts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Status, category and site charts each add up to 120; titles state a finding.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Formulas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No typed-in numbers; the source data is unchanged.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105</a:t>
            </a:r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TO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 Verified Chart Becomes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Observed backlog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Operational implication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Proposed recovery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Manager decision requested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106</a:t>
            </a:r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One Filter Scope for Every Visual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Interactive means a learner-controlled selection changes the evidence shown.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dashboard can appear interactive while only one chart changes.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Woodlands Hub in B2 or in the Site slicer gives 24 work orders.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107</a:t>
            </a:r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One Filter Scope for Every Visual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Define the selector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Apply the same AND mask everywhere.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Test each control and edge case.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selected chart and KPI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108</a:t>
            </a:r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One Filter Scope for Every Visual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Status New gives zero Closed and an N/A closure rate.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D3 warns while any slicer hides source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109</a:t>
            </a:r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Refresh Tests and Static Snapshots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refresh test deliberately introduces known new records and verifies the expected delta.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correct dashboard today may fail after the next export if formulas reference a fixed cell range.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Two test rows increase total by2 and recorded cost byS$400.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110</a:t>
            </a:r>
          </a:p>
        </p:txBody>
      </p:sp>
    </p:spTree>
  </p:cSld>
  <p:clrMapOvr>
    <a:masterClrMapping/>
  </p:clrMapOvr>
  <p:transition spd="med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Refresh Tests and Static Snapshots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Save an isolated sandbox copy.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Append known unique test 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Recalculate and verify expected deltas.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Handoff the untouched baseline.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111</a:t>
            </a:r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Refresh Tests and Static Snapshots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Only one new row adds to backlog/overdue; the other adds to on-time Closed.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final deck uses the untouched 120-row baseline, not the test copy.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112</a:t>
            </a:r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THEME · INTERACTIVE FILTERS AND REFRESH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Test Dashboard Filters and a Data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Test a finished dashboard: filter it with slicers, check an empty result, then add two rows and watch every number update..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Northstar_Refresh_Test.xlsx with the dashboard updated to 122 work orders.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Copilot · Microsoft 365 Copilot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113</a:t>
            </a:r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Slicer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Woodlands Hub: 24 total, 8 backlog, 7 overdue, 16 closed, 10 of 16 on time, S$6,668.50.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Empty result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Status New: on-time rate N/A.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Refresh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122 total, 49 closed, 61 backlog, 51 overdue, S$36,227.50.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114</a:t>
            </a:r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Recap - Interactive Dashboards with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LO3: Six KPI tiles and three charts follow four dropdowns and slicers.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Baseline controls and known refresh deltas.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115</a:t>
            </a:r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Create a Professional Presentation with PowerPoint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Continue the dashboard into a decision pack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116</a:t>
            </a:r>
          </a:p>
        </p:txBody>
      </p:sp>
    </p:spTree>
  </p:cSld>
  <p:clrMapOvr>
    <a:masterClrMapping/>
  </p:clrMapOvr>
  <p:transition spd="med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Key Concepts — Create a Professional Presentation with PowerPoint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Evidence story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Observation, implication, action and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Charts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Reviewed values, provenance and snapshot 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Refinement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Hierarchy, notes and actual rehearsal feedback.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Handoff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Reconciled pack and unsent communication.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117</a:t>
            </a:r>
          </a:p>
        </p:txBody>
      </p:sp>
    </p:spTree>
  </p:cSld>
  <p:clrMapOvr>
    <a:masterClrMapping/>
  </p:clrMapOvr>
  <p:transition spd="med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Hands-On Labs — Create a Professional Presentation with PowerPoint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2579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Dashboard to presentation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Turn Dashboard Evidence into a Management 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5916" y="1783080"/>
            <a:ext cx="522579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Professional handoff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Refine and Present the Maintenance Decision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118</a:t>
            </a:r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ARTIFACT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Maintenance Reporting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Interactive workbook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Dated Word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Static PPTX + 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Reviewed unsent email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119</a:t>
            </a:r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From Dashboard Evidence to a Decision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2603F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management presentation transforms evidence into a sequence of observations, implications, proposed actions and a decision request.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Copilot can accelerate outlines and drafting, but a persuasive invented conclusion is still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Backlog by site supports prioritisation, not a proven cause.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120</a:t>
            </a:r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From Dashboard Evidence to a Decision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Freeze the verified dashboard snapshot.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Register each proposed claim.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a reviewed Word brief.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Generate and reconcile the deck.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121</a:t>
            </a:r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From Dashboard Evidence to a Decision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Available-hours evidence supports a capacity discussion, not confirmed allocation.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final slide asks management to decide on a proposed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122</a:t>
            </a:r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Charts, Templates and Source Provenance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2603F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template supplies slide layouts, typography and colours; it does not supply correct facts.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Approximate AI-generated charts can contradict source values while looking plausible.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An editable embedded chart remains a copy rather than a tested live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123</a:t>
            </a:r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Charts, Templates and Source Provenance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Upload or paste the reviewed brief.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Apply the existing template.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Insert verified charts or 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Record source and snapshot scope.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124</a:t>
            </a:r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Charts, Templates and Source Provenance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An image is labelled as a snapshot at 30 September.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All eight slides use one reviewed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125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THEME · DASHBOARD TO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Turn Dashboard Evidence into a Management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Turn the dashboard into a Word presentation brief, then into an 8-slide PowerPoint management deck..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Northstar_Presentation_Brief.docx and an 8-slide Northstar_Management_Draft.pptx.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Excel · Word · PowerPoint · Outlook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126</a:t>
            </a:r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Brief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8 slide plans; 120 total, 60 backlog, 50 overdue and 6 unassigned.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8 slides; numbers match the brief; actions labelled proposed.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Chart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The dashboard site chart is on the site backlog slide.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127</a:t>
            </a:r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Professional Refinement and Rehearsal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2603F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Refinement improves the clarity of the existing evidence without changing its meaning.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well-designed deck can still fail when the speaker’s notes contain different numbers or a proposal is spoken as an approved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One message per slide; chart labels remain readable.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128</a:t>
            </a:r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Professional Refinement and Rehearsal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Audit the draft against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Apply reviewed design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Rehearse and record actual feedback.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PPTX and exported PDF.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129</a:t>
            </a:r>
          </a:p>
        </p:txBody>
      </p:sp>
    </p:spTree>
  </p:cSld>
  <p:clrMapOvr>
    <a:masterClrMapping/>
  </p:clrMapOvr>
  <p:transition spd="med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Professional Refinement and Rehearsal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45-second note explains evidence and limitation.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Partner feedback leads to one recorded revision.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130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Reviewed Handoff and Artifact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2603F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final pack contains an interactive Excel dashboard, a fixed reporting brief, a static PowerPoint/PDF snapshot, the custom skill and a reviewed communication draft.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Updating one artifact without the others creates inconsistent communication.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PowerPoint and PDF both show eight slides/pages from the same baseline.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131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Reviewed Handoff and Artifact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final artifacts.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Record actual filenames and links.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 the handoff draft.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Preserve the dated snapshot and skill.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132</a:t>
            </a:r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Reviewed Handoff and Artifact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Outlook does not claim a missing attachment was sent.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next update reruns the method with new verified inputs.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133</a:t>
            </a:r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THEME · PROFESSIONAL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Refine and Present the Maintenance Decision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Polish a management deck, rehearse it, save a PDF and draft the handoff email..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Northstar_Management_Final.pptx and .pdf, and an unsent handoff email draft.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Excel · Word · PowerPoint · Outlook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134</a:t>
            </a:r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8 slides, same numbers, speaker notes added.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PDF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8 readable pages.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Email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Two attachments; stays in Drafts; nothing approved.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135</a:t>
            </a:r>
          </a:p>
        </p:txBody>
      </p:sp>
    </p:spTree>
  </p:cSld>
  <p:clrMapOvr>
    <a:masterClrMapping/>
  </p:clrMapOvr>
  <p:transition spd="med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Recap - Create a Professional Presentation with PowerPoint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LO4: Eight-slide evidence story and reviewed handoff.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PDF, notes, register and actual rehearsal agree.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136</a:t>
            </a:r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Copilot Agents and Mini Capstone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Build a work-order agent, then apply the whole workflow in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137</a:t>
            </a:r>
          </a:p>
        </p:txBody>
      </p:sp>
    </p:spTree>
  </p:cSld>
  <p:clrMapOvr>
    <a:masterClrMapping/>
  </p:clrMapOvr>
  <p:transition spd="med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Key Concepts — Copilot Agents and Mini Capstone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Agent Builder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Create a specialist Copilot agent without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OneDrive files the agent searches and cites.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Instructions &amp; Skills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Role, rules and a reusable work-order Q&amp;A method.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Mini capstone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Groups turn safe data into a dashboard and decision deck.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138</a:t>
            </a:r>
          </a:p>
        </p:txBody>
      </p:sp>
    </p:spTree>
  </p:cSld>
  <p:clrMapOvr>
    <a:masterClrMapping/>
  </p:clrMapOvr>
  <p:transition spd="med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Hands-On Labs — Copilot Agents and Mini Capstone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2579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Copilot Agent Builder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Build a Work-Order Agent with Agent Builder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5916" y="1783080"/>
            <a:ext cx="522579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Mini Capstone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Mini Capstone: Group Dashboard and Decision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139</a:t>
            </a:r>
          </a:p>
        </p:txBody>
      </p:sp>
    </p:spTree>
  </p:cSld>
  <p:clrMapOvr>
    <a:masterClrMapping/>
  </p:clrMapOvr>
  <p:transition spd="med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Is Agent Builder?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Agent Builder is the no-code tool in Microsoft Copilot for creating your own specialist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An agent packages a recurring job, here answering work-order questions, so colleagues get consistent, grounded and bounded answers without rewriting prompts.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Knowledge: the handbook and the clean work-order file from OneDrive.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140</a:t>
            </a:r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AGENT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Agent Builder: What You Configure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Describe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Chat with Agent Builder to draft the agent in plain English.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Name &amp; description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What the agent is for; shown to people you share it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Instructions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Role, sources, definitions, tone and boundaries (8,000 characters).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OneDrive/SharePoint files, uploads or websites it can search.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Skills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Reusable SKILL.md packages uploaded as a .zip (preview).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9768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087368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Try it &amp; share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Test, select Create, then share as Can chat or Can edit.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Is Agent Builder?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Describe the agent’s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Configure instructions and knowledge.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a Skill and starter prompts.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Test, create and share safely.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  <p:transition spd="med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Apply the Concept — What Is Agent Builder?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Skill: work-order-qa sets definitions, citations and UNKNOWN rules.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Boundary test: the agent refuses to approve a reassignment.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  <p:transition spd="med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THEME · COPILOT AGENT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Build a Work-Order Agent with Agent Builder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Build a Copilot agent that answers questions about the Northstar work orders, then test its answers and its limits..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private Northstar Work Order Assistant agent with two knowledge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Describe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Configure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Ground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Copilot (copilot.cloud.microsoft) · Agent Builder · OneDrive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  <p:transition spd="med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Answers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Backlog 60; overdue 50; a knowledge file is named.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Limits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Refuses to approve or change records; phone number UNKNOWN.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Private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The agent is not shared.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  <p:transition spd="med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Mini Capstone: From Your Data to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mini capstone applies the whole course to a dataset your group chooses: safe data, workbook .Rules, a dashboard Skill, an interactive dashboard, a verified decision deck and a short showcase.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Repeating the workflow on unfamiliar data shows what transfers: definitions written as rules, reusable skills, independent checks and a decision-focused story.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150-row synthetic lift-maintenance table replaces real records.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  <p:transition spd="med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Mini Capstone: From Your Data to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safe data and roles.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.Rules and build with a Skill.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Verify KPIs and slicers.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Build the deck and showcase.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  <p:transition spd="med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Mini Capstone: From Your Data to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Six KPI tiles reconcile to independent COUNTIFS.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five-slide deck ends with the decision requested.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THEME · MINI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Mini Capstone: Group Dashboard and Decision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In groups, build a dashboard and a 5-slide decision deck from your own fictional dataset, then present it in three minutes..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Per group: a dataset, a .Rules sheet, an interactive dashboard, a 5-slide deck and a three-minute showcase.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1 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0438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5302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2  Rules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5036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9900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3  Dashboard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9634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94498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4 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4232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096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5  Showcase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Copilot · PowerPoint Copilot · Microsoft 365 Copilot web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  <p:transition spd="med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Safe data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Fictional data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Dashboard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Tiles and charts follow the slicers.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Numbers match the dashboard; actions labelled proposed.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Showcase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Three minutes, one live slicer click.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  <p:transition spd="med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Recap - Copilot Agents and Mini Capstone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LO5: A grounded work-order agent and a group dashboard and decision deck.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Agent answers match Control; capstone figures reconcile to the group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  <p:transition spd="med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Course Summary &amp;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  <p:transition spd="med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You Achieved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Connected Copilot workflow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Integrate Word, Excel, PowerPoint and Outlook Copilot in a coherent maintenance workflow with explicit source grounding and verified prompts.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Reusable maintenance skills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Distinguish account Personalisation, workbook .Rules and reusable Skills; configure, create, apply and verify Pareto and maintenance-reporting Skills using water-service evidence.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Interactive dashboard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Create and apply a custom interactive-dashboard Skill with verified measures, shared filter scope, editable charts and controlled refresh and rerun tests.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Professional presentation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Continue from the dashboard to a professional management presentation, with evidence-based headlines, source notes, rehearsal and a reviewed handoff draft.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55464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Agents and capstone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Build and test a grounded work-order agent with Agent Builder, then apply the full data-to-decision workflow to your own mock or sanitised data in a group capstone.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  <p:transition spd="med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Your Next Maintenance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1322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Use a copy and a new explicit reporting 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16224"/>
            <a:ext cx="10634472" cy="1322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6224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3389376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Supply verified source/date/scope and test skill reruns.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803648"/>
            <a:ext cx="10634472" cy="1322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803648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876800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Reconcile every claim and decision boundary.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  <p:transition spd="med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Keep Practising After the Course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Re-run the labs on your own machine — repetition is what makes the skills stick.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6772" y="1828800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6772" y="1828800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Apply the techniques to a real process or project in your own organisation.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59936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59936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Keep your downloaded course files; every lab folder has its own starting workbook.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6772" y="4059936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6772" y="4059936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Keep practising with the IES Academy course materials.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  <p:transition spd="med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CLOSING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5 Principles of AI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Data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Share only what the task needs; use synthetic or sanitised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Permission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Least privilege for files, agents, skills and sharing.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Human in the loop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Plan, review and approve before edits, emails or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Traceability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Log prompts, sources, versions and checks for every output.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Well-tested models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Prefer proven, approved models over the newest release.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  <p:transition spd="med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8412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THANK YOU FOR ATTENDING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85039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Thank You!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8412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B9B4A9"/>
                </a:solidFill>
                <a:latin typeface="Calibri"/>
              </a:rPr>
              <a:t>You now have the practical skills from every lab in this course — keep applying them to your own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