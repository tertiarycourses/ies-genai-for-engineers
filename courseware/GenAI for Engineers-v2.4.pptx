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  <p:sldId id="410" r:id="rId161"/>
    <p:sldId id="411" r:id="rId162"/>
    <p:sldId id="412" r:id="rId163"/>
    <p:sldId id="413" r:id="rId16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Relationship Id="rId157" Type="http://schemas.openxmlformats.org/officeDocument/2006/relationships/slide" Target="slides/slide151.xml"/><Relationship Id="rId158" Type="http://schemas.openxmlformats.org/officeDocument/2006/relationships/slide" Target="slides/slide152.xml"/><Relationship Id="rId159" Type="http://schemas.openxmlformats.org/officeDocument/2006/relationships/slide" Target="slides/slide153.xml"/><Relationship Id="rId160" Type="http://schemas.openxmlformats.org/officeDocument/2006/relationships/slide" Target="slides/slide154.xml"/><Relationship Id="rId161" Type="http://schemas.openxmlformats.org/officeDocument/2006/relationships/slide" Target="slides/slide155.xml"/><Relationship Id="rId162" Type="http://schemas.openxmlformats.org/officeDocument/2006/relationships/slide" Target="slides/slide156.xml"/><Relationship Id="rId163" Type="http://schemas.openxmlformats.org/officeDocument/2006/relationships/slide" Target="slides/slide157.xml"/><Relationship Id="rId164" Type="http://schemas.openxmlformats.org/officeDocument/2006/relationships/slide" Target="slides/slide15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Descending overdue counts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Pump Service</c:v>
                </c:pt>
                <c:pt idx="1">
                  <c:v>Meter Service</c:v>
                </c:pt>
                <c:pt idx="2">
                  <c:v>Leak Repair</c:v>
                </c:pt>
                <c:pt idx="3">
                  <c:v>Valve Repair</c:v>
                </c:pt>
                <c:pt idx="4">
                  <c:v>Pipe Replacement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18</c:v>
                </c:pt>
                <c:pt idx="1">
                  <c:v>12</c:v>
                </c:pt>
                <c:pt idx="2">
                  <c:v>8</c:v>
                </c:pt>
                <c:pt idx="3">
                  <c:v>8</c:v>
                </c:pt>
                <c:pt idx="4">
                  <c:v>4</c:v>
                </c:pt>
              </c:numCache>
            </c:numRef>
          </c:val>
        </c:ser>
        <c:dLbls>
          <c:txPr>
            <a:bodyPr/>
            <a:lstStyle/>
            <a:p>
              <a:pPr>
                <a:defRPr sz="12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Cumulative share (%)</c:v>
                </c:pt>
              </c:strCache>
            </c:strRef>
          </c:tx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Pump Service</c:v>
                </c:pt>
                <c:pt idx="1">
                  <c:v>Meter Service</c:v>
                </c:pt>
                <c:pt idx="2">
                  <c:v>Leak Repair</c:v>
                </c:pt>
                <c:pt idx="3">
                  <c:v>Valve Repair</c:v>
                </c:pt>
                <c:pt idx="4">
                  <c:v>Pipe Replacement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36</c:v>
                </c:pt>
                <c:pt idx="1">
                  <c:v>60</c:v>
                </c:pt>
                <c:pt idx="2">
                  <c:v>76</c:v>
                </c:pt>
                <c:pt idx="3">
                  <c:v>92</c:v>
                </c:pt>
                <c:pt idx="4">
                  <c:v>100</c:v>
                </c:pt>
              </c:numCache>
            </c:numRef>
          </c:val>
          <c:smooth val="0"/>
        </c:ser>
        <c:dLbls>
          <c:txPr>
            <a:bodyPr/>
            <a:lstStyle/>
            <a:p>
              <a:pPr>
                <a:defRPr sz="12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Backlog work orders</c:v>
                </c:pt>
              </c:strCache>
            </c:strRef>
          </c:tx>
          <c:spPr>
            <a:solidFill>
              <a:srgbClr val="3A7D7B"/>
            </a:solidFill>
          </c:spPr>
          <c:cat>
            <c:strRef>
              <c:f>Sheet1!$A$2:$A$6</c:f>
              <c:strCache>
                <c:ptCount val="5"/>
                <c:pt idx="0">
                  <c:v>Woodlands Hub</c:v>
                </c:pt>
                <c:pt idx="1">
                  <c:v>Jurong Depot</c:v>
                </c:pt>
                <c:pt idx="2">
                  <c:v>Tampines Centre</c:v>
                </c:pt>
                <c:pt idx="3">
                  <c:v>Changi Workshop</c:v>
                </c:pt>
                <c:pt idx="4">
                  <c:v>Paya Lebar Office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</c:v>
                </c:pt>
                <c:pt idx="1">
                  <c:v>12</c:v>
                </c:pt>
                <c:pt idx="2">
                  <c:v>16</c:v>
                </c:pt>
                <c:pt idx="3">
                  <c:v>20</c:v>
                </c:pt>
                <c:pt idx="4">
                  <c:v>4</c:v>
                </c:pt>
              </c:numCache>
            </c:numRef>
          </c:val>
        </c:ser>
        <c:dLbls>
          <c:txPr>
            <a:bodyPr/>
            <a:lstStyle/>
            <a:p>
              <a:pPr>
                <a:defRPr sz="16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6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201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1463040"/>
            <a:ext cx="4206240" cy="420624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4023360"/>
            <a:ext cx="3108960" cy="310896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7772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libri"/>
              </a:rPr>
              <a:t>IES ACADEMY  •  ENGINEERING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7772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B9B4A9"/>
                </a:solidFill>
                <a:latin typeface="Calibri"/>
              </a:rPr>
              <a:t>Version v2.4  ·  19 October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828800"/>
            <a:ext cx="1024128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5200" b="1">
                <a:solidFill>
                  <a:srgbClr val="FFFFFF"/>
                </a:solidFill>
                <a:latin typeface="Cambria"/>
              </a:rPr>
              <a:t>GenAI for Engineers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21208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IES Academy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17220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B9B4A9"/>
                </a:solidFill>
                <a:latin typeface="Calibr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59752" y="6355080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8A867D"/>
                </a:solidFill>
                <a:latin typeface="Calibri"/>
              </a:rPr>
              <a:t>© IES Academy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201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1463040"/>
            <a:ext cx="4206240" cy="420624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4023360"/>
            <a:ext cx="3108960" cy="310896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74519"/>
            <a:ext cx="84124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libri"/>
              </a:rPr>
              <a:t>COURSE ADMINISTRATION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286000"/>
            <a:ext cx="8595360" cy="1737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0">
                <a:solidFill>
                  <a:srgbClr val="FFFFFF"/>
                </a:solidFill>
                <a:latin typeface="Cambria"/>
              </a:rPr>
              <a:t>Welcome &amp; Housekeeping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4206240"/>
            <a:ext cx="1143000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8A867D"/>
                </a:solidFill>
                <a:latin typeface="Calibri"/>
              </a:rPr>
              <a:t>© IES Academy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8A867D"/>
                </a:solidFill>
                <a:latin typeface="Calibri"/>
              </a:rPr>
              <a:t>GenAI for Engineers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8A867D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ICE-BREAKER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Let's Know Each Other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828800"/>
            <a:ext cx="5234940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828800"/>
            <a:ext cx="5234940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60120" y="2688336"/>
            <a:ext cx="347472" cy="3474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706624"/>
            <a:ext cx="347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53896" y="1901952"/>
            <a:ext cx="433882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Your name, role and one maintenance reporting task.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6772" y="1828800"/>
            <a:ext cx="5234940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76772" y="1828800"/>
            <a:ext cx="5234940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359652" y="2688336"/>
            <a:ext cx="347472" cy="3474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9652" y="2706624"/>
            <a:ext cx="347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3428" y="1901952"/>
            <a:ext cx="433882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Which app holds the work-order source?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059936"/>
            <a:ext cx="5234940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4059936"/>
            <a:ext cx="5234940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60120" y="4919472"/>
            <a:ext cx="347472" cy="3474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4937760"/>
            <a:ext cx="347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53896" y="4133088"/>
            <a:ext cx="433882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Which date and status definitions determine overdue work?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6772" y="4059936"/>
            <a:ext cx="5234940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6772" y="4059936"/>
            <a:ext cx="5234940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59652" y="4919472"/>
            <a:ext cx="347472" cy="3474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9652" y="4937760"/>
            <a:ext cx="347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3428" y="4133088"/>
            <a:ext cx="433882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Check which Copilot buttons and skills menus are available in your assigned apps.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HOUSEKEEPING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Ground Rules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5180076" cy="1298448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5180076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64792" y="1874520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21201C"/>
                </a:solidFill>
                <a:latin typeface="Calibri"/>
              </a:rPr>
              <a:t>Set your mobile phone to silent mode.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1636" y="1783080"/>
            <a:ext cx="5180076" cy="1298448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31636" y="1783080"/>
            <a:ext cx="5180076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19188" y="1874520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21201C"/>
                </a:solidFill>
                <a:latin typeface="Calibri"/>
              </a:rPr>
              <a:t>Participate actively — no question is too small.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3319272"/>
            <a:ext cx="5180076" cy="1298448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3319272"/>
            <a:ext cx="5180076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64792" y="3410712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21201C"/>
                </a:solidFill>
                <a:latin typeface="Calibri"/>
              </a:rPr>
              <a:t>Mutual respect: agree to disagree.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1636" y="3319272"/>
            <a:ext cx="5180076" cy="1298448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31636" y="3319272"/>
            <a:ext cx="5180076" cy="64008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C26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19188" y="3410712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21201C"/>
                </a:solidFill>
                <a:latin typeface="Calibri"/>
              </a:rPr>
              <a:t>One conversation at a time.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4855464"/>
            <a:ext cx="5180076" cy="1298448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77240" y="4855464"/>
            <a:ext cx="5180076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64792" y="4946904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21201C"/>
                </a:solidFill>
                <a:latin typeface="Calibri"/>
              </a:rPr>
              <a:t>Be punctual; return from breaks on time.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31636" y="4855464"/>
            <a:ext cx="5180076" cy="1298448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31636" y="4855464"/>
            <a:ext cx="5180076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19188" y="4946904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21201C"/>
                </a:solidFill>
                <a:latin typeface="Calibri"/>
              </a:rPr>
              <a:t>Learn by doing — try every hands-on lab.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COURSE MATERIALS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Access Course Materials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331720"/>
            <a:ext cx="1878177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331720"/>
            <a:ext cx="1878177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Open the IES Academy course folder supplied by your trainer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D97757"/>
                </a:solidFill>
                <a:latin typeface="Calibri"/>
              </a:rPr>
              <a:t>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66313" y="2331720"/>
            <a:ext cx="1878177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966313" y="2331720"/>
            <a:ext cx="1878177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Open the courseware links for this course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D97757"/>
                </a:solidFill>
                <a:latin typeface="Calibri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55386" y="2331720"/>
            <a:ext cx="1878177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155386" y="2331720"/>
            <a:ext cx="1878177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Download the Slides, Learner Guide and Lesson Plan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D97757"/>
                </a:solidFill>
                <a:latin typeface="Calibri"/>
              </a:rPr>
              <a:t>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44459" y="2331720"/>
            <a:ext cx="1878177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44459" y="2331720"/>
            <a:ext cx="1878177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Open the labs folder for all 13 lab folders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D97757"/>
                </a:solidFill>
                <a:latin typeface="Calibri"/>
              </a:rPr>
              <a:t>▶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533532" y="2331720"/>
            <a:ext cx="1878177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533532" y="2331720"/>
            <a:ext cx="1878177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Keep the files together as you work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59436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D97757"/>
                </a:solidFill>
                <a:latin typeface="Calibri"/>
              </a:rPr>
              <a:t>Course materials: trainer-supplied IES Academy folder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SCHEDULE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Lesson Plan — 1 Day, 7.5 instructional hours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5212080" cy="4297680"/>
          </a:xfrm>
          <a:prstGeom prst="roundRect">
            <a:avLst>
              <a:gd name="adj" fmla="val 5106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355080" y="1783080"/>
            <a:ext cx="5056632" cy="4297680"/>
          </a:xfrm>
          <a:prstGeom prst="roundRect">
            <a:avLst>
              <a:gd name="adj" fmla="val 5106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56632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Calibri"/>
              </a:rPr>
              <a:t>Course sequence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3A7D7B"/>
                </a:solidFill>
                <a:latin typeface="Calibri"/>
              </a:rPr>
              <a:t>Day format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Topic 1: Fundamentals of Microsoft 365 Copilot (Labs 1–2)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Topic 2: Personalisation, .Rules and Skills for Excel (Labs 3–7)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Topic 3: Interactive Dashboards with Custom Skills (Labs 8–9)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Topic 4: Create a Professional Presentation with PowerPoint Copilot (Labs 10–11)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Topic 5: Copilot Agents and Mini Capstone (Labs 12–13)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Daily timing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6B6862"/>
                </a:solidFill>
                <a:latin typeface="Calibri"/>
              </a:rPr>
              <a:t>–  9:30 am - 6:30 pm (1-hour lunch; two 15-minute tea breaks; 7.5 instructional hours)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Instructional time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6B6862"/>
                </a:solidFill>
                <a:latin typeface="Calibri"/>
              </a:rPr>
              <a:t>–  7.5 hours · 13 connected labs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Learning arc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6B6862"/>
                </a:solidFill>
                <a:latin typeface="Calibri"/>
              </a:rPr>
              <a:t>–  Concept → demonstrate → build → verify → discuss → recap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WHAT YOU'LL ACHIEVE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Learning Outcomes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5180076" cy="1298448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5180076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Connected Copilot workflow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Integrate Word, Excel, PowerPoint and Outlook Copilot in a coherent maintenance workflow with explicit source grounding and verified prompts.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1636" y="1783080"/>
            <a:ext cx="5180076" cy="1298448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31636" y="1783080"/>
            <a:ext cx="5180076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Reusable maintenance skills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Distinguish account Personalisation, workbook .Rules and reusable Skills; configure, create, apply and verify Pareto and maintenance-reporting Skills using water-service evidence.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3319272"/>
            <a:ext cx="5180076" cy="1298448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3319272"/>
            <a:ext cx="5180076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Interactive dashboard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Create and apply a custom interactive-dashboard Skill with verified measures, shared filter scope, editable charts and controlled refresh and rerun tests.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1636" y="3319272"/>
            <a:ext cx="5180076" cy="1298448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31636" y="3319272"/>
            <a:ext cx="5180076" cy="64008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C26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Professional presentation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Continue from the dashboard to a professional management presentation, with evidence-based headlines, source notes, rehearsal and a reviewed handoff draft.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4855464"/>
            <a:ext cx="5180076" cy="1298448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77240" y="4855464"/>
            <a:ext cx="5180076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Agents and capstone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Build and test a grounded work-order agent with Agent Builder, then apply the full data-to-decision workflow to your own mock or sanitised data in a group capstone.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LEARNING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How You'll Learn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331720"/>
            <a:ext cx="1878177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331720"/>
            <a:ext cx="1878177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Trainer demonstrates the concept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D97757"/>
                </a:solidFill>
                <a:latin typeface="Calibri"/>
              </a:rPr>
              <a:t>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66313" y="2331720"/>
            <a:ext cx="1878177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966313" y="2331720"/>
            <a:ext cx="1878177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You build it yourself in the hands-on lab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D97757"/>
                </a:solidFill>
                <a:latin typeface="Calibri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55386" y="2331720"/>
            <a:ext cx="1878177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155386" y="2331720"/>
            <a:ext cx="1878177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Verify with the lab's 'Test it' step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D97757"/>
                </a:solidFill>
                <a:latin typeface="Calibri"/>
              </a:rPr>
              <a:t>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44459" y="2331720"/>
            <a:ext cx="1878177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44459" y="2331720"/>
            <a:ext cx="1878177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Discuss and troubleshoot together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D97757"/>
                </a:solidFill>
                <a:latin typeface="Calibri"/>
              </a:rPr>
              <a:t>▶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533532" y="2331720"/>
            <a:ext cx="1878177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533532" y="2331720"/>
            <a:ext cx="1878177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Recap against the learning outcomes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THE BIG PICTURE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Copilot: One Agentic AI Interface, Four Tools</a:t>
            </a:r>
          </a:p>
        </p:txBody>
      </p:sp>
      <p:cxnSp>
        <p:nvCxnSpPr>
          <p:cNvPr id="5" name="Connector 4"/>
          <p:cNvCxnSpPr/>
          <p:nvPr/>
        </p:nvCxnSpPr>
        <p:spPr>
          <a:xfrm flipH="1" flipV="1">
            <a:off x="4206240" y="2446020"/>
            <a:ext cx="1889607" cy="1394460"/>
          </a:xfrm>
          <a:prstGeom prst="line">
            <a:avLst/>
          </a:prstGeom>
          <a:ln w="38100">
            <a:solidFill>
              <a:srgbClr val="2173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6095847" y="2446020"/>
            <a:ext cx="1889608" cy="1394460"/>
          </a:xfrm>
          <a:prstGeom prst="line">
            <a:avLst/>
          </a:prstGeom>
          <a:ln w="38100">
            <a:solidFill>
              <a:srgbClr val="2B57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>
            <a:off x="4206240" y="3840480"/>
            <a:ext cx="1889607" cy="1348740"/>
          </a:xfrm>
          <a:prstGeom prst="line">
            <a:avLst/>
          </a:prstGeom>
          <a:ln w="38100">
            <a:solidFill>
              <a:srgbClr val="C43E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095847" y="3840480"/>
            <a:ext cx="1889608" cy="1348740"/>
          </a:xfrm>
          <a:prstGeom prst="line">
            <a:avLst/>
          </a:prstGeom>
          <a:ln w="38100">
            <a:solidFill>
              <a:srgbClr val="0F6C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4751679" y="2496312"/>
            <a:ext cx="2688336" cy="2688336"/>
          </a:xfrm>
          <a:prstGeom prst="ellipse">
            <a:avLst/>
          </a:prstGeom>
          <a:solidFill>
            <a:srgbClr val="DCD8C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861407" y="2606040"/>
            <a:ext cx="2468880" cy="246888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98567" y="2606040"/>
            <a:ext cx="2194560" cy="2468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Cambria"/>
              </a:rPr>
              <a:t>Microsoft 365 Copilot</a:t>
            </a:r>
          </a:p>
          <a:p>
            <a:pPr algn="ctr"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Agentic AI interface: understands your request, plans the steps and acts in each app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1783080"/>
            <a:ext cx="3429000" cy="13258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1783080"/>
            <a:ext cx="109728" cy="1325880"/>
          </a:xfrm>
          <a:prstGeom prst="rect">
            <a:avLst/>
          </a:prstGeom>
          <a:solidFill>
            <a:srgbClr val="21734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1874520"/>
            <a:ext cx="301752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217346"/>
                </a:solidFill>
                <a:latin typeface="Cambria"/>
              </a:rPr>
              <a:t>Excel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6B6862"/>
                </a:solidFill>
                <a:latin typeface="Calibri"/>
              </a:rPr>
              <a:t>Cleans data, writes formulas, builds charts and dashboards.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85455" y="1783080"/>
            <a:ext cx="3429000" cy="13258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985455" y="1783080"/>
            <a:ext cx="109728" cy="1325880"/>
          </a:xfrm>
          <a:prstGeom prst="rect">
            <a:avLst/>
          </a:prstGeom>
          <a:solidFill>
            <a:srgbClr val="2B57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59775" y="1874520"/>
            <a:ext cx="301752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2B579A"/>
                </a:solidFill>
                <a:latin typeface="Cambria"/>
              </a:rPr>
              <a:t>Word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6B6862"/>
                </a:solidFill>
                <a:latin typeface="Calibri"/>
              </a:rPr>
              <a:t>Drafts and checks reports and briefs from your files.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526280"/>
            <a:ext cx="3429000" cy="13258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4526280"/>
            <a:ext cx="109728" cy="1325880"/>
          </a:xfrm>
          <a:prstGeom prst="rect">
            <a:avLst/>
          </a:prstGeom>
          <a:solidFill>
            <a:srgbClr val="C43E1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4617720"/>
            <a:ext cx="301752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C43E1C"/>
                </a:solidFill>
                <a:latin typeface="Cambria"/>
              </a:rPr>
              <a:t>PowerPoint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6B6862"/>
                </a:solidFill>
                <a:latin typeface="Calibri"/>
              </a:rPr>
              <a:t>Builds and redesigns decks from a brief.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85455" y="4526280"/>
            <a:ext cx="3429000" cy="13258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85455" y="4526280"/>
            <a:ext cx="109728" cy="1325880"/>
          </a:xfrm>
          <a:prstGeom prst="rect">
            <a:avLst/>
          </a:prstGeom>
          <a:solidFill>
            <a:srgbClr val="0F6CB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59775" y="4617720"/>
            <a:ext cx="301752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0F6CBD"/>
                </a:solidFill>
                <a:latin typeface="Cambria"/>
              </a:rPr>
              <a:t>Outlook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6B6862"/>
                </a:solidFill>
                <a:latin typeface="Calibri"/>
              </a:rPr>
              <a:t>Drafts emails and replies for you to review.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943600"/>
            <a:ext cx="10637215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21201C"/>
                </a:solidFill>
                <a:latin typeface="Calibri"/>
              </a:rPr>
              <a:t>You ask in plain English   →   Copilot plans and acts in the app   →   You review and approve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201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1463040"/>
            <a:ext cx="4206240" cy="420624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4023360"/>
            <a:ext cx="3108960" cy="310896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74519"/>
            <a:ext cx="84124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libri"/>
              </a:rPr>
              <a:t>TOPIC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286000"/>
            <a:ext cx="8595360" cy="1737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0">
                <a:solidFill>
                  <a:srgbClr val="FFFFFF"/>
                </a:solidFill>
                <a:latin typeface="Cambria"/>
              </a:rPr>
              <a:t>Fundamentals of Microsoft 365 Copilot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4206240"/>
            <a:ext cx="1143000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434840"/>
            <a:ext cx="8412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B9B4A9"/>
                </a:solidFill>
                <a:latin typeface="Calibri"/>
              </a:rPr>
              <a:t>One verified maintenance workflow across four apps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8A867D"/>
                </a:solidFill>
                <a:latin typeface="Calibri"/>
              </a:rPr>
              <a:t>© IES Academy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8A867D"/>
                </a:solidFill>
                <a:latin typeface="Calibri"/>
              </a:rPr>
              <a:t>GenAI for Engineers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8A867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KEY CONCEPTS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0">
                <a:solidFill>
                  <a:srgbClr val="21201C"/>
                </a:solidFill>
                <a:latin typeface="Cambria"/>
              </a:rPr>
              <a:t>Key Concepts — Fundamentals of Microsoft 365 Copilot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5180076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5180076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21201C"/>
                </a:solidFill>
                <a:latin typeface="Cambria"/>
              </a:rPr>
              <a:t>Large language models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6B6862"/>
                </a:solidFill>
                <a:latin typeface="Calibri"/>
              </a:rPr>
              <a:t>Understand your request and generate natural-language answers.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1636" y="1783080"/>
            <a:ext cx="5180076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31636" y="1783080"/>
            <a:ext cx="5180076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21201C"/>
                </a:solidFill>
                <a:latin typeface="Cambria"/>
              </a:rPr>
              <a:t>Grounding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6B6862"/>
                </a:solidFill>
                <a:latin typeface="Calibri"/>
              </a:rPr>
              <a:t>Answers anchored in your work data: emails, files, meetings.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087368"/>
            <a:ext cx="5180076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4087368"/>
            <a:ext cx="5180076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21201C"/>
                </a:solidFill>
                <a:latin typeface="Cambria"/>
              </a:rPr>
              <a:t>Permissions &amp; privacy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6B6862"/>
                </a:solidFill>
                <a:latin typeface="Calibri"/>
              </a:rPr>
              <a:t>Shows only data you can access; prompts do not train the models.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1636" y="4087368"/>
            <a:ext cx="5180076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31636" y="4087368"/>
            <a:ext cx="5180076" cy="64008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C26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21201C"/>
                </a:solidFill>
                <a:latin typeface="Cambria"/>
              </a:rPr>
              <a:t>Prompts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6B6862"/>
                </a:solidFill>
                <a:latin typeface="Calibri"/>
              </a:rPr>
              <a:t>State the goal, context, source and expectations.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WHAT YOU'LL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0">
                <a:solidFill>
                  <a:srgbClr val="21201C"/>
                </a:solidFill>
                <a:latin typeface="Cambria"/>
              </a:rPr>
              <a:t>Hands-On Labs — Fundamentals of Microsoft 365 Copilot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5225796" cy="4297680"/>
          </a:xfrm>
          <a:prstGeom prst="roundRect">
            <a:avLst>
              <a:gd name="adj" fmla="val 5106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5225796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11680"/>
            <a:ext cx="4814316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D97757"/>
                </a:solidFill>
                <a:latin typeface="Cambria"/>
              </a:rPr>
              <a:t>Lab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4814316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1">
                <a:solidFill>
                  <a:srgbClr val="21201C"/>
                </a:solidFill>
                <a:latin typeface="Calibri"/>
              </a:rPr>
              <a:t>•  Excel to Word</a:t>
            </a:r>
          </a:p>
          <a:p>
            <a:pPr>
              <a:spcAft>
                <a:spcPts val="9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–  Prepare Work Orders and Draft the Operations Brief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5916" y="1783080"/>
            <a:ext cx="5225796" cy="4297680"/>
          </a:xfrm>
          <a:prstGeom prst="roundRect">
            <a:avLst>
              <a:gd name="adj" fmla="val 5106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85916" y="1783080"/>
            <a:ext cx="5225796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4516" y="2011680"/>
            <a:ext cx="4814316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3A7D7B"/>
                </a:solidFill>
                <a:latin typeface="Cambria"/>
              </a:rPr>
              <a:t>Lab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4516" y="2697480"/>
            <a:ext cx="4814316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1">
                <a:solidFill>
                  <a:srgbClr val="21201C"/>
                </a:solidFill>
                <a:latin typeface="Calibri"/>
              </a:rPr>
              <a:t>•  Word to PowerPoint and Outlook</a:t>
            </a:r>
          </a:p>
          <a:p>
            <a:pPr>
              <a:spcAft>
                <a:spcPts val="9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–  Create the Cross-App Maintenance Update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CONNECTED USE 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The Northstar Maintenance Evidence Chain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331720"/>
            <a:ext cx="2425446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615059" y="2715768"/>
            <a:ext cx="749808" cy="74980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15059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Excel: clean and check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6611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D97757"/>
                </a:solidFill>
                <a:latin typeface="Calibri"/>
              </a:rPr>
              <a:t>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13582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13582" y="2331720"/>
            <a:ext cx="2425446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351401" y="2715768"/>
            <a:ext cx="749808" cy="74980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51401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9886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Word: operations brief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02452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D97757"/>
                </a:solidFill>
                <a:latin typeface="Calibri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49924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49924" y="2331720"/>
            <a:ext cx="2425446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87743" y="2715768"/>
            <a:ext cx="749808" cy="74980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877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6228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PowerPoint: decision story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3879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D97757"/>
                </a:solidFill>
                <a:latin typeface="Calibri"/>
              </a:rPr>
              <a:t>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86266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86266" y="2331720"/>
            <a:ext cx="2425446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824085" y="2715768"/>
            <a:ext cx="749808" cy="74980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24085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32570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Outlook: reviewed draft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EDITABLE DATA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A Work Order Has State, Scope and Ownership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828800"/>
            <a:ext cx="3383280" cy="114300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2024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21201C"/>
                </a:solidFill>
                <a:latin typeface="Cambria"/>
              </a:rPr>
              <a:t>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28600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21201C"/>
                </a:solidFill>
                <a:latin typeface="Calibri"/>
              </a:rPr>
              <a:t>WO-2026-0003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1828800"/>
            <a:ext cx="3383280" cy="114300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92024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21201C"/>
                </a:solidFill>
                <a:latin typeface="Cambria"/>
              </a:rPr>
              <a:t>Site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28600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21201C"/>
                </a:solidFill>
                <a:latin typeface="Calibri"/>
              </a:rPr>
              <a:t>Woodlands Hub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2440" y="1828800"/>
            <a:ext cx="3383280" cy="114300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92024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21201C"/>
                </a:solidFill>
                <a:latin typeface="Cambria"/>
              </a:rPr>
              <a:t>Category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228600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21201C"/>
                </a:solidFill>
                <a:latin typeface="Calibri"/>
              </a:rPr>
              <a:t>Leak Repair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291840"/>
            <a:ext cx="3383280" cy="114300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3832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21201C"/>
                </a:solidFill>
                <a:latin typeface="Cambria"/>
              </a:rPr>
              <a:t>Status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749039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21201C"/>
                </a:solidFill>
                <a:latin typeface="Calibri"/>
              </a:rPr>
              <a:t>In Progress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34840" y="3291840"/>
            <a:ext cx="3383280" cy="114300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0" y="33832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21201C"/>
                </a:solidFill>
                <a:latin typeface="Cambria"/>
              </a:rPr>
              <a:t>Owner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3749039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21201C"/>
                </a:solidFill>
                <a:latin typeface="Calibri"/>
              </a:rPr>
              <a:t>Chloe Goh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21208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21201C"/>
                </a:solidFill>
                <a:latin typeface="Calibri"/>
              </a:rPr>
              <a:t>Current owner is evidence. Proposed owner is a separate planning output.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989320"/>
            <a:ext cx="10698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Source: synthetic tblWorkOrders | 30 Sep 2026 | All filters All unless stated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1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The Microsoft 365 Copilot Interface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3422904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D97757"/>
                </a:solidFill>
                <a:latin typeface="Cambria"/>
              </a:rPr>
              <a:t>WHAT IT 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201C"/>
                </a:solidFill>
                <a:latin typeface="Calibri"/>
              </a:rPr>
              <a:t>•  Copilot in the browser and in each Office app shares one set of controls.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3024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3024" y="1783080"/>
            <a:ext cx="3422904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1624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3A7D7B"/>
                </a:solidFill>
                <a:latin typeface="Cambria"/>
              </a:rPr>
              <a:t>WHY IT MATTERS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1624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201C"/>
                </a:solidFill>
                <a:latin typeface="Calibri"/>
              </a:rPr>
              <a:t>•  Knowing where each control lives lets you choose how much reasoning, context and authority Copilot gets for a task.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88808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88808" y="1783080"/>
            <a:ext cx="3422904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17408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5B4B8A"/>
                </a:solidFill>
                <a:latin typeface="Cambria"/>
              </a:rPr>
              <a:t>CHECK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7408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201C"/>
                </a:solidFill>
                <a:latin typeface="Calibri"/>
              </a:rPr>
              <a:t>•  Auto is the default model; Think deeper suits multi-step analysis.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1 · INTERFACE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The Microsoft 365 Copilot Interface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3361944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3361944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64792" y="1911096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21201C"/>
                </a:solidFill>
                <a:latin typeface="Calibri"/>
              </a:rPr>
              <a:t>Model selection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862"/>
                </a:solidFill>
                <a:latin typeface="Calibri"/>
              </a:rPr>
              <a:t>Auto, Quick response or Think deeper; Auto chooses for you.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13504" y="1783080"/>
            <a:ext cx="3361944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13504" y="1783080"/>
            <a:ext cx="3361944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69536" y="2542032"/>
            <a:ext cx="548640" cy="54864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69536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01056" y="1911096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21201C"/>
                </a:solidFill>
                <a:latin typeface="Calibri"/>
              </a:rPr>
              <a:t>New chat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862"/>
                </a:solidFill>
                <a:latin typeface="Calibri"/>
              </a:rPr>
              <a:t>Starts a clean conversation; each chat is its own context.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9768" y="1783080"/>
            <a:ext cx="3361944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9768" y="1783080"/>
            <a:ext cx="3361944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305800" y="2542032"/>
            <a:ext cx="548640" cy="548640"/>
          </a:xfrm>
          <a:prstGeom prst="ellipse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05800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37320" y="1911096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21201C"/>
                </a:solidFill>
                <a:latin typeface="Calibri"/>
              </a:rPr>
              <a:t>History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862"/>
                </a:solidFill>
                <a:latin typeface="Calibri"/>
              </a:rPr>
              <a:t>Earlier chats in the left pane to reopen or continue.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4087368"/>
            <a:ext cx="3361944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4087368"/>
            <a:ext cx="3361944" cy="64008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C26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64792" y="4215384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21201C"/>
                </a:solidFill>
                <a:latin typeface="Calibri"/>
              </a:rPr>
              <a:t>Mode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862"/>
                </a:solidFill>
                <a:latin typeface="Calibri"/>
              </a:rPr>
              <a:t>Excel/Word: Chat only, Plan or Allow editing (Edit).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13504" y="4087368"/>
            <a:ext cx="3361944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413504" y="4087368"/>
            <a:ext cx="3361944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669536" y="4846320"/>
            <a:ext cx="548640" cy="54864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69536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01056" y="4215384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21201C"/>
                </a:solidFill>
                <a:latin typeface="Calibri"/>
              </a:rPr>
              <a:t>+ Add content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862"/>
                </a:solidFill>
                <a:latin typeface="Calibri"/>
              </a:rPr>
              <a:t>Upload a local file, / a OneDrive file, or choose a skill.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49768" y="4087368"/>
            <a:ext cx="3361944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49768" y="4087368"/>
            <a:ext cx="3361944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305800" y="4846320"/>
            <a:ext cx="548640" cy="54864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05800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37320" y="4215384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21201C"/>
                </a:solidFill>
                <a:latin typeface="Calibri"/>
              </a:rPr>
              <a:t>Personalisation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862"/>
                </a:solidFill>
                <a:latin typeface="Calibri"/>
              </a:rPr>
              <a:t>Settings (...) &gt; Personalization: your account preferences.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1 · INTERFACE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The Microsoft 365 Copilot Interface (cont.)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3361944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3361944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64792" y="1911096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21201C"/>
                </a:solidFill>
                <a:latin typeface="Calibri"/>
              </a:rPr>
              <a:t>Skills &amp; plugins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862"/>
                </a:solidFill>
                <a:latin typeface="Calibri"/>
              </a:rPr>
              <a:t>Settings (...) &gt; Manage plugins &amp; skills; call one with @.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13504" y="1783080"/>
            <a:ext cx="3361944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13504" y="1783080"/>
            <a:ext cx="3361944" cy="64008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69536" y="2542032"/>
            <a:ext cx="548640" cy="548640"/>
          </a:xfrm>
          <a:prstGeom prst="ellipse">
            <a:avLst/>
          </a:prstGeom>
          <a:solidFill>
            <a:srgbClr val="C26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69536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01056" y="1911096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21201C"/>
                </a:solidFill>
                <a:latin typeface="Calibri"/>
              </a:rPr>
              <a:t>Agents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862"/>
                </a:solidFill>
                <a:latin typeface="Calibri"/>
              </a:rPr>
              <a:t>Agents &amp; Skills in the left pane; build with Agent Builder.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9768" y="1783080"/>
            <a:ext cx="3361944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9768" y="1783080"/>
            <a:ext cx="3361944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305800" y="2542032"/>
            <a:ext cx="548640" cy="54864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05800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37320" y="1911096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21201C"/>
                </a:solidFill>
                <a:latin typeface="Calibri"/>
              </a:rPr>
              <a:t>Data protection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862"/>
                </a:solidFill>
                <a:latin typeface="Calibri"/>
              </a:rPr>
              <a:t>The green shield shows enterprise data protection is 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1 · COMPARE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0">
                <a:solidFill>
                  <a:srgbClr val="21201C"/>
                </a:solidFill>
                <a:latin typeface="Cambria"/>
              </a:rPr>
              <a:t>Two Ways to Give Copilot a File: Local or OneDrive</a:t>
            </a:r>
          </a:p>
        </p:txBody>
      </p:sp>
      <p:sp>
        <p:nvSpPr>
          <p:cNvPr id="5" name="Rectangle 4"/>
          <p:cNvSpPr/>
          <p:nvPr/>
        </p:nvSpPr>
        <p:spPr>
          <a:xfrm>
            <a:off x="2404872" y="1783080"/>
            <a:ext cx="4462272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404872" y="1783080"/>
            <a:ext cx="446227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Local file (this course)</a:t>
            </a:r>
          </a:p>
        </p:txBody>
      </p:sp>
      <p:sp>
        <p:nvSpPr>
          <p:cNvPr id="7" name="Rectangle 6"/>
          <p:cNvSpPr/>
          <p:nvPr/>
        </p:nvSpPr>
        <p:spPr>
          <a:xfrm>
            <a:off x="6922008" y="1783080"/>
            <a:ext cx="4462272" cy="4572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22008" y="1783080"/>
            <a:ext cx="446227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OneDrive / SharePoint file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295144"/>
            <a:ext cx="10634472" cy="65532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" y="2295144"/>
            <a:ext cx="1453896" cy="655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21201C"/>
                </a:solidFill>
                <a:latin typeface="Calibri"/>
              </a:rPr>
              <a:t>Where it lives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87168" y="2295144"/>
            <a:ext cx="4297680" cy="655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Your computer, e.g. the downloaded lab folder.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04304" y="2295144"/>
            <a:ext cx="4297680" cy="655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OneDrive or SharePoint in Microsoft 365.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" y="2950464"/>
            <a:ext cx="1453896" cy="655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21201C"/>
                </a:solidFill>
                <a:latin typeface="Calibri"/>
              </a:rPr>
              <a:t>In Excel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87168" y="2950464"/>
            <a:ext cx="4297680" cy="655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Desktop Excel Copilot works on the open workbook; no upload needed.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04304" y="2950464"/>
            <a:ext cx="4297680" cy="655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Excel desktop or web; AutoSave keeps the cloud copy current.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3605784"/>
            <a:ext cx="10634472" cy="65532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6968" y="3605784"/>
            <a:ext cx="1453896" cy="655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21201C"/>
                </a:solidFill>
                <a:latin typeface="Calibri"/>
              </a:rPr>
              <a:t>In Word, PowerPoint, Outlook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87168" y="3605784"/>
            <a:ext cx="4297680" cy="655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+ &gt; Upload images and files, then pick the file on your device.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04304" y="3605784"/>
            <a:ext cx="4297680" cy="655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Type / or use + &gt; Attach cloud files and pick the file.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" y="4261104"/>
            <a:ext cx="1453896" cy="655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21201C"/>
                </a:solidFill>
                <a:latin typeface="Calibri"/>
              </a:rPr>
              <a:t>/ or @ mention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87168" y="4261104"/>
            <a:ext cx="4297680" cy="655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Not available: / lists only cloud files; @ calls skills and agents.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04304" y="4261104"/>
            <a:ext cx="4297680" cy="655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/ lists the OneDrive and SharePoint files you can open.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4916424"/>
            <a:ext cx="10634472" cy="65532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86968" y="4916424"/>
            <a:ext cx="1453896" cy="655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21201C"/>
                </a:solidFill>
                <a:latin typeface="Calibri"/>
              </a:rPr>
              <a:t>After you edit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87168" y="4916424"/>
            <a:ext cx="4297680" cy="655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The upload is a copy: upload again after changing the file.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04304" y="4916424"/>
            <a:ext cx="4297680" cy="655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The reference reads the latest saved cloud version.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968" y="5571744"/>
            <a:ext cx="1453896" cy="655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21201C"/>
                </a:solidFill>
                <a:latin typeface="Calibri"/>
              </a:rPr>
              <a:t>Use it for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87168" y="5571744"/>
            <a:ext cx="4297680" cy="655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Training labs and files you do not want in the cloud.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04304" y="5571744"/>
            <a:ext cx="4297680" cy="655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Shared team files, agent knowledge and folder references.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1 · 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The Microsoft 365 Copilot Interface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331720"/>
            <a:ext cx="2425446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615059" y="2715768"/>
            <a:ext cx="749808" cy="74980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15059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Pick the model and start a new chat.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6611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D97757"/>
                </a:solidFill>
                <a:latin typeface="Calibri"/>
              </a:rPr>
              <a:t>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13582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13582" y="2331720"/>
            <a:ext cx="2425446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351401" y="2715768"/>
            <a:ext cx="749808" cy="74980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51401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9886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Reference the file or choose a skill.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02452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D97757"/>
                </a:solidFill>
                <a:latin typeface="Calibri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49924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49924" y="2331720"/>
            <a:ext cx="2425446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87743" y="2715768"/>
            <a:ext cx="749808" cy="74980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877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6228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Choose Chat only, Plan or Allow editing.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3879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D97757"/>
                </a:solidFill>
                <a:latin typeface="Calibri"/>
              </a:rPr>
              <a:t>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86266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86266" y="2331720"/>
            <a:ext cx="2425446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824085" y="2715768"/>
            <a:ext cx="749808" cy="74980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24085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32570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Review history, settings and skills.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1 · HOW TO USE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0">
                <a:solidFill>
                  <a:srgbClr val="21201C"/>
                </a:solidFill>
                <a:latin typeface="Cambria"/>
              </a:rPr>
              <a:t>Apply the Concept — The Microsoft 365 Copilot Interface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5212080" cy="4297680"/>
          </a:xfrm>
          <a:prstGeom prst="roundRect">
            <a:avLst>
              <a:gd name="adj" fmla="val 5106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355080" y="1783080"/>
            <a:ext cx="5056632" cy="4297680"/>
          </a:xfrm>
          <a:prstGeom prst="roundRect">
            <a:avLst>
              <a:gd name="adj" fmla="val 5106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56632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Calibri"/>
              </a:rPr>
              <a:t>PROMPT PRINCIPLES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3A7D7B"/>
                </a:solidFill>
                <a:latin typeface="Calibri"/>
              </a:rPr>
              <a:t>EVIDENCE TO CHECK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Name the source, reporting date and selected scope.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Explain the result using checked evidence.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Local file: upload it with +. OneDrive file: reference it with /.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Chat only for inspection, Plan before edits, Allow editing to apply.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  <p:transition spd="med">
    <p:fade/>
  </p:transition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1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Grounding Across Microsoft 365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3422904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D97757"/>
                </a:solidFill>
                <a:latin typeface="Cambria"/>
              </a:rPr>
              <a:t>WHAT IT 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201C"/>
                </a:solidFill>
                <a:latin typeface="Calibri"/>
              </a:rPr>
              <a:t>•  Grounding gives an AI request the specific evidence it should use.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3024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3024" y="1783080"/>
            <a:ext cx="3422904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1624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3A7D7B"/>
                </a:solidFill>
                <a:latin typeface="Cambria"/>
              </a:rPr>
              <a:t>WHY IT MATTERS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1624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201C"/>
                </a:solidFill>
                <a:latin typeface="Calibri"/>
              </a:rPr>
              <a:t>•  A maintenance figure can be correct in Excel yet become wrong in an email when the source, reporting date or filter scope changes.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88808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88808" y="1783080"/>
            <a:ext cx="3422904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17408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5B4B8A"/>
                </a:solidFill>
                <a:latin typeface="Cambria"/>
              </a:rPr>
              <a:t>CHECK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7408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201C"/>
                </a:solidFill>
                <a:latin typeface="Calibri"/>
              </a:rPr>
              <a:t>•  Excel analyses tblWorkOrders; Word receives the checked summary.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  <p:transition spd="med">
    <p:fade/>
  </p:transition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1 · 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Grounding Across Microsoft 365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331720"/>
            <a:ext cx="2425446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615059" y="2715768"/>
            <a:ext cx="749808" cy="74980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15059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Identify the authoritative work-order table.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6611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D97757"/>
                </a:solidFill>
                <a:latin typeface="Calibri"/>
              </a:rPr>
              <a:t>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13582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13582" y="2331720"/>
            <a:ext cx="2425446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351401" y="2715768"/>
            <a:ext cx="749808" cy="74980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51401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9886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Provide goal, context, source and expected output.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02452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D97757"/>
                </a:solidFill>
                <a:latin typeface="Calibri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49924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49924" y="2331720"/>
            <a:ext cx="2425446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87743" y="2715768"/>
            <a:ext cx="749808" cy="74980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877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6228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Review against the named evidence.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3879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D97757"/>
                </a:solidFill>
                <a:latin typeface="Calibri"/>
              </a:rPr>
              <a:t>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86266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86266" y="2331720"/>
            <a:ext cx="2425446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824085" y="2715768"/>
            <a:ext cx="749808" cy="74980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24085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32570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Pass a verified snapshot to the next app.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  <p:transition spd="med">
    <p:fade/>
  </p:transition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1 · HOW TO USE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0">
                <a:solidFill>
                  <a:srgbClr val="21201C"/>
                </a:solidFill>
                <a:latin typeface="Cambria"/>
              </a:rPr>
              <a:t>Apply the Concept — Grounding Across Microsoft 365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5212080" cy="4297680"/>
          </a:xfrm>
          <a:prstGeom prst="roundRect">
            <a:avLst>
              <a:gd name="adj" fmla="val 5106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355080" y="1783080"/>
            <a:ext cx="5056632" cy="4297680"/>
          </a:xfrm>
          <a:prstGeom prst="roundRect">
            <a:avLst>
              <a:gd name="adj" fmla="val 5106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56632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Calibri"/>
              </a:rPr>
              <a:t>PROMPT PRINCIPLES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3A7D7B"/>
                </a:solidFill>
                <a:latin typeface="Calibri"/>
              </a:rPr>
              <a:t>EVIDENCE TO CHECK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Name the source, reporting date and selected scope.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Explain the result using checked evidence.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PowerPoint receives the reviewed Word brief; Outlook receives the same checked values.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An Excel chat transcript is not an automatic PowerPoint data source.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  <p:transition spd="med">
    <p:fade/>
  </p:transition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1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Work-Order Grain and Reporting Measures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3422904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D97757"/>
                </a:solidFill>
                <a:latin typeface="Cambria"/>
              </a:rPr>
              <a:t>WHAT IT 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201C"/>
                </a:solidFill>
                <a:latin typeface="Calibri"/>
              </a:rPr>
              <a:t>•  A row represents one work order, identified by Work_Order_ID.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3024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3024" y="1783080"/>
            <a:ext cx="3422904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1624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3A7D7B"/>
                </a:solidFill>
                <a:latin typeface="Cambria"/>
              </a:rPr>
              <a:t>WHY IT MATTERS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1624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201C"/>
                </a:solidFill>
                <a:latin typeface="Calibri"/>
              </a:rPr>
              <a:t>•  An exact duplicated export row changes counts and cost without representing new work.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88808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88808" y="1783080"/>
            <a:ext cx="3422904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17408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5B4B8A"/>
                </a:solidFill>
                <a:latin typeface="Cambria"/>
              </a:rPr>
              <a:t>CHECK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7408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201C"/>
                </a:solidFill>
                <a:latin typeface="Calibri"/>
              </a:rPr>
              <a:t>•  122 raw rows contain 120 distinct work-order IDs.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  <p:transition spd="med">
    <p:fade/>
  </p:transition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1 · 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Work-Order Grain and Reporting Measures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331720"/>
            <a:ext cx="2425446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615059" y="2715768"/>
            <a:ext cx="749808" cy="74980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15059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Define one ID per work order.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6611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D97757"/>
                </a:solidFill>
                <a:latin typeface="Calibri"/>
              </a:rPr>
              <a:t>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13582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13582" y="2331720"/>
            <a:ext cx="2425446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351401" y="2715768"/>
            <a:ext cx="749808" cy="74980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51401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9886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Find exact repeated export records.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02452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D97757"/>
                </a:solidFill>
                <a:latin typeface="Calibri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49924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49924" y="2331720"/>
            <a:ext cx="2425446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87743" y="2715768"/>
            <a:ext cx="749808" cy="74980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877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6228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Standardise labels without inventing facts.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3879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D97757"/>
                </a:solidFill>
                <a:latin typeface="Calibri"/>
              </a:rPr>
              <a:t>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86266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86266" y="2331720"/>
            <a:ext cx="2425446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824085" y="2715768"/>
            <a:ext cx="749808" cy="74980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24085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32570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Reconcile cleaned counts and cost.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  <p:transition spd="med">
    <p:fade/>
  </p:transition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1 · HOW TO USE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0">
                <a:solidFill>
                  <a:srgbClr val="21201C"/>
                </a:solidFill>
                <a:latin typeface="Cambria"/>
              </a:rPr>
              <a:t>Apply the Concept — Work-Order Grain and Reporting Measures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5212080" cy="4297680"/>
          </a:xfrm>
          <a:prstGeom prst="roundRect">
            <a:avLst>
              <a:gd name="adj" fmla="val 5106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355080" y="1783080"/>
            <a:ext cx="5056632" cy="4297680"/>
          </a:xfrm>
          <a:prstGeom prst="roundRect">
            <a:avLst>
              <a:gd name="adj" fmla="val 5106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56632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Calibri"/>
              </a:rPr>
              <a:t>PROMPT PRINCIPLES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3A7D7B"/>
                </a:solidFill>
                <a:latin typeface="Calibri"/>
              </a:rPr>
              <a:t>EVIDENCE TO CHECK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Name the source, reporting date and selected scope.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Explain the result using checked evidence.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Total = Closed + Cancelled + Backlog after exact duplicate removal.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Due on 30 September is not overdue at the 30 September snapshot.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  <p:transition spd="med">
    <p:fade/>
  </p:transition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1 THEME · EXCEL TO WORD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0">
                <a:solidFill>
                  <a:srgbClr val="21201C"/>
                </a:solidFill>
                <a:latin typeface="Cambria"/>
              </a:rPr>
              <a:t>Prepare Work Orders and Draft the Operations Brief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LAB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31720"/>
            <a:ext cx="10634472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21201C"/>
                </a:solidFill>
                <a:latin typeface="Calibri"/>
              </a:rPr>
              <a:t>You are the maintenance coordinator at Northstar Water Services, a fictional water-pipe maintenance company. Clean a messy work-order export with Copilot in Excel, add check formulas, then turn the clean data into a one-page Word brief..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657600"/>
            <a:ext cx="10634472" cy="228600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3657600"/>
            <a:ext cx="64008" cy="2286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822191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libri"/>
              </a:rPr>
              <a:t>You'll build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096512"/>
            <a:ext cx="100584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21201C"/>
                </a:solidFill>
                <a:latin typeface="Cambria"/>
              </a:rPr>
              <a:t>A clean Northstar_Work_Orders.xlsx (120 rows and a Checks sheet) and Northstar_Operations_Brief.docx.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05840" y="4828032"/>
            <a:ext cx="2391156" cy="475488"/>
          </a:xfrm>
          <a:prstGeom prst="rect">
            <a:avLst/>
          </a:prstGeom>
          <a:solidFill>
            <a:srgbClr val="FAF9F5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4882896"/>
            <a:ext cx="2281428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1201C"/>
                </a:solidFill>
                <a:latin typeface="Calibri"/>
              </a:rPr>
              <a:t>1  Ground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61588" y="4828032"/>
            <a:ext cx="2391156" cy="475488"/>
          </a:xfrm>
          <a:prstGeom prst="rect">
            <a:avLst/>
          </a:prstGeom>
          <a:solidFill>
            <a:srgbClr val="FAF9F5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16452" y="4882896"/>
            <a:ext cx="2281428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1201C"/>
                </a:solidFill>
                <a:latin typeface="Calibri"/>
              </a:rPr>
              <a:t>2  Build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17336" y="4828032"/>
            <a:ext cx="2391156" cy="475488"/>
          </a:xfrm>
          <a:prstGeom prst="rect">
            <a:avLst/>
          </a:prstGeom>
          <a:solidFill>
            <a:srgbClr val="FAF9F5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72200" y="4882896"/>
            <a:ext cx="2281428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1201C"/>
                </a:solidFill>
                <a:latin typeface="Calibri"/>
              </a:rPr>
              <a:t>3  Verify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73084" y="4828032"/>
            <a:ext cx="2391156" cy="475488"/>
          </a:xfrm>
          <a:prstGeom prst="rect">
            <a:avLst/>
          </a:prstGeom>
          <a:solidFill>
            <a:srgbClr val="FAF9F5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27948" y="4882896"/>
            <a:ext cx="2281428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1201C"/>
                </a:solidFill>
                <a:latin typeface="Calibri"/>
              </a:rPr>
              <a:t>4  Handoff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5504688"/>
            <a:ext cx="10241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6B6862"/>
                </a:solidFill>
                <a:latin typeface="Calibri"/>
              </a:rPr>
              <a:t>Tools:  </a:t>
            </a:r>
            <a:r>
              <a:rPr sz="1200" b="0">
                <a:solidFill>
                  <a:srgbClr val="6B6862"/>
                </a:solidFill>
                <a:latin typeface="Calibri"/>
              </a:rPr>
              <a:t>Microsoft 365 Copilot · Excel · Word · PowerPoint · Outlook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  <p:transition spd="med">
    <p:fade/>
  </p:transition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1 · VERIFY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Check Your Results — Lab 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5180076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5180076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Clean table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120 rows, one per Work_Order_ID; 5 job categories.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1636" y="1783080"/>
            <a:ext cx="5180076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31636" y="1783080"/>
            <a:ext cx="5180076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Checks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120 total, 48 closed, 12 cancelled, 60 backlog, 50 overdue, 6 unassigned, cost S$35,827.50.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087368"/>
            <a:ext cx="5180076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4087368"/>
            <a:ext cx="5180076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Word brief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Same numbers as the Checks sheet; empty owners left empty.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  <p:transition spd="med">
    <p:fade/>
  </p:transition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2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Prompts and Verified App Handoffs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3422904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D97757"/>
                </a:solidFill>
                <a:latin typeface="Cambria"/>
              </a:rPr>
              <a:t>WHAT IT 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201C"/>
                </a:solidFill>
                <a:latin typeface="Calibri"/>
              </a:rPr>
              <a:t>•  A useful prompt combines the intended goal, operational context, named source and output expectations.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3024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3024" y="1783080"/>
            <a:ext cx="3422904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1624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3A7D7B"/>
                </a:solidFill>
                <a:latin typeface="Cambria"/>
              </a:rPr>
              <a:t>WHY IT MATTERS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1624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201C"/>
                </a:solidFill>
                <a:latin typeface="Calibri"/>
              </a:rPr>
              <a:t>•  The same number may have different meaning when a chart counts all work orders while an email calls it open backlog.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88808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88808" y="1783080"/>
            <a:ext cx="3422904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17408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5B4B8A"/>
                </a:solidFill>
                <a:latin typeface="Cambria"/>
              </a:rPr>
              <a:t>CHECK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7408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201C"/>
                </a:solidFill>
                <a:latin typeface="Calibri"/>
              </a:rPr>
              <a:t>•  Goal: draft a maintenance update for the operations manager.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  <p:transition spd="med">
    <p:fade/>
  </p:transition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2 · 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Prompts and Verified App Handoffs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331720"/>
            <a:ext cx="2425446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615059" y="2715768"/>
            <a:ext cx="749808" cy="74980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15059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Write the goal and audience.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6611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D97757"/>
                </a:solidFill>
                <a:latin typeface="Calibri"/>
              </a:rPr>
              <a:t>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13582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13582" y="2331720"/>
            <a:ext cx="2425446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351401" y="2715768"/>
            <a:ext cx="749808" cy="74980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51401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9886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Upload the local file or paste the verified source.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02452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D97757"/>
                </a:solidFill>
                <a:latin typeface="Calibri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49924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49924" y="2331720"/>
            <a:ext cx="2425446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87743" y="2715768"/>
            <a:ext cx="749808" cy="74980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877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6228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Specify definitions and missing-value behaviour.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3879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D97757"/>
                </a:solidFill>
                <a:latin typeface="Calibri"/>
              </a:rPr>
              <a:t>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86266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86266" y="2331720"/>
            <a:ext cx="2425446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824085" y="2715768"/>
            <a:ext cx="749808" cy="74980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24085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32570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Reconcile the returned claims.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  <p:transition spd="med">
    <p:fade/>
  </p:transition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2 · HOW TO USE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0">
                <a:solidFill>
                  <a:srgbClr val="21201C"/>
                </a:solidFill>
                <a:latin typeface="Cambria"/>
              </a:rPr>
              <a:t>Apply the Concept — Prompts and Verified App Handoffs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5212080" cy="4297680"/>
          </a:xfrm>
          <a:prstGeom prst="roundRect">
            <a:avLst>
              <a:gd name="adj" fmla="val 5106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355080" y="1783080"/>
            <a:ext cx="5056632" cy="4297680"/>
          </a:xfrm>
          <a:prstGeom prst="roundRect">
            <a:avLst>
              <a:gd name="adj" fmla="val 5106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56632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Calibri"/>
              </a:rPr>
              <a:t>PROMPT PRINCIPLES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3A7D7B"/>
                </a:solidFill>
                <a:latin typeface="Calibri"/>
              </a:rPr>
              <a:t>EVIDENCE TO CHECK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Name the source, reporting date and selected scope.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Explain the result using checked evidence.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Source: reviewed Northstar operations brief, all filters All, 30 September.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Expectation: label assignment suggestions as proposals and leave unknown approvals UNKNOWN.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  <p:transition spd="med">
    <p:fade/>
  </p:transition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2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Outlook Drafting and Operational Decisions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3422904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D97757"/>
                </a:solidFill>
                <a:latin typeface="Cambria"/>
              </a:rPr>
              <a:t>WHAT IT 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201C"/>
                </a:solidFill>
                <a:latin typeface="Calibri"/>
              </a:rPr>
              <a:t>•  Copilot can help structure a draft email from supplied context.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3024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3024" y="1783080"/>
            <a:ext cx="3422904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1624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3A7D7B"/>
                </a:solidFill>
                <a:latin typeface="Cambria"/>
              </a:rPr>
              <a:t>WHY IT MATTERS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1624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201C"/>
                </a:solidFill>
                <a:latin typeface="Calibri"/>
              </a:rPr>
              <a:t>•  An apparently routine update can accidentally promise technician reassignment or imply that a manager approved a recovery plan.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88808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88808" y="1783080"/>
            <a:ext cx="3422904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17408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5B4B8A"/>
                </a:solidFill>
                <a:latin typeface="Cambria"/>
              </a:rPr>
              <a:t>CHECK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7408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201C"/>
                </a:solidFill>
                <a:latin typeface="Calibri"/>
              </a:rPr>
              <a:t>•  Current owner blank; proposed owner Aisha remains unapproved.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  <p:transition spd="med">
    <p:fade/>
  </p:transition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2 · 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Outlook Drafting and Operational Decisions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331720"/>
            <a:ext cx="2425446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615059" y="2715768"/>
            <a:ext cx="749808" cy="74980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15059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Provide the synthetic thread and checked facts.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6611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D97757"/>
                </a:solidFill>
                <a:latin typeface="Calibri"/>
              </a:rPr>
              <a:t>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13582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13582" y="2331720"/>
            <a:ext cx="2425446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351401" y="2715768"/>
            <a:ext cx="749808" cy="74980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51401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9886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Draft a concise update.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02452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D97757"/>
                </a:solidFill>
                <a:latin typeface="Calibri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49924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49924" y="2331720"/>
            <a:ext cx="2425446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87743" y="2715768"/>
            <a:ext cx="749808" cy="74980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877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6228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Review recipients, facts and action wording.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3879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D97757"/>
                </a:solidFill>
                <a:latin typeface="Calibri"/>
              </a:rPr>
              <a:t>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86266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86266" y="2331720"/>
            <a:ext cx="2425446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824085" y="2715768"/>
            <a:ext cx="749808" cy="74980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24085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32570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Save the unsent draft and evidence.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32</a:t>
            </a:r>
          </a:p>
        </p:txBody>
      </p:sp>
    </p:spTree>
  </p:cSld>
  <p:clrMapOvr>
    <a:masterClrMapping/>
  </p:clrMapOvr>
  <p:transition spd="med">
    <p:fade/>
  </p:transition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2 · HOW TO USE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0">
                <a:solidFill>
                  <a:srgbClr val="21201C"/>
                </a:solidFill>
                <a:latin typeface="Cambria"/>
              </a:rPr>
              <a:t>Apply the Concept — Outlook Drafting and Operational Decisions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5212080" cy="4297680"/>
          </a:xfrm>
          <a:prstGeom prst="roundRect">
            <a:avLst>
              <a:gd name="adj" fmla="val 5106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355080" y="1783080"/>
            <a:ext cx="5056632" cy="4297680"/>
          </a:xfrm>
          <a:prstGeom prst="roundRect">
            <a:avLst>
              <a:gd name="adj" fmla="val 5106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56632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Calibri"/>
              </a:rPr>
              <a:t>PROMPT PRINCIPLES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3A7D7B"/>
                </a:solidFill>
                <a:latin typeface="Calibri"/>
              </a:rPr>
              <a:t>EVIDENCE TO CHECK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Name the source, reporting date and selected scope.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Explain the result using checked evidence.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A draft addressed to example.invalid is a training artifact.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The handoff says decision requested, not decision approved.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33</a:t>
            </a:r>
          </a:p>
        </p:txBody>
      </p:sp>
    </p:spTree>
  </p:cSld>
  <p:clrMapOvr>
    <a:masterClrMapping/>
  </p:clrMapOvr>
  <p:transition spd="med">
    <p:fade/>
  </p:transition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2 THEME · WORD TO POWERPOINT AND OUTLOOK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Create the Cross-App Maintenance Update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LAB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31720"/>
            <a:ext cx="10634472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21201C"/>
                </a:solidFill>
                <a:latin typeface="Calibri"/>
              </a:rPr>
              <a:t>Turn the Northstar operations brief into a 4-slide PowerPoint update and an Outlook email draft, then check that all three show the same numbers..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657600"/>
            <a:ext cx="10634472" cy="228600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3657600"/>
            <a:ext cx="64008" cy="2286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822191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libri"/>
              </a:rPr>
              <a:t>You'll build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096512"/>
            <a:ext cx="100584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21201C"/>
                </a:solidFill>
                <a:latin typeface="Cambria"/>
              </a:rPr>
              <a:t>Northstar_Initial_Update.pptx (4 slides) and an unsent Outlook email draft.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05840" y="4828032"/>
            <a:ext cx="2391156" cy="475488"/>
          </a:xfrm>
          <a:prstGeom prst="rect">
            <a:avLst/>
          </a:prstGeom>
          <a:solidFill>
            <a:srgbClr val="FAF9F5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4882896"/>
            <a:ext cx="2281428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1201C"/>
                </a:solidFill>
                <a:latin typeface="Calibri"/>
              </a:rPr>
              <a:t>1  Ground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61588" y="4828032"/>
            <a:ext cx="2391156" cy="475488"/>
          </a:xfrm>
          <a:prstGeom prst="rect">
            <a:avLst/>
          </a:prstGeom>
          <a:solidFill>
            <a:srgbClr val="FAF9F5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16452" y="4882896"/>
            <a:ext cx="2281428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1201C"/>
                </a:solidFill>
                <a:latin typeface="Calibri"/>
              </a:rPr>
              <a:t>2  Build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17336" y="4828032"/>
            <a:ext cx="2391156" cy="475488"/>
          </a:xfrm>
          <a:prstGeom prst="rect">
            <a:avLst/>
          </a:prstGeom>
          <a:solidFill>
            <a:srgbClr val="FAF9F5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72200" y="4882896"/>
            <a:ext cx="2281428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1201C"/>
                </a:solidFill>
                <a:latin typeface="Calibri"/>
              </a:rPr>
              <a:t>3  Verify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73084" y="4828032"/>
            <a:ext cx="2391156" cy="475488"/>
          </a:xfrm>
          <a:prstGeom prst="rect">
            <a:avLst/>
          </a:prstGeom>
          <a:solidFill>
            <a:srgbClr val="FAF9F5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27948" y="4882896"/>
            <a:ext cx="2281428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1201C"/>
                </a:solidFill>
                <a:latin typeface="Calibri"/>
              </a:rPr>
              <a:t>4  Handoff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5504688"/>
            <a:ext cx="10241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6B6862"/>
                </a:solidFill>
                <a:latin typeface="Calibri"/>
              </a:rPr>
              <a:t>Tools:  </a:t>
            </a:r>
            <a:r>
              <a:rPr sz="1200" b="0">
                <a:solidFill>
                  <a:srgbClr val="6B6862"/>
                </a:solidFill>
                <a:latin typeface="Calibri"/>
              </a:rPr>
              <a:t>Microsoft 365 Copilot · Excel · Word · PowerPoint · Outlook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34</a:t>
            </a:r>
          </a:p>
        </p:txBody>
      </p:sp>
    </p:spTree>
  </p:cSld>
  <p:clrMapOvr>
    <a:masterClrMapping/>
  </p:clrMapOvr>
  <p:transition spd="med">
    <p:fade/>
  </p:transition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2 · VERIFY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Check Your Results — Lab 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5180076" cy="4370832"/>
          </a:xfrm>
          <a:prstGeom prst="roundRect">
            <a:avLst>
              <a:gd name="adj" fmla="val 502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5180076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64792" y="1911096"/>
            <a:ext cx="3973068" cy="41879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Same numbers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Brief, slides and email all show 120 total, 60 backlog, 50 overdue and 6 unassigned.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1636" y="1783080"/>
            <a:ext cx="5180076" cy="4370832"/>
          </a:xfrm>
          <a:prstGeom prst="roundRect">
            <a:avLst>
              <a:gd name="adj" fmla="val 502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31636" y="1783080"/>
            <a:ext cx="5180076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19188" y="1911096"/>
            <a:ext cx="3973068" cy="41879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Draft only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The email stays in Drafts; nothing is approved.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35</a:t>
            </a:r>
          </a:p>
        </p:txBody>
      </p:sp>
    </p:spTree>
  </p:cSld>
  <p:clrMapOvr>
    <a:masterClrMapping/>
  </p:clrMapOvr>
  <p:transition spd="med">
    <p:fade/>
  </p:transition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TOPIC RECAP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Recap - Fundamentals of Microsoft 365 Copilot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828800"/>
            <a:ext cx="10634472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828800"/>
            <a:ext cx="10634472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60120" y="2688336"/>
            <a:ext cx="347472" cy="3474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706624"/>
            <a:ext cx="347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53896" y="1901952"/>
            <a:ext cx="9738360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21201C"/>
                </a:solidFill>
                <a:latin typeface="Calibri"/>
              </a:rPr>
              <a:t>LO1: Same work-order evidence across four apps.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4059936"/>
            <a:ext cx="10634472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4059936"/>
            <a:ext cx="10634472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0120" y="4919472"/>
            <a:ext cx="347472" cy="3474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937760"/>
            <a:ext cx="347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53896" y="4133088"/>
            <a:ext cx="9738360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21201C"/>
                </a:solidFill>
                <a:latin typeface="Calibri"/>
              </a:rPr>
              <a:t>Verify: 120 clean IDs and reconciled brief/update/draft.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36</a:t>
            </a:r>
          </a:p>
        </p:txBody>
      </p:sp>
    </p:spTree>
  </p:cSld>
  <p:clrMapOvr>
    <a:masterClrMapping/>
  </p:clrMapOvr>
  <p:transition spd="med">
    <p:fade/>
  </p:transition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201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1463040"/>
            <a:ext cx="4206240" cy="420624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4023360"/>
            <a:ext cx="3108960" cy="310896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74519"/>
            <a:ext cx="84124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libri"/>
              </a:rPr>
              <a:t>TOPIC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286000"/>
            <a:ext cx="8595360" cy="1737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0">
                <a:solidFill>
                  <a:srgbClr val="FFFFFF"/>
                </a:solidFill>
                <a:latin typeface="Cambria"/>
              </a:rPr>
              <a:t>Personalisation, .Rules and Skills for Excel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4206240"/>
            <a:ext cx="1143000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434840"/>
            <a:ext cx="8412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B9B4A9"/>
                </a:solidFill>
                <a:latin typeface="Calibri"/>
              </a:rPr>
              <a:t>Account preferences, workbook conventions and reusable methods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8A867D"/>
                </a:solidFill>
                <a:latin typeface="Calibri"/>
              </a:rPr>
              <a:t>© IES Academy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8A867D"/>
                </a:solidFill>
                <a:latin typeface="Calibri"/>
              </a:rPr>
              <a:t>GenAI for Engineers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8A867D"/>
                </a:solidFill>
                <a:latin typeface="Calibri"/>
              </a:rPr>
              <a:t>37</a:t>
            </a:r>
          </a:p>
        </p:txBody>
      </p:sp>
    </p:spTree>
  </p:cSld>
  <p:clrMapOvr>
    <a:masterClrMapping/>
  </p:clrMapOvr>
  <p:transition spd="med">
    <p:fade/>
  </p:transition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KEY CONCEPTS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0">
                <a:solidFill>
                  <a:srgbClr val="21201C"/>
                </a:solidFill>
                <a:latin typeface="Cambria"/>
              </a:rPr>
              <a:t>Key Concepts — Personalisation, .Rules and Skills for Excel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3361944" cy="4370832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3361944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64792" y="1911096"/>
            <a:ext cx="2154936" cy="41879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21201C"/>
                </a:solidFill>
                <a:latin typeface="Cambria"/>
              </a:rPr>
              <a:t>Personalisation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6B6862"/>
                </a:solidFill>
                <a:latin typeface="Calibri"/>
              </a:rPr>
              <a:t>Your account preferences, applied across every workbook.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13504" y="1783080"/>
            <a:ext cx="3361944" cy="4370832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13504" y="1783080"/>
            <a:ext cx="3361944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69536" y="3694176"/>
            <a:ext cx="548640" cy="54864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69536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01056" y="1911096"/>
            <a:ext cx="2154936" cy="41879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21201C"/>
                </a:solidFill>
                <a:latin typeface="Cambria"/>
              </a:rPr>
              <a:t>.Rules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6B6862"/>
                </a:solidFill>
                <a:latin typeface="Calibri"/>
              </a:rPr>
              <a:t>Visible column-A instructions that travel with the workbook.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9768" y="1783080"/>
            <a:ext cx="3361944" cy="4370832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9768" y="1783080"/>
            <a:ext cx="3361944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305800" y="3694176"/>
            <a:ext cx="548640" cy="548640"/>
          </a:xfrm>
          <a:prstGeom prst="ellipse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05800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37320" y="1911096"/>
            <a:ext cx="2154936" cy="41879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21201C"/>
                </a:solidFill>
                <a:latin typeface="Cambria"/>
              </a:rPr>
              <a:t>Skills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6B6862"/>
                </a:solidFill>
                <a:latin typeface="Calibri"/>
              </a:rPr>
              <a:t>Reusable methods: built-in @chart-design, or your own SKILL.md such as Pareto and dashboard Skills.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38</a:t>
            </a:r>
          </a:p>
        </p:txBody>
      </p:sp>
    </p:spTree>
  </p:cSld>
  <p:clrMapOvr>
    <a:masterClrMapping/>
  </p:clrMapOvr>
  <p:transition spd="med">
    <p:fade/>
  </p:transition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WHAT YOU'LL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0">
                <a:solidFill>
                  <a:srgbClr val="21201C"/>
                </a:solidFill>
                <a:latin typeface="Cambria"/>
              </a:rPr>
              <a:t>Hands-On Labs — Personalisation, .Rules and Skills for Excel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3422904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D97757"/>
                </a:solidFill>
                <a:latin typeface="Cambria"/>
              </a:rPr>
              <a:t>Labs 3–4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1">
                <a:solidFill>
                  <a:srgbClr val="21201C"/>
                </a:solidFill>
                <a:latin typeface="Calibri"/>
              </a:rPr>
              <a:t>•  Personalisation</a:t>
            </a:r>
          </a:p>
          <a:p>
            <a:pPr>
              <a:spcAft>
                <a:spcPts val="9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–  Personalise Copilot in Excel for Consistent Service Reports</a:t>
            </a:r>
          </a:p>
          <a:p>
            <a:pPr>
              <a:spcAft>
                <a:spcPts val="900"/>
              </a:spcAft>
            </a:pPr>
            <a:r>
              <a:rPr sz="1400" b="1">
                <a:solidFill>
                  <a:srgbClr val="21201C"/>
                </a:solidFill>
                <a:latin typeface="Calibri"/>
              </a:rPr>
              <a:t>•  Workbook .Rules</a:t>
            </a:r>
          </a:p>
          <a:p>
            <a:pPr>
              <a:spcAft>
                <a:spcPts val="9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–  Create and Test Workbook .Rules for Water Service Reporting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3024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3024" y="1783080"/>
            <a:ext cx="3422904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1624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3A7D7B"/>
                </a:solidFill>
                <a:latin typeface="Cambria"/>
              </a:rPr>
              <a:t>Labs 5–6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1624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1">
                <a:solidFill>
                  <a:srgbClr val="21201C"/>
                </a:solidFill>
                <a:latin typeface="Calibri"/>
              </a:rPr>
              <a:t>•  Custom Pareto Chart Skill</a:t>
            </a:r>
          </a:p>
          <a:p>
            <a:pPr>
              <a:spcAft>
                <a:spcPts val="9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–  Find the Vital Few Failure Modes with a Pareto Skill</a:t>
            </a:r>
          </a:p>
          <a:p>
            <a:pPr>
              <a:spcAft>
                <a:spcPts val="900"/>
              </a:spcAft>
            </a:pPr>
            <a:r>
              <a:rPr sz="1400" b="1">
                <a:solidFill>
                  <a:srgbClr val="21201C"/>
                </a:solidFill>
                <a:latin typeface="Calibri"/>
              </a:rPr>
              <a:t>•  Reporting Skill</a:t>
            </a:r>
          </a:p>
          <a:p>
            <a:pPr>
              <a:spcAft>
                <a:spcPts val="9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–  Build a Maintenance Report with Two Skills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88808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88808" y="1783080"/>
            <a:ext cx="3422904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17408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5B4B8A"/>
                </a:solidFill>
                <a:latin typeface="Cambria"/>
              </a:rPr>
              <a:t>Lab 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7408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1">
                <a:solidFill>
                  <a:srgbClr val="21201C"/>
                </a:solidFill>
                <a:latin typeface="Calibri"/>
              </a:rPr>
              <a:t>•  PowerPoint Design Skill</a:t>
            </a:r>
          </a:p>
          <a:p>
            <a:pPr>
              <a:spcAft>
                <a:spcPts val="9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–  Create a PowerPoint Design Skill: From Plain to Professional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39</a:t>
            </a:r>
          </a:p>
        </p:txBody>
      </p:sp>
    </p:spTree>
  </p:cSld>
  <p:clrMapOvr>
    <a:masterClrMapping/>
  </p:clrMapOvr>
  <p:transition spd="med">
    <p:fade/>
  </p:transition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EDITABLE SCOPE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Four Scopes of Customisation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331720"/>
            <a:ext cx="2425446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615059" y="2715768"/>
            <a:ext cx="749808" cy="74980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15059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Personalisation: your account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6611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D97757"/>
                </a:solidFill>
                <a:latin typeface="Calibri"/>
              </a:rPr>
              <a:t>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13582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13582" y="2331720"/>
            <a:ext cx="2425446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351401" y="2715768"/>
            <a:ext cx="749808" cy="74980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51401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9886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.Rules: this workbook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02452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D97757"/>
                </a:solidFill>
                <a:latin typeface="Calibri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49924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49924" y="2331720"/>
            <a:ext cx="2425446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87743" y="2715768"/>
            <a:ext cx="749808" cy="74980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877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6228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Skill: repeated method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3879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D97757"/>
                </a:solidFill>
                <a:latin typeface="Calibri"/>
              </a:rPr>
              <a:t>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86266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86266" y="2331720"/>
            <a:ext cx="2425446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824085" y="2715768"/>
            <a:ext cx="749808" cy="74980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24085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32570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Prompt: this request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40</a:t>
            </a:r>
          </a:p>
        </p:txBody>
      </p:sp>
    </p:spTree>
  </p:cSld>
  <p:clrMapOvr>
    <a:masterClrMapping/>
  </p:clrMapOvr>
  <p:transition spd="med">
    <p:fade/>
  </p:transition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3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Account Personalisation and Specific Requests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3422904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3A7D7B"/>
                </a:solidFill>
                <a:latin typeface="Cambria"/>
              </a:rPr>
              <a:t>WHAT IT 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201C"/>
                </a:solidFill>
                <a:latin typeface="Calibri"/>
              </a:rPr>
              <a:t>•  Excel Copilot Personalisation stores account-level preferences for display, writing style and formula conventions.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3024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3024" y="1783080"/>
            <a:ext cx="3422904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1624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3A7D7B"/>
                </a:solidFill>
                <a:latin typeface="Cambria"/>
              </a:rPr>
              <a:t>WHY IT MATTERS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1624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201C"/>
                </a:solidFill>
                <a:latin typeface="Calibri"/>
              </a:rPr>
              <a:t>•  Consistent S$ display and short explanations reduce repetitive requests without changing numeric values.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88808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88808" y="1783080"/>
            <a:ext cx="3422904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17408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5B4B8A"/>
                </a:solidFill>
                <a:latin typeface="Cambria"/>
              </a:rPr>
              <a:t>CHECK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7408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201C"/>
                </a:solidFill>
                <a:latin typeface="Calibri"/>
              </a:rPr>
              <a:t>•  A value of 35827.5 can display as S$35,827.50 or S$35,827.5000.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41</a:t>
            </a:r>
          </a:p>
        </p:txBody>
      </p:sp>
    </p:spTree>
  </p:cSld>
  <p:clrMapOvr>
    <a:masterClrMapping/>
  </p:clrMapOvr>
  <p:transition spd="med">
    <p:fade/>
  </p:transition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3 · 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Account Personalisation and Specific Requests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331720"/>
            <a:ext cx="2425446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615059" y="2715768"/>
            <a:ext cx="749808" cy="749808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15059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Choose recurring display preferences.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6611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libri"/>
              </a:rPr>
              <a:t>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13582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13582" y="2331720"/>
            <a:ext cx="2425446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351401" y="2715768"/>
            <a:ext cx="749808" cy="749808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51401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9886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Save them to the account.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02452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libri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49924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49924" y="2331720"/>
            <a:ext cx="2425446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87743" y="2715768"/>
            <a:ext cx="749808" cy="749808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877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6228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Compare two workbook outputs.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3879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libri"/>
              </a:rPr>
              <a:t>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86266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86266" y="2331720"/>
            <a:ext cx="2425446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824085" y="2715768"/>
            <a:ext cx="749808" cy="749808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24085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32570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Test a specific request and restore.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42</a:t>
            </a:r>
          </a:p>
        </p:txBody>
      </p:sp>
    </p:spTree>
  </p:cSld>
  <p:clrMapOvr>
    <a:masterClrMapping/>
  </p:clrMapOvr>
  <p:transition spd="med">
    <p:fade/>
  </p:transition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3 · HOW TO USE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0">
                <a:solidFill>
                  <a:srgbClr val="21201C"/>
                </a:solidFill>
                <a:latin typeface="Cambria"/>
              </a:rPr>
              <a:t>Apply the Concept — Account Personalisation and Specific Requests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5212080" cy="4297680"/>
          </a:xfrm>
          <a:prstGeom prst="roundRect">
            <a:avLst>
              <a:gd name="adj" fmla="val 5106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355080" y="1783080"/>
            <a:ext cx="5056632" cy="4297680"/>
          </a:xfrm>
          <a:prstGeom prst="roundRect">
            <a:avLst>
              <a:gd name="adj" fmla="val 5106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56632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Calibri"/>
              </a:rPr>
              <a:t>PROMPT PRINCIPLES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3A7D7B"/>
                </a:solidFill>
                <a:latin typeface="Calibri"/>
              </a:rPr>
              <a:t>EVIDENCE TO CHECK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Name the source, reporting date and selected scope.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Explain the result using checked evidence.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Changing a number format does not change its numeric value.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Another user opening the file does not receive your account preferences.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43</a:t>
            </a:r>
          </a:p>
        </p:txBody>
      </p:sp>
    </p:spTree>
  </p:cSld>
  <p:clrMapOvr>
    <a:masterClrMapping/>
  </p:clrMapOvr>
  <p:transition spd="med">
    <p:fade/>
  </p:transition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3 THEME · PERSONALISATION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0">
                <a:solidFill>
                  <a:srgbClr val="21201C"/>
                </a:solidFill>
                <a:latin typeface="Cambria"/>
              </a:rPr>
              <a:t>Personalise Copilot in Excel for Consistent Service Reports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LAB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31720"/>
            <a:ext cx="10634472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21201C"/>
                </a:solidFill>
                <a:latin typeface="Calibri"/>
              </a:rPr>
              <a:t>Save personal preferences in Copilot, see Excel use them without being asked, change one for a single prompt, then put your settings back..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657600"/>
            <a:ext cx="10634472" cy="228600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3657600"/>
            <a:ext cx="64008" cy="2286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822191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libri"/>
              </a:rPr>
              <a:t>You'll build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096512"/>
            <a:ext cx="100584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21201C"/>
                </a:solidFill>
                <a:latin typeface="Cambria"/>
              </a:rPr>
              <a:t>A Preference_Check sheet that follows your saved preferences, and your original settings restored.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05840" y="4828032"/>
            <a:ext cx="2391156" cy="475488"/>
          </a:xfrm>
          <a:prstGeom prst="rect">
            <a:avLst/>
          </a:prstGeom>
          <a:solidFill>
            <a:srgbClr val="FAF9F5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4882896"/>
            <a:ext cx="2281428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1201C"/>
                </a:solidFill>
                <a:latin typeface="Calibri"/>
              </a:rPr>
              <a:t>1  Ground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61588" y="4828032"/>
            <a:ext cx="2391156" cy="475488"/>
          </a:xfrm>
          <a:prstGeom prst="rect">
            <a:avLst/>
          </a:prstGeom>
          <a:solidFill>
            <a:srgbClr val="FAF9F5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16452" y="4882896"/>
            <a:ext cx="2281428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1201C"/>
                </a:solidFill>
                <a:latin typeface="Calibri"/>
              </a:rPr>
              <a:t>2  Build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17336" y="4828032"/>
            <a:ext cx="2391156" cy="475488"/>
          </a:xfrm>
          <a:prstGeom prst="rect">
            <a:avLst/>
          </a:prstGeom>
          <a:solidFill>
            <a:srgbClr val="FAF9F5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72200" y="4882896"/>
            <a:ext cx="2281428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1201C"/>
                </a:solidFill>
                <a:latin typeface="Calibri"/>
              </a:rPr>
              <a:t>3  Verify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73084" y="4828032"/>
            <a:ext cx="2391156" cy="475488"/>
          </a:xfrm>
          <a:prstGeom prst="rect">
            <a:avLst/>
          </a:prstGeom>
          <a:solidFill>
            <a:srgbClr val="FAF9F5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27948" y="4882896"/>
            <a:ext cx="2281428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1201C"/>
                </a:solidFill>
                <a:latin typeface="Calibri"/>
              </a:rPr>
              <a:t>4  Handoff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5504688"/>
            <a:ext cx="10241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6B6862"/>
                </a:solidFill>
                <a:latin typeface="Calibri"/>
              </a:rPr>
              <a:t>Tools:  </a:t>
            </a:r>
            <a:r>
              <a:rPr sz="1200" b="0">
                <a:solidFill>
                  <a:srgbClr val="6B6862"/>
                </a:solidFill>
                <a:latin typeface="Calibri"/>
              </a:rPr>
              <a:t>Microsoft 365 Copilot in Excel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44</a:t>
            </a:r>
          </a:p>
        </p:txBody>
      </p:sp>
    </p:spTree>
  </p:cSld>
  <p:clrMapOvr>
    <a:masterClrMapping/>
  </p:clrMapOvr>
  <p:transition spd="med">
    <p:fade/>
  </p:transition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3 · VERIFY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Check Your Results — Lab 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5180076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5180076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Preferences used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Date 30-Sep-2026 and cost S$35,827.50 without asking in the prompt.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1636" y="1783080"/>
            <a:ext cx="5180076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31636" y="1783080"/>
            <a:ext cx="5180076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One-off change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S$35,827.5000 shown; saved preferences unchanged.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087368"/>
            <a:ext cx="5180076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4087368"/>
            <a:ext cx="5180076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Restored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Your original Personalization settings are back.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45</a:t>
            </a:r>
          </a:p>
        </p:txBody>
      </p:sp>
    </p:spTree>
  </p:cSld>
  <p:clrMapOvr>
    <a:masterClrMapping/>
  </p:clrMapOvr>
  <p:transition spd="med">
    <p:fade/>
  </p:transition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EDITABLE WORKBOOK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0">
                <a:solidFill>
                  <a:srgbClr val="21201C"/>
                </a:solidFill>
                <a:latin typeface="Cambria"/>
              </a:rPr>
              <a:t>Visible .Rules: Instructions Travel with the Workbook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828800"/>
            <a:ext cx="10515600" cy="6400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920240"/>
            <a:ext cx="1097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21201C"/>
                </a:solidFill>
                <a:latin typeface="Cambria"/>
              </a:rPr>
              <a:t>A1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1920240"/>
            <a:ext cx="8686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21201C"/>
                </a:solidFill>
                <a:latin typeface="Calibri"/>
              </a:rPr>
              <a:t>Northstar reporting conventions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606040"/>
            <a:ext cx="10515600" cy="6400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697480"/>
            <a:ext cx="1097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21201C"/>
                </a:solidFill>
                <a:latin typeface="Cambria"/>
              </a:rPr>
              <a:t>A2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0" y="2697480"/>
            <a:ext cx="8686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21201C"/>
                </a:solidFill>
                <a:latin typeface="Calibri"/>
              </a:rPr>
              <a:t>Preserve original IDs and current owners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383280"/>
            <a:ext cx="10515600" cy="6400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474720"/>
            <a:ext cx="1097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21201C"/>
                </a:solidFill>
                <a:latin typeface="Cambria"/>
              </a:rPr>
              <a:t>A3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3474720"/>
            <a:ext cx="8686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21201C"/>
                </a:solidFill>
                <a:latin typeface="Calibri"/>
              </a:rPr>
              <a:t>Backlog excludes Closed and Cancelled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4160520"/>
            <a:ext cx="10515600" cy="6400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251959"/>
            <a:ext cx="1097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21201C"/>
                </a:solidFill>
                <a:latin typeface="Cambria"/>
              </a:rPr>
              <a:t>A4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0" y="4251959"/>
            <a:ext cx="8686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21201C"/>
                </a:solidFill>
                <a:latin typeface="Calibri"/>
              </a:rPr>
              <a:t>Reporting date: 2026-09-30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212080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21201C"/>
                </a:solidFill>
                <a:latin typeface="Calibri"/>
              </a:rPr>
              <a:t>Formula rule reads Control!B2; Copilot uses the recalculated result on the next request.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989320"/>
            <a:ext cx="10698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Source: synthetic tblWorkOrders | 30 Sep 2026 | All filters All unless stated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46</a:t>
            </a:r>
          </a:p>
        </p:txBody>
      </p:sp>
    </p:spTree>
  </p:cSld>
  <p:clrMapOvr>
    <a:masterClrMapping/>
  </p:clrMapOvr>
  <p:transition spd="med">
    <p:fade/>
  </p:transition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4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Visible Workbook .Rules and Formula Results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3422904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3A7D7B"/>
                </a:solidFill>
                <a:latin typeface="Cambria"/>
              </a:rPr>
              <a:t>WHAT IT 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201C"/>
                </a:solidFill>
                <a:latin typeface="Calibri"/>
              </a:rPr>
              <a:t>•  A visible worksheet named exactly .Rules, including the dot, supplies workbook-specific Copilot instructions in column 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3024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3024" y="1783080"/>
            <a:ext cx="3422904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1624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3A7D7B"/>
                </a:solidFill>
                <a:latin typeface="Cambria"/>
              </a:rPr>
              <a:t>WHY IT MATTERS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1624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201C"/>
                </a:solidFill>
                <a:latin typeface="Calibri"/>
              </a:rPr>
              <a:t>•  The workbook can carry stable scope, status, cost-display and preservation instructions alongside the source.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88808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88808" y="1783080"/>
            <a:ext cx="3422904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17408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5B4B8A"/>
                </a:solidFill>
                <a:latin typeface="Cambria"/>
              </a:rPr>
              <a:t>CHECK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7408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201C"/>
                </a:solidFill>
                <a:latin typeface="Calibri"/>
              </a:rPr>
              <a:t>•  The date rule returns Reporting date: 2026-09-30 from Control!B2.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47</a:t>
            </a:r>
          </a:p>
        </p:txBody>
      </p:sp>
    </p:spTree>
  </p:cSld>
  <p:clrMapOvr>
    <a:masterClrMapping/>
  </p:clrMapOvr>
  <p:transition spd="med">
    <p:fade/>
  </p:transition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4 · 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Visible Workbook .Rules and Formula Results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331720"/>
            <a:ext cx="2425446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615059" y="2715768"/>
            <a:ext cx="749808" cy="749808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15059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Name the visible sheet exactly .Rules.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6611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libri"/>
              </a:rPr>
              <a:t>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13582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13582" y="2331720"/>
            <a:ext cx="2425446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351401" y="2715768"/>
            <a:ext cx="749808" cy="749808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51401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9886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Place one instruction per column-A cell.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02452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libri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49924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49924" y="2331720"/>
            <a:ext cx="2425446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87743" y="2715768"/>
            <a:ext cx="749808" cy="749808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877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6228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Recalculate a formula-driven rule.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3879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libri"/>
              </a:rPr>
              <a:t>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86266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86266" y="2331720"/>
            <a:ext cx="2425446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824085" y="2715768"/>
            <a:ext cx="749808" cy="749808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24085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32570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Check the next output and copied workbook.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48</a:t>
            </a:r>
          </a:p>
        </p:txBody>
      </p:sp>
    </p:spTree>
  </p:cSld>
  <p:clrMapOvr>
    <a:masterClrMapping/>
  </p:clrMapOvr>
  <p:transition spd="med">
    <p:fade/>
  </p:transition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4 · HOW TO USE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0">
                <a:solidFill>
                  <a:srgbClr val="21201C"/>
                </a:solidFill>
                <a:latin typeface="Cambria"/>
              </a:rPr>
              <a:t>Apply the Concept — Visible Workbook .Rules and Formula Results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5212080" cy="4297680"/>
          </a:xfrm>
          <a:prstGeom prst="roundRect">
            <a:avLst>
              <a:gd name="adj" fmla="val 5106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355080" y="1783080"/>
            <a:ext cx="5056632" cy="4297680"/>
          </a:xfrm>
          <a:prstGeom prst="roundRect">
            <a:avLst>
              <a:gd name="adj" fmla="val 5106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56632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Calibri"/>
              </a:rPr>
              <a:t>PROMPT PRINCIPLES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3A7D7B"/>
                </a:solidFill>
                <a:latin typeface="Calibri"/>
              </a:rPr>
              <a:t>EVIDENCE TO CHECK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Name the source, reporting date and selected scope.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Explain the result using checked evidence.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Hidden .Rules is not used; keep the final sheet visible.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No universal precedence among rules, preferences and Skills is assumed.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49</a:t>
            </a:r>
          </a:p>
        </p:txBody>
      </p:sp>
    </p:spTree>
  </p:cSld>
  <p:clrMapOvr>
    <a:masterClrMapping/>
  </p:clrMapOvr>
  <p:transition spd="med">
    <p:fade/>
  </p:transition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4 THEME · WORKBOOK .RULES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0">
                <a:solidFill>
                  <a:srgbClr val="21201C"/>
                </a:solidFill>
                <a:latin typeface="Cambria"/>
              </a:rPr>
              <a:t>Create and Test Workbook .Rules for Water Service Reporting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LAB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31720"/>
            <a:ext cx="10634472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21201C"/>
                </a:solidFill>
                <a:latin typeface="Calibri"/>
              </a:rPr>
              <a:t>Give a workbook its own rules with a .Rules sheet, then see Copilot follow them without being told..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657600"/>
            <a:ext cx="10634472" cy="228600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3657600"/>
            <a:ext cx="64008" cy="2286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822191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libri"/>
              </a:rPr>
              <a:t>You'll build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096512"/>
            <a:ext cx="100584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21201C"/>
                </a:solidFill>
                <a:latin typeface="Cambria"/>
              </a:rPr>
              <a:t>A workbook with a visible .Rules sheet and a Rules_Test sheet that follows it.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05840" y="4828032"/>
            <a:ext cx="2391156" cy="475488"/>
          </a:xfrm>
          <a:prstGeom prst="rect">
            <a:avLst/>
          </a:prstGeom>
          <a:solidFill>
            <a:srgbClr val="FAF9F5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4882896"/>
            <a:ext cx="2281428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1201C"/>
                </a:solidFill>
                <a:latin typeface="Calibri"/>
              </a:rPr>
              <a:t>1  Ground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61588" y="4828032"/>
            <a:ext cx="2391156" cy="475488"/>
          </a:xfrm>
          <a:prstGeom prst="rect">
            <a:avLst/>
          </a:prstGeom>
          <a:solidFill>
            <a:srgbClr val="FAF9F5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16452" y="4882896"/>
            <a:ext cx="2281428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1201C"/>
                </a:solidFill>
                <a:latin typeface="Calibri"/>
              </a:rPr>
              <a:t>2  Build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17336" y="4828032"/>
            <a:ext cx="2391156" cy="475488"/>
          </a:xfrm>
          <a:prstGeom prst="rect">
            <a:avLst/>
          </a:prstGeom>
          <a:solidFill>
            <a:srgbClr val="FAF9F5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72200" y="4882896"/>
            <a:ext cx="2281428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1201C"/>
                </a:solidFill>
                <a:latin typeface="Calibri"/>
              </a:rPr>
              <a:t>3  Verify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73084" y="4828032"/>
            <a:ext cx="2391156" cy="475488"/>
          </a:xfrm>
          <a:prstGeom prst="rect">
            <a:avLst/>
          </a:prstGeom>
          <a:solidFill>
            <a:srgbClr val="FAF9F5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27948" y="4882896"/>
            <a:ext cx="2281428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1201C"/>
                </a:solidFill>
                <a:latin typeface="Calibri"/>
              </a:rPr>
              <a:t>4  Handoff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5504688"/>
            <a:ext cx="10241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6B6862"/>
                </a:solidFill>
                <a:latin typeface="Calibri"/>
              </a:rPr>
              <a:t>Tools:  </a:t>
            </a:r>
            <a:r>
              <a:rPr sz="1200" b="0">
                <a:solidFill>
                  <a:srgbClr val="6B6862"/>
                </a:solidFill>
                <a:latin typeface="Calibri"/>
              </a:rPr>
              <a:t>Microsoft 365 Copilot in Excel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50</a:t>
            </a:r>
          </a:p>
        </p:txBody>
      </p:sp>
    </p:spTree>
  </p:cSld>
  <p:clrMapOvr>
    <a:masterClrMapping/>
  </p:clrMapOvr>
  <p:transition spd="med">
    <p:fade/>
  </p:transition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4 · VERIFY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Check Your Results — Lab 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5180076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5180076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.Rules sheet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Named exactly .Rules, visible, one rule per cell in column 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1636" y="1783080"/>
            <a:ext cx="5180076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31636" y="1783080"/>
            <a:ext cx="5180076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Rules followed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Rules_Test: 120 total, 60 backlog, 50 overdue, 30/48 = 62.5%, S$35,827.50.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087368"/>
            <a:ext cx="5180076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4087368"/>
            <a:ext cx="5180076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Copy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The saved copy still has the .Rules sheet.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51</a:t>
            </a:r>
          </a:p>
        </p:txBody>
      </p:sp>
    </p:spTree>
  </p:cSld>
  <p:clrMapOvr>
    <a:masterClrMapping/>
  </p:clrMapOvr>
  <p:transition spd="med">
    <p:fade/>
  </p:transition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NATIVE EDITABLE PARETO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0">
                <a:solidFill>
                  <a:srgbClr val="21201C"/>
                </a:solidFill>
                <a:latin typeface="Cambria"/>
              </a:rPr>
              <a:t>Overdue Contribution: 50 Work Orders, Five Categories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22960" y="1828800"/>
          <a:ext cx="5029200" cy="35661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217920" y="1828800"/>
          <a:ext cx="5029200" cy="3566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914400" y="54864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21201C"/>
                </a:solidFill>
                <a:latin typeface="Calibri"/>
              </a:rPr>
              <a:t>Four categories first reach 80%. Equal counts use alphabetical ties. Contribution is not cause.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989320"/>
            <a:ext cx="10698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Source: synthetic tblWorkOrders | 30 Sep 2026 | All filters All unless stated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52</a:t>
            </a:r>
          </a:p>
        </p:txBody>
      </p:sp>
    </p:spTree>
  </p:cSld>
  <p:clrMapOvr>
    <a:masterClrMapping/>
  </p:clrMapOvr>
  <p:transition spd="med">
    <p:fade/>
  </p:transition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5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What Is a Skill? Inside SKILL.md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3422904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3A7D7B"/>
                </a:solidFill>
                <a:latin typeface="Cambria"/>
              </a:rPr>
              <a:t>WHAT IT 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201C"/>
                </a:solidFill>
                <a:latin typeface="Calibri"/>
              </a:rPr>
              <a:t>•  A skill is a folder with a SKILL.md file.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3024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3024" y="1783080"/>
            <a:ext cx="3422904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1624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3A7D7B"/>
                </a:solidFill>
                <a:latin typeface="Cambria"/>
              </a:rPr>
              <a:t>WHY IT MATTERS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1624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201C"/>
                </a:solidFill>
                <a:latin typeface="Calibri"/>
              </a:rPr>
              <a:t>•  Skills are triggered on demand: Copilot reads a skill only when you call it with @name or your request matches its description, so skills do not crowd every chat.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88808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88808" y="1783080"/>
            <a:ext cx="3422904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17408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5B4B8A"/>
                </a:solidFill>
                <a:latin typeface="Cambria"/>
              </a:rPr>
              <a:t>CHECK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7408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201C"/>
                </a:solidFill>
                <a:latin typeface="Calibri"/>
              </a:rPr>
              <a:t>•  name: water-service-pareto (the same as its folder name).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53</a:t>
            </a:r>
          </a:p>
        </p:txBody>
      </p:sp>
    </p:spTree>
  </p:cSld>
  <p:clrMapOvr>
    <a:masterClrMapping/>
  </p:clrMapOvr>
  <p:transition spd="med">
    <p:fade/>
  </p:transition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5 · SKILLS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Anatomy of a Skill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3361944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3361944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64792" y="1911096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21201C"/>
                </a:solidFill>
                <a:latin typeface="Calibri"/>
              </a:rPr>
              <a:t>Triggered on demand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Loaded only when you @mention it or your request matches its description.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13504" y="1783080"/>
            <a:ext cx="3361944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13504" y="1783080"/>
            <a:ext cx="3361944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69536" y="2542032"/>
            <a:ext cx="548640" cy="54864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69536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01056" y="1911096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21201C"/>
                </a:solidFill>
                <a:latin typeface="Calibri"/>
              </a:rPr>
              <a:t>Metadata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Between --- lines: name (same as the folder) and description (when to use it).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9768" y="1783080"/>
            <a:ext cx="3361944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9768" y="1783080"/>
            <a:ext cx="3361944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305800" y="2542032"/>
            <a:ext cx="548640" cy="548640"/>
          </a:xfrm>
          <a:prstGeom prst="ellipse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05800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37320" y="1911096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21201C"/>
                </a:solidFill>
                <a:latin typeface="Calibri"/>
              </a:rPr>
              <a:t>Steps and procedure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The body: numbered steps, rules and the checks Copilot must run.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4087368"/>
            <a:ext cx="3361944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4087368"/>
            <a:ext cx="3361944" cy="64008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C26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64792" y="4215384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21201C"/>
                </a:solidFill>
                <a:latin typeface="Calibri"/>
              </a:rPr>
              <a:t>Reference files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The folder can also hold templates, examples or data the steps refer to.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13504" y="4087368"/>
            <a:ext cx="3361944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413504" y="4087368"/>
            <a:ext cx="3361944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669536" y="4846320"/>
            <a:ext cx="548640" cy="54864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69536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01056" y="4215384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21201C"/>
                </a:solidFill>
                <a:latin typeface="Calibri"/>
              </a:rPr>
              <a:t>One folder per skill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skills &gt; pareto-chart &gt; SKILL.md, plus any reference files.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49768" y="4087368"/>
            <a:ext cx="3361944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49768" y="4087368"/>
            <a:ext cx="3361944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305800" y="4846320"/>
            <a:ext cx="548640" cy="54864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05800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37320" y="4215384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21201C"/>
                </a:solidFill>
                <a:latin typeface="Calibri"/>
              </a:rPr>
              <a:t>Install once, reuse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Works in every file; turn it on or off in Manage skills.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54</a:t>
            </a:r>
          </a:p>
        </p:txBody>
      </p:sp>
    </p:spTree>
  </p:cSld>
  <p:clrMapOvr>
    <a:masterClrMapping/>
  </p:clrMapOvr>
  <p:transition spd="med">
    <p:fade/>
  </p:transition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5 · 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What Is a Skill? Inside SKILL.md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331720"/>
            <a:ext cx="2425446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615059" y="2715768"/>
            <a:ext cx="749808" cy="749808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15059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Name the skill and describe when to use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6611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libri"/>
              </a:rPr>
              <a:t>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13582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13582" y="2331720"/>
            <a:ext cx="2425446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351401" y="2715768"/>
            <a:ext cx="749808" cy="749808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51401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9886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Write the steps, rules and checks.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02452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libri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49924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49924" y="2331720"/>
            <a:ext cx="2425446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87743" y="2715768"/>
            <a:ext cx="749808" cy="749808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877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6228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Add reference files to the folder if needed.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3879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libri"/>
              </a:rPr>
              <a:t>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86266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86266" y="2331720"/>
            <a:ext cx="2425446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824085" y="2715768"/>
            <a:ext cx="749808" cy="749808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24085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32570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Install it, then call it with @name.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55</a:t>
            </a:r>
          </a:p>
        </p:txBody>
      </p:sp>
    </p:spTree>
  </p:cSld>
  <p:clrMapOvr>
    <a:masterClrMapping/>
  </p:clrMapOvr>
  <p:transition spd="med">
    <p:fade/>
  </p:transition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5 · HOW TO USE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0">
                <a:solidFill>
                  <a:srgbClr val="21201C"/>
                </a:solidFill>
                <a:latin typeface="Cambria"/>
              </a:rPr>
              <a:t>Apply the Concept — What Is a Skill? Inside SKILL.md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5212080" cy="4297680"/>
          </a:xfrm>
          <a:prstGeom prst="roundRect">
            <a:avLst>
              <a:gd name="adj" fmla="val 5106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355080" y="1783080"/>
            <a:ext cx="5056632" cy="4297680"/>
          </a:xfrm>
          <a:prstGeom prst="roundRect">
            <a:avLst>
              <a:gd name="adj" fmla="val 5106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56632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Calibri"/>
              </a:rPr>
              <a:t>PROMPT PRINCIPLES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3A7D7B"/>
                </a:solidFill>
                <a:latin typeface="Calibri"/>
              </a:rPr>
              <a:t>EVIDENCE TO CHECK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Name the source, reporting date and selected scope.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Explain the result using checked evidence.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description: Use when I ask for a Pareto chart or failure-mode analysis.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Steps: count, sort high to low, add Cumulative %, list the vital few.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56</a:t>
            </a:r>
          </a:p>
        </p:txBody>
      </p:sp>
    </p:spTree>
  </p:cSld>
  <p:clrMapOvr>
    <a:masterClrMapping/>
  </p:clrMapOvr>
  <p:transition spd="med">
    <p:fade/>
  </p:transition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5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Built-in and Custom Skills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3422904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3A7D7B"/>
                </a:solidFill>
                <a:latin typeface="Cambria"/>
              </a:rPr>
              <a:t>WHAT IT 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201C"/>
                </a:solidFill>
                <a:latin typeface="Calibri"/>
              </a:rPr>
              <a:t>•  Copilot in Excel ships with built-in skills you call with @, such as @chart-design for charts.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3024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3024" y="1783080"/>
            <a:ext cx="3422904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1624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3A7D7B"/>
                </a:solidFill>
                <a:latin typeface="Cambria"/>
              </a:rPr>
              <a:t>WHY IT MATTERS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1624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201C"/>
                </a:solidFill>
                <a:latin typeface="Calibri"/>
              </a:rPr>
              <a:t>•  Start with a built-in skill when the task is generic, such as making a clear chart.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88808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88808" y="1783080"/>
            <a:ext cx="3422904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17408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5B4B8A"/>
                </a:solidFill>
                <a:latin typeface="Cambria"/>
              </a:rPr>
              <a:t>CHECK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7408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201C"/>
                </a:solidFill>
                <a:latin typeface="Calibri"/>
              </a:rPr>
              <a:t>•  @chart-design draws a clean bar chart of work orders by failure mode.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57</a:t>
            </a:r>
          </a:p>
        </p:txBody>
      </p:sp>
    </p:spTree>
  </p:cSld>
  <p:clrMapOvr>
    <a:masterClrMapping/>
  </p:clrMapOvr>
  <p:transition spd="med">
    <p:fade/>
  </p:transition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5 · 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Built-in and Custom Skills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331720"/>
            <a:ext cx="2425446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615059" y="2715768"/>
            <a:ext cx="749808" cy="749808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15059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Turn on chart-design under Visualization.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6611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libri"/>
              </a:rPr>
              <a:t>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13582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13582" y="2331720"/>
            <a:ext cx="2425446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351401" y="2715768"/>
            <a:ext cx="749808" cy="749808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51401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9886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Call @chart-design for a generic chart.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02452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libri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49924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49924" y="2331720"/>
            <a:ext cx="2425446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87743" y="2715768"/>
            <a:ext cx="749808" cy="749808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877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6228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Spot the rules it cannot know.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3879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libri"/>
              </a:rPr>
              <a:t>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86266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86266" y="2331720"/>
            <a:ext cx="2425446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824085" y="2715768"/>
            <a:ext cx="749808" cy="749808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24085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32570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Write a custom SKILL.md for those rules.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58</a:t>
            </a:r>
          </a:p>
        </p:txBody>
      </p:sp>
    </p:spTree>
  </p:cSld>
  <p:clrMapOvr>
    <a:masterClrMapping/>
  </p:clrMapOvr>
  <p:transition spd="med">
    <p:fade/>
  </p:transition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5 · HOW TO USE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Apply the Concept — Built-in and Custom Skills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5212080" cy="4297680"/>
          </a:xfrm>
          <a:prstGeom prst="roundRect">
            <a:avLst>
              <a:gd name="adj" fmla="val 5106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355080" y="1783080"/>
            <a:ext cx="5056632" cy="4297680"/>
          </a:xfrm>
          <a:prstGeom prst="roundRect">
            <a:avLst>
              <a:gd name="adj" fmla="val 5106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56632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Calibri"/>
              </a:rPr>
              <a:t>PROMPT PRINCIPLES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3A7D7B"/>
                </a:solidFill>
                <a:latin typeface="Calibri"/>
              </a:rPr>
              <a:t>EVIDENCE TO CHECK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Name the source, reporting date and selected scope.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Explain the result using checked evidence.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It does not add the cumulative line or the vital-few list.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water-service-pareto adds both, the same way every time.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59</a:t>
            </a:r>
          </a:p>
        </p:txBody>
      </p:sp>
    </p:spTree>
  </p:cSld>
  <p:clrMapOvr>
    <a:masterClrMapping/>
  </p:clrMapOvr>
  <p:transition spd="med">
    <p:fade/>
  </p:transition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5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Pareto Skill: Find the Vital Few Failure Modes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3422904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3A7D7B"/>
                </a:solidFill>
                <a:latin typeface="Cambria"/>
              </a:rPr>
              <a:t>WHAT IT 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201C"/>
                </a:solidFill>
                <a:latin typeface="Calibri"/>
              </a:rPr>
              <a:t>•  A Pareto chart sorts categories from highest to lowest count and adds a cumulative-percentage line.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3024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3024" y="1783080"/>
            <a:ext cx="3422904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1624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3A7D7B"/>
                </a:solidFill>
                <a:latin typeface="Cambria"/>
              </a:rPr>
              <a:t>WHY IT MATTERS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1624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201C"/>
                </a:solidFill>
                <a:latin typeface="Calibri"/>
              </a:rPr>
              <a:t>•  The water-service-pareto Skill turns the method into reusable instructions: count, sort high to low, add Share % and Cumulative %, chart it and list the categories needed to reach 80%.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88808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88808" y="1783080"/>
            <a:ext cx="3422904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17408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5B4B8A"/>
                </a:solidFill>
                <a:latin typeface="Cambria"/>
              </a:rPr>
              <a:t>CHECK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7408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201C"/>
                </a:solidFill>
                <a:latin typeface="Calibri"/>
              </a:rPr>
              <a:t>•  All 120 work orders: Corrosion 42, Joint seal leak 30, Valve seat wear 22.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60</a:t>
            </a:r>
          </a:p>
        </p:txBody>
      </p:sp>
    </p:spTree>
  </p:cSld>
  <p:clrMapOvr>
    <a:masterClrMapping/>
  </p:clrMapOvr>
  <p:transition spd="med">
    <p:fade/>
  </p:transition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5 · 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Pareto Skill: Find the Vital Few Failure Modes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331720"/>
            <a:ext cx="2425446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615059" y="2715768"/>
            <a:ext cx="749808" cy="749808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15059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Choose the table and the column to analyse.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6611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libri"/>
              </a:rPr>
              <a:t>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13582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13582" y="2331720"/>
            <a:ext cx="2425446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351401" y="2715768"/>
            <a:ext cx="749808" cy="749808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51401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9886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Count and sort from highest to lowest.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02452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libri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49924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49924" y="2331720"/>
            <a:ext cx="2425446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87743" y="2715768"/>
            <a:ext cx="749808" cy="749808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877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6228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Add Share % and Cumulative %.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3879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libri"/>
              </a:rPr>
              <a:t>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86266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86266" y="2331720"/>
            <a:ext cx="2425446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824085" y="2715768"/>
            <a:ext cx="749808" cy="749808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24085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32570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List the vital few that reach 80%.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61</a:t>
            </a:r>
          </a:p>
        </p:txBody>
      </p:sp>
    </p:spTree>
  </p:cSld>
  <p:clrMapOvr>
    <a:masterClrMapping/>
  </p:clrMapOvr>
  <p:transition spd="med">
    <p:fade/>
  </p:transition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5 · HOW TO USE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0">
                <a:solidFill>
                  <a:srgbClr val="21201C"/>
                </a:solidFill>
                <a:latin typeface="Cambria"/>
              </a:rPr>
              <a:t>Apply the Concept — Pareto Skill: Find the Vital Few Failure Modes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5212080" cy="4297680"/>
          </a:xfrm>
          <a:prstGeom prst="roundRect">
            <a:avLst>
              <a:gd name="adj" fmla="val 5106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355080" y="1783080"/>
            <a:ext cx="5056632" cy="4297680"/>
          </a:xfrm>
          <a:prstGeom prst="roundRect">
            <a:avLst>
              <a:gd name="adj" fmla="val 5106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56632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Calibri"/>
              </a:rPr>
              <a:t>PROMPT PRINCIPLES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3A7D7B"/>
                </a:solidFill>
                <a:latin typeface="Calibri"/>
              </a:rPr>
              <a:t>EVIDENCE TO CHECK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Name the source, reporting date and selected scope.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Explain the result using checked evidence.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These 3 of 8 failure modes cause 78% of the work.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Overdue jobs only: Joint seal leak moves to the top (14 of 50).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62</a:t>
            </a:r>
          </a:p>
        </p:txBody>
      </p:sp>
    </p:spTree>
  </p:cSld>
  <p:clrMapOvr>
    <a:masterClrMapping/>
  </p:clrMapOvr>
  <p:transition spd="med">
    <p:fade/>
  </p:transition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5 THEME · CUSTOM PARETO CHART SKILL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0">
                <a:solidFill>
                  <a:srgbClr val="21201C"/>
                </a:solidFill>
                <a:latin typeface="Cambria"/>
              </a:rPr>
              <a:t>Find the Vital Few Failure Modes with a Pareto Skill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LAB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31720"/>
            <a:ext cx="10634472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21201C"/>
                </a:solidFill>
                <a:latin typeface="Calibri"/>
              </a:rPr>
              <a:t>Engineers use Pareto charts to find the vital few failure modes behind most of the work. Make a chart with Excel’s built-in @chart-design skill, then install a custom Pareto skill that sorts failure modes from highest to lowest..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657600"/>
            <a:ext cx="10634472" cy="228600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3657600"/>
            <a:ext cx="64008" cy="2286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822191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libri"/>
              </a:rPr>
              <a:t>You'll build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096512"/>
            <a:ext cx="100584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21201C"/>
                </a:solidFill>
                <a:latin typeface="Cambria"/>
              </a:rPr>
              <a:t>A ChartDesign_Demo sheet, a Pareto_Failure_Mode chart for all work orders and one for the overdue jobs.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05840" y="4828032"/>
            <a:ext cx="2391156" cy="475488"/>
          </a:xfrm>
          <a:prstGeom prst="rect">
            <a:avLst/>
          </a:prstGeom>
          <a:solidFill>
            <a:srgbClr val="FAF9F5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4882896"/>
            <a:ext cx="2281428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1201C"/>
                </a:solidFill>
                <a:latin typeface="Calibri"/>
              </a:rPr>
              <a:t>1  Ground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61588" y="4828032"/>
            <a:ext cx="2391156" cy="475488"/>
          </a:xfrm>
          <a:prstGeom prst="rect">
            <a:avLst/>
          </a:prstGeom>
          <a:solidFill>
            <a:srgbClr val="FAF9F5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16452" y="4882896"/>
            <a:ext cx="2281428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1201C"/>
                </a:solidFill>
                <a:latin typeface="Calibri"/>
              </a:rPr>
              <a:t>2  Build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17336" y="4828032"/>
            <a:ext cx="2391156" cy="475488"/>
          </a:xfrm>
          <a:prstGeom prst="rect">
            <a:avLst/>
          </a:prstGeom>
          <a:solidFill>
            <a:srgbClr val="FAF9F5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72200" y="4882896"/>
            <a:ext cx="2281428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1201C"/>
                </a:solidFill>
                <a:latin typeface="Calibri"/>
              </a:rPr>
              <a:t>3  Verify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73084" y="4828032"/>
            <a:ext cx="2391156" cy="475488"/>
          </a:xfrm>
          <a:prstGeom prst="rect">
            <a:avLst/>
          </a:prstGeom>
          <a:solidFill>
            <a:srgbClr val="FAF9F5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27948" y="4882896"/>
            <a:ext cx="2281428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1201C"/>
                </a:solidFill>
                <a:latin typeface="Calibri"/>
              </a:rPr>
              <a:t>4  Handoff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5504688"/>
            <a:ext cx="10241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6B6862"/>
                </a:solidFill>
                <a:latin typeface="Calibri"/>
              </a:rPr>
              <a:t>Tools:  </a:t>
            </a:r>
            <a:r>
              <a:rPr sz="1200" b="0">
                <a:solidFill>
                  <a:srgbClr val="6B6862"/>
                </a:solidFill>
                <a:latin typeface="Calibri"/>
              </a:rPr>
              <a:t>Excel Copilot · Microsoft 365 Copilot web · OneDrive (Skills folder only)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63</a:t>
            </a:r>
          </a:p>
        </p:txBody>
      </p:sp>
    </p:spTree>
  </p:cSld>
  <p:clrMapOvr>
    <a:masterClrMapping/>
  </p:clrMapOvr>
  <p:transition spd="med">
    <p:fade/>
  </p:transition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5 · VERIFY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Check Your Results — Lab 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5180076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5180076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Built-in skill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chart-design turned on; ChartDesign_Demo sorted highest to lowest.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1636" y="1783080"/>
            <a:ext cx="5180076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31636" y="1783080"/>
            <a:ext cx="5180076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All work orders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Corrosion 42, Joint seal leak 30, Valve seat wear 22, Pump bearing wear 10, Pressure surge 8, Meter fault 4, Blockage 2, Third-party damage 2; top 3 = 78%.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087368"/>
            <a:ext cx="5180076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4087368"/>
            <a:ext cx="5180076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Overdue only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Joint seal leak 14, Corrosion 13, Valve seat wear 8, Pump bearing wear 7, Pressure surge 3, Blockage 2, Meter fault 2, Third-party damage 1.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64</a:t>
            </a:r>
          </a:p>
        </p:txBody>
      </p:sp>
    </p:spTree>
  </p:cSld>
  <p:clrMapOvr>
    <a:masterClrMapping/>
  </p:clrMapOvr>
  <p:transition spd="med">
    <p:fade/>
  </p:transition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EDITABLE SKILL CONTRACT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Anatomy of the Maintenance Skill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645920"/>
            <a:ext cx="10652760" cy="658368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55648"/>
            <a:ext cx="2011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21201C"/>
                </a:solidFill>
                <a:latin typeface="Cambria"/>
              </a:rPr>
              <a:t>Discovery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1755648"/>
            <a:ext cx="4114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21201C"/>
                </a:solidFill>
                <a:latin typeface="Calibri"/>
              </a:rPr>
              <a:t>name + description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1755648"/>
            <a:ext cx="3840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21201C"/>
                </a:solidFill>
                <a:latin typeface="Calibri"/>
              </a:rPr>
              <a:t>When should Copilot use it?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432304"/>
            <a:ext cx="10652760" cy="658368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542032"/>
            <a:ext cx="2011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21201C"/>
                </a:solidFill>
                <a:latin typeface="Cambria"/>
              </a:rPr>
              <a:t>Input 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2542032"/>
            <a:ext cx="4114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21201C"/>
                </a:solidFill>
                <a:latin typeface="Calibri"/>
              </a:rPr>
              <a:t>table or snapshot + date + scope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2542032"/>
            <a:ext cx="3840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21201C"/>
                </a:solidFill>
                <a:latin typeface="Calibri"/>
              </a:rPr>
              <a:t>What evidence is missing?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218688"/>
            <a:ext cx="10652760" cy="658368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328416"/>
            <a:ext cx="2011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21201C"/>
                </a:solidFill>
                <a:latin typeface="Cambria"/>
              </a:rPr>
              <a:t>Method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0" y="3328416"/>
            <a:ext cx="4114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21201C"/>
                </a:solidFill>
                <a:latin typeface="Calibri"/>
              </a:rPr>
              <a:t>definitions + source preservation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0" y="3328416"/>
            <a:ext cx="3840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21201C"/>
                </a:solidFill>
                <a:latin typeface="Calibri"/>
              </a:rPr>
              <a:t>How should measures be calculated?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005072"/>
            <a:ext cx="10652760" cy="658368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114800"/>
            <a:ext cx="2011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21201C"/>
                </a:solidFill>
                <a:latin typeface="Cambria"/>
              </a:rPr>
              <a:t>Outputs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08960" y="4114800"/>
            <a:ext cx="4114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21201C"/>
                </a:solidFill>
                <a:latin typeface="Calibri"/>
              </a:rPr>
              <a:t>summary / charts / proposals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0" y="4114800"/>
            <a:ext cx="3840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21201C"/>
                </a:solidFill>
                <a:latin typeface="Calibri"/>
              </a:rPr>
              <a:t>Which named areas may change?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4791456"/>
            <a:ext cx="10652760" cy="658368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901184"/>
            <a:ext cx="2011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21201C"/>
                </a:solidFill>
                <a:latin typeface="Cambria"/>
              </a:rPr>
              <a:t>Verification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08960" y="4901184"/>
            <a:ext cx="4114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21201C"/>
                </a:solidFill>
                <a:latin typeface="Calibri"/>
              </a:rPr>
              <a:t>counts + denominators + reruns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0" y="4901184"/>
            <a:ext cx="3840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21201C"/>
                </a:solidFill>
                <a:latin typeface="Calibri"/>
              </a:rPr>
              <a:t>What proves the result?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989320"/>
            <a:ext cx="10698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Source: synthetic tblWorkOrders | 30 Sep 2026 | All filters All unless stated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65</a:t>
            </a:r>
          </a:p>
        </p:txBody>
      </p:sp>
    </p:spTree>
  </p:cSld>
  <p:clrMapOvr>
    <a:masterClrMapping/>
  </p:clrMapOvr>
  <p:transition spd="med">
    <p:fade/>
  </p:transition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REPEATABLE IMPROVEMENT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A Skill Improves Through Evidence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331720"/>
            <a:ext cx="2425446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615059" y="2715768"/>
            <a:ext cx="749808" cy="749808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15059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v1 instructions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6611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libri"/>
              </a:rPr>
              <a:t>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13582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13582" y="2331720"/>
            <a:ext cx="2425446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351401" y="2715768"/>
            <a:ext cx="749808" cy="749808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51401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9886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Run on verified inputs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02452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libri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49924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49924" y="2331720"/>
            <a:ext cx="2425446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87743" y="2715768"/>
            <a:ext cx="749808" cy="749808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877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6228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Find one concrete defect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3879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libri"/>
              </a:rPr>
              <a:t>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86266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86266" y="2331720"/>
            <a:ext cx="2425446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824085" y="2715768"/>
            <a:ext cx="749808" cy="749808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24085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32570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v2 + repeat the check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66</a:t>
            </a:r>
          </a:p>
        </p:txBody>
      </p:sp>
    </p:spTree>
  </p:cSld>
  <p:clrMapOvr>
    <a:masterClrMapping/>
  </p:clrMapOvr>
  <p:transition spd="med">
    <p:fade/>
  </p:transition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6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Skills, Prompts and Workbook Rules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3422904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3A7D7B"/>
                </a:solidFill>
                <a:latin typeface="Cambria"/>
              </a:rPr>
              <a:t>WHAT IT 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201C"/>
                </a:solidFill>
                <a:latin typeface="Calibri"/>
              </a:rPr>
              <a:t>•  A prompt is one request.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3024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3024" y="1783080"/>
            <a:ext cx="3422904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1624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3A7D7B"/>
                </a:solidFill>
                <a:latin typeface="Cambria"/>
              </a:rPr>
              <a:t>WHY IT MATTERS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1624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201C"/>
                </a:solidFill>
                <a:latin typeface="Calibri"/>
              </a:rPr>
              <a:t>•  The skill makes stable definitions and review boundaries reusable: backlog excludes two terminal statuses, overdue uses a fixed date, missing owners stay missing and output reruns do not duplicate sheets.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88808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88808" y="1783080"/>
            <a:ext cx="3422904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17408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5B4B8A"/>
                </a:solidFill>
                <a:latin typeface="Cambria"/>
              </a:rPr>
              <a:t>CHECK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7408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201C"/>
                </a:solidFill>
                <a:latin typeface="Calibri"/>
              </a:rPr>
              <a:t>•  maintenance-reporting contains definitions and output boundaries.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67</a:t>
            </a:r>
          </a:p>
        </p:txBody>
      </p:sp>
    </p:spTree>
  </p:cSld>
  <p:clrMapOvr>
    <a:masterClrMapping/>
  </p:clrMapOvr>
  <p:transition spd="med">
    <p:fade/>
  </p:transition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6 · 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Skills, Prompts and Workbook Rules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331720"/>
            <a:ext cx="2425446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615059" y="2715768"/>
            <a:ext cx="749808" cy="749808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15059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Identify a recurring task.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6611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libri"/>
              </a:rPr>
              <a:t>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13582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13582" y="2331720"/>
            <a:ext cx="2425446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351401" y="2715768"/>
            <a:ext cx="749808" cy="749808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51401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9886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Separate stable rules from current inputs.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02452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libri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49924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49924" y="2331720"/>
            <a:ext cx="2425446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87743" y="2715768"/>
            <a:ext cx="749808" cy="749808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877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6228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Write name, description and instructions.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3879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libri"/>
              </a:rPr>
              <a:t>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86266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86266" y="2331720"/>
            <a:ext cx="2425446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824085" y="2715768"/>
            <a:ext cx="749808" cy="749808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24085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32570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Install, invoke and inspect the result.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68</a:t>
            </a:r>
          </a:p>
        </p:txBody>
      </p:sp>
    </p:spTree>
  </p:cSld>
  <p:clrMapOvr>
    <a:masterClrMapping/>
  </p:clrMapOvr>
  <p:transition spd="med">
    <p:fade/>
  </p:transition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6 · HOW TO USE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0">
                <a:solidFill>
                  <a:srgbClr val="21201C"/>
                </a:solidFill>
                <a:latin typeface="Cambria"/>
              </a:rPr>
              <a:t>Apply the Concept — Skills, Prompts and Workbook Rules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5212080" cy="4297680"/>
          </a:xfrm>
          <a:prstGeom prst="roundRect">
            <a:avLst>
              <a:gd name="adj" fmla="val 5106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355080" y="1783080"/>
            <a:ext cx="5056632" cy="4297680"/>
          </a:xfrm>
          <a:prstGeom prst="roundRect">
            <a:avLst>
              <a:gd name="adj" fmla="val 5106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56632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Calibri"/>
              </a:rPr>
              <a:t>PROMPT PRINCIPLES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3A7D7B"/>
                </a:solidFill>
                <a:latin typeface="Calibri"/>
              </a:rPr>
              <a:t>EVIDENCE TO CHECK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Name the source, reporting date and selected scope.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Explain the result using checked evidence.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Each request still supplies this month’s source, date and scope.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Native skill use and pasted manual instructions are recorded differently.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69</a:t>
            </a:r>
          </a:p>
        </p:txBody>
      </p:sp>
    </p:spTree>
  </p:cSld>
  <p:clrMapOvr>
    <a:masterClrMapping/>
  </p:clrMapOvr>
  <p:transition spd="med">
    <p:fade/>
  </p:transition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6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Custom Skill Discovery in Each App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3422904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3A7D7B"/>
                </a:solidFill>
                <a:latin typeface="Cambria"/>
              </a:rPr>
              <a:t>WHAT IT 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201C"/>
                </a:solidFill>
                <a:latin typeface="Calibri"/>
              </a:rPr>
              <a:t>•  Excel uses its Manage plugins &amp; skills interface and an app-created OneDrive skills folder.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3024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3024" y="1783080"/>
            <a:ext cx="3422904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1624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3A7D7B"/>
                </a:solidFill>
                <a:latin typeface="Cambria"/>
              </a:rPr>
              <a:t>WHY IT MATTERS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1624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201C"/>
                </a:solidFill>
                <a:latin typeface="Calibri"/>
              </a:rPr>
              <a:t>•  Folder-name/frontmatter mismatches, an extra .txt extension, unavailable licence features and disabled skills can all prevent discovery.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88808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88808" y="1783080"/>
            <a:ext cx="3422904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17408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5B4B8A"/>
                </a:solidFill>
                <a:latin typeface="Cambria"/>
              </a:rPr>
              <a:t>CHECK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7408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201C"/>
                </a:solidFill>
                <a:latin typeface="Calibri"/>
              </a:rPr>
              <a:t>•  Folder maintenance-reporting matches YAML name maintenance-reporting.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70</a:t>
            </a:r>
          </a:p>
        </p:txBody>
      </p:sp>
    </p:spTree>
  </p:cSld>
  <p:clrMapOvr>
    <a:masterClrMapping/>
  </p:clrMapOvr>
  <p:transition spd="med">
    <p:fade/>
  </p:transition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6 · 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Custom Skill Discovery in Each App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331720"/>
            <a:ext cx="2425446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615059" y="2715768"/>
            <a:ext cx="749808" cy="749808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15059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Save complete UTF-8 SKILL.md.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6611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libri"/>
              </a:rPr>
              <a:t>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13582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13582" y="2331720"/>
            <a:ext cx="2425446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351401" y="2715768"/>
            <a:ext cx="749808" cy="749808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51401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9886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Use the app-created skills location.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02452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libri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49924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49924" y="2331720"/>
            <a:ext cx="2425446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87743" y="2715768"/>
            <a:ext cx="749808" cy="749808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877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6228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Refresh and verify the matching name.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3879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libri"/>
              </a:rPr>
              <a:t>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86266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86266" y="2331720"/>
            <a:ext cx="2425446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824085" y="2715768"/>
            <a:ext cx="749808" cy="749808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24085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32570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Run and record a smoke test.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71</a:t>
            </a:r>
          </a:p>
        </p:txBody>
      </p:sp>
    </p:spTree>
  </p:cSld>
  <p:clrMapOvr>
    <a:masterClrMapping/>
  </p:clrMapOvr>
  <p:transition spd="med">
    <p:fade/>
  </p:transition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6 · HOW TO USE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0">
                <a:solidFill>
                  <a:srgbClr val="21201C"/>
                </a:solidFill>
                <a:latin typeface="Cambria"/>
              </a:rPr>
              <a:t>Apply the Concept — Custom Skill Discovery in Each App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5212080" cy="4297680"/>
          </a:xfrm>
          <a:prstGeom prst="roundRect">
            <a:avLst>
              <a:gd name="adj" fmla="val 5106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355080" y="1783080"/>
            <a:ext cx="5056632" cy="4297680"/>
          </a:xfrm>
          <a:prstGeom prst="roundRect">
            <a:avLst>
              <a:gd name="adj" fmla="val 5106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56632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Calibri"/>
              </a:rPr>
              <a:t>PROMPT PRINCIPLES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3A7D7B"/>
                </a:solidFill>
                <a:latin typeface="Calibri"/>
              </a:rPr>
              <a:t>EVIDENCE TO CHECK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Name the source, reporting date and selected scope.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Explain the result using checked evidence.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Excel and PowerPoint both show the skill before native invocation.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If a menu is absent, manual practice is labelled feature unavailable.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72</a:t>
            </a:r>
          </a:p>
        </p:txBody>
      </p:sp>
    </p:spTree>
  </p:cSld>
  <p:clrMapOvr>
    <a:masterClrMapping/>
  </p:clrMapOvr>
  <p:transition spd="med">
    <p:fade/>
  </p:transition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6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Repeatability and Safe Skill Reruns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3422904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3A7D7B"/>
                </a:solidFill>
                <a:latin typeface="Cambria"/>
              </a:rPr>
              <a:t>WHAT IT 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201C"/>
                </a:solidFill>
                <a:latin typeface="Calibri"/>
              </a:rPr>
              <a:t>•  Repeatability means the same verified inputs and method yield equivalent business measures and a controlled output structure.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3024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3024" y="1783080"/>
            <a:ext cx="3422904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1624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3A7D7B"/>
                </a:solidFill>
                <a:latin typeface="Cambria"/>
              </a:rPr>
              <a:t>WHY IT MATTERS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1624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201C"/>
                </a:solidFill>
                <a:latin typeface="Calibri"/>
              </a:rPr>
              <a:t>•  Reporting skills may be used every week or month, so uncontrolled output accumulation quickly creates conflicting summaries.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88808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88808" y="1783080"/>
            <a:ext cx="3422904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17408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5B4B8A"/>
                </a:solidFill>
                <a:latin typeface="Cambria"/>
              </a:rPr>
              <a:t>CHECK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7408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201C"/>
                </a:solidFill>
                <a:latin typeface="Calibri"/>
              </a:rPr>
              <a:t>•  120 source IDs remain 120 after rerunning Maintenance_Summary.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73</a:t>
            </a:r>
          </a:p>
        </p:txBody>
      </p:sp>
    </p:spTree>
  </p:cSld>
  <p:clrMapOvr>
    <a:masterClrMapping/>
  </p:clrMapOvr>
  <p:transition spd="med">
    <p:fade/>
  </p:transition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6 · 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Repeatability and Safe Skill Reruns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331720"/>
            <a:ext cx="2425446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615059" y="2715768"/>
            <a:ext cx="749808" cy="749808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15059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Capture the source fingerprint and outputs.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6611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libri"/>
              </a:rPr>
              <a:t>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13582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13582" y="2331720"/>
            <a:ext cx="2425446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351401" y="2715768"/>
            <a:ext cx="749808" cy="749808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51401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9886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Request a reviewed rerun plan.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02452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libri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49924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49924" y="2331720"/>
            <a:ext cx="2425446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87743" y="2715768"/>
            <a:ext cx="749808" cy="749808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877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6228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Replace only named output areas.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3879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libri"/>
              </a:rPr>
              <a:t>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86266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86266" y="2331720"/>
            <a:ext cx="2425446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824085" y="2715768"/>
            <a:ext cx="749808" cy="749808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24085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32570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Compare source and measures again.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74</a:t>
            </a:r>
          </a:p>
        </p:txBody>
      </p:sp>
    </p:spTree>
  </p:cSld>
  <p:clrMapOvr>
    <a:masterClrMapping/>
  </p:clrMapOvr>
  <p:transition spd="med">
    <p:fade/>
  </p:transition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6 · HOW TO USE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0">
                <a:solidFill>
                  <a:srgbClr val="21201C"/>
                </a:solidFill>
                <a:latin typeface="Cambria"/>
              </a:rPr>
              <a:t>Apply the Concept — Repeatability and Safe Skill Reruns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5212080" cy="4297680"/>
          </a:xfrm>
          <a:prstGeom prst="roundRect">
            <a:avLst>
              <a:gd name="adj" fmla="val 5106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355080" y="1783080"/>
            <a:ext cx="5056632" cy="4297680"/>
          </a:xfrm>
          <a:prstGeom prst="roundRect">
            <a:avLst>
              <a:gd name="adj" fmla="val 5106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56632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Calibri"/>
              </a:rPr>
              <a:t>PROMPT PRINCIPLES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3A7D7B"/>
                </a:solidFill>
                <a:latin typeface="Calibri"/>
              </a:rPr>
              <a:t>EVIDENCE TO CHECK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Name the source, reporting date and selected scope.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Explain the result using checked evidence.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Missing report date causes a clarification request, not invented numbers.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A second output sheet is a defect when replacement was requested.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75</a:t>
            </a:r>
          </a:p>
        </p:txBody>
      </p:sp>
    </p:spTree>
  </p:cSld>
  <p:clrMapOvr>
    <a:masterClrMapping/>
  </p:clrMapOvr>
  <p:transition spd="med">
    <p:fade/>
  </p:transition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6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Assignment Proposals and Capacity Evidence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3422904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3A7D7B"/>
                </a:solidFill>
                <a:latin typeface="Cambria"/>
              </a:rPr>
              <a:t>WHAT IT 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201C"/>
                </a:solidFill>
                <a:latin typeface="Calibri"/>
              </a:rPr>
              <a:t>•  Assignment planning combines the work category, existing owner, estimated hours, technician primary category and available hours.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3024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3024" y="1783080"/>
            <a:ext cx="3422904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1624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3A7D7B"/>
                </a:solidFill>
                <a:latin typeface="Cambria"/>
              </a:rPr>
              <a:t>WHY IT MATTERS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1624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201C"/>
                </a:solidFill>
                <a:latin typeface="Calibri"/>
              </a:rPr>
              <a:t>•  The same skill can improve Excel analysis and PowerPoint wording by preserving this boundary.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88808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88808" y="1783080"/>
            <a:ext cx="3422904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17408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5B4B8A"/>
                </a:solidFill>
                <a:latin typeface="Cambria"/>
              </a:rPr>
              <a:t>CHECK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7408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201C"/>
                </a:solidFill>
                <a:latin typeface="Calibri"/>
              </a:rPr>
              <a:t>•  Unassigned work is counted only within nonterminal statuses.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76</a:t>
            </a:r>
          </a:p>
        </p:txBody>
      </p:sp>
    </p:spTree>
  </p:cSld>
  <p:clrMapOvr>
    <a:masterClrMapping/>
  </p:clrMapOvr>
  <p:transition spd="med">
    <p:fade/>
  </p:transition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6 · 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Assignment Proposals and Capacity Evidence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331720"/>
            <a:ext cx="2425446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615059" y="2715768"/>
            <a:ext cx="749808" cy="749808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15059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Identify unassigned backlog.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6611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libri"/>
              </a:rPr>
              <a:t>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13582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13582" y="2331720"/>
            <a:ext cx="2425446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351401" y="2715768"/>
            <a:ext cx="749808" cy="749808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51401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9886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Compare category and available hours.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02452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libri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49924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49924" y="2331720"/>
            <a:ext cx="2425446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87743" y="2715768"/>
            <a:ext cx="749808" cy="749808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877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6228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Record the proposal and assumptions.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3879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libri"/>
              </a:rPr>
              <a:t>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86266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86266" y="2331720"/>
            <a:ext cx="2425446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824085" y="2715768"/>
            <a:ext cx="749808" cy="749808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24085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32570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Request the manager decision.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77</a:t>
            </a:r>
          </a:p>
        </p:txBody>
      </p:sp>
    </p:spTree>
  </p:cSld>
  <p:clrMapOvr>
    <a:masterClrMapping/>
  </p:clrMapOvr>
  <p:transition spd="med">
    <p:fade/>
  </p:transition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6 · HOW TO USE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0">
                <a:solidFill>
                  <a:srgbClr val="21201C"/>
                </a:solidFill>
                <a:latin typeface="Cambria"/>
              </a:rPr>
              <a:t>Apply the Concept — Assignment Proposals and Capacity Evidence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5212080" cy="4297680"/>
          </a:xfrm>
          <a:prstGeom prst="roundRect">
            <a:avLst>
              <a:gd name="adj" fmla="val 5106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355080" y="1783080"/>
            <a:ext cx="5056632" cy="4297680"/>
          </a:xfrm>
          <a:prstGeom prst="roundRect">
            <a:avLst>
              <a:gd name="adj" fmla="val 5106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56632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Calibri"/>
              </a:rPr>
              <a:t>PROMPT PRINCIPLES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3A7D7B"/>
                </a:solidFill>
                <a:latin typeface="Calibri"/>
              </a:rPr>
              <a:t>EVIDENCE TO CHECK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Name the source, reporting date and selected scope.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Explain the result using checked evidence.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Available hours minus proposed effort is a planning check.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The source Assigned_To stays unchanged until a real authorised operational update.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78</a:t>
            </a:r>
          </a:p>
        </p:txBody>
      </p:sp>
    </p:spTree>
  </p:cSld>
  <p:clrMapOvr>
    <a:masterClrMapping/>
  </p:clrMapOvr>
  <p:transition spd="med">
    <p:fade/>
  </p:transition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6 THEME · REPORTING SKILL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Build a Maintenance Report with Two Skills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LAB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31720"/>
            <a:ext cx="10634472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21201C"/>
                </a:solidFill>
                <a:latin typeface="Calibri"/>
              </a:rPr>
              <a:t>Install two skills, water-service-pareto and maintenance-reporting, and use them together to build a maintenance report in Excel, then use the reporting skill in PowerPoint..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657600"/>
            <a:ext cx="10634472" cy="228600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3657600"/>
            <a:ext cx="64008" cy="2286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822191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libri"/>
              </a:rPr>
              <a:t>You'll build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096512"/>
            <a:ext cx="100584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21201C"/>
                </a:solidFill>
                <a:latin typeface="Cambria"/>
              </a:rPr>
              <a:t>Maintenance_Summary with a failure-mode Pareto, Assignment_Proposals, and an improved Northstar_Initial_Update.pptx.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05840" y="4828032"/>
            <a:ext cx="2391156" cy="475488"/>
          </a:xfrm>
          <a:prstGeom prst="rect">
            <a:avLst/>
          </a:prstGeom>
          <a:solidFill>
            <a:srgbClr val="FAF9F5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4882896"/>
            <a:ext cx="2281428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1201C"/>
                </a:solidFill>
                <a:latin typeface="Calibri"/>
              </a:rPr>
              <a:t>1  Ground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61588" y="4828032"/>
            <a:ext cx="2391156" cy="475488"/>
          </a:xfrm>
          <a:prstGeom prst="rect">
            <a:avLst/>
          </a:prstGeom>
          <a:solidFill>
            <a:srgbClr val="FAF9F5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16452" y="4882896"/>
            <a:ext cx="2281428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1201C"/>
                </a:solidFill>
                <a:latin typeface="Calibri"/>
              </a:rPr>
              <a:t>2  Build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17336" y="4828032"/>
            <a:ext cx="2391156" cy="475488"/>
          </a:xfrm>
          <a:prstGeom prst="rect">
            <a:avLst/>
          </a:prstGeom>
          <a:solidFill>
            <a:srgbClr val="FAF9F5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72200" y="4882896"/>
            <a:ext cx="2281428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1201C"/>
                </a:solidFill>
                <a:latin typeface="Calibri"/>
              </a:rPr>
              <a:t>3  Verify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73084" y="4828032"/>
            <a:ext cx="2391156" cy="475488"/>
          </a:xfrm>
          <a:prstGeom prst="rect">
            <a:avLst/>
          </a:prstGeom>
          <a:solidFill>
            <a:srgbClr val="FAF9F5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27948" y="4882896"/>
            <a:ext cx="2281428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1201C"/>
                </a:solidFill>
                <a:latin typeface="Calibri"/>
              </a:rPr>
              <a:t>4  Handoff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5504688"/>
            <a:ext cx="10241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6B6862"/>
                </a:solidFill>
                <a:latin typeface="Calibri"/>
              </a:rPr>
              <a:t>Tools:  </a:t>
            </a:r>
            <a:r>
              <a:rPr sz="1200" b="0">
                <a:solidFill>
                  <a:srgbClr val="6B6862"/>
                </a:solidFill>
                <a:latin typeface="Calibri"/>
              </a:rPr>
              <a:t>Excel and PowerPoint Copilot · Microsoft 365 Copilot web · OneDrive (Skills folder only)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79</a:t>
            </a:r>
          </a:p>
        </p:txBody>
      </p:sp>
    </p:spTree>
  </p:cSld>
  <p:clrMapOvr>
    <a:masterClrMapping/>
  </p:clrMapOvr>
  <p:transition spd="med">
    <p:fade/>
  </p:transition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6 · VERIFY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Check Your Results — Lab 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5180076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5180076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Summary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120 total; 60 backlog; 50 overdue; 30/48 = 62.5%; S$35,827.50.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1636" y="1783080"/>
            <a:ext cx="5180076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31636" y="1783080"/>
            <a:ext cx="5180076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Pareto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Corrosion 42, Joint seal leak 30, Valve seat wear 22, Pump bearing wear 10, Pressure surge 8, Meter fault 4, Blockage 2, Third-party damage 2.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087368"/>
            <a:ext cx="5180076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4087368"/>
            <a:ext cx="5180076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Proposals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6 proposals; Assigned_To unchanged.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1636" y="4087368"/>
            <a:ext cx="5180076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31636" y="4087368"/>
            <a:ext cx="5180076" cy="64008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C26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PowerPoint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4 slides, same numbers, clearer headlines.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80</a:t>
            </a:r>
          </a:p>
        </p:txBody>
      </p:sp>
    </p:spTree>
  </p:cSld>
  <p:clrMapOvr>
    <a:masterClrMapping/>
  </p:clrMapOvr>
  <p:transition spd="med">
    <p:fade/>
  </p:transition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WORKED DASHBOARD SNAPSHOT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Northstar Portfolio at a Glance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37360"/>
            <a:ext cx="3383280" cy="15087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1847088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21201C"/>
                </a:solidFill>
                <a:latin typeface="Cambria"/>
              </a:rPr>
              <a:t>Total orders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2286000"/>
            <a:ext cx="3108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500" b="1">
                <a:solidFill>
                  <a:srgbClr val="21201C"/>
                </a:solidFill>
                <a:latin typeface="Cambria"/>
              </a:rPr>
              <a:t>120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1737360"/>
            <a:ext cx="3383280" cy="15087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99431" y="1847088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21201C"/>
                </a:solidFill>
                <a:latin typeface="Cambria"/>
              </a:rPr>
              <a:t>Backlog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99431" y="2286000"/>
            <a:ext cx="3108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500" b="1">
                <a:solidFill>
                  <a:srgbClr val="21201C"/>
                </a:solidFill>
                <a:latin typeface="Cambria"/>
              </a:rPr>
              <a:t>60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2440" y="1737360"/>
            <a:ext cx="3383280" cy="15087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57031" y="1847088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21201C"/>
                </a:solidFill>
                <a:latin typeface="Cambria"/>
              </a:rPr>
              <a:t>Overdue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57031" y="2286000"/>
            <a:ext cx="3108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500" b="1">
                <a:solidFill>
                  <a:srgbClr val="21201C"/>
                </a:solidFill>
                <a:latin typeface="Cambria"/>
              </a:rPr>
              <a:t>50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520439"/>
            <a:ext cx="3383280" cy="15087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3630168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21201C"/>
                </a:solidFill>
                <a:latin typeface="Cambria"/>
              </a:rPr>
              <a:t>Closed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" y="4069079"/>
            <a:ext cx="3108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500" b="1">
                <a:solidFill>
                  <a:srgbClr val="21201C"/>
                </a:solidFill>
                <a:latin typeface="Cambria"/>
              </a:rPr>
              <a:t>48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34840" y="3520439"/>
            <a:ext cx="3383280" cy="15087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99431" y="3630168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21201C"/>
                </a:solidFill>
                <a:latin typeface="Cambria"/>
              </a:rPr>
              <a:t>On-time closed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99431" y="4069079"/>
            <a:ext cx="3108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500" b="1">
                <a:solidFill>
                  <a:srgbClr val="21201C"/>
                </a:solidFill>
                <a:latin typeface="Cambria"/>
              </a:rPr>
              <a:t>30/48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92440" y="3520439"/>
            <a:ext cx="3383280" cy="15087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57031" y="3630168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21201C"/>
                </a:solidFill>
                <a:latin typeface="Cambria"/>
              </a:rPr>
              <a:t>Recorded cost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7031" y="4069079"/>
            <a:ext cx="3108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500" b="1">
                <a:solidFill>
                  <a:srgbClr val="21201C"/>
                </a:solidFill>
                <a:latin typeface="Cambria"/>
              </a:rPr>
              <a:t>S$35,828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989320"/>
            <a:ext cx="10698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Source: synthetic tblWorkOrders | 30 Sep 2026 | All filters All unless stated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81</a:t>
            </a:r>
          </a:p>
        </p:txBody>
      </p:sp>
    </p:spTree>
  </p:cSld>
  <p:clrMapOvr>
    <a:masterClrMapping/>
  </p:clrMapOvr>
  <p:transition spd="med">
    <p:fade/>
  </p:transition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NATIVE EDITABLE CHART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Backlog by Site: Count the Nonterminal Work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68680" y="1691640"/>
          <a:ext cx="10332720" cy="4069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989320"/>
            <a:ext cx="10698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Source: synthetic tblWorkOrders | 30 Sep 2026 | All filters All unless stated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82</a:t>
            </a:r>
          </a:p>
        </p:txBody>
      </p:sp>
    </p:spTree>
  </p:cSld>
  <p:clrMapOvr>
    <a:masterClrMapping/>
  </p:clrMapOvr>
  <p:transition spd="med">
    <p:fade/>
  </p:transition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REUSABLE DASHBOARD 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The Interactive Dashboard Skill Contract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331720"/>
            <a:ext cx="2425446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615059" y="2715768"/>
            <a:ext cx="749808" cy="749808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15059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Named source + date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6611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libri"/>
              </a:rPr>
              <a:t>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13582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13582" y="2331720"/>
            <a:ext cx="2425446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351401" y="2715768"/>
            <a:ext cx="749808" cy="749808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51401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9886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Six shared-scope KPIs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02452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libri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49924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49924" y="2331720"/>
            <a:ext cx="2425446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87743" y="2715768"/>
            <a:ext cx="749808" cy="749808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877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6228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Four filters + three charts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3879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libri"/>
              </a:rPr>
              <a:t>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86266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86266" y="2331720"/>
            <a:ext cx="2425446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824085" y="2715768"/>
            <a:ext cx="749808" cy="749808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24085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32570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Refresh + safe rerun checks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83</a:t>
            </a:r>
          </a:p>
        </p:txBody>
      </p:sp>
    </p:spTree>
  </p:cSld>
  <p:clrMapOvr>
    <a:masterClrMapping/>
  </p:clrMapOvr>
  <p:transition spd="med">
    <p:fade/>
  </p:transition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7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0">
                <a:solidFill>
                  <a:srgbClr val="21201C"/>
                </a:solidFill>
                <a:latin typeface="Cambria"/>
              </a:rPr>
              <a:t>PowerPoint Design Skill: From Plain to Professional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3422904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3A7D7B"/>
                </a:solidFill>
                <a:latin typeface="Cambria"/>
              </a:rPr>
              <a:t>WHAT IT 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201C"/>
                </a:solidFill>
                <a:latin typeface="Calibri"/>
              </a:rPr>
              <a:t>•  A design skill holds your brand rules, fonts, colours, header bar, footer, KPI cards and spacing, as steps Copilot in PowerPoint follows.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3024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3024" y="1783080"/>
            <a:ext cx="3422904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1624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3A7D7B"/>
                </a:solidFill>
                <a:latin typeface="Cambria"/>
              </a:rPr>
              <a:t>WHY IT MATTERS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1624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201C"/>
                </a:solidFill>
                <a:latin typeface="Calibri"/>
              </a:rPr>
              <a:t>•  Most decks start plain: black text, no header, no branding.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88808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88808" y="1783080"/>
            <a:ext cx="3422904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17408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5B4B8A"/>
                </a:solidFill>
                <a:latin typeface="Cambria"/>
              </a:rPr>
              <a:t>CHECK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7408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201C"/>
                </a:solidFill>
                <a:latin typeface="Calibri"/>
              </a:rPr>
              <a:t>•  Title slide: navy background, white title, teal subtitle.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84</a:t>
            </a:r>
          </a:p>
        </p:txBody>
      </p:sp>
    </p:spTree>
  </p:cSld>
  <p:clrMapOvr>
    <a:masterClrMapping/>
  </p:clrMapOvr>
  <p:transition spd="med">
    <p:fade/>
  </p:transition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7 · DESIGN SKILL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Northstar Deck Design Rules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3361944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3361944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64792" y="1911096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21201C"/>
                </a:solidFill>
                <a:latin typeface="Calibri"/>
              </a:rPr>
              <a:t>Fonts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Segoe UI Semibold titles; Segoe UI body text.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13504" y="1783080"/>
            <a:ext cx="3361944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13504" y="1783080"/>
            <a:ext cx="3361944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69536" y="2542032"/>
            <a:ext cx="548640" cy="54864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69536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01056" y="1911096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21201C"/>
                </a:solidFill>
                <a:latin typeface="Calibri"/>
              </a:rPr>
              <a:t>Colours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Navy #1F4E79, blue #2E75B6, teal #2A9D8F, light grey cards.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9768" y="1783080"/>
            <a:ext cx="3361944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9768" y="1783080"/>
            <a:ext cx="3361944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305800" y="2542032"/>
            <a:ext cx="548640" cy="548640"/>
          </a:xfrm>
          <a:prstGeom prst="ellipse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05800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37320" y="1911096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21201C"/>
                </a:solidFill>
                <a:latin typeface="Calibri"/>
              </a:rPr>
              <a:t>Header and footer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Navy title bar on every slide; footer with date and slide number.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4087368"/>
            <a:ext cx="3361944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4087368"/>
            <a:ext cx="3361944" cy="64008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C26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64792" y="4215384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21201C"/>
                </a:solidFill>
                <a:latin typeface="Calibri"/>
              </a:rPr>
              <a:t>KPI cards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Big bold numbers with a short label instead of long sentences.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13504" y="4087368"/>
            <a:ext cx="3361944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413504" y="4087368"/>
            <a:ext cx="3361944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669536" y="4846320"/>
            <a:ext cx="548640" cy="54864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69536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01056" y="4215384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21201C"/>
                </a:solidFill>
                <a:latin typeface="Calibri"/>
              </a:rPr>
              <a:t>Space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At most 4 short bullets; the same margins on every slide.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49768" y="4087368"/>
            <a:ext cx="3361944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49768" y="4087368"/>
            <a:ext cx="3361944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305800" y="4846320"/>
            <a:ext cx="548640" cy="54864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05800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37320" y="4215384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21201C"/>
                </a:solidFill>
                <a:latin typeface="Calibri"/>
              </a:rPr>
              <a:t>Keep the facts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Every slide, number and chart value stays the same.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85</a:t>
            </a:r>
          </a:p>
        </p:txBody>
      </p:sp>
    </p:spTree>
  </p:cSld>
  <p:clrMapOvr>
    <a:masterClrMapping/>
  </p:clrMapOvr>
  <p:transition spd="med">
    <p:fade/>
  </p:transition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7 · 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0">
                <a:solidFill>
                  <a:srgbClr val="21201C"/>
                </a:solidFill>
                <a:latin typeface="Cambria"/>
              </a:rPr>
              <a:t>PowerPoint Design Skill: From Plain to Professional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331720"/>
            <a:ext cx="2425446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615059" y="2715768"/>
            <a:ext cx="749808" cy="749808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15059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Write the brand rules as a SKILL.md.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6611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libri"/>
              </a:rPr>
              <a:t>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13582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13582" y="2331720"/>
            <a:ext cx="2425446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351401" y="2715768"/>
            <a:ext cx="749808" cy="749808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51401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9886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Add it with + &gt; Choose skills &gt; Manage skills &gt; Add skill.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02452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libri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49924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49924" y="2331720"/>
            <a:ext cx="2425446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87743" y="2715768"/>
            <a:ext cx="749808" cy="749808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877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6228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Call it on a plain deck.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3879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libri"/>
              </a:rPr>
              <a:t>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86266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86266" y="2331720"/>
            <a:ext cx="2425446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824085" y="2715768"/>
            <a:ext cx="749808" cy="749808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24085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32570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Check every number is unchanged.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86</a:t>
            </a:r>
          </a:p>
        </p:txBody>
      </p:sp>
    </p:spTree>
  </p:cSld>
  <p:clrMapOvr>
    <a:masterClrMapping/>
  </p:clrMapOvr>
  <p:transition spd="med">
    <p:fade/>
  </p:transition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7 · HOW TO USE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0">
                <a:solidFill>
                  <a:srgbClr val="21201C"/>
                </a:solidFill>
                <a:latin typeface="Cambria"/>
              </a:rPr>
              <a:t>Apply the Concept — PowerPoint Design Skill: From Plain to Professional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5212080" cy="4297680"/>
          </a:xfrm>
          <a:prstGeom prst="roundRect">
            <a:avLst>
              <a:gd name="adj" fmla="val 5106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355080" y="1783080"/>
            <a:ext cx="5056632" cy="4297680"/>
          </a:xfrm>
          <a:prstGeom prst="roundRect">
            <a:avLst>
              <a:gd name="adj" fmla="val 5106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56632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Calibri"/>
              </a:rPr>
              <a:t>PROMPT PRINCIPLES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3A7D7B"/>
                </a:solidFill>
                <a:latin typeface="Calibri"/>
              </a:rPr>
              <a:t>EVIDENCE TO CHECK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Name the source, reporting date and selected scope.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Explain the result using checked evidence.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Content slides: navy header bar, KPI cards, footer with slide number.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Numbers such as 120 work orders and 50 overdue stay the same.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87</a:t>
            </a:r>
          </a:p>
        </p:txBody>
      </p:sp>
    </p:spTree>
  </p:cSld>
  <p:clrMapOvr>
    <a:masterClrMapping/>
  </p:clrMapOvr>
  <p:transition spd="med">
    <p:fade/>
  </p:transition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7 THEME · POWERPOINT DESIGN SKILL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0">
                <a:solidFill>
                  <a:srgbClr val="21201C"/>
                </a:solidFill>
                <a:latin typeface="Cambria"/>
              </a:rPr>
              <a:t>Create a PowerPoint Design Skill: From Plain to Professional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LAB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31720"/>
            <a:ext cx="10634472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21201C"/>
                </a:solidFill>
                <a:latin typeface="Calibri"/>
              </a:rPr>
              <a:t>Turn a plain, unbranded PowerPoint deck into a professional Northstar deck by creating a design skill once and calling it with @..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657600"/>
            <a:ext cx="10634472" cy="228600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3657600"/>
            <a:ext cx="64008" cy="2286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822191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libri"/>
              </a:rPr>
              <a:t>You'll build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096512"/>
            <a:ext cx="100584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21201C"/>
                </a:solidFill>
                <a:latin typeface="Cambria"/>
              </a:rPr>
              <a:t>Northstar_Professional_Update.pptx, redesigned by your own northstar-deck-design skill.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05840" y="4828032"/>
            <a:ext cx="2391156" cy="475488"/>
          </a:xfrm>
          <a:prstGeom prst="rect">
            <a:avLst/>
          </a:prstGeom>
          <a:solidFill>
            <a:srgbClr val="FAF9F5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4882896"/>
            <a:ext cx="2281428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1201C"/>
                </a:solidFill>
                <a:latin typeface="Calibri"/>
              </a:rPr>
              <a:t>1  Ground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61588" y="4828032"/>
            <a:ext cx="2391156" cy="475488"/>
          </a:xfrm>
          <a:prstGeom prst="rect">
            <a:avLst/>
          </a:prstGeom>
          <a:solidFill>
            <a:srgbClr val="FAF9F5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16452" y="4882896"/>
            <a:ext cx="2281428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1201C"/>
                </a:solidFill>
                <a:latin typeface="Calibri"/>
              </a:rPr>
              <a:t>2  Build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17336" y="4828032"/>
            <a:ext cx="2391156" cy="475488"/>
          </a:xfrm>
          <a:prstGeom prst="rect">
            <a:avLst/>
          </a:prstGeom>
          <a:solidFill>
            <a:srgbClr val="FAF9F5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72200" y="4882896"/>
            <a:ext cx="2281428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1201C"/>
                </a:solidFill>
                <a:latin typeface="Calibri"/>
              </a:rPr>
              <a:t>3  Verify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73084" y="4828032"/>
            <a:ext cx="2391156" cy="475488"/>
          </a:xfrm>
          <a:prstGeom prst="rect">
            <a:avLst/>
          </a:prstGeom>
          <a:solidFill>
            <a:srgbClr val="FAF9F5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27948" y="4882896"/>
            <a:ext cx="2281428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1201C"/>
                </a:solidFill>
                <a:latin typeface="Calibri"/>
              </a:rPr>
              <a:t>4  Handoff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5504688"/>
            <a:ext cx="10241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6B6862"/>
                </a:solidFill>
                <a:latin typeface="Calibri"/>
              </a:rPr>
              <a:t>Tools:  </a:t>
            </a:r>
            <a:r>
              <a:rPr sz="1200" b="0">
                <a:solidFill>
                  <a:srgbClr val="6B6862"/>
                </a:solidFill>
                <a:latin typeface="Calibri"/>
              </a:rPr>
              <a:t>Microsoft 365 Copilot · PowerPoint · Microsoft 365 Copilot web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88</a:t>
            </a:r>
          </a:p>
        </p:txBody>
      </p:sp>
    </p:spTree>
  </p:cSld>
  <p:clrMapOvr>
    <a:masterClrMapping/>
  </p:clrMapOvr>
  <p:transition spd="med">
    <p:fade/>
  </p:transition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7 · VERIFY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Check Your Results — Lab 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5180076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5180076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Skill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northstar-deck-design added in PowerPoint and called with @.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1636" y="1783080"/>
            <a:ext cx="5180076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31636" y="1783080"/>
            <a:ext cx="5180076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Design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Navy title slide; header bar, KPI cards and footer on the other slides; Segoe UI fonts.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087368"/>
            <a:ext cx="5180076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4087368"/>
            <a:ext cx="5180076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Facts unchanged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6 slides; 120 total, 60 backlog, 50 overdue and 6 unassigned; S$35,827.50.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89</a:t>
            </a:r>
          </a:p>
        </p:txBody>
      </p:sp>
    </p:spTree>
  </p:cSld>
  <p:clrMapOvr>
    <a:masterClrMapping/>
  </p:clrMapOvr>
  <p:transition spd="med">
    <p:fade/>
  </p:transition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TOPIC RECAP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0">
                <a:solidFill>
                  <a:srgbClr val="21201C"/>
                </a:solidFill>
                <a:latin typeface="Cambria"/>
              </a:rPr>
              <a:t>Recap - Personalisation, .Rules and Skills for Excel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828800"/>
            <a:ext cx="10634472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828800"/>
            <a:ext cx="10634472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60120" y="2688336"/>
            <a:ext cx="347472" cy="3474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706624"/>
            <a:ext cx="347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53896" y="1901952"/>
            <a:ext cx="9738360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21201C"/>
                </a:solidFill>
                <a:latin typeface="Calibri"/>
              </a:rPr>
              <a:t>LO2: Personalisation, .Rules, built-in @chart-design, Pareto and reporting Skills tested.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4059936"/>
            <a:ext cx="10634472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4059936"/>
            <a:ext cx="10634472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0120" y="4919472"/>
            <a:ext cx="347472" cy="3474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937760"/>
            <a:ext cx="347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53896" y="4133088"/>
            <a:ext cx="9738360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21201C"/>
                </a:solidFill>
                <a:latin typeface="Calibri"/>
              </a:rPr>
              <a:t>Verify: Preserved source plus missing-input and rerun tests.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90</a:t>
            </a:r>
          </a:p>
        </p:txBody>
      </p:sp>
    </p:spTree>
  </p:cSld>
  <p:clrMapOvr>
    <a:masterClrMapping/>
  </p:clrMapOvr>
  <p:transition spd="med">
    <p:fade/>
  </p:transition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201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1463040"/>
            <a:ext cx="4206240" cy="420624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4023360"/>
            <a:ext cx="3108960" cy="310896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74519"/>
            <a:ext cx="84124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libri"/>
              </a:rPr>
              <a:t>TOPIC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286000"/>
            <a:ext cx="8595360" cy="1737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0">
                <a:solidFill>
                  <a:srgbClr val="FFFFFF"/>
                </a:solidFill>
                <a:latin typeface="Cambria"/>
              </a:rPr>
              <a:t>Interactive Dashboards with Custom Skills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4206240"/>
            <a:ext cx="1143000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434840"/>
            <a:ext cx="8412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B9B4A9"/>
                </a:solidFill>
                <a:latin typeface="Calibri"/>
              </a:rPr>
              <a:t>Create the Skill, build the dashboard and prove interactions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8A867D"/>
                </a:solidFill>
                <a:latin typeface="Calibri"/>
              </a:rPr>
              <a:t>© IES Academy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8A867D"/>
                </a:solidFill>
                <a:latin typeface="Calibri"/>
              </a:rPr>
              <a:t>GenAI for Engineers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8A867D"/>
                </a:solidFill>
                <a:latin typeface="Calibri"/>
              </a:rPr>
              <a:t>91</a:t>
            </a:r>
          </a:p>
        </p:txBody>
      </p:sp>
    </p:spTree>
  </p:cSld>
  <p:clrMapOvr>
    <a:masterClrMapping/>
  </p:clrMapOvr>
  <p:transition spd="med">
    <p:fade/>
  </p:transition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KEY CONCEPTS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0">
                <a:solidFill>
                  <a:srgbClr val="21201C"/>
                </a:solidFill>
                <a:latin typeface="Cambria"/>
              </a:rPr>
              <a:t>Key Concepts — Interactive Dashboards with Custom Skills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5180076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5180076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21201C"/>
                </a:solidFill>
                <a:latin typeface="Cambria"/>
              </a:rPr>
              <a:t>Measures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6B6862"/>
                </a:solidFill>
                <a:latin typeface="Calibri"/>
              </a:rPr>
              <a:t>Six formula KPIs with clear denominators and N/A rules.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1636" y="1783080"/>
            <a:ext cx="5180076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31636" y="1783080"/>
            <a:ext cx="5180076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21201C"/>
                </a:solidFill>
                <a:latin typeface="Cambria"/>
              </a:rPr>
              <a:t>Visual design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6B6862"/>
                </a:solidFill>
                <a:latin typeface="Calibri"/>
              </a:rPr>
              <a:t>KPI tiles and charts whose titles state the finding.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087368"/>
            <a:ext cx="5180076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4087368"/>
            <a:ext cx="5180076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21201C"/>
                </a:solidFill>
                <a:latin typeface="Cambria"/>
              </a:rPr>
              <a:t>Interactions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6B6862"/>
                </a:solidFill>
                <a:latin typeface="Calibri"/>
              </a:rPr>
              <a:t>Dropdowns and slicers filter every tile and chart.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1636" y="4087368"/>
            <a:ext cx="5180076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31636" y="4087368"/>
            <a:ext cx="5180076" cy="64008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C26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21201C"/>
                </a:solidFill>
                <a:latin typeface="Cambria"/>
              </a:rPr>
              <a:t>Refresh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6B6862"/>
                </a:solidFill>
                <a:latin typeface="Calibri"/>
              </a:rPr>
              <a:t>Known deltas in an isolated test copy.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92</a:t>
            </a:r>
          </a:p>
        </p:txBody>
      </p:sp>
    </p:spTree>
  </p:cSld>
  <p:clrMapOvr>
    <a:masterClrMapping/>
  </p:clrMapOvr>
  <p:transition spd="med">
    <p:fade/>
  </p:transition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WHAT YOU'LL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0">
                <a:solidFill>
                  <a:srgbClr val="21201C"/>
                </a:solidFill>
                <a:latin typeface="Cambria"/>
              </a:rPr>
              <a:t>Hands-On Labs — Interactive Dashboards with Custom Skills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5225796" cy="4297680"/>
          </a:xfrm>
          <a:prstGeom prst="roundRect">
            <a:avLst>
              <a:gd name="adj" fmla="val 5106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5225796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11680"/>
            <a:ext cx="4814316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D97757"/>
                </a:solidFill>
                <a:latin typeface="Cambria"/>
              </a:rPr>
              <a:t>Lab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4814316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1">
                <a:solidFill>
                  <a:srgbClr val="21201C"/>
                </a:solidFill>
                <a:latin typeface="Calibri"/>
              </a:rPr>
              <a:t>•  Custom Dashboard Skill</a:t>
            </a:r>
          </a:p>
          <a:p>
            <a:pPr>
              <a:spcAft>
                <a:spcPts val="9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–  Build an Interactive Dashboard with a Custom Skill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5916" y="1783080"/>
            <a:ext cx="5225796" cy="4297680"/>
          </a:xfrm>
          <a:prstGeom prst="roundRect">
            <a:avLst>
              <a:gd name="adj" fmla="val 5106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85916" y="1783080"/>
            <a:ext cx="5225796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4516" y="2011680"/>
            <a:ext cx="4814316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3A7D7B"/>
                </a:solidFill>
                <a:latin typeface="Cambria"/>
              </a:rPr>
              <a:t>Lab 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4516" y="2697480"/>
            <a:ext cx="4814316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1">
                <a:solidFill>
                  <a:srgbClr val="21201C"/>
                </a:solidFill>
                <a:latin typeface="Calibri"/>
              </a:rPr>
              <a:t>•  Interactive Filters and Refresh</a:t>
            </a:r>
          </a:p>
          <a:p>
            <a:pPr>
              <a:spcAft>
                <a:spcPts val="9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–  Test Dashboard Filters and a Data Refresh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93</a:t>
            </a:r>
          </a:p>
        </p:txBody>
      </p:sp>
    </p:spTree>
  </p:cSld>
  <p:clrMapOvr>
    <a:masterClrMapping/>
  </p:clrMapOvr>
  <p:transition spd="med">
    <p:fade/>
  </p:transition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EDITABLE WORKED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Same Data, Different Filter Scope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691640"/>
            <a:ext cx="5166360" cy="3977639"/>
          </a:xfrm>
          <a:prstGeom prst="roundRect">
            <a:avLst>
              <a:gd name="adj" fmla="val 5517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47548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01C"/>
                </a:solidFill>
                <a:latin typeface="Cambria"/>
              </a:rPr>
              <a:t>All sites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560320"/>
            <a:ext cx="4754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21201C"/>
                </a:solidFill>
                <a:latin typeface="Calibri"/>
              </a:rPr>
              <a:t>Total: 120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3072384"/>
            <a:ext cx="4754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21201C"/>
                </a:solidFill>
                <a:latin typeface="Calibri"/>
              </a:rPr>
              <a:t>Backlog: 60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584448"/>
            <a:ext cx="4754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21201C"/>
                </a:solidFill>
                <a:latin typeface="Calibri"/>
              </a:rPr>
              <a:t>Overdue: 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4096512"/>
            <a:ext cx="4754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21201C"/>
                </a:solidFill>
                <a:latin typeface="Calibri"/>
              </a:rPr>
              <a:t>Closed: 48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4608576"/>
            <a:ext cx="4754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21201C"/>
                </a:solidFill>
                <a:latin typeface="Calibri"/>
              </a:rPr>
              <a:t>On-time closed: 30/48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691640"/>
            <a:ext cx="5166360" cy="3977639"/>
          </a:xfrm>
          <a:prstGeom prst="roundRect">
            <a:avLst>
              <a:gd name="adj" fmla="val 5517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1828800"/>
            <a:ext cx="47548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01C"/>
                </a:solidFill>
                <a:latin typeface="Cambria"/>
              </a:rPr>
              <a:t>Woodlands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2560320"/>
            <a:ext cx="4754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21201C"/>
                </a:solidFill>
                <a:latin typeface="Calibri"/>
              </a:rPr>
              <a:t>Total: 24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3072384"/>
            <a:ext cx="4754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21201C"/>
                </a:solidFill>
                <a:latin typeface="Calibri"/>
              </a:rPr>
              <a:t>Backlog: 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3584448"/>
            <a:ext cx="4754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21201C"/>
                </a:solidFill>
                <a:latin typeface="Calibri"/>
              </a:rPr>
              <a:t>Overdue: 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4096512"/>
            <a:ext cx="4754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21201C"/>
                </a:solidFill>
                <a:latin typeface="Calibri"/>
              </a:rPr>
              <a:t>Closed: 16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4608576"/>
            <a:ext cx="4754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21201C"/>
                </a:solidFill>
                <a:latin typeface="Calibri"/>
              </a:rPr>
              <a:t>On-time closed: 10/16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989320"/>
            <a:ext cx="10698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Source: synthetic tblWorkOrders | 30 Sep 2026 | All filters All unless stated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94</a:t>
            </a:r>
          </a:p>
        </p:txBody>
      </p:sp>
    </p:spTree>
  </p:cSld>
  <p:clrMapOvr>
    <a:masterClrMapping/>
  </p:clrMapOvr>
  <p:transition spd="med">
    <p:fade/>
  </p:transition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8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Custom Dashboard Skill as a Reusable Contract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3422904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5B4B8A"/>
                </a:solidFill>
                <a:latin typeface="Cambria"/>
              </a:rPr>
              <a:t>WHAT IT 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201C"/>
                </a:solidFill>
                <a:latin typeface="Calibri"/>
              </a:rPr>
              <a:t>•  water-service-dashboard is a separate custom Skill whose instructions define inputs, six KPI formulas, four shared filter selectors, three editable charts and controlled output boundaries.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3024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3024" y="1783080"/>
            <a:ext cx="3422904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1624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3A7D7B"/>
                </a:solidFill>
                <a:latin typeface="Cambria"/>
              </a:rPr>
              <a:t>WHY IT MATTERS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1624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201C"/>
                </a:solidFill>
                <a:latin typeface="Calibri"/>
              </a:rPr>
              <a:t>•  A reusable contract makes every KPI and chart obey the same AND filter logic and allows a safe refresh using table references.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88808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88808" y="1783080"/>
            <a:ext cx="3422904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17408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5B4B8A"/>
                </a:solidFill>
                <a:latin typeface="Cambria"/>
              </a:rPr>
              <a:t>CHECK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7408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201C"/>
                </a:solidFill>
                <a:latin typeface="Calibri"/>
              </a:rPr>
              <a:t>•  Dashboard B2:B5 select site, category, status and owner.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95</a:t>
            </a:r>
          </a:p>
        </p:txBody>
      </p:sp>
    </p:spTree>
  </p:cSld>
  <p:clrMapOvr>
    <a:masterClrMapping/>
  </p:clrMapOvr>
  <p:transition spd="med">
    <p:fade/>
  </p:transition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8 · 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Custom Dashboard Skill as a Reusable Contract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331720"/>
            <a:ext cx="2425446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615059" y="2715768"/>
            <a:ext cx="749808" cy="749808"/>
          </a:xfrm>
          <a:prstGeom prst="ellipse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15059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Author and review the complete SKILL.md.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6611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5B4B8A"/>
                </a:solidFill>
                <a:latin typeface="Calibri"/>
              </a:rPr>
              <a:t>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13582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13582" y="2331720"/>
            <a:ext cx="2425446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351401" y="2715768"/>
            <a:ext cx="749808" cy="749808"/>
          </a:xfrm>
          <a:prstGeom prst="ellipse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51401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9886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Install and verify the dashboard name.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02452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5B4B8A"/>
                </a:solidFill>
                <a:latin typeface="Calibri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49924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49924" y="2331720"/>
            <a:ext cx="2425446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87743" y="2715768"/>
            <a:ext cx="749808" cy="749808"/>
          </a:xfrm>
          <a:prstGeom prst="ellipse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877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6228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Invoke a plan and build the reviewed output.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3879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5B4B8A"/>
                </a:solidFill>
                <a:latin typeface="Calibri"/>
              </a:rPr>
              <a:t>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86266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86266" y="2331720"/>
            <a:ext cx="2425446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824085" y="2715768"/>
            <a:ext cx="749808" cy="749808"/>
          </a:xfrm>
          <a:prstGeom prst="ellipse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24085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32570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Test common filters, append refresh and reruns.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96</a:t>
            </a:r>
          </a:p>
        </p:txBody>
      </p:sp>
    </p:spTree>
  </p:cSld>
  <p:clrMapOvr>
    <a:masterClrMapping/>
  </p:clrMapOvr>
  <p:transition spd="med">
    <p:fade/>
  </p:transition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8 · HOW TO USE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0">
                <a:solidFill>
                  <a:srgbClr val="21201C"/>
                </a:solidFill>
                <a:latin typeface="Cambria"/>
              </a:rPr>
              <a:t>Apply the Concept — Custom Dashboard Skill as a Reusable Contract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5212080" cy="4297680"/>
          </a:xfrm>
          <a:prstGeom prst="roundRect">
            <a:avLst>
              <a:gd name="adj" fmla="val 5106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355080" y="1783080"/>
            <a:ext cx="5056632" cy="4297680"/>
          </a:xfrm>
          <a:prstGeom prst="roundRect">
            <a:avLst>
              <a:gd name="adj" fmla="val 5106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56632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Calibri"/>
              </a:rPr>
              <a:t>PROMPT PRINCIPLES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3A7D7B"/>
                </a:solidFill>
                <a:latin typeface="Calibri"/>
              </a:rPr>
              <a:t>EVIDENCE TO CHECK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Name the source, reporting date and selected scope.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Explain the result using checked evidence.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B7:B12 and all chart summaries use the identical selected rows.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A 122-row sandbox is separate from the untouched 120-row baseline.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97</a:t>
            </a:r>
          </a:p>
        </p:txBody>
      </p:sp>
    </p:spTree>
  </p:cSld>
  <p:clrMapOvr>
    <a:masterClrMapping/>
  </p:clrMapOvr>
  <p:transition spd="med">
    <p:fade/>
  </p:transition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8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Dashboard Measures and Denominators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3422904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5B4B8A"/>
                </a:solidFill>
                <a:latin typeface="Cambria"/>
              </a:rPr>
              <a:t>WHAT IT 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201C"/>
                </a:solidFill>
                <a:latin typeface="Calibri"/>
              </a:rPr>
              <a:t>•  A dashboard measure needs a business definition, numerator, denominator where relevant, date rule and filter scope.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3024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3024" y="1783080"/>
            <a:ext cx="3422904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1624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3A7D7B"/>
                </a:solidFill>
                <a:latin typeface="Cambria"/>
              </a:rPr>
              <a:t>WHY IT MATTERS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1624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201C"/>
                </a:solidFill>
                <a:latin typeface="Calibri"/>
              </a:rPr>
              <a:t>•  Changing the denominator can make an attractive rate meaningless.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88808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88808" y="1783080"/>
            <a:ext cx="3422904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17408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5B4B8A"/>
                </a:solidFill>
                <a:latin typeface="Cambria"/>
              </a:rPr>
              <a:t>CHECK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7408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201C"/>
                </a:solidFill>
                <a:latin typeface="Calibri"/>
              </a:rPr>
              <a:t>•  Closed-only rate is different from closed/total completion share.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98</a:t>
            </a:r>
          </a:p>
        </p:txBody>
      </p:sp>
    </p:spTree>
  </p:cSld>
  <p:clrMapOvr>
    <a:masterClrMapping/>
  </p:clrMapOvr>
  <p:transition spd="med">
    <p:fade/>
  </p:transition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8 · 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Dashboard Measures and Denominators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331720"/>
            <a:ext cx="2425446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615059" y="2715768"/>
            <a:ext cx="749808" cy="749808"/>
          </a:xfrm>
          <a:prstGeom prst="ellipse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15059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Define source fields and scope.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6611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5B4B8A"/>
                </a:solidFill>
                <a:latin typeface="Calibri"/>
              </a:rPr>
              <a:t>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13582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13582" y="2331720"/>
            <a:ext cx="2425446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351401" y="2715768"/>
            <a:ext cx="749808" cy="749808"/>
          </a:xfrm>
          <a:prstGeom prst="ellipse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51401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9886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Compute count and denominator.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02452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5B4B8A"/>
                </a:solidFill>
                <a:latin typeface="Calibri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49924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49924" y="2331720"/>
            <a:ext cx="2425446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87743" y="2715768"/>
            <a:ext cx="749808" cy="749808"/>
          </a:xfrm>
          <a:prstGeom prst="ellipse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877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6228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Handle empty selections explicitly.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3879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5B4B8A"/>
                </a:solidFill>
                <a:latin typeface="Calibri"/>
              </a:rPr>
              <a:t>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86266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86266" y="2331720"/>
            <a:ext cx="2425446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824085" y="2715768"/>
            <a:ext cx="749808" cy="749808"/>
          </a:xfrm>
          <a:prstGeom prst="ellipse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24085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32570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Reconcile against controls.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99</a:t>
            </a:r>
          </a:p>
        </p:txBody>
      </p:sp>
    </p:spTree>
  </p:cSld>
  <p:clrMapOvr>
    <a:masterClrMapping/>
  </p:clrMapOvr>
  <p:transition spd="med">
    <p:fade/>
  </p:transition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8 · HOW TO USE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0">
                <a:solidFill>
                  <a:srgbClr val="21201C"/>
                </a:solidFill>
                <a:latin typeface="Cambria"/>
              </a:rPr>
              <a:t>Apply the Concept — Dashboard Measures and Denominators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5212080" cy="4297680"/>
          </a:xfrm>
          <a:prstGeom prst="roundRect">
            <a:avLst>
              <a:gd name="adj" fmla="val 5106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355080" y="1783080"/>
            <a:ext cx="5056632" cy="4297680"/>
          </a:xfrm>
          <a:prstGeom prst="roundRect">
            <a:avLst>
              <a:gd name="adj" fmla="val 5106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56632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Calibri"/>
              </a:rPr>
              <a:t>PROMPT PRINCIPLES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3A7D7B"/>
                </a:solidFill>
                <a:latin typeface="Calibri"/>
              </a:rPr>
              <a:t>EVIDENCE TO CHECK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Name the source, reporting date and selected scope.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Explain the result using checked evidence.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A due-today backlog item is not overdue under a strict before-date rule.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All selected status/chart counts reconcile to total selected work orders.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100</a:t>
            </a:r>
          </a:p>
        </p:txBody>
      </p:sp>
    </p:spTree>
  </p:cSld>
  <p:clrMapOvr>
    <a:masterClrMapping/>
  </p:clrMapOvr>
  <p:transition spd="med">
    <p:fade/>
  </p:transition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8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Visual Dashboard Design for Maintenance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3422904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5B4B8A"/>
                </a:solidFill>
                <a:latin typeface="Cambria"/>
              </a:rPr>
              <a:t>WHAT IT 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201C"/>
                </a:solidFill>
                <a:latin typeface="Calibri"/>
              </a:rPr>
              <a:t>•  A dashboard should make an operational decision easier.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3024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3024" y="1783080"/>
            <a:ext cx="3422904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1624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3A7D7B"/>
                </a:solidFill>
                <a:latin typeface="Cambria"/>
              </a:rPr>
              <a:t>WHY IT MATTERS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1624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201C"/>
                </a:solidFill>
                <a:latin typeface="Calibri"/>
              </a:rPr>
              <a:t>•  Consistent chart scales, short labels, whitespace and limited accents help a manager compare the work queue quickly.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88808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88808" y="1783080"/>
            <a:ext cx="3422904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17408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5B4B8A"/>
                </a:solidFill>
                <a:latin typeface="Cambria"/>
              </a:rPr>
              <a:t>CHECK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7408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201C"/>
                </a:solidFill>
                <a:latin typeface="Calibri"/>
              </a:rPr>
              <a:t>•  Status count chart shows the portfolio mix.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101</a:t>
            </a:r>
          </a:p>
        </p:txBody>
      </p:sp>
    </p:spTree>
  </p:cSld>
  <p:clrMapOvr>
    <a:masterClrMapping/>
  </p:clrMapOvr>
  <p:transition spd="med">
    <p:fade/>
  </p:transition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8 · 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Visual Dashboard Design for Maintenance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331720"/>
            <a:ext cx="2425446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615059" y="2715768"/>
            <a:ext cx="749808" cy="749808"/>
          </a:xfrm>
          <a:prstGeom prst="ellipse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15059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Name the maintenance decision.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6611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5B4B8A"/>
                </a:solidFill>
                <a:latin typeface="Calibri"/>
              </a:rPr>
              <a:t>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13582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13582" y="2331720"/>
            <a:ext cx="2425446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351401" y="2715768"/>
            <a:ext cx="749808" cy="749808"/>
          </a:xfrm>
          <a:prstGeom prst="ellipse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51401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9886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Choose the measure and comparison.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02452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5B4B8A"/>
                </a:solidFill>
                <a:latin typeface="Calibri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49924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49924" y="2331720"/>
            <a:ext cx="2425446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87743" y="2715768"/>
            <a:ext cx="749808" cy="749808"/>
          </a:xfrm>
          <a:prstGeom prst="ellipse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877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6228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Use an appropriate labelled chart.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3879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5B4B8A"/>
                </a:solidFill>
                <a:latin typeface="Calibri"/>
              </a:rPr>
              <a:t>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86266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86266" y="2331720"/>
            <a:ext cx="2425446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824085" y="2715768"/>
            <a:ext cx="749808" cy="749808"/>
          </a:xfrm>
          <a:prstGeom prst="ellipse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24085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32570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Check meaning and readability.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102</a:t>
            </a:r>
          </a:p>
        </p:txBody>
      </p:sp>
    </p:spTree>
  </p:cSld>
  <p:clrMapOvr>
    <a:masterClrMapping/>
  </p:clrMapOvr>
  <p:transition spd="med">
    <p:fade/>
  </p:transition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8 · HOW TO USE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0">
                <a:solidFill>
                  <a:srgbClr val="21201C"/>
                </a:solidFill>
                <a:latin typeface="Cambria"/>
              </a:rPr>
              <a:t>Apply the Concept — Visual Dashboard Design for Maintenance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5212080" cy="4297680"/>
          </a:xfrm>
          <a:prstGeom prst="roundRect">
            <a:avLst>
              <a:gd name="adj" fmla="val 5106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355080" y="1783080"/>
            <a:ext cx="5056632" cy="4297680"/>
          </a:xfrm>
          <a:prstGeom prst="roundRect">
            <a:avLst>
              <a:gd name="adj" fmla="val 5106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56632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Calibri"/>
              </a:rPr>
              <a:t>PROMPT PRINCIPLES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3A7D7B"/>
                </a:solidFill>
                <a:latin typeface="Calibri"/>
              </a:rPr>
              <a:t>EVIDENCE TO CHECK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Name the source, reporting date and selected scope.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Explain the result using checked evidence.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Site backlog chart excludes Closed and Cancelled.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A category count does not establish the root cause of overdue jobs.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103</a:t>
            </a:r>
          </a:p>
        </p:txBody>
      </p:sp>
    </p:spTree>
  </p:cSld>
  <p:clrMapOvr>
    <a:masterClrMapping/>
  </p:clrMapOvr>
  <p:transition spd="med">
    <p:fade/>
  </p:transition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8 THEME · CUSTOM DASHBOARD SKILL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0">
                <a:solidFill>
                  <a:srgbClr val="21201C"/>
                </a:solidFill>
                <a:latin typeface="Cambria"/>
              </a:rPr>
              <a:t>Build an Interactive Dashboard with a Custom Skill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LAB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31720"/>
            <a:ext cx="10634472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21201C"/>
                </a:solidFill>
                <a:latin typeface="Calibri"/>
              </a:rPr>
              <a:t>Install the water-service-dashboard skill and use it to build an interactive dashboard..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657600"/>
            <a:ext cx="10634472" cy="228600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3657600"/>
            <a:ext cx="64008" cy="2286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822191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libri"/>
              </a:rPr>
              <a:t>You'll build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096512"/>
            <a:ext cx="100584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21201C"/>
                </a:solidFill>
                <a:latin typeface="Cambria"/>
              </a:rPr>
              <a:t>Northstar_Dashboard.xlsx with six KPI tiles, three charts and slicers.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05840" y="4828032"/>
            <a:ext cx="2391156" cy="475488"/>
          </a:xfrm>
          <a:prstGeom prst="rect">
            <a:avLst/>
          </a:prstGeom>
          <a:solidFill>
            <a:srgbClr val="FAF9F5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4882896"/>
            <a:ext cx="2281428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1201C"/>
                </a:solidFill>
                <a:latin typeface="Calibri"/>
              </a:rPr>
              <a:t>1  Ground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61588" y="4828032"/>
            <a:ext cx="2391156" cy="475488"/>
          </a:xfrm>
          <a:prstGeom prst="rect">
            <a:avLst/>
          </a:prstGeom>
          <a:solidFill>
            <a:srgbClr val="FAF9F5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16452" y="4882896"/>
            <a:ext cx="2281428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1201C"/>
                </a:solidFill>
                <a:latin typeface="Calibri"/>
              </a:rPr>
              <a:t>2  Build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17336" y="4828032"/>
            <a:ext cx="2391156" cy="475488"/>
          </a:xfrm>
          <a:prstGeom prst="rect">
            <a:avLst/>
          </a:prstGeom>
          <a:solidFill>
            <a:srgbClr val="FAF9F5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72200" y="4882896"/>
            <a:ext cx="2281428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1201C"/>
                </a:solidFill>
                <a:latin typeface="Calibri"/>
              </a:rPr>
              <a:t>3  Verify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73084" y="4828032"/>
            <a:ext cx="2391156" cy="475488"/>
          </a:xfrm>
          <a:prstGeom prst="rect">
            <a:avLst/>
          </a:prstGeom>
          <a:solidFill>
            <a:srgbClr val="FAF9F5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27948" y="4882896"/>
            <a:ext cx="2281428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1201C"/>
                </a:solidFill>
                <a:latin typeface="Calibri"/>
              </a:rPr>
              <a:t>4  Handoff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5504688"/>
            <a:ext cx="10241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6B6862"/>
                </a:solidFill>
                <a:latin typeface="Calibri"/>
              </a:rPr>
              <a:t>Tools:  </a:t>
            </a:r>
            <a:r>
              <a:rPr sz="1200" b="0">
                <a:solidFill>
                  <a:srgbClr val="6B6862"/>
                </a:solidFill>
                <a:latin typeface="Calibri"/>
              </a:rPr>
              <a:t>Excel Copilot · Microsoft 365 Copilot web · OneDrive (Skills folder only)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104</a:t>
            </a:r>
          </a:p>
        </p:txBody>
      </p:sp>
    </p:spTree>
  </p:cSld>
  <p:clrMapOvr>
    <a:masterClrMapping/>
  </p:clrMapOvr>
  <p:transition spd="med">
    <p:fade/>
  </p:transition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8 · VERIFY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Check Your Results — Lab 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5180076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5180076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Tiles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120; 60; 50; 48; 62.5%; S$35,827.50.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1636" y="1783080"/>
            <a:ext cx="5180076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31636" y="1783080"/>
            <a:ext cx="5180076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Charts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Status, category and site charts each add up to 120; titles state a finding.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087368"/>
            <a:ext cx="5180076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4087368"/>
            <a:ext cx="5180076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Formulas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No typed-in numbers; the source data is unchanged.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105</a:t>
            </a:r>
          </a:p>
        </p:txBody>
      </p:sp>
    </p:spTree>
  </p:cSld>
  <p:clrMapOvr>
    <a:masterClrMapping/>
  </p:clrMapOvr>
  <p:transition spd="med">
    <p:fade/>
  </p:transition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EVIDENCE TO NARRATIVE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A Verified Chart Becomes a Decision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331720"/>
            <a:ext cx="2425446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615059" y="2715768"/>
            <a:ext cx="749808" cy="749808"/>
          </a:xfrm>
          <a:prstGeom prst="ellipse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15059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Observed backlog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6611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5B4B8A"/>
                </a:solidFill>
                <a:latin typeface="Calibri"/>
              </a:rPr>
              <a:t>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13582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13582" y="2331720"/>
            <a:ext cx="2425446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351401" y="2715768"/>
            <a:ext cx="749808" cy="749808"/>
          </a:xfrm>
          <a:prstGeom prst="ellipse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51401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9886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Operational implication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02452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5B4B8A"/>
                </a:solidFill>
                <a:latin typeface="Calibri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49924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49924" y="2331720"/>
            <a:ext cx="2425446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87743" y="2715768"/>
            <a:ext cx="749808" cy="749808"/>
          </a:xfrm>
          <a:prstGeom prst="ellipse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877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6228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Proposed recovery action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3879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5B4B8A"/>
                </a:solidFill>
                <a:latin typeface="Calibri"/>
              </a:rPr>
              <a:t>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86266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86266" y="2331720"/>
            <a:ext cx="2425446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824085" y="2715768"/>
            <a:ext cx="749808" cy="749808"/>
          </a:xfrm>
          <a:prstGeom prst="ellipse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24085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32570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Manager decision requested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106</a:t>
            </a:r>
          </a:p>
        </p:txBody>
      </p:sp>
    </p:spTree>
  </p:cSld>
  <p:clrMapOvr>
    <a:masterClrMapping/>
  </p:clrMapOvr>
  <p:transition spd="med">
    <p:fade/>
  </p:transition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9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One Filter Scope for Every Visual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3422904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5B4B8A"/>
                </a:solidFill>
                <a:latin typeface="Cambria"/>
              </a:rPr>
              <a:t>WHAT IT 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201C"/>
                </a:solidFill>
                <a:latin typeface="Calibri"/>
              </a:rPr>
              <a:t>•  Interactive means a learner-controlled selection changes the evidence shown.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3024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3024" y="1783080"/>
            <a:ext cx="3422904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1624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3A7D7B"/>
                </a:solidFill>
                <a:latin typeface="Cambria"/>
              </a:rPr>
              <a:t>WHY IT MATTERS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1624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201C"/>
                </a:solidFill>
                <a:latin typeface="Calibri"/>
              </a:rPr>
              <a:t>•  A dashboard can appear interactive while only one chart changes.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88808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88808" y="1783080"/>
            <a:ext cx="3422904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17408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5B4B8A"/>
                </a:solidFill>
                <a:latin typeface="Cambria"/>
              </a:rPr>
              <a:t>CHECK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7408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201C"/>
                </a:solidFill>
                <a:latin typeface="Calibri"/>
              </a:rPr>
              <a:t>•  Woodlands Hub in B2 or in the Site slicer gives 24 work orders.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107</a:t>
            </a:r>
          </a:p>
        </p:txBody>
      </p:sp>
    </p:spTree>
  </p:cSld>
  <p:clrMapOvr>
    <a:masterClrMapping/>
  </p:clrMapOvr>
  <p:transition spd="med">
    <p:fade/>
  </p:transition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9 · 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One Filter Scope for Every Visual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331720"/>
            <a:ext cx="2425446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615059" y="2715768"/>
            <a:ext cx="749808" cy="749808"/>
          </a:xfrm>
          <a:prstGeom prst="ellipse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15059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Define the selector cells.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6611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5B4B8A"/>
                </a:solidFill>
                <a:latin typeface="Calibri"/>
              </a:rPr>
              <a:t>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13582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13582" y="2331720"/>
            <a:ext cx="2425446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351401" y="2715768"/>
            <a:ext cx="749808" cy="749808"/>
          </a:xfrm>
          <a:prstGeom prst="ellipse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51401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9886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Apply the same AND mask everywhere.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02452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5B4B8A"/>
                </a:solidFill>
                <a:latin typeface="Calibri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49924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49924" y="2331720"/>
            <a:ext cx="2425446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87743" y="2715768"/>
            <a:ext cx="749808" cy="749808"/>
          </a:xfrm>
          <a:prstGeom prst="ellipse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877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6228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Test each control and edge case.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3879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5B4B8A"/>
                </a:solidFill>
                <a:latin typeface="Calibri"/>
              </a:rPr>
              <a:t>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86266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86266" y="2331720"/>
            <a:ext cx="2425446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824085" y="2715768"/>
            <a:ext cx="749808" cy="749808"/>
          </a:xfrm>
          <a:prstGeom prst="ellipse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24085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32570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Reconcile selected chart and KPI totals.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108</a:t>
            </a:r>
          </a:p>
        </p:txBody>
      </p:sp>
    </p:spTree>
  </p:cSld>
  <p:clrMapOvr>
    <a:masterClrMapping/>
  </p:clrMapOvr>
  <p:transition spd="med">
    <p:fade/>
  </p:transition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9 · HOW TO USE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0">
                <a:solidFill>
                  <a:srgbClr val="21201C"/>
                </a:solidFill>
                <a:latin typeface="Cambria"/>
              </a:rPr>
              <a:t>Apply the Concept — One Filter Scope for Every Visual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5212080" cy="4297680"/>
          </a:xfrm>
          <a:prstGeom prst="roundRect">
            <a:avLst>
              <a:gd name="adj" fmla="val 5106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355080" y="1783080"/>
            <a:ext cx="5056632" cy="4297680"/>
          </a:xfrm>
          <a:prstGeom prst="roundRect">
            <a:avLst>
              <a:gd name="adj" fmla="val 5106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56632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Calibri"/>
              </a:rPr>
              <a:t>PROMPT PRINCIPLES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3A7D7B"/>
                </a:solidFill>
                <a:latin typeface="Calibri"/>
              </a:rPr>
              <a:t>EVIDENCE TO CHECK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Name the source, reporting date and selected scope.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Explain the result using checked evidence.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Status New gives zero Closed and an N/A closure rate.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D3 warns while any slicer hides source rows.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109</a:t>
            </a:r>
          </a:p>
        </p:txBody>
      </p:sp>
    </p:spTree>
  </p:cSld>
  <p:clrMapOvr>
    <a:masterClrMapping/>
  </p:clrMapOvr>
  <p:transition spd="med">
    <p:fade/>
  </p:transition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9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Refresh Tests and Static Snapshots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3422904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5B4B8A"/>
                </a:solidFill>
                <a:latin typeface="Cambria"/>
              </a:rPr>
              <a:t>WHAT IT 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201C"/>
                </a:solidFill>
                <a:latin typeface="Calibri"/>
              </a:rPr>
              <a:t>•  A refresh test deliberately introduces known new records and verifies the expected delta.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3024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3024" y="1783080"/>
            <a:ext cx="3422904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1624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3A7D7B"/>
                </a:solidFill>
                <a:latin typeface="Cambria"/>
              </a:rPr>
              <a:t>WHY IT MATTERS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1624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201C"/>
                </a:solidFill>
                <a:latin typeface="Calibri"/>
              </a:rPr>
              <a:t>•  A correct dashboard today may fail after the next export if formulas reference a fixed cell range.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88808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88808" y="1783080"/>
            <a:ext cx="3422904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17408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5B4B8A"/>
                </a:solidFill>
                <a:latin typeface="Cambria"/>
              </a:rPr>
              <a:t>CHECK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7408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201C"/>
                </a:solidFill>
                <a:latin typeface="Calibri"/>
              </a:rPr>
              <a:t>•  Two test rows increase total by2 and recorded cost byS$400.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110</a:t>
            </a:r>
          </a:p>
        </p:txBody>
      </p:sp>
    </p:spTree>
  </p:cSld>
  <p:clrMapOvr>
    <a:masterClrMapping/>
  </p:clrMapOvr>
  <p:transition spd="med">
    <p:fade/>
  </p:transition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9 · 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Refresh Tests and Static Snapshots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331720"/>
            <a:ext cx="2425446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615059" y="2715768"/>
            <a:ext cx="749808" cy="749808"/>
          </a:xfrm>
          <a:prstGeom prst="ellipse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15059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Save an isolated sandbox copy.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6611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5B4B8A"/>
                </a:solidFill>
                <a:latin typeface="Calibri"/>
              </a:rPr>
              <a:t>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13582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13582" y="2331720"/>
            <a:ext cx="2425446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351401" y="2715768"/>
            <a:ext cx="749808" cy="749808"/>
          </a:xfrm>
          <a:prstGeom prst="ellipse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51401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9886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Append known unique test rows.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02452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5B4B8A"/>
                </a:solidFill>
                <a:latin typeface="Calibri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49924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49924" y="2331720"/>
            <a:ext cx="2425446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87743" y="2715768"/>
            <a:ext cx="749808" cy="749808"/>
          </a:xfrm>
          <a:prstGeom prst="ellipse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877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6228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Recalculate and verify expected deltas.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3879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5B4B8A"/>
                </a:solidFill>
                <a:latin typeface="Calibri"/>
              </a:rPr>
              <a:t>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86266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86266" y="2331720"/>
            <a:ext cx="2425446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824085" y="2715768"/>
            <a:ext cx="749808" cy="749808"/>
          </a:xfrm>
          <a:prstGeom prst="ellipse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24085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32570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Handoff the untouched baseline.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111</a:t>
            </a:r>
          </a:p>
        </p:txBody>
      </p:sp>
    </p:spTree>
  </p:cSld>
  <p:clrMapOvr>
    <a:masterClrMapping/>
  </p:clrMapOvr>
  <p:transition spd="med">
    <p:fade/>
  </p:transition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9 · HOW TO USE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0">
                <a:solidFill>
                  <a:srgbClr val="21201C"/>
                </a:solidFill>
                <a:latin typeface="Cambria"/>
              </a:rPr>
              <a:t>Apply the Concept — Refresh Tests and Static Snapshots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5212080" cy="4297680"/>
          </a:xfrm>
          <a:prstGeom prst="roundRect">
            <a:avLst>
              <a:gd name="adj" fmla="val 5106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355080" y="1783080"/>
            <a:ext cx="5056632" cy="4297680"/>
          </a:xfrm>
          <a:prstGeom prst="roundRect">
            <a:avLst>
              <a:gd name="adj" fmla="val 5106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56632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Calibri"/>
              </a:rPr>
              <a:t>PROMPT PRINCIPLES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3A7D7B"/>
                </a:solidFill>
                <a:latin typeface="Calibri"/>
              </a:rPr>
              <a:t>EVIDENCE TO CHECK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Name the source, reporting date and selected scope.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Explain the result using checked evidence.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Only one new row adds to backlog/overdue; the other adds to on-time Closed.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The final deck uses the untouched 120-row baseline, not the test copy.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112</a:t>
            </a:r>
          </a:p>
        </p:txBody>
      </p:sp>
    </p:spTree>
  </p:cSld>
  <p:clrMapOvr>
    <a:masterClrMapping/>
  </p:clrMapOvr>
  <p:transition spd="med">
    <p:fade/>
  </p:transition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9 THEME · INTERACTIVE FILTERS AND REFRESH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Test Dashboard Filters and a Data Refresh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LAB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31720"/>
            <a:ext cx="10634472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21201C"/>
                </a:solidFill>
                <a:latin typeface="Calibri"/>
              </a:rPr>
              <a:t>Test a finished dashboard: filter it with slicers, check an empty result, then add two rows and watch every number update..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657600"/>
            <a:ext cx="10634472" cy="228600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3657600"/>
            <a:ext cx="64008" cy="2286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822191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libri"/>
              </a:rPr>
              <a:t>You'll build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096512"/>
            <a:ext cx="100584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21201C"/>
                </a:solidFill>
                <a:latin typeface="Cambria"/>
              </a:rPr>
              <a:t>Northstar_Refresh_Test.xlsx with the dashboard updated to 122 work orders.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05840" y="4828032"/>
            <a:ext cx="2391156" cy="475488"/>
          </a:xfrm>
          <a:prstGeom prst="rect">
            <a:avLst/>
          </a:prstGeom>
          <a:solidFill>
            <a:srgbClr val="FAF9F5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4882896"/>
            <a:ext cx="2281428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1201C"/>
                </a:solidFill>
                <a:latin typeface="Calibri"/>
              </a:rPr>
              <a:t>1  Ground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61588" y="4828032"/>
            <a:ext cx="2391156" cy="475488"/>
          </a:xfrm>
          <a:prstGeom prst="rect">
            <a:avLst/>
          </a:prstGeom>
          <a:solidFill>
            <a:srgbClr val="FAF9F5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16452" y="4882896"/>
            <a:ext cx="2281428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1201C"/>
                </a:solidFill>
                <a:latin typeface="Calibri"/>
              </a:rPr>
              <a:t>2  Build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17336" y="4828032"/>
            <a:ext cx="2391156" cy="475488"/>
          </a:xfrm>
          <a:prstGeom prst="rect">
            <a:avLst/>
          </a:prstGeom>
          <a:solidFill>
            <a:srgbClr val="FAF9F5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72200" y="4882896"/>
            <a:ext cx="2281428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1201C"/>
                </a:solidFill>
                <a:latin typeface="Calibri"/>
              </a:rPr>
              <a:t>3  Verify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73084" y="4828032"/>
            <a:ext cx="2391156" cy="475488"/>
          </a:xfrm>
          <a:prstGeom prst="rect">
            <a:avLst/>
          </a:prstGeom>
          <a:solidFill>
            <a:srgbClr val="FAF9F5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27948" y="4882896"/>
            <a:ext cx="2281428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1201C"/>
                </a:solidFill>
                <a:latin typeface="Calibri"/>
              </a:rPr>
              <a:t>4  Handoff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5504688"/>
            <a:ext cx="10241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6B6862"/>
                </a:solidFill>
                <a:latin typeface="Calibri"/>
              </a:rPr>
              <a:t>Tools:  </a:t>
            </a:r>
            <a:r>
              <a:rPr sz="1200" b="0">
                <a:solidFill>
                  <a:srgbClr val="6B6862"/>
                </a:solidFill>
                <a:latin typeface="Calibri"/>
              </a:rPr>
              <a:t>Excel Copilot · Microsoft 365 Copilot web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113</a:t>
            </a:r>
          </a:p>
        </p:txBody>
      </p:sp>
    </p:spTree>
  </p:cSld>
  <p:clrMapOvr>
    <a:masterClrMapping/>
  </p:clrMapOvr>
  <p:transition spd="med">
    <p:fade/>
  </p:transition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9 · VERIFY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Check Your Results — Lab 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5180076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5180076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Slicer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Woodlands Hub: 24 total, 8 backlog, 7 overdue, 16 closed, 10 of 16 on time, S$6,668.50.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1636" y="1783080"/>
            <a:ext cx="5180076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31636" y="1783080"/>
            <a:ext cx="5180076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Empty result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Status New: on-time rate N/A.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087368"/>
            <a:ext cx="5180076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4087368"/>
            <a:ext cx="5180076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Refresh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122 total, 49 closed, 61 backlog, 51 overdue, S$36,227.50.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114</a:t>
            </a:r>
          </a:p>
        </p:txBody>
      </p:sp>
    </p:spTree>
  </p:cSld>
  <p:clrMapOvr>
    <a:masterClrMapping/>
  </p:clrMapOvr>
  <p:transition spd="med">
    <p:fade/>
  </p:transition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TOPIC RECAP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0">
                <a:solidFill>
                  <a:srgbClr val="21201C"/>
                </a:solidFill>
                <a:latin typeface="Cambria"/>
              </a:rPr>
              <a:t>Recap - Interactive Dashboards with Custom Skills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828800"/>
            <a:ext cx="10634472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828800"/>
            <a:ext cx="10634472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60120" y="2688336"/>
            <a:ext cx="347472" cy="3474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706624"/>
            <a:ext cx="347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53896" y="1901952"/>
            <a:ext cx="9738360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21201C"/>
                </a:solidFill>
                <a:latin typeface="Calibri"/>
              </a:rPr>
              <a:t>LO3: Six KPI tiles and three charts follow four dropdowns and slicers.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4059936"/>
            <a:ext cx="10634472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4059936"/>
            <a:ext cx="10634472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0120" y="4919472"/>
            <a:ext cx="347472" cy="3474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937760"/>
            <a:ext cx="347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53896" y="4133088"/>
            <a:ext cx="9738360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21201C"/>
                </a:solidFill>
                <a:latin typeface="Calibri"/>
              </a:rPr>
              <a:t>Verify: Baseline controls and known refresh deltas.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115</a:t>
            </a:r>
          </a:p>
        </p:txBody>
      </p:sp>
    </p:spTree>
  </p:cSld>
  <p:clrMapOvr>
    <a:masterClrMapping/>
  </p:clrMapOvr>
  <p:transition spd="med">
    <p:fade/>
  </p:transition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201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1463040"/>
            <a:ext cx="4206240" cy="420624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4023360"/>
            <a:ext cx="3108960" cy="310896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74519"/>
            <a:ext cx="84124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libri"/>
              </a:rPr>
              <a:t>TOPIC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286000"/>
            <a:ext cx="8595360" cy="1737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0">
                <a:solidFill>
                  <a:srgbClr val="FFFFFF"/>
                </a:solidFill>
                <a:latin typeface="Cambria"/>
              </a:rPr>
              <a:t>Create a Professional Presentation with PowerPoint Copilot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4206240"/>
            <a:ext cx="1143000" cy="64008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434840"/>
            <a:ext cx="8412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B9B4A9"/>
                </a:solidFill>
                <a:latin typeface="Calibri"/>
              </a:rPr>
              <a:t>Continue the dashboard into a decision pack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8A867D"/>
                </a:solidFill>
                <a:latin typeface="Calibri"/>
              </a:rPr>
              <a:t>© IES Academy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8A867D"/>
                </a:solidFill>
                <a:latin typeface="Calibri"/>
              </a:rPr>
              <a:t>GenAI for Engineers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8A867D"/>
                </a:solidFill>
                <a:latin typeface="Calibri"/>
              </a:rPr>
              <a:t>116</a:t>
            </a:r>
          </a:p>
        </p:txBody>
      </p:sp>
    </p:spTree>
  </p:cSld>
  <p:clrMapOvr>
    <a:masterClrMapping/>
  </p:clrMapOvr>
  <p:transition spd="med">
    <p:fade/>
  </p:transition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KEY CONCEPTS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0">
                <a:solidFill>
                  <a:srgbClr val="21201C"/>
                </a:solidFill>
                <a:latin typeface="Cambria"/>
              </a:rPr>
              <a:t>Key Concepts — Create a Professional Presentation with PowerPoint Copilot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5180076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5180076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21201C"/>
                </a:solidFill>
                <a:latin typeface="Cambria"/>
              </a:rPr>
              <a:t>Evidence story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6B6862"/>
                </a:solidFill>
                <a:latin typeface="Calibri"/>
              </a:rPr>
              <a:t>Observation, implication, action and decision.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1636" y="1783080"/>
            <a:ext cx="5180076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31636" y="1783080"/>
            <a:ext cx="5180076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21201C"/>
                </a:solidFill>
                <a:latin typeface="Cambria"/>
              </a:rPr>
              <a:t>Charts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6B6862"/>
                </a:solidFill>
                <a:latin typeface="Calibri"/>
              </a:rPr>
              <a:t>Reviewed values, provenance and snapshot date.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087368"/>
            <a:ext cx="5180076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4087368"/>
            <a:ext cx="5180076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21201C"/>
                </a:solidFill>
                <a:latin typeface="Cambria"/>
              </a:rPr>
              <a:t>Refinement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6B6862"/>
                </a:solidFill>
                <a:latin typeface="Calibri"/>
              </a:rPr>
              <a:t>Hierarchy, notes and actual rehearsal feedback.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1636" y="4087368"/>
            <a:ext cx="5180076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31636" y="4087368"/>
            <a:ext cx="5180076" cy="64008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C26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21201C"/>
                </a:solidFill>
                <a:latin typeface="Cambria"/>
              </a:rPr>
              <a:t>Handoff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6B6862"/>
                </a:solidFill>
                <a:latin typeface="Calibri"/>
              </a:rPr>
              <a:t>Reconciled pack and unsent communication.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117</a:t>
            </a:r>
          </a:p>
        </p:txBody>
      </p:sp>
    </p:spTree>
  </p:cSld>
  <p:clrMapOvr>
    <a:masterClrMapping/>
  </p:clrMapOvr>
  <p:transition spd="med">
    <p:fade/>
  </p:transition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WHAT YOU'LL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0">
                <a:solidFill>
                  <a:srgbClr val="21201C"/>
                </a:solidFill>
                <a:latin typeface="Cambria"/>
              </a:rPr>
              <a:t>Hands-On Labs — Create a Professional Presentation with PowerPoint Copilot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5225796" cy="4297680"/>
          </a:xfrm>
          <a:prstGeom prst="roundRect">
            <a:avLst>
              <a:gd name="adj" fmla="val 5106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5225796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11680"/>
            <a:ext cx="4814316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D97757"/>
                </a:solidFill>
                <a:latin typeface="Cambria"/>
              </a:rPr>
              <a:t>Lab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4814316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1">
                <a:solidFill>
                  <a:srgbClr val="21201C"/>
                </a:solidFill>
                <a:latin typeface="Calibri"/>
              </a:rPr>
              <a:t>•  Dashboard to presentation</a:t>
            </a:r>
          </a:p>
          <a:p>
            <a:pPr>
              <a:spcAft>
                <a:spcPts val="9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–  Turn Dashboard Evidence into a Management Story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5916" y="1783080"/>
            <a:ext cx="5225796" cy="4297680"/>
          </a:xfrm>
          <a:prstGeom prst="roundRect">
            <a:avLst>
              <a:gd name="adj" fmla="val 5106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85916" y="1783080"/>
            <a:ext cx="5225796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4516" y="2011680"/>
            <a:ext cx="4814316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3A7D7B"/>
                </a:solidFill>
                <a:latin typeface="Cambria"/>
              </a:rPr>
              <a:t>Lab 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4516" y="2697480"/>
            <a:ext cx="4814316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1">
                <a:solidFill>
                  <a:srgbClr val="21201C"/>
                </a:solidFill>
                <a:latin typeface="Calibri"/>
              </a:rPr>
              <a:t>•  Professional handoff</a:t>
            </a:r>
          </a:p>
          <a:p>
            <a:pPr>
              <a:spcAft>
                <a:spcPts val="9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–  Refine and Present the Maintenance Decision Deck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118</a:t>
            </a:r>
          </a:p>
        </p:txBody>
      </p:sp>
    </p:spTree>
  </p:cSld>
  <p:clrMapOvr>
    <a:masterClrMapping/>
  </p:clrMapOvr>
  <p:transition spd="med">
    <p:fade/>
  </p:transition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ARTIFACT LIFECYCLE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The Maintenance Reporting Handoff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331720"/>
            <a:ext cx="2425446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615059" y="2715768"/>
            <a:ext cx="749808" cy="749808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15059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Interactive workbook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6611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libri"/>
              </a:rPr>
              <a:t>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13582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13582" y="2331720"/>
            <a:ext cx="2425446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351401" y="2715768"/>
            <a:ext cx="749808" cy="749808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51401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9886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Dated Word evidence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02452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libri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49924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49924" y="2331720"/>
            <a:ext cx="2425446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87743" y="2715768"/>
            <a:ext cx="749808" cy="749808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877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6228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Static PPTX + PDF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3879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libri"/>
              </a:rPr>
              <a:t>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86266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86266" y="2331720"/>
            <a:ext cx="2425446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824085" y="2715768"/>
            <a:ext cx="749808" cy="749808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24085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32570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Reviewed unsent email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119</a:t>
            </a:r>
          </a:p>
        </p:txBody>
      </p:sp>
    </p:spTree>
  </p:cSld>
  <p:clrMapOvr>
    <a:masterClrMapping/>
  </p:clrMapOvr>
  <p:transition spd="med">
    <p:fade/>
  </p:transition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10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From Dashboard Evidence to a Decision Story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3422904" cy="64008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C2603F"/>
                </a:solidFill>
                <a:latin typeface="Cambria"/>
              </a:rPr>
              <a:t>WHAT IT 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201C"/>
                </a:solidFill>
                <a:latin typeface="Calibri"/>
              </a:rPr>
              <a:t>•  A management presentation transforms evidence into a sequence of observations, implications, proposed actions and a decision request.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3024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3024" y="1783080"/>
            <a:ext cx="3422904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1624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3A7D7B"/>
                </a:solidFill>
                <a:latin typeface="Cambria"/>
              </a:rPr>
              <a:t>WHY IT MATTERS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1624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201C"/>
                </a:solidFill>
                <a:latin typeface="Calibri"/>
              </a:rPr>
              <a:t>•  Copilot can accelerate outlines and drafting, but a persuasive invented conclusion is still wrong.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88808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88808" y="1783080"/>
            <a:ext cx="3422904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17408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5B4B8A"/>
                </a:solidFill>
                <a:latin typeface="Cambria"/>
              </a:rPr>
              <a:t>CHECK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7408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201C"/>
                </a:solidFill>
                <a:latin typeface="Calibri"/>
              </a:rPr>
              <a:t>•  Backlog by site supports prioritisation, not a proven cause.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120</a:t>
            </a:r>
          </a:p>
        </p:txBody>
      </p:sp>
    </p:spTree>
  </p:cSld>
  <p:clrMapOvr>
    <a:masterClrMapping/>
  </p:clrMapOvr>
  <p:transition spd="med">
    <p:fade/>
  </p:transition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10 · 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From Dashboard Evidence to a Decision Story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331720"/>
            <a:ext cx="2425446" cy="64008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615059" y="2715768"/>
            <a:ext cx="749808" cy="749808"/>
          </a:xfrm>
          <a:prstGeom prst="ellipse">
            <a:avLst/>
          </a:prstGeom>
          <a:solidFill>
            <a:srgbClr val="C26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15059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Freeze the verified dashboard snapshot.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6611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C2603F"/>
                </a:solidFill>
                <a:latin typeface="Calibri"/>
              </a:rPr>
              <a:t>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13582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13582" y="2331720"/>
            <a:ext cx="2425446" cy="64008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351401" y="2715768"/>
            <a:ext cx="749808" cy="749808"/>
          </a:xfrm>
          <a:prstGeom prst="ellipse">
            <a:avLst/>
          </a:prstGeom>
          <a:solidFill>
            <a:srgbClr val="C26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51401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9886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Register each proposed claim.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02452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C2603F"/>
                </a:solidFill>
                <a:latin typeface="Calibri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49924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49924" y="2331720"/>
            <a:ext cx="2425446" cy="64008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87743" y="2715768"/>
            <a:ext cx="749808" cy="749808"/>
          </a:xfrm>
          <a:prstGeom prst="ellipse">
            <a:avLst/>
          </a:prstGeom>
          <a:solidFill>
            <a:srgbClr val="C26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877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6228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Write a reviewed Word brief.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3879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C2603F"/>
                </a:solidFill>
                <a:latin typeface="Calibri"/>
              </a:rPr>
              <a:t>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86266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86266" y="2331720"/>
            <a:ext cx="2425446" cy="64008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824085" y="2715768"/>
            <a:ext cx="749808" cy="749808"/>
          </a:xfrm>
          <a:prstGeom prst="ellipse">
            <a:avLst/>
          </a:prstGeom>
          <a:solidFill>
            <a:srgbClr val="C26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24085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32570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Generate and reconcile the deck.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121</a:t>
            </a:r>
          </a:p>
        </p:txBody>
      </p:sp>
    </p:spTree>
  </p:cSld>
  <p:clrMapOvr>
    <a:masterClrMapping/>
  </p:clrMapOvr>
  <p:transition spd="med">
    <p:fade/>
  </p:transition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10 · HOW TO USE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0">
                <a:solidFill>
                  <a:srgbClr val="21201C"/>
                </a:solidFill>
                <a:latin typeface="Cambria"/>
              </a:rPr>
              <a:t>Apply the Concept — From Dashboard Evidence to a Decision Story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5212080" cy="4297680"/>
          </a:xfrm>
          <a:prstGeom prst="roundRect">
            <a:avLst>
              <a:gd name="adj" fmla="val 5106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355080" y="1783080"/>
            <a:ext cx="5056632" cy="4297680"/>
          </a:xfrm>
          <a:prstGeom prst="roundRect">
            <a:avLst>
              <a:gd name="adj" fmla="val 5106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56632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Calibri"/>
              </a:rPr>
              <a:t>PROMPT PRINCIPLES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3A7D7B"/>
                </a:solidFill>
                <a:latin typeface="Calibri"/>
              </a:rPr>
              <a:t>EVIDENCE TO CHECK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Name the source, reporting date and selected scope.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Explain the result using checked evidence.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Available-hours evidence supports a capacity discussion, not confirmed allocation.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The final slide asks management to decide on a proposed plan.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122</a:t>
            </a:r>
          </a:p>
        </p:txBody>
      </p:sp>
    </p:spTree>
  </p:cSld>
  <p:clrMapOvr>
    <a:masterClrMapping/>
  </p:clrMapOvr>
  <p:transition spd="med">
    <p:fade/>
  </p:transition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10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Charts, Templates and Source Provenance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3422904" cy="64008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C2603F"/>
                </a:solidFill>
                <a:latin typeface="Cambria"/>
              </a:rPr>
              <a:t>WHAT IT 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201C"/>
                </a:solidFill>
                <a:latin typeface="Calibri"/>
              </a:rPr>
              <a:t>•  A template supplies slide layouts, typography and colours; it does not supply correct facts.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3024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3024" y="1783080"/>
            <a:ext cx="3422904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1624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3A7D7B"/>
                </a:solidFill>
                <a:latin typeface="Cambria"/>
              </a:rPr>
              <a:t>WHY IT MATTERS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1624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201C"/>
                </a:solidFill>
                <a:latin typeface="Calibri"/>
              </a:rPr>
              <a:t>•  Approximate AI-generated charts can contradict source values while looking plausible.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88808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88808" y="1783080"/>
            <a:ext cx="3422904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17408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5B4B8A"/>
                </a:solidFill>
                <a:latin typeface="Cambria"/>
              </a:rPr>
              <a:t>CHECK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7408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201C"/>
                </a:solidFill>
                <a:latin typeface="Calibri"/>
              </a:rPr>
              <a:t>•  An editable embedded chart remains a copy rather than a tested live link.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123</a:t>
            </a:r>
          </a:p>
        </p:txBody>
      </p:sp>
    </p:spTree>
  </p:cSld>
  <p:clrMapOvr>
    <a:masterClrMapping/>
  </p:clrMapOvr>
  <p:transition spd="med">
    <p:fade/>
  </p:transition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10 · 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Charts, Templates and Source Provenance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331720"/>
            <a:ext cx="2425446" cy="64008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615059" y="2715768"/>
            <a:ext cx="749808" cy="749808"/>
          </a:xfrm>
          <a:prstGeom prst="ellipse">
            <a:avLst/>
          </a:prstGeom>
          <a:solidFill>
            <a:srgbClr val="C26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15059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Upload or paste the reviewed brief.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6611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C2603F"/>
                </a:solidFill>
                <a:latin typeface="Calibri"/>
              </a:rPr>
              <a:t>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13582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13582" y="2331720"/>
            <a:ext cx="2425446" cy="64008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351401" y="2715768"/>
            <a:ext cx="749808" cy="749808"/>
          </a:xfrm>
          <a:prstGeom prst="ellipse">
            <a:avLst/>
          </a:prstGeom>
          <a:solidFill>
            <a:srgbClr val="C26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51401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9886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Apply the existing template.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02452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C2603F"/>
                </a:solidFill>
                <a:latin typeface="Calibri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49924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49924" y="2331720"/>
            <a:ext cx="2425446" cy="64008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87743" y="2715768"/>
            <a:ext cx="749808" cy="749808"/>
          </a:xfrm>
          <a:prstGeom prst="ellipse">
            <a:avLst/>
          </a:prstGeom>
          <a:solidFill>
            <a:srgbClr val="C26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877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6228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Insert verified charts or tables.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3879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C2603F"/>
                </a:solidFill>
                <a:latin typeface="Calibri"/>
              </a:rPr>
              <a:t>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86266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86266" y="2331720"/>
            <a:ext cx="2425446" cy="64008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824085" y="2715768"/>
            <a:ext cx="749808" cy="749808"/>
          </a:xfrm>
          <a:prstGeom prst="ellipse">
            <a:avLst/>
          </a:prstGeom>
          <a:solidFill>
            <a:srgbClr val="C26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24085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32570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Record source and snapshot scope.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124</a:t>
            </a:r>
          </a:p>
        </p:txBody>
      </p:sp>
    </p:spTree>
  </p:cSld>
  <p:clrMapOvr>
    <a:masterClrMapping/>
  </p:clrMapOvr>
  <p:transition spd="med">
    <p:fade/>
  </p:transition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10 · HOW TO USE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0">
                <a:solidFill>
                  <a:srgbClr val="21201C"/>
                </a:solidFill>
                <a:latin typeface="Cambria"/>
              </a:rPr>
              <a:t>Apply the Concept — Charts, Templates and Source Provenance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5212080" cy="4297680"/>
          </a:xfrm>
          <a:prstGeom prst="roundRect">
            <a:avLst>
              <a:gd name="adj" fmla="val 5106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355080" y="1783080"/>
            <a:ext cx="5056632" cy="4297680"/>
          </a:xfrm>
          <a:prstGeom prst="roundRect">
            <a:avLst>
              <a:gd name="adj" fmla="val 5106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56632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Calibri"/>
              </a:rPr>
              <a:t>PROMPT PRINCIPLES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3A7D7B"/>
                </a:solidFill>
                <a:latin typeface="Calibri"/>
              </a:rPr>
              <a:t>EVIDENCE TO CHECK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Name the source, reporting date and selected scope.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Explain the result using checked evidence.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An image is labelled as a snapshot at 30 September.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All eight slides use one reviewed baseline.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125</a:t>
            </a:r>
          </a:p>
        </p:txBody>
      </p:sp>
    </p:spTree>
  </p:cSld>
  <p:clrMapOvr>
    <a:masterClrMapping/>
  </p:clrMapOvr>
  <p:transition spd="med">
    <p:fade/>
  </p:transition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10 THEME · DASHBOARD TO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0">
                <a:solidFill>
                  <a:srgbClr val="21201C"/>
                </a:solidFill>
                <a:latin typeface="Cambria"/>
              </a:rPr>
              <a:t>Turn Dashboard Evidence into a Management Story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LAB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31720"/>
            <a:ext cx="10634472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21201C"/>
                </a:solidFill>
                <a:latin typeface="Calibri"/>
              </a:rPr>
              <a:t>Turn the dashboard into a Word presentation brief, then into an 8-slide PowerPoint management deck..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657600"/>
            <a:ext cx="10634472" cy="228600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3657600"/>
            <a:ext cx="64008" cy="2286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822191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libri"/>
              </a:rPr>
              <a:t>You'll build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096512"/>
            <a:ext cx="100584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21201C"/>
                </a:solidFill>
                <a:latin typeface="Cambria"/>
              </a:rPr>
              <a:t>Northstar_Presentation_Brief.docx and an 8-slide Northstar_Management_Draft.pptx.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05840" y="4828032"/>
            <a:ext cx="2391156" cy="475488"/>
          </a:xfrm>
          <a:prstGeom prst="rect">
            <a:avLst/>
          </a:prstGeom>
          <a:solidFill>
            <a:srgbClr val="FAF9F5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4882896"/>
            <a:ext cx="2281428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1201C"/>
                </a:solidFill>
                <a:latin typeface="Calibri"/>
              </a:rPr>
              <a:t>1  Ground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61588" y="4828032"/>
            <a:ext cx="2391156" cy="475488"/>
          </a:xfrm>
          <a:prstGeom prst="rect">
            <a:avLst/>
          </a:prstGeom>
          <a:solidFill>
            <a:srgbClr val="FAF9F5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16452" y="4882896"/>
            <a:ext cx="2281428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1201C"/>
                </a:solidFill>
                <a:latin typeface="Calibri"/>
              </a:rPr>
              <a:t>2  Build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17336" y="4828032"/>
            <a:ext cx="2391156" cy="475488"/>
          </a:xfrm>
          <a:prstGeom prst="rect">
            <a:avLst/>
          </a:prstGeom>
          <a:solidFill>
            <a:srgbClr val="FAF9F5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72200" y="4882896"/>
            <a:ext cx="2281428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1201C"/>
                </a:solidFill>
                <a:latin typeface="Calibri"/>
              </a:rPr>
              <a:t>3  Verify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73084" y="4828032"/>
            <a:ext cx="2391156" cy="475488"/>
          </a:xfrm>
          <a:prstGeom prst="rect">
            <a:avLst/>
          </a:prstGeom>
          <a:solidFill>
            <a:srgbClr val="FAF9F5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27948" y="4882896"/>
            <a:ext cx="2281428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1201C"/>
                </a:solidFill>
                <a:latin typeface="Calibri"/>
              </a:rPr>
              <a:t>4  Handoff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5504688"/>
            <a:ext cx="10241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6B6862"/>
                </a:solidFill>
                <a:latin typeface="Calibri"/>
              </a:rPr>
              <a:t>Tools:  </a:t>
            </a:r>
            <a:r>
              <a:rPr sz="1200" b="0">
                <a:solidFill>
                  <a:srgbClr val="6B6862"/>
                </a:solidFill>
                <a:latin typeface="Calibri"/>
              </a:rPr>
              <a:t>Microsoft 365 Copilot · Excel · Word · PowerPoint · Outlook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126</a:t>
            </a:r>
          </a:p>
        </p:txBody>
      </p:sp>
    </p:spTree>
  </p:cSld>
  <p:clrMapOvr>
    <a:masterClrMapping/>
  </p:clrMapOvr>
  <p:transition spd="med">
    <p:fade/>
  </p:transition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10 · VERIFY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Check Your Results — Lab 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5180076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5180076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Brief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8 slide plans; 120 total, 60 backlog, 50 overdue and 6 unassigned.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1636" y="1783080"/>
            <a:ext cx="5180076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31636" y="1783080"/>
            <a:ext cx="5180076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Deck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8 slides; numbers match the brief; actions labelled proposed.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087368"/>
            <a:ext cx="5180076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4087368"/>
            <a:ext cx="5180076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Chart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The dashboard site chart is on the site backlog slide.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127</a:t>
            </a:r>
          </a:p>
        </p:txBody>
      </p:sp>
    </p:spTree>
  </p:cSld>
  <p:clrMapOvr>
    <a:masterClrMapping/>
  </p:clrMapOvr>
  <p:transition spd="med">
    <p:fade/>
  </p:transition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11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Professional Refinement and Rehearsal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3422904" cy="64008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C2603F"/>
                </a:solidFill>
                <a:latin typeface="Cambria"/>
              </a:rPr>
              <a:t>WHAT IT 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201C"/>
                </a:solidFill>
                <a:latin typeface="Calibri"/>
              </a:rPr>
              <a:t>•  Refinement improves the clarity of the existing evidence without changing its meaning.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3024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3024" y="1783080"/>
            <a:ext cx="3422904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1624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3A7D7B"/>
                </a:solidFill>
                <a:latin typeface="Cambria"/>
              </a:rPr>
              <a:t>WHY IT MATTERS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1624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201C"/>
                </a:solidFill>
                <a:latin typeface="Calibri"/>
              </a:rPr>
              <a:t>•  A well-designed deck can still fail when the speaker’s notes contain different numbers or a proposal is spoken as an approved action.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88808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88808" y="1783080"/>
            <a:ext cx="3422904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17408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5B4B8A"/>
                </a:solidFill>
                <a:latin typeface="Cambria"/>
              </a:rPr>
              <a:t>CHECK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7408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201C"/>
                </a:solidFill>
                <a:latin typeface="Calibri"/>
              </a:rPr>
              <a:t>•  One message per slide; chart labels remain readable.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128</a:t>
            </a:r>
          </a:p>
        </p:txBody>
      </p:sp>
    </p:spTree>
  </p:cSld>
  <p:clrMapOvr>
    <a:masterClrMapping/>
  </p:clrMapOvr>
  <p:transition spd="med">
    <p:fade/>
  </p:transition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11 · 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Professional Refinement and Rehearsal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331720"/>
            <a:ext cx="2425446" cy="64008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615059" y="2715768"/>
            <a:ext cx="749808" cy="749808"/>
          </a:xfrm>
          <a:prstGeom prst="ellipse">
            <a:avLst/>
          </a:prstGeom>
          <a:solidFill>
            <a:srgbClr val="C26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15059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Audit the draft against evidence.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6611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C2603F"/>
                </a:solidFill>
                <a:latin typeface="Calibri"/>
              </a:rPr>
              <a:t>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13582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13582" y="2331720"/>
            <a:ext cx="2425446" cy="64008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351401" y="2715768"/>
            <a:ext cx="749808" cy="749808"/>
          </a:xfrm>
          <a:prstGeom prst="ellipse">
            <a:avLst/>
          </a:prstGeom>
          <a:solidFill>
            <a:srgbClr val="C26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51401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9886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Apply reviewed design changes.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02452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C2603F"/>
                </a:solidFill>
                <a:latin typeface="Calibri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49924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49924" y="2331720"/>
            <a:ext cx="2425446" cy="64008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87743" y="2715768"/>
            <a:ext cx="749808" cy="749808"/>
          </a:xfrm>
          <a:prstGeom prst="ellipse">
            <a:avLst/>
          </a:prstGeom>
          <a:solidFill>
            <a:srgbClr val="C26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877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6228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Rehearse and record actual feedback.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3879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C2603F"/>
                </a:solidFill>
                <a:latin typeface="Calibri"/>
              </a:rPr>
              <a:t>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86266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86266" y="2331720"/>
            <a:ext cx="2425446" cy="64008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824085" y="2715768"/>
            <a:ext cx="749808" cy="749808"/>
          </a:xfrm>
          <a:prstGeom prst="ellipse">
            <a:avLst/>
          </a:prstGeom>
          <a:solidFill>
            <a:srgbClr val="C26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24085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32570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Inspect PPTX and exported PDF.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129</a:t>
            </a:r>
          </a:p>
        </p:txBody>
      </p:sp>
    </p:spTree>
  </p:cSld>
  <p:clrMapOvr>
    <a:masterClrMapping/>
  </p:clrMapOvr>
  <p:transition spd="med">
    <p:fade/>
  </p:transition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11 · HOW TO USE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0">
                <a:solidFill>
                  <a:srgbClr val="21201C"/>
                </a:solidFill>
                <a:latin typeface="Cambria"/>
              </a:rPr>
              <a:t>Apply the Concept — Professional Refinement and Rehearsal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5212080" cy="4297680"/>
          </a:xfrm>
          <a:prstGeom prst="roundRect">
            <a:avLst>
              <a:gd name="adj" fmla="val 5106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355080" y="1783080"/>
            <a:ext cx="5056632" cy="4297680"/>
          </a:xfrm>
          <a:prstGeom prst="roundRect">
            <a:avLst>
              <a:gd name="adj" fmla="val 5106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56632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Calibri"/>
              </a:rPr>
              <a:t>PROMPT PRINCIPLES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3A7D7B"/>
                </a:solidFill>
                <a:latin typeface="Calibri"/>
              </a:rPr>
              <a:t>EVIDENCE TO CHECK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Name the source, reporting date and selected scope.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Explain the result using checked evidence.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A 45-second note explains evidence and limitation.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Partner feedback leads to one recorded revision.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130</a:t>
            </a:r>
          </a:p>
        </p:txBody>
      </p:sp>
    </p:spTree>
  </p:cSld>
  <p:clrMapOvr>
    <a:masterClrMapping/>
  </p:clrMapOvr>
  <p:transition spd="med">
    <p:fade/>
  </p:transition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11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Reviewed Handoff and Artifact Lifecycle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3422904" cy="64008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C2603F"/>
                </a:solidFill>
                <a:latin typeface="Cambria"/>
              </a:rPr>
              <a:t>WHAT IT 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201C"/>
                </a:solidFill>
                <a:latin typeface="Calibri"/>
              </a:rPr>
              <a:t>•  The final pack contains an interactive Excel dashboard, a fixed reporting brief, a static PowerPoint/PDF snapshot, the custom skill and a reviewed communication draft.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3024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3024" y="1783080"/>
            <a:ext cx="3422904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1624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3A7D7B"/>
                </a:solidFill>
                <a:latin typeface="Cambria"/>
              </a:rPr>
              <a:t>WHY IT MATTERS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1624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201C"/>
                </a:solidFill>
                <a:latin typeface="Calibri"/>
              </a:rPr>
              <a:t>•  Updating one artifact without the others creates inconsistent communication.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88808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88808" y="1783080"/>
            <a:ext cx="3422904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17408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5B4B8A"/>
                </a:solidFill>
                <a:latin typeface="Cambria"/>
              </a:rPr>
              <a:t>CHECK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7408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201C"/>
                </a:solidFill>
                <a:latin typeface="Calibri"/>
              </a:rPr>
              <a:t>•  PowerPoint and PDF both show eight slides/pages from the same baseline.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131</a:t>
            </a:r>
          </a:p>
        </p:txBody>
      </p:sp>
    </p:spTree>
  </p:cSld>
  <p:clrMapOvr>
    <a:masterClrMapping/>
  </p:clrMapOvr>
  <p:transition spd="med">
    <p:fade/>
  </p:transition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11 · 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Reviewed Handoff and Artifact Lifecycle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331720"/>
            <a:ext cx="2425446" cy="64008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615059" y="2715768"/>
            <a:ext cx="749808" cy="749808"/>
          </a:xfrm>
          <a:prstGeom prst="ellipse">
            <a:avLst/>
          </a:prstGeom>
          <a:solidFill>
            <a:srgbClr val="C26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15059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Reconcile final artifacts.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6611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C2603F"/>
                </a:solidFill>
                <a:latin typeface="Calibri"/>
              </a:rPr>
              <a:t>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13582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13582" y="2331720"/>
            <a:ext cx="2425446" cy="64008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351401" y="2715768"/>
            <a:ext cx="749808" cy="749808"/>
          </a:xfrm>
          <a:prstGeom prst="ellipse">
            <a:avLst/>
          </a:prstGeom>
          <a:solidFill>
            <a:srgbClr val="C26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51401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9886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Record actual filenames and links.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02452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C2603F"/>
                </a:solidFill>
                <a:latin typeface="Calibri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49924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49924" y="2331720"/>
            <a:ext cx="2425446" cy="64008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87743" y="2715768"/>
            <a:ext cx="749808" cy="749808"/>
          </a:xfrm>
          <a:prstGeom prst="ellipse">
            <a:avLst/>
          </a:prstGeom>
          <a:solidFill>
            <a:srgbClr val="C26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877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6228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Review the handoff draft.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3879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C2603F"/>
                </a:solidFill>
                <a:latin typeface="Calibri"/>
              </a:rPr>
              <a:t>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86266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86266" y="2331720"/>
            <a:ext cx="2425446" cy="64008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824085" y="2715768"/>
            <a:ext cx="749808" cy="749808"/>
          </a:xfrm>
          <a:prstGeom prst="ellipse">
            <a:avLst/>
          </a:prstGeom>
          <a:solidFill>
            <a:srgbClr val="C26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24085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32570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Preserve the dated snapshot and skill.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132</a:t>
            </a:r>
          </a:p>
        </p:txBody>
      </p:sp>
    </p:spTree>
  </p:cSld>
  <p:clrMapOvr>
    <a:masterClrMapping/>
  </p:clrMapOvr>
  <p:transition spd="med">
    <p:fade/>
  </p:transition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11 · HOW TO USE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0">
                <a:solidFill>
                  <a:srgbClr val="21201C"/>
                </a:solidFill>
                <a:latin typeface="Cambria"/>
              </a:rPr>
              <a:t>Apply the Concept — Reviewed Handoff and Artifact Lifecycle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5212080" cy="4297680"/>
          </a:xfrm>
          <a:prstGeom prst="roundRect">
            <a:avLst>
              <a:gd name="adj" fmla="val 5106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355080" y="1783080"/>
            <a:ext cx="5056632" cy="4297680"/>
          </a:xfrm>
          <a:prstGeom prst="roundRect">
            <a:avLst>
              <a:gd name="adj" fmla="val 5106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56632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Calibri"/>
              </a:rPr>
              <a:t>PROMPT PRINCIPLES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3A7D7B"/>
                </a:solidFill>
                <a:latin typeface="Calibri"/>
              </a:rPr>
              <a:t>EVIDENCE TO CHECK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Name the source, reporting date and selected scope.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Explain the result using checked evidence.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Outlook does not claim a missing attachment was sent.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The next update reruns the method with new verified inputs.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133</a:t>
            </a:r>
          </a:p>
        </p:txBody>
      </p:sp>
    </p:spTree>
  </p:cSld>
  <p:clrMapOvr>
    <a:masterClrMapping/>
  </p:clrMapOvr>
  <p:transition spd="med">
    <p:fade/>
  </p:transition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11 THEME · PROFESSIONAL HANDOFF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0">
                <a:solidFill>
                  <a:srgbClr val="21201C"/>
                </a:solidFill>
                <a:latin typeface="Cambria"/>
              </a:rPr>
              <a:t>Refine and Present the Maintenance Decision Deck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LAB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31720"/>
            <a:ext cx="10634472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21201C"/>
                </a:solidFill>
                <a:latin typeface="Calibri"/>
              </a:rPr>
              <a:t>Polish a management deck, rehearse it, save a PDF and draft the handoff email..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657600"/>
            <a:ext cx="10634472" cy="228600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3657600"/>
            <a:ext cx="64008" cy="2286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822191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libri"/>
              </a:rPr>
              <a:t>You'll build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096512"/>
            <a:ext cx="100584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21201C"/>
                </a:solidFill>
                <a:latin typeface="Cambria"/>
              </a:rPr>
              <a:t>Northstar_Management_Final.pptx and .pdf, and an unsent handoff email draft.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05840" y="4828032"/>
            <a:ext cx="2391156" cy="475488"/>
          </a:xfrm>
          <a:prstGeom prst="rect">
            <a:avLst/>
          </a:prstGeom>
          <a:solidFill>
            <a:srgbClr val="FAF9F5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4882896"/>
            <a:ext cx="2281428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1201C"/>
                </a:solidFill>
                <a:latin typeface="Calibri"/>
              </a:rPr>
              <a:t>1  Ground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61588" y="4828032"/>
            <a:ext cx="2391156" cy="475488"/>
          </a:xfrm>
          <a:prstGeom prst="rect">
            <a:avLst/>
          </a:prstGeom>
          <a:solidFill>
            <a:srgbClr val="FAF9F5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16452" y="4882896"/>
            <a:ext cx="2281428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1201C"/>
                </a:solidFill>
                <a:latin typeface="Calibri"/>
              </a:rPr>
              <a:t>2  Build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17336" y="4828032"/>
            <a:ext cx="2391156" cy="475488"/>
          </a:xfrm>
          <a:prstGeom prst="rect">
            <a:avLst/>
          </a:prstGeom>
          <a:solidFill>
            <a:srgbClr val="FAF9F5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72200" y="4882896"/>
            <a:ext cx="2281428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1201C"/>
                </a:solidFill>
                <a:latin typeface="Calibri"/>
              </a:rPr>
              <a:t>3  Verify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73084" y="4828032"/>
            <a:ext cx="2391156" cy="475488"/>
          </a:xfrm>
          <a:prstGeom prst="rect">
            <a:avLst/>
          </a:prstGeom>
          <a:solidFill>
            <a:srgbClr val="FAF9F5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27948" y="4882896"/>
            <a:ext cx="2281428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1201C"/>
                </a:solidFill>
                <a:latin typeface="Calibri"/>
              </a:rPr>
              <a:t>4  Handoff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5504688"/>
            <a:ext cx="10241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6B6862"/>
                </a:solidFill>
                <a:latin typeface="Calibri"/>
              </a:rPr>
              <a:t>Tools:  </a:t>
            </a:r>
            <a:r>
              <a:rPr sz="1200" b="0">
                <a:solidFill>
                  <a:srgbClr val="6B6862"/>
                </a:solidFill>
                <a:latin typeface="Calibri"/>
              </a:rPr>
              <a:t>Microsoft 365 Copilot · Excel · Word · PowerPoint · Outlook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134</a:t>
            </a:r>
          </a:p>
        </p:txBody>
      </p:sp>
    </p:spTree>
  </p:cSld>
  <p:clrMapOvr>
    <a:masterClrMapping/>
  </p:clrMapOvr>
  <p:transition spd="med">
    <p:fade/>
  </p:transition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11 · VERIFY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Check Your Results — Lab 11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5180076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5180076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Deck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8 slides, same numbers, speaker notes added.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1636" y="1783080"/>
            <a:ext cx="5180076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31636" y="1783080"/>
            <a:ext cx="5180076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PDF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8 readable pages.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087368"/>
            <a:ext cx="5180076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4087368"/>
            <a:ext cx="5180076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Email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Two attachments; stays in Drafts; nothing approved.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135</a:t>
            </a:r>
          </a:p>
        </p:txBody>
      </p:sp>
    </p:spTree>
  </p:cSld>
  <p:clrMapOvr>
    <a:masterClrMapping/>
  </p:clrMapOvr>
  <p:transition spd="med">
    <p:fade/>
  </p:transition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TOPIC RECAP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0">
                <a:solidFill>
                  <a:srgbClr val="21201C"/>
                </a:solidFill>
                <a:latin typeface="Cambria"/>
              </a:rPr>
              <a:t>Recap - Create a Professional Presentation with PowerPoint Copilot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828800"/>
            <a:ext cx="10634472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828800"/>
            <a:ext cx="10634472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60120" y="2688336"/>
            <a:ext cx="347472" cy="3474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706624"/>
            <a:ext cx="347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53896" y="1901952"/>
            <a:ext cx="9738360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21201C"/>
                </a:solidFill>
                <a:latin typeface="Calibri"/>
              </a:rPr>
              <a:t>LO4: Eight-slide evidence story and reviewed handoff.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4059936"/>
            <a:ext cx="10634472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4059936"/>
            <a:ext cx="10634472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0120" y="4919472"/>
            <a:ext cx="347472" cy="3474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937760"/>
            <a:ext cx="347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53896" y="4133088"/>
            <a:ext cx="9738360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21201C"/>
                </a:solidFill>
                <a:latin typeface="Calibri"/>
              </a:rPr>
              <a:t>Verify: PDF, notes, register and actual rehearsal agree.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136</a:t>
            </a:r>
          </a:p>
        </p:txBody>
      </p:sp>
    </p:spTree>
  </p:cSld>
  <p:clrMapOvr>
    <a:masterClrMapping/>
  </p:clrMapOvr>
  <p:transition spd="med">
    <p:fade/>
  </p:transition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201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1463040"/>
            <a:ext cx="4206240" cy="420624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4023360"/>
            <a:ext cx="3108960" cy="310896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74519"/>
            <a:ext cx="84124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libri"/>
              </a:rPr>
              <a:t>TOPIC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286000"/>
            <a:ext cx="8595360" cy="1737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0">
                <a:solidFill>
                  <a:srgbClr val="FFFFFF"/>
                </a:solidFill>
                <a:latin typeface="Cambria"/>
              </a:rPr>
              <a:t>Copilot Agents and Mini Capstone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4206240"/>
            <a:ext cx="1143000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434840"/>
            <a:ext cx="8412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B9B4A9"/>
                </a:solidFill>
                <a:latin typeface="Calibri"/>
              </a:rPr>
              <a:t>Build a work-order agent, then apply the whole workflow in groups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8A867D"/>
                </a:solidFill>
                <a:latin typeface="Calibri"/>
              </a:rPr>
              <a:t>© IES Academy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8A867D"/>
                </a:solidFill>
                <a:latin typeface="Calibri"/>
              </a:rPr>
              <a:t>GenAI for Engineers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8A867D"/>
                </a:solidFill>
                <a:latin typeface="Calibri"/>
              </a:rPr>
              <a:t>137</a:t>
            </a:r>
          </a:p>
        </p:txBody>
      </p:sp>
    </p:spTree>
  </p:cSld>
  <p:clrMapOvr>
    <a:masterClrMapping/>
  </p:clrMapOvr>
  <p:transition spd="med">
    <p:fade/>
  </p:transition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KEY CONCEPTS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0">
                <a:solidFill>
                  <a:srgbClr val="21201C"/>
                </a:solidFill>
                <a:latin typeface="Cambria"/>
              </a:rPr>
              <a:t>Key Concepts — Copilot Agents and Mini Capstone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5180076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5180076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21201C"/>
                </a:solidFill>
                <a:latin typeface="Cambria"/>
              </a:rPr>
              <a:t>Agent Builder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6B6862"/>
                </a:solidFill>
                <a:latin typeface="Calibri"/>
              </a:rPr>
              <a:t>Create a specialist Copilot agent without code.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1636" y="1783080"/>
            <a:ext cx="5180076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31636" y="1783080"/>
            <a:ext cx="5180076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21201C"/>
                </a:solidFill>
                <a:latin typeface="Cambria"/>
              </a:rPr>
              <a:t>Knowledge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6B6862"/>
                </a:solidFill>
                <a:latin typeface="Calibri"/>
              </a:rPr>
              <a:t>OneDrive files the agent searches and cites.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087368"/>
            <a:ext cx="5180076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4087368"/>
            <a:ext cx="5180076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21201C"/>
                </a:solidFill>
                <a:latin typeface="Cambria"/>
              </a:rPr>
              <a:t>Instructions &amp; Skills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6B6862"/>
                </a:solidFill>
                <a:latin typeface="Calibri"/>
              </a:rPr>
              <a:t>Role, rules and a reusable work-order Q&amp;A method.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1636" y="4087368"/>
            <a:ext cx="5180076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31636" y="4087368"/>
            <a:ext cx="5180076" cy="64008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C26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21201C"/>
                </a:solidFill>
                <a:latin typeface="Cambria"/>
              </a:rPr>
              <a:t>Mini capstone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6B6862"/>
                </a:solidFill>
                <a:latin typeface="Calibri"/>
              </a:rPr>
              <a:t>Groups turn safe data into a dashboard and decision deck.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138</a:t>
            </a:r>
          </a:p>
        </p:txBody>
      </p:sp>
    </p:spTree>
  </p:cSld>
  <p:clrMapOvr>
    <a:masterClrMapping/>
  </p:clrMapOvr>
  <p:transition spd="med">
    <p:fade/>
  </p:transition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WHAT YOU'LL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0">
                <a:solidFill>
                  <a:srgbClr val="21201C"/>
                </a:solidFill>
                <a:latin typeface="Cambria"/>
              </a:rPr>
              <a:t>Hands-On Labs — Copilot Agents and Mini Capstone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5225796" cy="4297680"/>
          </a:xfrm>
          <a:prstGeom prst="roundRect">
            <a:avLst>
              <a:gd name="adj" fmla="val 5106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5225796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11680"/>
            <a:ext cx="4814316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D97757"/>
                </a:solidFill>
                <a:latin typeface="Cambria"/>
              </a:rPr>
              <a:t>Lab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4814316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1">
                <a:solidFill>
                  <a:srgbClr val="21201C"/>
                </a:solidFill>
                <a:latin typeface="Calibri"/>
              </a:rPr>
              <a:t>•  Copilot Agent Builder</a:t>
            </a:r>
          </a:p>
          <a:p>
            <a:pPr>
              <a:spcAft>
                <a:spcPts val="9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–  Build a Work-Order Agent with Agent Builder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5916" y="1783080"/>
            <a:ext cx="5225796" cy="4297680"/>
          </a:xfrm>
          <a:prstGeom prst="roundRect">
            <a:avLst>
              <a:gd name="adj" fmla="val 5106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85916" y="1783080"/>
            <a:ext cx="5225796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4516" y="2011680"/>
            <a:ext cx="4814316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3A7D7B"/>
                </a:solidFill>
                <a:latin typeface="Cambria"/>
              </a:rPr>
              <a:t>Lab 13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4516" y="2697480"/>
            <a:ext cx="4814316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1">
                <a:solidFill>
                  <a:srgbClr val="21201C"/>
                </a:solidFill>
                <a:latin typeface="Calibri"/>
              </a:rPr>
              <a:t>•  Mini Capstone</a:t>
            </a:r>
          </a:p>
          <a:p>
            <a:pPr>
              <a:spcAft>
                <a:spcPts val="9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–  Mini Capstone: Group Dashboard and Decision Deck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139</a:t>
            </a:r>
          </a:p>
        </p:txBody>
      </p:sp>
    </p:spTree>
  </p:cSld>
  <p:clrMapOvr>
    <a:masterClrMapping/>
  </p:clrMapOvr>
  <p:transition spd="med">
    <p:fade/>
  </p:transition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12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What Is Agent Builder?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3422904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D97757"/>
                </a:solidFill>
                <a:latin typeface="Cambria"/>
              </a:rPr>
              <a:t>WHAT IT 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201C"/>
                </a:solidFill>
                <a:latin typeface="Calibri"/>
              </a:rPr>
              <a:t>•  Agent Builder is the no-code tool in Microsoft Copilot for creating your own specialist agent.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3024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3024" y="1783080"/>
            <a:ext cx="3422904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1624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3A7D7B"/>
                </a:solidFill>
                <a:latin typeface="Cambria"/>
              </a:rPr>
              <a:t>WHY IT MATTERS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1624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201C"/>
                </a:solidFill>
                <a:latin typeface="Calibri"/>
              </a:rPr>
              <a:t>•  An agent packages a recurring job, here answering work-order questions, so colleagues get consistent, grounded and bounded answers without rewriting prompts.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88808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88808" y="1783080"/>
            <a:ext cx="3422904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17408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5B4B8A"/>
                </a:solidFill>
                <a:latin typeface="Cambria"/>
              </a:rPr>
              <a:t>CHECK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7408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201C"/>
                </a:solidFill>
                <a:latin typeface="Calibri"/>
              </a:rPr>
              <a:t>•  Knowledge: the handbook and the clean work-order file from OneDrive.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140</a:t>
            </a:r>
          </a:p>
        </p:txBody>
      </p:sp>
    </p:spTree>
  </p:cSld>
  <p:clrMapOvr>
    <a:masterClrMapping/>
  </p:clrMapOvr>
  <p:transition spd="med">
    <p:fade/>
  </p:transition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12 · AGENT BUILDER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Agent Builder: What You Configure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3361944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3361944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64792" y="1911096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21201C"/>
                </a:solidFill>
                <a:latin typeface="Calibri"/>
              </a:rPr>
              <a:t>Describe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Chat with Agent Builder to draft the agent in plain English.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13504" y="1783080"/>
            <a:ext cx="3361944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13504" y="1783080"/>
            <a:ext cx="3361944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69536" y="2542032"/>
            <a:ext cx="548640" cy="54864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69536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01056" y="1911096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21201C"/>
                </a:solidFill>
                <a:latin typeface="Calibri"/>
              </a:rPr>
              <a:t>Name &amp; description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What the agent is for; shown to people you share it with.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9768" y="1783080"/>
            <a:ext cx="3361944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9768" y="1783080"/>
            <a:ext cx="3361944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305800" y="2542032"/>
            <a:ext cx="548640" cy="548640"/>
          </a:xfrm>
          <a:prstGeom prst="ellipse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05800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37320" y="1911096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21201C"/>
                </a:solidFill>
                <a:latin typeface="Calibri"/>
              </a:rPr>
              <a:t>Instructions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Role, sources, definitions, tone and boundaries (8,000 characters).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4087368"/>
            <a:ext cx="3361944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4087368"/>
            <a:ext cx="3361944" cy="64008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C26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64792" y="4215384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21201C"/>
                </a:solidFill>
                <a:latin typeface="Calibri"/>
              </a:rPr>
              <a:t>Knowledge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OneDrive/SharePoint files, uploads or websites it can search.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13504" y="4087368"/>
            <a:ext cx="3361944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413504" y="4087368"/>
            <a:ext cx="3361944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669536" y="4846320"/>
            <a:ext cx="548640" cy="54864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69536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01056" y="4215384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21201C"/>
                </a:solidFill>
                <a:latin typeface="Calibri"/>
              </a:rPr>
              <a:t>Skills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Reusable SKILL.md packages uploaded as a .zip (preview).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49768" y="4087368"/>
            <a:ext cx="3361944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49768" y="4087368"/>
            <a:ext cx="3361944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305800" y="4846320"/>
            <a:ext cx="548640" cy="54864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05800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37320" y="4215384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21201C"/>
                </a:solidFill>
                <a:latin typeface="Calibri"/>
              </a:rPr>
              <a:t>Try it &amp; share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Test, select Create, then share as Can chat or Can edit.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141</a:t>
            </a:r>
          </a:p>
        </p:txBody>
      </p:sp>
    </p:spTree>
  </p:cSld>
  <p:clrMapOvr>
    <a:masterClrMapping/>
  </p:clrMapOvr>
  <p:transition spd="med">
    <p:fade/>
  </p:transition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12 · 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What Is Agent Builder?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331720"/>
            <a:ext cx="2425446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615059" y="2715768"/>
            <a:ext cx="749808" cy="74980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15059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Describe the agent’s job.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6611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D97757"/>
                </a:solidFill>
                <a:latin typeface="Calibri"/>
              </a:rPr>
              <a:t>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13582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13582" y="2331720"/>
            <a:ext cx="2425446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351401" y="2715768"/>
            <a:ext cx="749808" cy="74980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51401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9886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Configure instructions and knowledge.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02452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D97757"/>
                </a:solidFill>
                <a:latin typeface="Calibri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49924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49924" y="2331720"/>
            <a:ext cx="2425446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87743" y="2715768"/>
            <a:ext cx="749808" cy="74980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877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6228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Add a Skill and starter prompts.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3879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D97757"/>
                </a:solidFill>
                <a:latin typeface="Calibri"/>
              </a:rPr>
              <a:t>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86266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86266" y="2331720"/>
            <a:ext cx="2425446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824085" y="2715768"/>
            <a:ext cx="749808" cy="74980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24085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32570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Test, create and share safely.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142</a:t>
            </a:r>
          </a:p>
        </p:txBody>
      </p:sp>
    </p:spTree>
  </p:cSld>
  <p:clrMapOvr>
    <a:masterClrMapping/>
  </p:clrMapOvr>
  <p:transition spd="med">
    <p:fade/>
  </p:transition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12 · HOW TO USE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Apply the Concept — What Is Agent Builder?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5212080" cy="4297680"/>
          </a:xfrm>
          <a:prstGeom prst="roundRect">
            <a:avLst>
              <a:gd name="adj" fmla="val 5106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355080" y="1783080"/>
            <a:ext cx="5056632" cy="4297680"/>
          </a:xfrm>
          <a:prstGeom prst="roundRect">
            <a:avLst>
              <a:gd name="adj" fmla="val 5106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56632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Calibri"/>
              </a:rPr>
              <a:t>PROMPT PRINCIPLES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3A7D7B"/>
                </a:solidFill>
                <a:latin typeface="Calibri"/>
              </a:rPr>
              <a:t>EVIDENCE TO CHECK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Name the source, reporting date and selected scope.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Explain the result using checked evidence.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Skill: work-order-qa sets definitions, citations and UNKNOWN rules.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Boundary test: the agent refuses to approve a reassignment.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143</a:t>
            </a:r>
          </a:p>
        </p:txBody>
      </p:sp>
    </p:spTree>
  </p:cSld>
  <p:clrMapOvr>
    <a:masterClrMapping/>
  </p:clrMapOvr>
  <p:transition spd="med">
    <p:fade/>
  </p:transition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12 THEME · COPILOT AGENT BUILDER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Build a Work-Order Agent with Agent Builder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LAB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31720"/>
            <a:ext cx="10634472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21201C"/>
                </a:solidFill>
                <a:latin typeface="Calibri"/>
              </a:rPr>
              <a:t>Build a Copilot agent that answers questions about the Northstar work orders, then test its answers and its limits..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657600"/>
            <a:ext cx="10634472" cy="228600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3657600"/>
            <a:ext cx="64008" cy="2286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822191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libri"/>
              </a:rPr>
              <a:t>You'll build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096512"/>
            <a:ext cx="100584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21201C"/>
                </a:solidFill>
                <a:latin typeface="Cambria"/>
              </a:rPr>
              <a:t>A private Northstar Work Order Assistant agent with two knowledge files.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05840" y="4828032"/>
            <a:ext cx="2391156" cy="475488"/>
          </a:xfrm>
          <a:prstGeom prst="rect">
            <a:avLst/>
          </a:prstGeom>
          <a:solidFill>
            <a:srgbClr val="FAF9F5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4882896"/>
            <a:ext cx="2281428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1201C"/>
                </a:solidFill>
                <a:latin typeface="Calibri"/>
              </a:rPr>
              <a:t>1  Describe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61588" y="4828032"/>
            <a:ext cx="2391156" cy="475488"/>
          </a:xfrm>
          <a:prstGeom prst="rect">
            <a:avLst/>
          </a:prstGeom>
          <a:solidFill>
            <a:srgbClr val="FAF9F5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16452" y="4882896"/>
            <a:ext cx="2281428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1201C"/>
                </a:solidFill>
                <a:latin typeface="Calibri"/>
              </a:rPr>
              <a:t>2  Configure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17336" y="4828032"/>
            <a:ext cx="2391156" cy="475488"/>
          </a:xfrm>
          <a:prstGeom prst="rect">
            <a:avLst/>
          </a:prstGeom>
          <a:solidFill>
            <a:srgbClr val="FAF9F5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72200" y="4882896"/>
            <a:ext cx="2281428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1201C"/>
                </a:solidFill>
                <a:latin typeface="Calibri"/>
              </a:rPr>
              <a:t>3  Ground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73084" y="4828032"/>
            <a:ext cx="2391156" cy="475488"/>
          </a:xfrm>
          <a:prstGeom prst="rect">
            <a:avLst/>
          </a:prstGeom>
          <a:solidFill>
            <a:srgbClr val="FAF9F5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27948" y="4882896"/>
            <a:ext cx="2281428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21201C"/>
                </a:solidFill>
                <a:latin typeface="Calibri"/>
              </a:rPr>
              <a:t>4  Test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5504688"/>
            <a:ext cx="10241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6B6862"/>
                </a:solidFill>
                <a:latin typeface="Calibri"/>
              </a:rPr>
              <a:t>Tools:  </a:t>
            </a:r>
            <a:r>
              <a:rPr sz="1200" b="0">
                <a:solidFill>
                  <a:srgbClr val="6B6862"/>
                </a:solidFill>
                <a:latin typeface="Calibri"/>
              </a:rPr>
              <a:t>Microsoft Copilot (copilot.cloud.microsoft) · Agent Builder · OneDrive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144</a:t>
            </a:r>
          </a:p>
        </p:txBody>
      </p:sp>
    </p:spTree>
  </p:cSld>
  <p:clrMapOvr>
    <a:masterClrMapping/>
  </p:clrMapOvr>
  <p:transition spd="med">
    <p:fade/>
  </p:transition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12 · VERIFY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Check Your Results — Lab 12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5180076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5180076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Answers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Backlog 60; overdue 50; a knowledge file is named.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1636" y="1783080"/>
            <a:ext cx="5180076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31636" y="1783080"/>
            <a:ext cx="5180076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Limits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Refuses to approve or change records; phone number UNKNOWN.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087368"/>
            <a:ext cx="5180076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4087368"/>
            <a:ext cx="5180076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Private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The agent is not shared.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145</a:t>
            </a:r>
          </a:p>
        </p:txBody>
      </p:sp>
    </p:spTree>
  </p:cSld>
  <p:clrMapOvr>
    <a:masterClrMapping/>
  </p:clrMapOvr>
  <p:transition spd="med">
    <p:fade/>
  </p:transition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13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Mini Capstone: From Your Data to a Decision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3422904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D97757"/>
                </a:solidFill>
                <a:latin typeface="Cambria"/>
              </a:rPr>
              <a:t>WHAT IT 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201C"/>
                </a:solidFill>
                <a:latin typeface="Calibri"/>
              </a:rPr>
              <a:t>•  The mini capstone applies the whole course to a dataset your group chooses: safe data, workbook .Rules, a dashboard Skill, an interactive dashboard, a verified decision deck and a short showcase.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3024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3024" y="1783080"/>
            <a:ext cx="3422904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1624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3A7D7B"/>
                </a:solidFill>
                <a:latin typeface="Cambria"/>
              </a:rPr>
              <a:t>WHY IT MATTERS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1624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201C"/>
                </a:solidFill>
                <a:latin typeface="Calibri"/>
              </a:rPr>
              <a:t>•  Repeating the workflow on unfamiliar data shows what transfers: definitions written as rules, reusable skills, independent checks and a decision-focused story.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88808" y="1783080"/>
            <a:ext cx="3422904" cy="429768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88808" y="1783080"/>
            <a:ext cx="3422904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17408" y="2011680"/>
            <a:ext cx="301142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5B4B8A"/>
                </a:solidFill>
                <a:latin typeface="Cambria"/>
              </a:rPr>
              <a:t>CHECK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7408" y="2697480"/>
            <a:ext cx="3011424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201C"/>
                </a:solidFill>
                <a:latin typeface="Calibri"/>
              </a:rPr>
              <a:t>•  A 150-row synthetic lift-maintenance table replaces real records.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146</a:t>
            </a:r>
          </a:p>
        </p:txBody>
      </p:sp>
    </p:spTree>
  </p:cSld>
  <p:clrMapOvr>
    <a:masterClrMapping/>
  </p:clrMapOvr>
  <p:transition spd="med">
    <p:fade/>
  </p:transition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13 · 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Mini Capstone: From Your Data to a Decision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331720"/>
            <a:ext cx="2425446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615059" y="2715768"/>
            <a:ext cx="749808" cy="74980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15059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Choose safe data and roles.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6611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D97757"/>
                </a:solidFill>
                <a:latin typeface="Calibri"/>
              </a:rPr>
              <a:t>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13582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13582" y="2331720"/>
            <a:ext cx="2425446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351401" y="2715768"/>
            <a:ext cx="749808" cy="74980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51401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9886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Write .Rules and build with a Skill.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02452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D97757"/>
                </a:solidFill>
                <a:latin typeface="Calibri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49924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49924" y="2331720"/>
            <a:ext cx="2425446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87743" y="2715768"/>
            <a:ext cx="749808" cy="74980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877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6228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Verify KPIs and slicers.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3879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D97757"/>
                </a:solidFill>
                <a:latin typeface="Calibri"/>
              </a:rPr>
              <a:t>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86266" y="2331720"/>
            <a:ext cx="2425446" cy="288036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86266" y="2331720"/>
            <a:ext cx="2425446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824085" y="2715768"/>
            <a:ext cx="749808" cy="74980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24085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32570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Build the deck and showcase.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147</a:t>
            </a:r>
          </a:p>
        </p:txBody>
      </p:sp>
    </p:spTree>
  </p:cSld>
  <p:clrMapOvr>
    <a:masterClrMapping/>
  </p:clrMapOvr>
  <p:transition spd="med">
    <p:fade/>
  </p:transition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13 · HOW TO USE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0">
                <a:solidFill>
                  <a:srgbClr val="21201C"/>
                </a:solidFill>
                <a:latin typeface="Cambria"/>
              </a:rPr>
              <a:t>Apply the Concept — Mini Capstone: From Your Data to a Decision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5212080" cy="4297680"/>
          </a:xfrm>
          <a:prstGeom prst="roundRect">
            <a:avLst>
              <a:gd name="adj" fmla="val 5106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355080" y="1783080"/>
            <a:ext cx="5056632" cy="4297680"/>
          </a:xfrm>
          <a:prstGeom prst="roundRect">
            <a:avLst>
              <a:gd name="adj" fmla="val 5106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56632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Calibri"/>
              </a:rPr>
              <a:t>PROMPT PRINCIPLES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3A7D7B"/>
                </a:solidFill>
                <a:latin typeface="Calibri"/>
              </a:rPr>
              <a:t>EVIDENCE TO CHECK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Name the source, reporting date and selected scope.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Explain the result using checked evidence.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Six KPI tiles reconcile to independent COUNTIFS.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•  A five-slide deck ends with the decision requested.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148</a:t>
            </a:r>
          </a:p>
        </p:txBody>
      </p:sp>
    </p:spTree>
  </p:cSld>
  <p:clrMapOvr>
    <a:masterClrMapping/>
  </p:clrMapOvr>
  <p:transition spd="med">
    <p:fade/>
  </p:transition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13 THEME · MINI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0">
                <a:solidFill>
                  <a:srgbClr val="21201C"/>
                </a:solidFill>
                <a:latin typeface="Cambria"/>
              </a:rPr>
              <a:t>Mini Capstone: Group Dashboard and Decision Deck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LAB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31720"/>
            <a:ext cx="10634472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21201C"/>
                </a:solidFill>
                <a:latin typeface="Calibri"/>
              </a:rPr>
              <a:t>In groups, build a dashboard and a 5-slide decision deck from your own fictional dataset, then present it in three minutes..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657600"/>
            <a:ext cx="10634472" cy="2286000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3657600"/>
            <a:ext cx="64008" cy="2286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822191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libri"/>
              </a:rPr>
              <a:t>You'll build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096512"/>
            <a:ext cx="100584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21201C"/>
                </a:solidFill>
                <a:latin typeface="Cambria"/>
              </a:rPr>
              <a:t>Per group: a dataset, a .Rules sheet, an interactive dashboard, a 5-slide deck and a three-minute showcase.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05840" y="4828032"/>
            <a:ext cx="1880006" cy="475488"/>
          </a:xfrm>
          <a:prstGeom prst="rect">
            <a:avLst/>
          </a:prstGeom>
          <a:solidFill>
            <a:srgbClr val="FAF9F5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4882896"/>
            <a:ext cx="1770278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21201C"/>
                </a:solidFill>
                <a:latin typeface="Calibri"/>
              </a:rPr>
              <a:t>1 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50438" y="4828032"/>
            <a:ext cx="1880006" cy="475488"/>
          </a:xfrm>
          <a:prstGeom prst="rect">
            <a:avLst/>
          </a:prstGeom>
          <a:solidFill>
            <a:srgbClr val="FAF9F5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105302" y="4882896"/>
            <a:ext cx="1770278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21201C"/>
                </a:solidFill>
                <a:latin typeface="Calibri"/>
              </a:rPr>
              <a:t>2  Rules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95036" y="4828032"/>
            <a:ext cx="1880006" cy="475488"/>
          </a:xfrm>
          <a:prstGeom prst="rect">
            <a:avLst/>
          </a:prstGeom>
          <a:solidFill>
            <a:srgbClr val="FAF9F5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49900" y="4882896"/>
            <a:ext cx="1770278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21201C"/>
                </a:solidFill>
                <a:latin typeface="Calibri"/>
              </a:rPr>
              <a:t>3  Dashboard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39634" y="4828032"/>
            <a:ext cx="1880006" cy="475488"/>
          </a:xfrm>
          <a:prstGeom prst="rect">
            <a:avLst/>
          </a:prstGeom>
          <a:solidFill>
            <a:srgbClr val="FAF9F5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94498" y="4882896"/>
            <a:ext cx="1770278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21201C"/>
                </a:solidFill>
                <a:latin typeface="Calibri"/>
              </a:rPr>
              <a:t>4  Deck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84232" y="4828032"/>
            <a:ext cx="1880006" cy="475488"/>
          </a:xfrm>
          <a:prstGeom prst="rect">
            <a:avLst/>
          </a:prstGeom>
          <a:solidFill>
            <a:srgbClr val="FAF9F5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39096" y="4882896"/>
            <a:ext cx="1770278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21201C"/>
                </a:solidFill>
                <a:latin typeface="Calibri"/>
              </a:rPr>
              <a:t>5  Showcase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5504688"/>
            <a:ext cx="10241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6B6862"/>
                </a:solidFill>
                <a:latin typeface="Calibri"/>
              </a:rPr>
              <a:t>Tools:  </a:t>
            </a:r>
            <a:r>
              <a:rPr sz="1200" b="0">
                <a:solidFill>
                  <a:srgbClr val="6B6862"/>
                </a:solidFill>
                <a:latin typeface="Calibri"/>
              </a:rPr>
              <a:t>Excel Copilot · PowerPoint Copilot · Microsoft 365 Copilot web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149</a:t>
            </a:r>
          </a:p>
        </p:txBody>
      </p:sp>
    </p:spTree>
  </p:cSld>
  <p:clrMapOvr>
    <a:masterClrMapping/>
  </p:clrMapOvr>
  <p:transition spd="med">
    <p:fade/>
  </p:transition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LAB 13 · VERIFY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Check Your Results — Lab 13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5180076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5180076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Safe data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Fictional data only.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1636" y="1783080"/>
            <a:ext cx="5180076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31636" y="1783080"/>
            <a:ext cx="5180076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Dashboard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Tiles and charts follow the slicers.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087368"/>
            <a:ext cx="5180076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4087368"/>
            <a:ext cx="5180076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Deck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Numbers match the dashboard; actions labelled proposed.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1636" y="4087368"/>
            <a:ext cx="5180076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31636" y="4087368"/>
            <a:ext cx="5180076" cy="64008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C26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Showcase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Three minutes, one live slicer click.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150</a:t>
            </a:r>
          </a:p>
        </p:txBody>
      </p:sp>
    </p:spTree>
  </p:cSld>
  <p:clrMapOvr>
    <a:masterClrMapping/>
  </p:clrMapOvr>
  <p:transition spd="med">
    <p:fade/>
  </p:transition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TOPIC RECAP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Recap - Copilot Agents and Mini Capstone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828800"/>
            <a:ext cx="10634472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828800"/>
            <a:ext cx="10634472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60120" y="2688336"/>
            <a:ext cx="347472" cy="3474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706624"/>
            <a:ext cx="347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53896" y="1901952"/>
            <a:ext cx="9738360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21201C"/>
                </a:solidFill>
                <a:latin typeface="Calibri"/>
              </a:rPr>
              <a:t>LO5: A grounded work-order agent and a group dashboard and decision deck.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4059936"/>
            <a:ext cx="10634472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4059936"/>
            <a:ext cx="10634472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0120" y="4919472"/>
            <a:ext cx="347472" cy="3474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937760"/>
            <a:ext cx="347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53896" y="4133088"/>
            <a:ext cx="9738360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21201C"/>
                </a:solidFill>
                <a:latin typeface="Calibri"/>
              </a:rPr>
              <a:t>Verify: Agent answers match Control; capstone figures reconcile to the group data.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151</a:t>
            </a:r>
          </a:p>
        </p:txBody>
      </p:sp>
    </p:spTree>
  </p:cSld>
  <p:clrMapOvr>
    <a:masterClrMapping/>
  </p:clrMapOvr>
  <p:transition spd="med">
    <p:fade/>
  </p:transition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201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1463040"/>
            <a:ext cx="4206240" cy="420624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4023360"/>
            <a:ext cx="3108960" cy="310896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74519"/>
            <a:ext cx="84124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libri"/>
              </a:rPr>
              <a:t>WRAP-UP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286000"/>
            <a:ext cx="8595360" cy="1737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0">
                <a:solidFill>
                  <a:srgbClr val="FFFFFF"/>
                </a:solidFill>
                <a:latin typeface="Cambria"/>
              </a:rPr>
              <a:t>Course Summary &amp; Next Steps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4206240"/>
            <a:ext cx="1143000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8A867D"/>
                </a:solidFill>
                <a:latin typeface="Calibri"/>
              </a:rPr>
              <a:t>© IES Academy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8A867D"/>
                </a:solidFill>
                <a:latin typeface="Calibri"/>
              </a:rPr>
              <a:t>GenAI for Engineers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8A867D"/>
                </a:solidFill>
                <a:latin typeface="Calibri"/>
              </a:rPr>
              <a:t>152</a:t>
            </a:r>
          </a:p>
        </p:txBody>
      </p:sp>
    </p:spTree>
  </p:cSld>
  <p:clrMapOvr>
    <a:masterClrMapping/>
  </p:clrMapOvr>
  <p:transition spd="med">
    <p:fade/>
  </p:transition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LEARNING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What You Achieved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5180076" cy="1298448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5180076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Connected Copilot workflow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Integrate Word, Excel, PowerPoint and Outlook Copilot in a coherent maintenance workflow with explicit source grounding and verified prompts.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1636" y="1783080"/>
            <a:ext cx="5180076" cy="1298448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31636" y="1783080"/>
            <a:ext cx="5180076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Reusable maintenance skills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Distinguish account Personalisation, workbook .Rules and reusable Skills; configure, create, apply and verify Pareto and maintenance-reporting Skills using water-service evidence.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3319272"/>
            <a:ext cx="5180076" cy="1298448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3319272"/>
            <a:ext cx="5180076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Interactive dashboard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Create and apply a custom interactive-dashboard Skill with verified measures, shared filter scope, editable charts and controlled refresh and rerun tests.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1636" y="3319272"/>
            <a:ext cx="5180076" cy="1298448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31636" y="3319272"/>
            <a:ext cx="5180076" cy="64008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C26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Professional presentation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Continue from the dashboard to a professional management presentation, with evidence-based headlines, source notes, rehearsal and a reviewed handoff draft.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4855464"/>
            <a:ext cx="5180076" cy="1298448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77240" y="4855464"/>
            <a:ext cx="5180076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Agents and capstone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Build and test a grounded work-order agent with Agent Builder, then apply the full data-to-decision workflow to your own mock or sanitised data in a group capstone.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153</a:t>
            </a:r>
          </a:p>
        </p:txBody>
      </p:sp>
    </p:spTree>
  </p:cSld>
  <p:clrMapOvr>
    <a:masterClrMapping/>
  </p:clrMapOvr>
  <p:transition spd="med">
    <p:fade/>
  </p:transition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Your Next Maintenance Report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828800"/>
            <a:ext cx="10634472" cy="1322832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828800"/>
            <a:ext cx="10634472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60120" y="2316480"/>
            <a:ext cx="347472" cy="3474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334768"/>
            <a:ext cx="347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53896" y="1901952"/>
            <a:ext cx="9738360" cy="1176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21201C"/>
                </a:solidFill>
                <a:latin typeface="Calibri"/>
              </a:rPr>
              <a:t>Use a copy and a new explicit reporting date.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316224"/>
            <a:ext cx="10634472" cy="1322832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316224"/>
            <a:ext cx="10634472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0120" y="3803904"/>
            <a:ext cx="347472" cy="3474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822192"/>
            <a:ext cx="347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53896" y="3389376"/>
            <a:ext cx="9738360" cy="1176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21201C"/>
                </a:solidFill>
                <a:latin typeface="Calibri"/>
              </a:rPr>
              <a:t>Supply verified source/date/scope and test skill reruns.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803648"/>
            <a:ext cx="10634472" cy="1322832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4803648"/>
            <a:ext cx="10634472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60120" y="5291328"/>
            <a:ext cx="347472" cy="3474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5309616"/>
            <a:ext cx="347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53896" y="4876800"/>
            <a:ext cx="9738360" cy="1176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21201C"/>
                </a:solidFill>
                <a:latin typeface="Calibri"/>
              </a:rPr>
              <a:t>Reconcile every claim and decision boundary.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154</a:t>
            </a:r>
          </a:p>
        </p:txBody>
      </p:sp>
    </p:spTree>
  </p:cSld>
  <p:clrMapOvr>
    <a:masterClrMapping/>
  </p:clrMapOvr>
  <p:transition spd="med">
    <p:fade/>
  </p:transition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WRAP-UP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Keep Practising After the Course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828800"/>
            <a:ext cx="5234940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828800"/>
            <a:ext cx="5234940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60120" y="2688336"/>
            <a:ext cx="347472" cy="3474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706624"/>
            <a:ext cx="347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53896" y="1901952"/>
            <a:ext cx="433882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Re-run the labs on your own machine — repetition is what makes the skills stick.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6772" y="1828800"/>
            <a:ext cx="5234940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76772" y="1828800"/>
            <a:ext cx="5234940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359652" y="2688336"/>
            <a:ext cx="347472" cy="3474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9652" y="2706624"/>
            <a:ext cx="347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3428" y="1901952"/>
            <a:ext cx="433882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Apply the techniques to a real process or project in your own organisation.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059936"/>
            <a:ext cx="5234940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4059936"/>
            <a:ext cx="5234940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60120" y="4919472"/>
            <a:ext cx="347472" cy="3474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4937760"/>
            <a:ext cx="347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53896" y="4133088"/>
            <a:ext cx="433882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Keep your downloaded course files; every lab folder has its own starting workbook.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6772" y="4059936"/>
            <a:ext cx="5234940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6772" y="4059936"/>
            <a:ext cx="5234940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59652" y="4919472"/>
            <a:ext cx="347472" cy="3474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9652" y="4937760"/>
            <a:ext cx="347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3428" y="4133088"/>
            <a:ext cx="433882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Keep practising with the IES Academy course materials.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155</a:t>
            </a:r>
          </a:p>
        </p:txBody>
      </p:sp>
    </p:spTree>
  </p:cSld>
  <p:clrMapOvr>
    <a:masterClrMapping/>
  </p:clrMapOvr>
  <p:transition spd="med">
    <p:fade/>
  </p:transition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CLOSING MESSAGE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9270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21201C"/>
                </a:solidFill>
                <a:latin typeface="Cambria"/>
              </a:rPr>
              <a:t>5 Principles of AI Security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3361944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3361944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64792" y="1911096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21201C"/>
                </a:solidFill>
                <a:latin typeface="Calibri"/>
              </a:rPr>
              <a:t>Data control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Share only what the task needs; use synthetic or sanitised data.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13504" y="1783080"/>
            <a:ext cx="3361944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13504" y="1783080"/>
            <a:ext cx="3361944" cy="640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69536" y="2542032"/>
            <a:ext cx="548640" cy="54864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69536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01056" y="1911096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21201C"/>
                </a:solidFill>
                <a:latin typeface="Calibri"/>
              </a:rPr>
              <a:t>Permission control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Least privilege for files, agents, skills and sharing.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9768" y="1783080"/>
            <a:ext cx="3361944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9768" y="1783080"/>
            <a:ext cx="3361944" cy="64008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305800" y="2542032"/>
            <a:ext cx="548640" cy="548640"/>
          </a:xfrm>
          <a:prstGeom prst="ellipse">
            <a:avLst/>
          </a:prstGeom>
          <a:solidFill>
            <a:srgbClr val="5B4B8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05800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37320" y="1911096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21201C"/>
                </a:solidFill>
                <a:latin typeface="Calibri"/>
              </a:rPr>
              <a:t>Human in the loop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Plan, review and approve before edits, emails or decisions.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4087368"/>
            <a:ext cx="3361944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4087368"/>
            <a:ext cx="3361944" cy="64008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C26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64792" y="4215384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21201C"/>
                </a:solidFill>
                <a:latin typeface="Calibri"/>
              </a:rPr>
              <a:t>Traceability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Log prompts, sources, versions and checks for every output.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13504" y="4087368"/>
            <a:ext cx="3361944" cy="2066544"/>
          </a:xfrm>
          <a:prstGeom prst="roundRect">
            <a:avLst>
              <a:gd name="adj" fmla="val 6000"/>
            </a:avLst>
          </a:prstGeom>
          <a:solidFill>
            <a:srgbClr val="FFFFFE"/>
          </a:solidFill>
          <a:ln w="12700">
            <a:solidFill>
              <a:srgbClr val="DCD8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413504" y="4087368"/>
            <a:ext cx="3361944" cy="640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669536" y="4846320"/>
            <a:ext cx="548640" cy="54864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69536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01056" y="4215384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21201C"/>
                </a:solidFill>
                <a:latin typeface="Calibri"/>
              </a:rPr>
              <a:t>Well-tested models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Prefer proven, approved models over the newest release.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IES Academy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GenAI for Engineers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156</a:t>
            </a:r>
          </a:p>
        </p:txBody>
      </p:sp>
    </p:spTree>
  </p:cSld>
  <p:clrMapOvr>
    <a:masterClrMapping/>
  </p:clrMapOvr>
  <p:transition spd="med">
    <p:fade/>
  </p:transition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201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1463040"/>
            <a:ext cx="4206240" cy="420624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4023360"/>
            <a:ext cx="3108960" cy="310896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8412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libri"/>
              </a:rPr>
              <a:t>THANK YOU FOR ATTENDING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331720"/>
            <a:ext cx="850392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Cambria"/>
              </a:rPr>
              <a:t>Thank You!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26280"/>
            <a:ext cx="8412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B9B4A9"/>
                </a:solidFill>
                <a:latin typeface="Calibri"/>
              </a:rPr>
              <a:t>You now have the practical skills from every lab in this course — keep applying them to your own work.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8A867D"/>
                </a:solidFill>
                <a:latin typeface="Calibri"/>
              </a:rPr>
              <a:t>© IES Academy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8A867D"/>
                </a:solidFill>
                <a:latin typeface="Calibri"/>
              </a:rPr>
              <a:t>GenAI for Engineers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8A867D"/>
                </a:solidFill>
                <a:latin typeface="Calibri"/>
              </a:rPr>
              <a:t>157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