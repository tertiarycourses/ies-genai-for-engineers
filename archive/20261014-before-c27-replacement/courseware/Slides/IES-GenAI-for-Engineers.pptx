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19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445"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442" r:id="rId39"/>
    <p:sldId id="443" r:id="rId40"/>
    <p:sldId id="444"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450" r:id="rId202"/>
    <p:sldId id="452" r:id="rId204"/>
    <p:sldId id="306" r:id="rId57"/>
    <p:sldId id="307" r:id="rId58"/>
    <p:sldId id="308" r:id="rId59"/>
    <p:sldId id="451" r:id="rId203"/>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46"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7" r:id="rId194"/>
    <p:sldId id="449" r:id="rId195"/>
    <p:sldId id="448" r:id="rId19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10"/>
  </p:normalViewPr>
  <p:slideViewPr>
    <p:cSldViewPr snapToGrid="0" snapToObjects="1">
      <p:cViewPr varScale="1">
        <p:scale>
          <a:sx n="90" d="100"/>
          <a:sy n="90" d="100"/>
        </p:scale>
        <p:origin x="2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notesMaster" Target="notesMasters/notesMaster1.xml"/><Relationship Id="rId198" Type="http://schemas.openxmlformats.org/officeDocument/2006/relationships/presProps" Target="presProps.xml"/><Relationship Id="rId199" Type="http://schemas.openxmlformats.org/officeDocument/2006/relationships/viewProps" Target="viewProps.xml"/><Relationship Id="rId200" Type="http://schemas.openxmlformats.org/officeDocument/2006/relationships/theme" Target="theme/theme1.xml"/><Relationship Id="rId201" Type="http://schemas.openxmlformats.org/officeDocument/2006/relationships/tableStyles" Target="tableStyles.xml"/><Relationship Id="rId202" Type="http://schemas.openxmlformats.org/officeDocument/2006/relationships/slide" Target="slides/slide55.xml"/><Relationship Id="rId203" Type="http://schemas.openxmlformats.org/officeDocument/2006/relationships/slide" Target="slides/slide196.xml"/><Relationship Id="rId204" Type="http://schemas.openxmlformats.org/officeDocument/2006/relationships/slide" Target="slides/slide19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4501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GenAI for Engineers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exact course outcomes in plain language. The full wording remains in the Learner Guide and Lesson Plan.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LO5–LO7 to the afternoon route: reasoning agents, SharePoint knowledge and a seven-step release review.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breaks at 11:15 and 15:15 and lunch at 13:00. The three guided Excel labs total 65 minutes inside Module 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full-page divider to clearly signal the start of Module 1. Pause, state the module purpose and timing, then advance to the outcomes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briefly. Link each outcome to the activity and evidence learners will produce in this module.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technical model jargon. Use one example: a spreadsheet explanation is a generated draft that still needs checking.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step consumes the most time in participants’ current work. Emphasise that review remains mandatory.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surfaces in the same sequence used during the course. Tool availability depends on the tenant licence.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Copilot Chat · shape the question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Word is useful when document structure and controlled wording matter.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Copilot in Excel · analyse structured data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slide is the final communication layer. Do not move unverified Excel claims into PowerPoint.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privacy and recording policy. Use only approved meeting content.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5. Grounding improves relevance and traceability; it does not make every answer correct.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4. An agent is useful when the same controlled task repeats.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choose the surface for two examples from their own discipline.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values are synthetic classroom data. The skid image is illustrative and the case does not represent a live site.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learner will select one named table or source at a time.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name one decision in their role that cannot be delegated to a draft generator.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these three questions throughout the day. They are the simplest cross-module quality check.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Use paired access or worked examples if a licence issue cannot be resolved within the time box.</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Run the 15-minute challenge from the supplied lesson plan. Do not assess writing style alone; compare evidence discipline.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one example of time saved and one claim that required engineering correction.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Module 2: better prompts reduce rework across every Copilot surface.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full-page divider to clearly signal the start of Module 2. Pause, state the module purpose and timing, then advance to the outcomes slide.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briefly. Link each outcome to the activity and evidence learners will produce in this module.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depend on good source data and verification. Do not promise automatic accuracy.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prompt checklist. RISE and E-MAP organise these principles.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letter before using the acronym. Learners will use the same framework in all three Excel labs.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should shape vocabulary and viewpoint. Human responsibility remains unchanged.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narrow evidence boundary reduces irrelevant or invented material.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order matters, number the steps. A structured sequence also makes agent workflows easier to build later.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prompt without acceptance criteria often produces polished but unreviewable text.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Build one RISE prompt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rewriting the entire prompt after every run. One focused change makes improvement visible.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E-MAP when technical context, calculation basis or operating boundaries matter.</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Engineering context prevents generic answers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identify which denominator applies before any percentage is calculated.</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hidden assumption can turn a correct calculation into a poor engineering conclusion.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Parameters often distinguish engineering prompting from general writing prompts.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do not need to repeat labels mechanically. They must include the information each label represents.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Constraints reduce ambiguity and protect meaning. They do not replace output verification.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sentence a reviewer can actually test. The strong version names observable behaviours.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four-part schema for reports, chart interpretations and agent outputs.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Citations must still be opened and checked against the claim.</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ask for four generic experts. Give each persona one clear review question.</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Multi-persona prompt example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debate improves the result because each role must respond to the other roles’ objections before the synthesis.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Debate prompt example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Trainer-led demonstration from the lesson plan. Learners critique one generated requirement for measurability.</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A finding needs a criterion. If no criterion is supplied, the output should say so.</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Copilot proposes a draft. The responsible organisation applies its approved risk matrix and sign-off process.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management slide focused on one decision. The detailed analysis remains in the workbook or report.</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Module 3: the learner must understand each engineering method before asking Copilot to produce its output.</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full-page divider to clearly signal the start of Module 3. Pause, state the module purpose and timing, then advance to the outcomes slide.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briefly. Link each outcome to the activity and evidence learners will produce in this module.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sequence requested for the course. Each method answers a different question.</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FMEA · what it is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FMEA is proactive. An FMEA row is not automatically an incident record.</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failure mode, effect and cause distinct. The cause shown is a hypothesis unless evidence supports it.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pump row and ask learners to classify each statement.</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high Detection score means difficult to detect. Rating scales and evidence basis must be agreed by the team.</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RPN is ordinal prioritisation. Do not compare across unrelated scoring systems without checking the scales.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why multiplication alone cannot decide acceptability. The course uses Severity 9+ as a review gate.</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FM01 and FM04. Confirm RPN arithmetic and the severity gate. All ratings are synthetic classroom judgements.</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populate residual scores before the action is implemented and verified.</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Copilot as an FMEA facilitator, not a risk approver.</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FMEA prompt · preserve the engineering record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11:45–12:05. Four minutes orient, ten minutes prompt and inspect, six minutes verify and save.</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Six Sigma · what it is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DMAIC is an investigation structure. It does not prove improvement simply because all five headings are filled.</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 problem statement describes the gap without embedding a guessed solution.</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precise denominator is essential when periods have different numbers of opportunities.</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tools support thinking. None proves a cause without evidence.</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delivery and test validity together are about 76% of 93 baseline deviations. Categories describe problems, not proven causes.</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Fishbone is also called Ishikawa. Label branches as hypotheses and attach evidence checks.</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is a guide, not a quota. Each link requires evidence; avoid blame-oriented chains.</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pilot should isolate changes where practical. Two simultaneous changes weaken causal attribution.</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is more than a chart. It defines who watches, when, and what happens when the trigger occurs.</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Percentage-point change differs from relative reduction. Analyst later calculates both.</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is rapid assembly of a reviewable evidence trail, not automatic root-cause discovery.</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DMAIC prompt · facts before hypotheses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3.2 integrates the DMAIC summary, a basic SPC/Cp-Cpk read-out, and a checked Word/PowerPoint report. Use the small DMAIC and SPC workbooks as two practice assets.</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SPC · what it is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eight points form the classroom baseline. T09, T10 and T12 fall below the LCL.</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signal is not a diagnosis. Check measurement validity and operating conditions before acting.</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uses the simplest one-point rule. Additional run rules are appendix reference and require an agreed standard.</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process can be stable but incapable, or unstable while individual results still meet specification.</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 = (USL−LSL)/(6σ). Cpk is the smaller distance from mean to either specification divided by 3σ. Keep this qualitative in class.</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chart left to right. Keep the baseline limits fixed when evaluating monitoring points.</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may choose the wrong standard deviation or recompute rolling limits unless the prompt is explicit.</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SPC prompt · make the baseline explicit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3.3 from the supplied Lesson Plan. Use the document-automation prompts and synthetic CW-401 evidence; the trainer may demonstrate if tenant time is limited.</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full-page divider to clearly signal the start of Module 4. Pause, state the module purpose and timing, then advance to the outcomes slide.</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briefly. Link each outcome to the activity and evidence learners will produce in this module.</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is a reusable configuration, not an autonomous approving engineer.</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task is one-off or poorly defined, start with Copilot Chat and a good prompt.</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addresses LO4: one agent automates a multi-step engineering workflow.</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request a whole workbook when one row is enough for a test.</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missing-Detection test is essential. A safe agent asks instead of inventing.</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preserves supplied ratings. It does not decide the scores.</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Templates reduce formatting variation but can also carry stale requirements; verify revision.</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gate visible in the agent instructions and output template.</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audit record captures enough context to reproduce the result.</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Interface placement varies. Follow the Learner Guide click path and use the prepared screenshots.</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Write narrow agent instructions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sources constrain context but do not override explicit safety and evidence instructions.</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adding unnecessary connectors during a one-day course. The learning outcome is the multi-step logic.</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missing-data test is as important as a successful path.</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broaden access merely because an agent is technically shareable.</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Use the Module 4 paired build from the lesson plan. Keep it within the 75-minute block.</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compare actual behaviour against these criteria.</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agent invents Detection, refine the instruction and rerun.</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This is trainer-led unless time allows paired inspection. It demonstrates the same agent pattern with a different output.</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Each handoff needs a source, owner and status. Do not let uncertainty disappear between stages.</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handoff contract prevents free-form text from silently becoming authoritative records.</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produce drafts. Open citations and reproduce important calculations.</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Use the fictional TR-401 extract so the citation check is safe and repeatable.</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Researcher prompt · technical comparison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Analyst reuses the six-row DMAIC workbook; this is not an additional lab folder.</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Analyst prompt · compare baseline and pilot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Percentage-point change and relative reduction answer different questions.</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Module 5: SharePoint supplies governed organisational knowledge to an agent.</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full-page divider to clearly signal the start of Module 5. Pause, state the module purpose and timing, then advance to the outcomes slide.</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briefly. Link each outcome to the activity and evidence learners will produce in this module.</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improves relevance and traceability. It does not prove the source is current or the interpretation is correct.</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prepared private site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unrelated and duplicate files outside the selected folder.</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names and metadata help people as well as Copilot. Do not rely on AI to infer revision authority.</a:t>
            </a:r>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with an appropriate learner account. Never widen permissions merely to make a demo work.</a:t>
            </a:r>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prepared site may be inspected instead of recreated. Do not change membership during class.</a:t>
            </a:r>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are synthetic. Confirm exact filenames and remove ambiguous duplicates from the scope.</a:t>
            </a:r>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Use the built-in agent action available in the tenant. Interface labels may differ.</a:t>
            </a:r>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Agent instruction · evidence first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correct citation points to a passage that directly supports the claim.</a:t>
            </a:r>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 negative test. “I cannot find it” is the correct result.</a:t>
            </a:r>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agent to distinguish file purposes, not to claim the workbooks prove the same conclusion.</a:t>
            </a:r>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accept a citation that merely points to a related document.</a:t>
            </a:r>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creates the LO6 end-to-end workflow while preserving the human gate.</a:t>
            </a:r>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The knowledge agent and document agent have separate responsibilities.</a:t>
            </a:r>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Module 5 directly to the seven-step security framework in Module 6.</a:t>
            </a:r>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Module 6: decide whether an AI-assisted output may be released.</a:t>
            </a:r>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full-page divider to clearly signal the start of Module 6. Pause, state the module purpose and timing, then advance to the outcomes slide.</a:t>
            </a:r>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briefly. Link each outcome to the activity and evidence learners will produce in this module.</a:t>
            </a:r>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apply every step to the Module 5 SharePoint-agent answer.</a:t>
            </a:r>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organisation’s actual classification policy. The classroom sources are synthetic training data.</a:t>
            </a:r>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the site URL, folder, source filenames and intended audience.</a:t>
            </a:r>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injection can be embedded in grounded documents. The agent should not obey it.</a:t>
            </a:r>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case, verify one workbook calculation and the missing TR-401 limit.</a:t>
            </a:r>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generic “human reviewed” label is insufficient. Record who reviewed what and on which evidence.</a:t>
            </a:r>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organisational retention and privacy rules. Do not retain sensitive content longer than required.</a:t>
            </a:r>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improvise incident handling. Follow the organisation’s established process.</a:t>
            </a:r>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16:15–16:35. Require evidence in all seven rows, then use ten minutes for the personal toolkit.</a:t>
            </a:r>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is based on the full evidence record, not on confidence in fluent wording.</a:t>
            </a:r>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closing: consolidate one reusable workflow for work next week.</a:t>
            </a:r>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final full-course recap.</a:t>
            </a:r>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identify where their evidence is saved.</a:t>
            </a:r>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Productivity means useful, checked output per unit of effort, not simply faster text generation.</a:t>
            </a:r>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Plan aligned activity. Learners consolidate these assets during the final ten minutes of Module 6.</a:t>
            </a:r>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two or three participants to share their next action during Q&amp;A.</a:t>
            </a:r>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Thank you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Quick-reference library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FMEA quick reference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FMEA rating questions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FMEA worked check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DMAIC quick reference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Pareto quick reference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Fishbone quick reference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5-Whys quick reference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SPC quick reference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Control-chart signal rules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Cp and Cpk formulas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RISE quick reference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E-MAP quick reference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Prompt pattern · Word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Prompt pattern · Excel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Prompt pattern · PowerPoint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Prompt pattern · FMEA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Prompt pattern · DMAIC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Prompt pattern · SPC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Researcher quick reference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Analyst quick reference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Agent instruction checklist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SharePoint agent test prompts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Seven-step security checklist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final full-course recap.</a:t>
            </a:r>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Thank you with the CW-401 pump case. Ask learners to state what Copilot can accelerate and what the engineer must verify.</a:t>
            </a:r>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7FAFA"/>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8DF81-D1AA-6DDC-8922-D7CA34D28D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A089C55A-52DC-A42D-4980-F986AB038E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B27BDA79-C363-AC87-F857-F36DB603D3DA}"/>
              </a:ext>
            </a:extLst>
          </p:cNvPr>
          <p:cNvSpPr>
            <a:spLocks noGrp="1"/>
          </p:cNvSpPr>
          <p:nvPr>
            <p:ph type="dt" sz="half" idx="10"/>
          </p:nvPr>
        </p:nvSpPr>
        <p:spPr/>
        <p:txBody>
          <a:bodyPr/>
          <a:lstStyle/>
          <a:p>
            <a:fld id="{9ADA2C41-3153-415B-966B-176771625E83}" type="datetimeFigureOut">
              <a:rPr lang="en-SG" smtClean="0"/>
              <a:t>10/9/2026</a:t>
            </a:fld>
            <a:endParaRPr lang="en-SG"/>
          </a:p>
        </p:txBody>
      </p:sp>
      <p:sp>
        <p:nvSpPr>
          <p:cNvPr id="5" name="Footer Placeholder 4">
            <a:extLst>
              <a:ext uri="{FF2B5EF4-FFF2-40B4-BE49-F238E27FC236}">
                <a16:creationId xmlns:a16="http://schemas.microsoft.com/office/drawing/2014/main" id="{420FADAD-A391-3DE8-93CF-7B0EE32C95C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9AFA408-E7DF-0E91-EEC4-2FE9487D56CA}"/>
              </a:ext>
            </a:extLst>
          </p:cNvPr>
          <p:cNvSpPr>
            <a:spLocks noGrp="1"/>
          </p:cNvSpPr>
          <p:nvPr>
            <p:ph type="sldNum" sz="quarter" idx="12"/>
          </p:nvPr>
        </p:nvSpPr>
        <p:spPr/>
        <p:txBody>
          <a:bodyPr/>
          <a:lstStyle/>
          <a:p>
            <a:fld id="{5C85F957-9929-408E-8915-FF2662F8DEFD}" type="slidenum">
              <a:rPr lang="en-SG" smtClean="0"/>
              <a:t>‹#›</a:t>
            </a:fld>
            <a:endParaRPr lang="en-SG"/>
          </a:p>
        </p:txBody>
      </p:sp>
    </p:spTree>
    <p:extLst>
      <p:ext uri="{BB962C8B-B14F-4D97-AF65-F5344CB8AC3E}">
        <p14:creationId xmlns:p14="http://schemas.microsoft.com/office/powerpoint/2010/main" val="2443451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8DF81-D1AA-6DDC-8922-D7CA34D28D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A089C55A-52DC-A42D-4980-F986AB038E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B27BDA79-C363-AC87-F857-F36DB603D3DA}"/>
              </a:ext>
            </a:extLst>
          </p:cNvPr>
          <p:cNvSpPr>
            <a:spLocks noGrp="1"/>
          </p:cNvSpPr>
          <p:nvPr>
            <p:ph type="dt" sz="half" idx="10"/>
          </p:nvPr>
        </p:nvSpPr>
        <p:spPr/>
        <p:txBody>
          <a:bodyPr/>
          <a:lstStyle/>
          <a:p>
            <a:fld id="{9ADA2C41-3153-415B-966B-176771625E83}" type="datetimeFigureOut">
              <a:rPr lang="en-SG" smtClean="0"/>
              <a:t>10/9/2026</a:t>
            </a:fld>
            <a:endParaRPr lang="en-SG"/>
          </a:p>
        </p:txBody>
      </p:sp>
      <p:sp>
        <p:nvSpPr>
          <p:cNvPr id="5" name="Footer Placeholder 4">
            <a:extLst>
              <a:ext uri="{FF2B5EF4-FFF2-40B4-BE49-F238E27FC236}">
                <a16:creationId xmlns:a16="http://schemas.microsoft.com/office/drawing/2014/main" id="{420FADAD-A391-3DE8-93CF-7B0EE32C95C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9AFA408-E7DF-0E91-EEC4-2FE9487D56CA}"/>
              </a:ext>
            </a:extLst>
          </p:cNvPr>
          <p:cNvSpPr>
            <a:spLocks noGrp="1"/>
          </p:cNvSpPr>
          <p:nvPr>
            <p:ph type="sldNum" sz="quarter" idx="12"/>
          </p:nvPr>
        </p:nvSpPr>
        <p:spPr/>
        <p:txBody>
          <a:bodyPr/>
          <a:lstStyle/>
          <a:p>
            <a:fld id="{5C85F957-9929-408E-8915-FF2662F8DEFD}" type="slidenum">
              <a:rPr lang="en-SG" smtClean="0"/>
              <a:t>‹#›</a:t>
            </a:fld>
            <a:endParaRPr lang="en-SG"/>
          </a:p>
        </p:txBody>
      </p:sp>
    </p:spTree>
    <p:extLst>
      <p:ext uri="{BB962C8B-B14F-4D97-AF65-F5344CB8AC3E}">
        <p14:creationId xmlns:p14="http://schemas.microsoft.com/office/powerpoint/2010/main" val="2550416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14458-8038-CCFC-4963-D538DCDC4544}"/>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2DB4EBFF-B906-DE8B-8B24-044DDB3268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511A060-1A37-AC06-4DDC-2C934FB9B3B7}"/>
              </a:ext>
            </a:extLst>
          </p:cNvPr>
          <p:cNvSpPr>
            <a:spLocks noGrp="1"/>
          </p:cNvSpPr>
          <p:nvPr>
            <p:ph type="dt" sz="half" idx="10"/>
          </p:nvPr>
        </p:nvSpPr>
        <p:spPr/>
        <p:txBody>
          <a:bodyPr/>
          <a:lstStyle/>
          <a:p>
            <a:fld id="{9ADA2C41-3153-415B-966B-176771625E83}" type="datetimeFigureOut">
              <a:rPr lang="en-SG" smtClean="0"/>
              <a:t>10/9/2026</a:t>
            </a:fld>
            <a:endParaRPr lang="en-SG"/>
          </a:p>
        </p:txBody>
      </p:sp>
      <p:sp>
        <p:nvSpPr>
          <p:cNvPr id="5" name="Footer Placeholder 4">
            <a:extLst>
              <a:ext uri="{FF2B5EF4-FFF2-40B4-BE49-F238E27FC236}">
                <a16:creationId xmlns:a16="http://schemas.microsoft.com/office/drawing/2014/main" id="{54DBA7DF-9EFF-B5F6-77DC-8F0D979457D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271B2D5-E9BD-5233-F9A2-B1DC28E33417}"/>
              </a:ext>
            </a:extLst>
          </p:cNvPr>
          <p:cNvSpPr>
            <a:spLocks noGrp="1"/>
          </p:cNvSpPr>
          <p:nvPr>
            <p:ph type="sldNum" sz="quarter" idx="12"/>
          </p:nvPr>
        </p:nvSpPr>
        <p:spPr/>
        <p:txBody>
          <a:bodyPr/>
          <a:lstStyle/>
          <a:p>
            <a:fld id="{5C85F957-9929-408E-8915-FF2662F8DEFD}" type="slidenum">
              <a:rPr lang="en-SG" smtClean="0"/>
              <a:t>‹#›</a:t>
            </a:fld>
            <a:endParaRPr lang="en-SG"/>
          </a:p>
        </p:txBody>
      </p:sp>
    </p:spTree>
    <p:extLst>
      <p:ext uri="{BB962C8B-B14F-4D97-AF65-F5344CB8AC3E}">
        <p14:creationId xmlns:p14="http://schemas.microsoft.com/office/powerpoint/2010/main" val="2257846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02579-39CC-7216-FF0E-44A4FB1E8B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AE5E379F-F629-3F61-9763-94ED3B6ABE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53736B-D9E0-B115-8907-9F782C7E9FDA}"/>
              </a:ext>
            </a:extLst>
          </p:cNvPr>
          <p:cNvSpPr>
            <a:spLocks noGrp="1"/>
          </p:cNvSpPr>
          <p:nvPr>
            <p:ph type="dt" sz="half" idx="10"/>
          </p:nvPr>
        </p:nvSpPr>
        <p:spPr/>
        <p:txBody>
          <a:bodyPr/>
          <a:lstStyle/>
          <a:p>
            <a:fld id="{9ADA2C41-3153-415B-966B-176771625E83}" type="datetimeFigureOut">
              <a:rPr lang="en-SG" smtClean="0"/>
              <a:t>10/9/2026</a:t>
            </a:fld>
            <a:endParaRPr lang="en-SG"/>
          </a:p>
        </p:txBody>
      </p:sp>
      <p:sp>
        <p:nvSpPr>
          <p:cNvPr id="5" name="Footer Placeholder 4">
            <a:extLst>
              <a:ext uri="{FF2B5EF4-FFF2-40B4-BE49-F238E27FC236}">
                <a16:creationId xmlns:a16="http://schemas.microsoft.com/office/drawing/2014/main" id="{E939D1DF-6615-C206-8A2D-19DEA7BD234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8E52113-D028-B8B3-142E-DCE9BACF1FE2}"/>
              </a:ext>
            </a:extLst>
          </p:cNvPr>
          <p:cNvSpPr>
            <a:spLocks noGrp="1"/>
          </p:cNvSpPr>
          <p:nvPr>
            <p:ph type="sldNum" sz="quarter" idx="12"/>
          </p:nvPr>
        </p:nvSpPr>
        <p:spPr/>
        <p:txBody>
          <a:bodyPr/>
          <a:lstStyle/>
          <a:p>
            <a:fld id="{5C85F957-9929-408E-8915-FF2662F8DEFD}" type="slidenum">
              <a:rPr lang="en-SG" smtClean="0"/>
              <a:t>‹#›</a:t>
            </a:fld>
            <a:endParaRPr lang="en-SG"/>
          </a:p>
        </p:txBody>
      </p:sp>
    </p:spTree>
    <p:extLst>
      <p:ext uri="{BB962C8B-B14F-4D97-AF65-F5344CB8AC3E}">
        <p14:creationId xmlns:p14="http://schemas.microsoft.com/office/powerpoint/2010/main" val="2955864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C751F-0352-D1F6-182A-0AD09E87F332}"/>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84B6164-E95A-B21C-D371-2A67A3DCC3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B4F0726F-4557-1447-D6BD-AE83C8FFD7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4C65900C-0850-1B22-245A-C954F3E3E330}"/>
              </a:ext>
            </a:extLst>
          </p:cNvPr>
          <p:cNvSpPr>
            <a:spLocks noGrp="1"/>
          </p:cNvSpPr>
          <p:nvPr>
            <p:ph type="dt" sz="half" idx="10"/>
          </p:nvPr>
        </p:nvSpPr>
        <p:spPr/>
        <p:txBody>
          <a:bodyPr/>
          <a:lstStyle/>
          <a:p>
            <a:fld id="{9ADA2C41-3153-415B-966B-176771625E83}" type="datetimeFigureOut">
              <a:rPr lang="en-SG" smtClean="0"/>
              <a:t>10/9/2026</a:t>
            </a:fld>
            <a:endParaRPr lang="en-SG"/>
          </a:p>
        </p:txBody>
      </p:sp>
      <p:sp>
        <p:nvSpPr>
          <p:cNvPr id="6" name="Footer Placeholder 5">
            <a:extLst>
              <a:ext uri="{FF2B5EF4-FFF2-40B4-BE49-F238E27FC236}">
                <a16:creationId xmlns:a16="http://schemas.microsoft.com/office/drawing/2014/main" id="{5A861401-3091-8F2B-ABBF-69E76D8CD96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6BD3220C-67E5-EB84-86D8-20ECE6E577D3}"/>
              </a:ext>
            </a:extLst>
          </p:cNvPr>
          <p:cNvSpPr>
            <a:spLocks noGrp="1"/>
          </p:cNvSpPr>
          <p:nvPr>
            <p:ph type="sldNum" sz="quarter" idx="12"/>
          </p:nvPr>
        </p:nvSpPr>
        <p:spPr/>
        <p:txBody>
          <a:bodyPr/>
          <a:lstStyle/>
          <a:p>
            <a:fld id="{5C85F957-9929-408E-8915-FF2662F8DEFD}" type="slidenum">
              <a:rPr lang="en-SG" smtClean="0"/>
              <a:t>‹#›</a:t>
            </a:fld>
            <a:endParaRPr lang="en-SG"/>
          </a:p>
        </p:txBody>
      </p:sp>
    </p:spTree>
    <p:extLst>
      <p:ext uri="{BB962C8B-B14F-4D97-AF65-F5344CB8AC3E}">
        <p14:creationId xmlns:p14="http://schemas.microsoft.com/office/powerpoint/2010/main" val="4035293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BB066-569D-CD99-5BB9-7210619D8237}"/>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E72F379B-9743-82A0-D881-6018082916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E6ACFB-35FB-E207-B251-5458DC74DD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97A1BE67-2926-7B9F-2A27-815EC580DA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EB7B24-3899-2438-F569-3C9E5B732C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D43764BA-D472-611B-89BB-E92A1923D226}"/>
              </a:ext>
            </a:extLst>
          </p:cNvPr>
          <p:cNvSpPr>
            <a:spLocks noGrp="1"/>
          </p:cNvSpPr>
          <p:nvPr>
            <p:ph type="dt" sz="half" idx="10"/>
          </p:nvPr>
        </p:nvSpPr>
        <p:spPr/>
        <p:txBody>
          <a:bodyPr/>
          <a:lstStyle/>
          <a:p>
            <a:fld id="{9ADA2C41-3153-415B-966B-176771625E83}" type="datetimeFigureOut">
              <a:rPr lang="en-SG" smtClean="0"/>
              <a:t>10/9/2026</a:t>
            </a:fld>
            <a:endParaRPr lang="en-SG"/>
          </a:p>
        </p:txBody>
      </p:sp>
      <p:sp>
        <p:nvSpPr>
          <p:cNvPr id="8" name="Footer Placeholder 7">
            <a:extLst>
              <a:ext uri="{FF2B5EF4-FFF2-40B4-BE49-F238E27FC236}">
                <a16:creationId xmlns:a16="http://schemas.microsoft.com/office/drawing/2014/main" id="{51AD7E84-4464-EB74-8811-65A002C4DD10}"/>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BDF7DE9A-8342-350E-FFD0-BD48FCBABE4E}"/>
              </a:ext>
            </a:extLst>
          </p:cNvPr>
          <p:cNvSpPr>
            <a:spLocks noGrp="1"/>
          </p:cNvSpPr>
          <p:nvPr>
            <p:ph type="sldNum" sz="quarter" idx="12"/>
          </p:nvPr>
        </p:nvSpPr>
        <p:spPr/>
        <p:txBody>
          <a:bodyPr/>
          <a:lstStyle/>
          <a:p>
            <a:fld id="{5C85F957-9929-408E-8915-FF2662F8DEFD}" type="slidenum">
              <a:rPr lang="en-SG" smtClean="0"/>
              <a:t>‹#›</a:t>
            </a:fld>
            <a:endParaRPr lang="en-SG"/>
          </a:p>
        </p:txBody>
      </p:sp>
    </p:spTree>
    <p:extLst>
      <p:ext uri="{BB962C8B-B14F-4D97-AF65-F5344CB8AC3E}">
        <p14:creationId xmlns:p14="http://schemas.microsoft.com/office/powerpoint/2010/main" val="1510752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FBD51-B53A-30F3-8D87-568F84CC57DB}"/>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3BF534EA-9BA7-857B-5C23-629B1FB97934}"/>
              </a:ext>
            </a:extLst>
          </p:cNvPr>
          <p:cNvSpPr>
            <a:spLocks noGrp="1"/>
          </p:cNvSpPr>
          <p:nvPr>
            <p:ph type="dt" sz="half" idx="10"/>
          </p:nvPr>
        </p:nvSpPr>
        <p:spPr/>
        <p:txBody>
          <a:bodyPr/>
          <a:lstStyle/>
          <a:p>
            <a:fld id="{9ADA2C41-3153-415B-966B-176771625E83}" type="datetimeFigureOut">
              <a:rPr lang="en-SG" smtClean="0"/>
              <a:t>10/9/2026</a:t>
            </a:fld>
            <a:endParaRPr lang="en-SG"/>
          </a:p>
        </p:txBody>
      </p:sp>
      <p:sp>
        <p:nvSpPr>
          <p:cNvPr id="4" name="Footer Placeholder 3">
            <a:extLst>
              <a:ext uri="{FF2B5EF4-FFF2-40B4-BE49-F238E27FC236}">
                <a16:creationId xmlns:a16="http://schemas.microsoft.com/office/drawing/2014/main" id="{C556C941-FAF3-CDFD-9E9F-DC2034478F90}"/>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75E897C5-A1C2-D306-AB6B-45A339ED8E9D}"/>
              </a:ext>
            </a:extLst>
          </p:cNvPr>
          <p:cNvSpPr>
            <a:spLocks noGrp="1"/>
          </p:cNvSpPr>
          <p:nvPr>
            <p:ph type="sldNum" sz="quarter" idx="12"/>
          </p:nvPr>
        </p:nvSpPr>
        <p:spPr/>
        <p:txBody>
          <a:bodyPr/>
          <a:lstStyle/>
          <a:p>
            <a:fld id="{5C85F957-9929-408E-8915-FF2662F8DEFD}" type="slidenum">
              <a:rPr lang="en-SG" smtClean="0"/>
              <a:t>‹#›</a:t>
            </a:fld>
            <a:endParaRPr lang="en-SG"/>
          </a:p>
        </p:txBody>
      </p:sp>
    </p:spTree>
    <p:extLst>
      <p:ext uri="{BB962C8B-B14F-4D97-AF65-F5344CB8AC3E}">
        <p14:creationId xmlns:p14="http://schemas.microsoft.com/office/powerpoint/2010/main" val="1376772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CFFDE0-FA1F-F487-FEA6-FC4B336E9787}"/>
              </a:ext>
            </a:extLst>
          </p:cNvPr>
          <p:cNvSpPr>
            <a:spLocks noGrp="1"/>
          </p:cNvSpPr>
          <p:nvPr>
            <p:ph type="dt" sz="half" idx="10"/>
          </p:nvPr>
        </p:nvSpPr>
        <p:spPr/>
        <p:txBody>
          <a:bodyPr/>
          <a:lstStyle/>
          <a:p>
            <a:fld id="{9ADA2C41-3153-415B-966B-176771625E83}" type="datetimeFigureOut">
              <a:rPr lang="en-SG" smtClean="0"/>
              <a:t>10/9/2026</a:t>
            </a:fld>
            <a:endParaRPr lang="en-SG"/>
          </a:p>
        </p:txBody>
      </p:sp>
      <p:sp>
        <p:nvSpPr>
          <p:cNvPr id="3" name="Footer Placeholder 2">
            <a:extLst>
              <a:ext uri="{FF2B5EF4-FFF2-40B4-BE49-F238E27FC236}">
                <a16:creationId xmlns:a16="http://schemas.microsoft.com/office/drawing/2014/main" id="{4CAA7B14-842B-1440-29DB-43CAA628EA26}"/>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4BA2889-B89E-6388-EB40-7650768F0547}"/>
              </a:ext>
            </a:extLst>
          </p:cNvPr>
          <p:cNvSpPr>
            <a:spLocks noGrp="1"/>
          </p:cNvSpPr>
          <p:nvPr>
            <p:ph type="sldNum" sz="quarter" idx="12"/>
          </p:nvPr>
        </p:nvSpPr>
        <p:spPr/>
        <p:txBody>
          <a:bodyPr/>
          <a:lstStyle/>
          <a:p>
            <a:fld id="{5C85F957-9929-408E-8915-FF2662F8DEFD}" type="slidenum">
              <a:rPr lang="en-SG" smtClean="0"/>
              <a:t>‹#›</a:t>
            </a:fld>
            <a:endParaRPr lang="en-SG"/>
          </a:p>
        </p:txBody>
      </p:sp>
    </p:spTree>
    <p:extLst>
      <p:ext uri="{BB962C8B-B14F-4D97-AF65-F5344CB8AC3E}">
        <p14:creationId xmlns:p14="http://schemas.microsoft.com/office/powerpoint/2010/main" val="3492321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50DD8-DBF5-BE6D-C2E7-A83A408BB0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BCC92A23-A0CC-166F-C476-C40D8960D9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92931F7-E037-A0B2-5973-7B361FAC59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A1265C-E605-8A00-7D64-0776FBC98A87}"/>
              </a:ext>
            </a:extLst>
          </p:cNvPr>
          <p:cNvSpPr>
            <a:spLocks noGrp="1"/>
          </p:cNvSpPr>
          <p:nvPr>
            <p:ph type="dt" sz="half" idx="10"/>
          </p:nvPr>
        </p:nvSpPr>
        <p:spPr/>
        <p:txBody>
          <a:bodyPr/>
          <a:lstStyle/>
          <a:p>
            <a:fld id="{9ADA2C41-3153-415B-966B-176771625E83}" type="datetimeFigureOut">
              <a:rPr lang="en-SG" smtClean="0"/>
              <a:t>10/9/2026</a:t>
            </a:fld>
            <a:endParaRPr lang="en-SG"/>
          </a:p>
        </p:txBody>
      </p:sp>
      <p:sp>
        <p:nvSpPr>
          <p:cNvPr id="6" name="Footer Placeholder 5">
            <a:extLst>
              <a:ext uri="{FF2B5EF4-FFF2-40B4-BE49-F238E27FC236}">
                <a16:creationId xmlns:a16="http://schemas.microsoft.com/office/drawing/2014/main" id="{FEB9E187-DF4D-6BCE-6C2C-3AACB4647653}"/>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2EAD055-6929-752B-A755-25C2A2D8A384}"/>
              </a:ext>
            </a:extLst>
          </p:cNvPr>
          <p:cNvSpPr>
            <a:spLocks noGrp="1"/>
          </p:cNvSpPr>
          <p:nvPr>
            <p:ph type="sldNum" sz="quarter" idx="12"/>
          </p:nvPr>
        </p:nvSpPr>
        <p:spPr/>
        <p:txBody>
          <a:bodyPr/>
          <a:lstStyle/>
          <a:p>
            <a:fld id="{5C85F957-9929-408E-8915-FF2662F8DEFD}" type="slidenum">
              <a:rPr lang="en-SG" smtClean="0"/>
              <a:t>‹#›</a:t>
            </a:fld>
            <a:endParaRPr lang="en-SG"/>
          </a:p>
        </p:txBody>
      </p:sp>
    </p:spTree>
    <p:extLst>
      <p:ext uri="{BB962C8B-B14F-4D97-AF65-F5344CB8AC3E}">
        <p14:creationId xmlns:p14="http://schemas.microsoft.com/office/powerpoint/2010/main" val="35795655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67B1F-D395-3BD0-8E13-E0E3BE51D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80C26AF5-FA5F-B2E4-C481-E4EB7785EB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A6B70534-ADEF-D907-32EA-8BE029084E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1A8503-9687-534C-079A-DC39A20F3872}"/>
              </a:ext>
            </a:extLst>
          </p:cNvPr>
          <p:cNvSpPr>
            <a:spLocks noGrp="1"/>
          </p:cNvSpPr>
          <p:nvPr>
            <p:ph type="dt" sz="half" idx="10"/>
          </p:nvPr>
        </p:nvSpPr>
        <p:spPr/>
        <p:txBody>
          <a:bodyPr/>
          <a:lstStyle/>
          <a:p>
            <a:fld id="{9ADA2C41-3153-415B-966B-176771625E83}" type="datetimeFigureOut">
              <a:rPr lang="en-SG" smtClean="0"/>
              <a:t>10/9/2026</a:t>
            </a:fld>
            <a:endParaRPr lang="en-SG"/>
          </a:p>
        </p:txBody>
      </p:sp>
      <p:sp>
        <p:nvSpPr>
          <p:cNvPr id="6" name="Footer Placeholder 5">
            <a:extLst>
              <a:ext uri="{FF2B5EF4-FFF2-40B4-BE49-F238E27FC236}">
                <a16:creationId xmlns:a16="http://schemas.microsoft.com/office/drawing/2014/main" id="{4E1DF62C-5112-EDC6-F230-2AF3E519976D}"/>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070A2EF5-4757-F9C8-717A-3F135FA9A1CE}"/>
              </a:ext>
            </a:extLst>
          </p:cNvPr>
          <p:cNvSpPr>
            <a:spLocks noGrp="1"/>
          </p:cNvSpPr>
          <p:nvPr>
            <p:ph type="sldNum" sz="quarter" idx="12"/>
          </p:nvPr>
        </p:nvSpPr>
        <p:spPr/>
        <p:txBody>
          <a:bodyPr/>
          <a:lstStyle/>
          <a:p>
            <a:fld id="{5C85F957-9929-408E-8915-FF2662F8DEFD}" type="slidenum">
              <a:rPr lang="en-SG" smtClean="0"/>
              <a:t>‹#›</a:t>
            </a:fld>
            <a:endParaRPr lang="en-SG"/>
          </a:p>
        </p:txBody>
      </p:sp>
    </p:spTree>
    <p:extLst>
      <p:ext uri="{BB962C8B-B14F-4D97-AF65-F5344CB8AC3E}">
        <p14:creationId xmlns:p14="http://schemas.microsoft.com/office/powerpoint/2010/main" val="2947349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CA324-C343-0F3A-5A1D-FEF347FC2925}"/>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1601B27A-912B-2840-C306-F30FBD8D2A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034F951-CD42-E5A9-8D48-5EA22420EE27}"/>
              </a:ext>
            </a:extLst>
          </p:cNvPr>
          <p:cNvSpPr>
            <a:spLocks noGrp="1"/>
          </p:cNvSpPr>
          <p:nvPr>
            <p:ph type="dt" sz="half" idx="10"/>
          </p:nvPr>
        </p:nvSpPr>
        <p:spPr/>
        <p:txBody>
          <a:bodyPr/>
          <a:lstStyle/>
          <a:p>
            <a:fld id="{9ADA2C41-3153-415B-966B-176771625E83}" type="datetimeFigureOut">
              <a:rPr lang="en-SG" smtClean="0"/>
              <a:t>10/9/2026</a:t>
            </a:fld>
            <a:endParaRPr lang="en-SG"/>
          </a:p>
        </p:txBody>
      </p:sp>
      <p:sp>
        <p:nvSpPr>
          <p:cNvPr id="5" name="Footer Placeholder 4">
            <a:extLst>
              <a:ext uri="{FF2B5EF4-FFF2-40B4-BE49-F238E27FC236}">
                <a16:creationId xmlns:a16="http://schemas.microsoft.com/office/drawing/2014/main" id="{20604955-5FAB-95D1-E3C7-3FD43F81FEE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33A3B57B-6406-A5CC-0F59-514320AFB552}"/>
              </a:ext>
            </a:extLst>
          </p:cNvPr>
          <p:cNvSpPr>
            <a:spLocks noGrp="1"/>
          </p:cNvSpPr>
          <p:nvPr>
            <p:ph type="sldNum" sz="quarter" idx="12"/>
          </p:nvPr>
        </p:nvSpPr>
        <p:spPr/>
        <p:txBody>
          <a:bodyPr/>
          <a:lstStyle/>
          <a:p>
            <a:fld id="{5C85F957-9929-408E-8915-FF2662F8DEFD}" type="slidenum">
              <a:rPr lang="en-SG" smtClean="0"/>
              <a:t>‹#›</a:t>
            </a:fld>
            <a:endParaRPr lang="en-SG"/>
          </a:p>
        </p:txBody>
      </p:sp>
    </p:spTree>
    <p:extLst>
      <p:ext uri="{BB962C8B-B14F-4D97-AF65-F5344CB8AC3E}">
        <p14:creationId xmlns:p14="http://schemas.microsoft.com/office/powerpoint/2010/main" val="1555880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3B7BFF-77BC-B678-8F1B-09E3798E67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C25DB91-B90B-8C95-384F-F70148738D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94A4D89-3F73-2D23-7FEC-819DB57EC79C}"/>
              </a:ext>
            </a:extLst>
          </p:cNvPr>
          <p:cNvSpPr>
            <a:spLocks noGrp="1"/>
          </p:cNvSpPr>
          <p:nvPr>
            <p:ph type="dt" sz="half" idx="10"/>
          </p:nvPr>
        </p:nvSpPr>
        <p:spPr/>
        <p:txBody>
          <a:bodyPr/>
          <a:lstStyle/>
          <a:p>
            <a:fld id="{9ADA2C41-3153-415B-966B-176771625E83}" type="datetimeFigureOut">
              <a:rPr lang="en-SG" smtClean="0"/>
              <a:t>10/9/2026</a:t>
            </a:fld>
            <a:endParaRPr lang="en-SG"/>
          </a:p>
        </p:txBody>
      </p:sp>
      <p:sp>
        <p:nvSpPr>
          <p:cNvPr id="5" name="Footer Placeholder 4">
            <a:extLst>
              <a:ext uri="{FF2B5EF4-FFF2-40B4-BE49-F238E27FC236}">
                <a16:creationId xmlns:a16="http://schemas.microsoft.com/office/drawing/2014/main" id="{3568B639-D324-BF17-7C63-D4FE9DDDEAD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404D7260-A9D5-C491-6E90-263BA931D405}"/>
              </a:ext>
            </a:extLst>
          </p:cNvPr>
          <p:cNvSpPr>
            <a:spLocks noGrp="1"/>
          </p:cNvSpPr>
          <p:nvPr>
            <p:ph type="sldNum" sz="quarter" idx="12"/>
          </p:nvPr>
        </p:nvSpPr>
        <p:spPr/>
        <p:txBody>
          <a:bodyPr/>
          <a:lstStyle/>
          <a:p>
            <a:fld id="{5C85F957-9929-408E-8915-FF2662F8DEFD}" type="slidenum">
              <a:rPr lang="en-SG" smtClean="0"/>
              <a:t>‹#›</a:t>
            </a:fld>
            <a:endParaRPr lang="en-SG"/>
          </a:p>
        </p:txBody>
      </p:sp>
    </p:spTree>
    <p:extLst>
      <p:ext uri="{BB962C8B-B14F-4D97-AF65-F5344CB8AC3E}">
        <p14:creationId xmlns:p14="http://schemas.microsoft.com/office/powerpoint/2010/main" val="8058046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slideLayout" Target="../slideLayouts/slideLayout12.xml"/><Relationship Id="rId10" Type="http://schemas.openxmlformats.org/officeDocument/2006/relationships/slideLayout" Target="../slideLayouts/slideLayout13.xml"/><Relationship Id="rId11" Type="http://schemas.openxmlformats.org/officeDocument/2006/relationships/slideLayout" Target="../slideLayouts/slideLayout14.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7DCB6-580E-A1F3-C958-8EC9F03BE6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F646CA86-014F-217C-BCDE-8513F395D1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E74A11A-BD74-D06F-4F22-25A7E074F7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DA2C41-3153-415B-966B-176771625E83}" type="datetimeFigureOut">
              <a:rPr lang="en-SG" smtClean="0"/>
              <a:t>10/9/2026</a:t>
            </a:fld>
            <a:endParaRPr lang="en-SG"/>
          </a:p>
        </p:txBody>
      </p:sp>
      <p:sp>
        <p:nvSpPr>
          <p:cNvPr id="5" name="Footer Placeholder 4">
            <a:extLst>
              <a:ext uri="{FF2B5EF4-FFF2-40B4-BE49-F238E27FC236}">
                <a16:creationId xmlns:a16="http://schemas.microsoft.com/office/drawing/2014/main" id="{66EB4709-5096-59AF-ACC0-93ACB81410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DB576C2D-611A-8CDA-47B5-B4029E6814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85F957-9929-408E-8915-FF2662F8DEFD}" type="slidenum">
              <a:rPr lang="en-SG" smtClean="0"/>
              <a:t>‹#›</a:t>
            </a:fld>
            <a:endParaRPr lang="en-SG"/>
          </a:p>
        </p:txBody>
      </p:sp>
    </p:spTree>
    <p:extLst>
      <p:ext uri="{BB962C8B-B14F-4D97-AF65-F5344CB8AC3E}">
        <p14:creationId xmlns:p14="http://schemas.microsoft.com/office/powerpoint/2010/main" val="232307680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9.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10.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10.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 Id="rId3" Type="http://schemas.openxmlformats.org/officeDocument/2006/relationships/image" Target="../media/image1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 Id="rId3" Type="http://schemas.openxmlformats.org/officeDocument/2006/relationships/image" Target="../media/image1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 Id="rId3" Type="http://schemas.openxmlformats.org/officeDocument/2006/relationships/image" Target="../media/image14.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 Id="rId3" Type="http://schemas.openxmlformats.org/officeDocument/2006/relationships/image" Target="../media/image1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B3E"/>
        </a:solidFill>
        <a:effectLst/>
      </p:bgPr>
    </p:bg>
    <p:spTree>
      <p:nvGrpSpPr>
        <p:cNvPr id="1" name=""/>
        <p:cNvGrpSpPr/>
        <p:nvPr/>
      </p:nvGrpSpPr>
      <p:grpSpPr>
        <a:xfrm>
          <a:off x="0" y="0"/>
          <a:ext cx="0" cy="0"/>
          <a:chOff x="0" y="0"/>
          <a:chExt cx="0" cy="0"/>
        </a:xfrm>
      </p:grpSpPr>
      <p:pic>
        <p:nvPicPr>
          <p:cNvPr id="2" name="Image 0" descr="/Users/alfredang/Documents/Supporting Document/Tertiary Infotech/Client Projects/Client WSQ Projects/Client - IES/GenAI for Engineers/assets/engineering-copilot-cover.png"/>
          <p:cNvPicPr>
            <a:picLocks noChangeAspect="1"/>
          </p:cNvPicPr>
          <p:nvPr/>
        </p:nvPicPr>
        <p:blipFill>
          <a:blip r:embed="rId3"/>
          <a:stretch>
            <a:fillRect/>
          </a:stretch>
        </p:blipFill>
        <p:spPr>
          <a:xfrm>
            <a:off x="5074920" y="0"/>
            <a:ext cx="7114032" cy="6858000"/>
          </a:xfrm>
          <a:prstGeom prst="rect">
            <a:avLst/>
          </a:prstGeom>
        </p:spPr>
      </p:pic>
      <p:sp>
        <p:nvSpPr>
          <p:cNvPr id="3" name="Shape 0"/>
          <p:cNvSpPr/>
          <p:nvPr/>
        </p:nvSpPr>
        <p:spPr>
          <a:xfrm>
            <a:off x="0" y="0"/>
            <a:ext cx="5669280" cy="6858000"/>
          </a:xfrm>
          <a:prstGeom prst="rect">
            <a:avLst/>
          </a:prstGeom>
          <a:solidFill>
            <a:srgbClr val="102B3E"/>
          </a:solidFill>
          <a:ln w="12700">
            <a:solidFill>
              <a:srgbClr val="102B3E"/>
            </a:solidFill>
            <a:prstDash val="solid"/>
          </a:ln>
        </p:spPr>
        <p:txBody>
          <a:bodyPr/>
          <a:lstStyle/>
          <a:p>
            <a:endParaRPr/>
          </a:p>
        </p:txBody>
      </p:sp>
      <p:sp>
        <p:nvSpPr>
          <p:cNvPr id="4" name="Text 1"/>
          <p:cNvSpPr txBox="1"/>
          <p:nvPr/>
        </p:nvSpPr>
        <p:spPr>
          <a:xfrm>
            <a:off x="658368" y="502920"/>
            <a:ext cx="640080" cy="274320"/>
          </a:xfrm>
          <a:prstGeom prst="rect">
            <a:avLst/>
          </a:prstGeom>
          <a:noFill/>
          <a:ln/>
        </p:spPr>
        <p:txBody>
          <a:bodyPr wrap="square" lIns="0" tIns="0" rIns="0" bIns="0" rtlCol="0" anchor="ctr">
            <a:normAutofit/>
          </a:bodyPr>
          <a:lstStyle/>
          <a:p>
            <a:pPr marL="0" indent="0" algn="l">
              <a:buNone/>
            </a:pPr>
            <a:r>
              <a:rPr lang="en-US" sz="1800" b="1" dirty="0">
                <a:solidFill>
                  <a:srgbClr val="17A9B8"/>
                </a:solidFill>
                <a:latin typeface="Aptos" pitchFamily="34" charset="0"/>
                <a:ea typeface="Aptos" pitchFamily="34" charset="-122"/>
                <a:cs typeface="Aptos" pitchFamily="34" charset="-120"/>
              </a:rPr>
              <a:t>IES</a:t>
            </a:r>
            <a:endParaRPr lang="en-US" sz="1800" dirty="0"/>
          </a:p>
        </p:txBody>
      </p:sp>
      <p:sp>
        <p:nvSpPr>
          <p:cNvPr id="5" name="Text 2"/>
          <p:cNvSpPr txBox="1"/>
          <p:nvPr/>
        </p:nvSpPr>
        <p:spPr>
          <a:xfrm>
            <a:off x="658368" y="1600200"/>
            <a:ext cx="4389120" cy="960120"/>
          </a:xfrm>
          <a:prstGeom prst="rect">
            <a:avLst/>
          </a:prstGeom>
          <a:noFill/>
          <a:ln/>
        </p:spPr>
        <p:txBody>
          <a:bodyPr wrap="square" lIns="0" tIns="0" rIns="0" bIns="0" rtlCol="0" anchor="ctr">
            <a:normAutofit/>
          </a:bodyPr>
          <a:lstStyle/>
          <a:p>
            <a:pPr marL="0" indent="0" algn="l">
              <a:buNone/>
            </a:pPr>
            <a:r>
              <a:rPr lang="en-US" sz="3800" b="1" dirty="0">
                <a:solidFill>
                  <a:srgbClr val="FFFFFF"/>
                </a:solidFill>
                <a:latin typeface="Aptos" pitchFamily="34" charset="0"/>
                <a:ea typeface="Aptos" pitchFamily="34" charset="-122"/>
                <a:cs typeface="Aptos" pitchFamily="34" charset="-120"/>
              </a:rPr>
              <a:t>GenAI for Engineers</a:t>
            </a:r>
            <a:endParaRPr lang="en-US" sz="3800" dirty="0"/>
          </a:p>
        </p:txBody>
      </p:sp>
      <p:sp>
        <p:nvSpPr>
          <p:cNvPr id="6" name="Text 3"/>
          <p:cNvSpPr txBox="1"/>
          <p:nvPr/>
        </p:nvSpPr>
        <p:spPr>
          <a:xfrm>
            <a:off x="658368" y="2761488"/>
            <a:ext cx="4297680" cy="914400"/>
          </a:xfrm>
          <a:prstGeom prst="rect">
            <a:avLst/>
          </a:prstGeom>
          <a:noFill/>
          <a:ln/>
        </p:spPr>
        <p:txBody>
          <a:bodyPr wrap="square" lIns="0" tIns="0" rIns="0" bIns="0" rtlCol="0" anchor="t">
            <a:normAutofit/>
          </a:bodyPr>
          <a:lstStyle/>
          <a:p>
            <a:pPr marL="0" indent="0" algn="l">
              <a:buNone/>
            </a:pPr>
            <a:r>
              <a:rPr lang="en-US" sz="1900" dirty="0">
                <a:solidFill>
                  <a:srgbClr val="FFFFFF"/>
                </a:solidFill>
                <a:latin typeface="Aptos" pitchFamily="34" charset="0"/>
                <a:ea typeface="Aptos" pitchFamily="34" charset="-122"/>
                <a:cs typeface="Aptos" pitchFamily="34" charset="-120"/>
              </a:rPr>
              <a:t>Boosting productivity and engineering data analysis with Microsoft 365 Copilot</a:t>
            </a:r>
            <a:endParaRPr lang="en-US" sz="1900" dirty="0"/>
          </a:p>
        </p:txBody>
      </p:sp>
      <p:sp>
        <p:nvSpPr>
          <p:cNvPr id="7" name="Shape 4"/>
          <p:cNvSpPr/>
          <p:nvPr/>
        </p:nvSpPr>
        <p:spPr>
          <a:xfrm>
            <a:off x="713232" y="4169664"/>
            <a:ext cx="256032" cy="256032"/>
          </a:xfrm>
          <a:prstGeom prst="ellipse">
            <a:avLst/>
          </a:prstGeom>
          <a:solidFill>
            <a:srgbClr val="17A9B8"/>
          </a:solidFill>
          <a:ln w="12700">
            <a:solidFill>
              <a:srgbClr val="17A9B8"/>
            </a:solidFill>
            <a:prstDash val="solid"/>
          </a:ln>
        </p:spPr>
        <p:txBody>
          <a:bodyPr/>
          <a:lstStyle/>
          <a:p>
            <a:endParaRPr/>
          </a:p>
        </p:txBody>
      </p:sp>
      <p:sp>
        <p:nvSpPr>
          <p:cNvPr id="8" name="Text 5"/>
          <p:cNvSpPr txBox="1"/>
          <p:nvPr/>
        </p:nvSpPr>
        <p:spPr>
          <a:xfrm>
            <a:off x="713232" y="4169664"/>
            <a:ext cx="256032" cy="25603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9" name="Text 6"/>
          <p:cNvSpPr txBox="1"/>
          <p:nvPr/>
        </p:nvSpPr>
        <p:spPr>
          <a:xfrm>
            <a:off x="1115568" y="4096512"/>
            <a:ext cx="3977640" cy="365760"/>
          </a:xfrm>
          <a:prstGeom prst="rect">
            <a:avLst/>
          </a:prstGeom>
          <a:noFill/>
          <a:ln/>
        </p:spPr>
        <p:txBody>
          <a:bodyPr wrap="square" lIns="0" tIns="0" rIns="0" bIns="0"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Provider  ·  IES</a:t>
            </a:r>
            <a:endParaRPr lang="en-US" sz="1400" dirty="0"/>
          </a:p>
        </p:txBody>
      </p:sp>
      <p:sp>
        <p:nvSpPr>
          <p:cNvPr id="10" name="Shape 7"/>
          <p:cNvSpPr/>
          <p:nvPr/>
        </p:nvSpPr>
        <p:spPr>
          <a:xfrm>
            <a:off x="713232" y="4745736"/>
            <a:ext cx="256032" cy="256032"/>
          </a:xfrm>
          <a:prstGeom prst="ellipse">
            <a:avLst/>
          </a:prstGeom>
          <a:solidFill>
            <a:srgbClr val="17A9B8"/>
          </a:solidFill>
          <a:ln w="12700">
            <a:solidFill>
              <a:srgbClr val="17A9B8"/>
            </a:solidFill>
            <a:prstDash val="solid"/>
          </a:ln>
        </p:spPr>
        <p:txBody>
          <a:bodyPr/>
          <a:lstStyle/>
          <a:p>
            <a:endParaRPr/>
          </a:p>
        </p:txBody>
      </p:sp>
      <p:sp>
        <p:nvSpPr>
          <p:cNvPr id="11" name="Text 8"/>
          <p:cNvSpPr txBox="1"/>
          <p:nvPr/>
        </p:nvSpPr>
        <p:spPr>
          <a:xfrm>
            <a:off x="713232" y="4745736"/>
            <a:ext cx="256032" cy="25603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12" name="Text 9"/>
          <p:cNvSpPr txBox="1"/>
          <p:nvPr/>
        </p:nvSpPr>
        <p:spPr>
          <a:xfrm>
            <a:off x="1115568" y="4672584"/>
            <a:ext cx="3977640" cy="365760"/>
          </a:xfrm>
          <a:prstGeom prst="rect">
            <a:avLst/>
          </a:prstGeom>
          <a:noFill/>
          <a:ln/>
        </p:spPr>
        <p:txBody>
          <a:bodyPr wrap="square" lIns="0" tIns="0" rIns="0" bIns="0" rtlCol="0" anchor="ctr">
            <a:normAutofit/>
          </a:bodyPr>
          <a:lstStyle/>
          <a:p>
            <a:pPr marL="0" indent="0" algn="l">
              <a:buNone/>
            </a:pPr>
            <a:r>
              <a:rPr lang="en-US" sz="1400" dirty="0">
                <a:solidFill>
                  <a:srgbClr val="FFFFFF"/>
                </a:solidFill>
                <a:latin typeface="Aptos" pitchFamily="34" charset="0"/>
                <a:ea typeface="Aptos" pitchFamily="34" charset="-122"/>
                <a:cs typeface="Aptos" pitchFamily="34" charset="-120"/>
              </a:rPr>
              <a:t>Course  ·  One day · 09:00–17:00</a:t>
            </a:r>
            <a:endParaRPr lang="en-US" sz="1400" dirty="0"/>
          </a:p>
        </p:txBody>
      </p:sp>
      <p:sp>
        <p:nvSpPr>
          <p:cNvPr id="13" name="Shape 10"/>
          <p:cNvSpPr/>
          <p:nvPr/>
        </p:nvSpPr>
        <p:spPr>
          <a:xfrm>
            <a:off x="713232" y="5321808"/>
            <a:ext cx="256032" cy="256032"/>
          </a:xfrm>
          <a:prstGeom prst="ellipse">
            <a:avLst/>
          </a:prstGeom>
          <a:solidFill>
            <a:srgbClr val="17A9B8"/>
          </a:solidFill>
          <a:ln w="12700">
            <a:solidFill>
              <a:srgbClr val="17A9B8"/>
            </a:solidFill>
            <a:prstDash val="solid"/>
          </a:ln>
        </p:spPr>
        <p:txBody>
          <a:bodyPr/>
          <a:lstStyle/>
          <a:p>
            <a:endParaRPr/>
          </a:p>
        </p:txBody>
      </p:sp>
      <p:sp>
        <p:nvSpPr>
          <p:cNvPr id="14" name="Text 11"/>
          <p:cNvSpPr txBox="1"/>
          <p:nvPr/>
        </p:nvSpPr>
        <p:spPr>
          <a:xfrm>
            <a:off x="713232" y="5321808"/>
            <a:ext cx="256032" cy="25603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15" name="Text 12"/>
          <p:cNvSpPr txBox="1"/>
          <p:nvPr/>
        </p:nvSpPr>
        <p:spPr>
          <a:xfrm>
            <a:off x="1115568" y="5248656"/>
            <a:ext cx="3977640" cy="365760"/>
          </a:xfrm>
          <a:prstGeom prst="rect">
            <a:avLst/>
          </a:prstGeom>
          <a:noFill/>
          <a:ln/>
        </p:spPr>
        <p:txBody>
          <a:bodyPr wrap="square" lIns="0" tIns="0" rIns="0" bIns="0" rtlCol="0" anchor="ctr">
            <a:normAutofit fontScale="92500"/>
          </a:bodyPr>
          <a:lstStyle/>
          <a:p>
            <a:pPr marL="0" indent="0" algn="l">
              <a:buNone/>
            </a:pPr>
            <a:r>
              <a:rPr lang="en-US" sz="1400" dirty="0">
                <a:solidFill>
                  <a:srgbClr val="FFFFFF"/>
                </a:solidFill>
                <a:latin typeface="Aptos" pitchFamily="34" charset="0"/>
                <a:ea typeface="Aptos" pitchFamily="34" charset="-122"/>
                <a:cs typeface="Aptos" pitchFamily="34" charset="-120"/>
              </a:rPr>
              <a:t>Approach  ·  Understand → prompt → produce → verify</a:t>
            </a:r>
            <a:endParaRPr lang="en-US" sz="14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OPENING</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Learning outcomes · LO1–LO4</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Methods, documents, prompts and agents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640080" y="2011680"/>
            <a:ext cx="502920" cy="502920"/>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640080" y="20116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9" name="Shape 7"/>
          <p:cNvSpPr/>
          <p:nvPr/>
        </p:nvSpPr>
        <p:spPr>
          <a:xfrm>
            <a:off x="1371600" y="19385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1627632" y="20482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LO1</a:t>
            </a:r>
            <a:endParaRPr lang="en-US" sz="1700" dirty="0"/>
          </a:p>
        </p:txBody>
      </p:sp>
      <p:sp>
        <p:nvSpPr>
          <p:cNvPr id="11" name="Text 9"/>
          <p:cNvSpPr txBox="1"/>
          <p:nvPr/>
        </p:nvSpPr>
        <p:spPr>
          <a:xfrm>
            <a:off x="3246120" y="20482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Understand FMEA, Six Sigma DMAIC and SPC before applying them.</a:t>
            </a:r>
            <a:endParaRPr lang="en-US" sz="1600" dirty="0"/>
          </a:p>
        </p:txBody>
      </p:sp>
      <p:sp>
        <p:nvSpPr>
          <p:cNvPr id="12" name="Shape 10"/>
          <p:cNvSpPr/>
          <p:nvPr/>
        </p:nvSpPr>
        <p:spPr>
          <a:xfrm>
            <a:off x="640080" y="3097530"/>
            <a:ext cx="502920" cy="502920"/>
          </a:xfrm>
          <a:prstGeom prst="ellipse">
            <a:avLst/>
          </a:prstGeom>
          <a:solidFill>
            <a:srgbClr val="078897"/>
          </a:solidFill>
          <a:ln w="12700">
            <a:solidFill>
              <a:srgbClr val="078897"/>
            </a:solidFill>
            <a:prstDash val="solid"/>
          </a:ln>
        </p:spPr>
        <p:txBody>
          <a:bodyPr/>
          <a:lstStyle/>
          <a:p>
            <a:endParaRPr/>
          </a:p>
        </p:txBody>
      </p:sp>
      <p:sp>
        <p:nvSpPr>
          <p:cNvPr id="13" name="Text 11"/>
          <p:cNvSpPr txBox="1"/>
          <p:nvPr/>
        </p:nvSpPr>
        <p:spPr>
          <a:xfrm>
            <a:off x="640080" y="30975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4" name="Shape 12"/>
          <p:cNvSpPr/>
          <p:nvPr/>
        </p:nvSpPr>
        <p:spPr>
          <a:xfrm>
            <a:off x="1371600" y="302437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5" name="Text 13"/>
          <p:cNvSpPr txBox="1"/>
          <p:nvPr/>
        </p:nvSpPr>
        <p:spPr>
          <a:xfrm>
            <a:off x="1627632" y="31341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LO2</a:t>
            </a:r>
            <a:endParaRPr lang="en-US" sz="1700" dirty="0"/>
          </a:p>
        </p:txBody>
      </p:sp>
      <p:sp>
        <p:nvSpPr>
          <p:cNvPr id="16" name="Text 14"/>
          <p:cNvSpPr txBox="1"/>
          <p:nvPr/>
        </p:nvSpPr>
        <p:spPr>
          <a:xfrm>
            <a:off x="3246120" y="31341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Automate engineering documents with Microsoft 365 Copilot.</a:t>
            </a:r>
            <a:endParaRPr lang="en-US" sz="1600" dirty="0"/>
          </a:p>
        </p:txBody>
      </p:sp>
      <p:sp>
        <p:nvSpPr>
          <p:cNvPr id="17" name="Shape 15"/>
          <p:cNvSpPr/>
          <p:nvPr/>
        </p:nvSpPr>
        <p:spPr>
          <a:xfrm>
            <a:off x="640080" y="4183380"/>
            <a:ext cx="502920" cy="502920"/>
          </a:xfrm>
          <a:prstGeom prst="ellipse">
            <a:avLst/>
          </a:prstGeom>
          <a:solidFill>
            <a:srgbClr val="078897"/>
          </a:solidFill>
          <a:ln w="12700">
            <a:solidFill>
              <a:srgbClr val="078897"/>
            </a:solidFill>
            <a:prstDash val="solid"/>
          </a:ln>
        </p:spPr>
        <p:txBody>
          <a:bodyPr/>
          <a:lstStyle/>
          <a:p>
            <a:endParaRPr/>
          </a:p>
        </p:txBody>
      </p:sp>
      <p:sp>
        <p:nvSpPr>
          <p:cNvPr id="18" name="Text 16"/>
          <p:cNvSpPr txBox="1"/>
          <p:nvPr/>
        </p:nvSpPr>
        <p:spPr>
          <a:xfrm>
            <a:off x="640080" y="41833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19" name="Shape 17"/>
          <p:cNvSpPr/>
          <p:nvPr/>
        </p:nvSpPr>
        <p:spPr>
          <a:xfrm>
            <a:off x="1371600" y="41102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20" name="Text 18"/>
          <p:cNvSpPr txBox="1"/>
          <p:nvPr/>
        </p:nvSpPr>
        <p:spPr>
          <a:xfrm>
            <a:off x="1627632" y="42199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LO3</a:t>
            </a:r>
            <a:endParaRPr lang="en-US" sz="1700" dirty="0"/>
          </a:p>
        </p:txBody>
      </p:sp>
      <p:sp>
        <p:nvSpPr>
          <p:cNvPr id="21" name="Text 19"/>
          <p:cNvSpPr txBox="1"/>
          <p:nvPr/>
        </p:nvSpPr>
        <p:spPr>
          <a:xfrm>
            <a:off x="3246120" y="42199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Apply R.I.S.E. and E-MAP with iterative prompting.</a:t>
            </a:r>
            <a:endParaRPr lang="en-US" sz="1600" dirty="0"/>
          </a:p>
        </p:txBody>
      </p:sp>
      <p:sp>
        <p:nvSpPr>
          <p:cNvPr id="22" name="Shape 20"/>
          <p:cNvSpPr/>
          <p:nvPr/>
        </p:nvSpPr>
        <p:spPr>
          <a:xfrm>
            <a:off x="640080" y="5269230"/>
            <a:ext cx="502920" cy="502920"/>
          </a:xfrm>
          <a:prstGeom prst="ellipse">
            <a:avLst/>
          </a:prstGeom>
          <a:solidFill>
            <a:srgbClr val="078897"/>
          </a:solidFill>
          <a:ln w="12700">
            <a:solidFill>
              <a:srgbClr val="078897"/>
            </a:solidFill>
            <a:prstDash val="solid"/>
          </a:ln>
        </p:spPr>
        <p:txBody>
          <a:bodyPr/>
          <a:lstStyle/>
          <a:p>
            <a:endParaRPr/>
          </a:p>
        </p:txBody>
      </p:sp>
      <p:sp>
        <p:nvSpPr>
          <p:cNvPr id="23" name="Text 21"/>
          <p:cNvSpPr txBox="1"/>
          <p:nvPr/>
        </p:nvSpPr>
        <p:spPr>
          <a:xfrm>
            <a:off x="640080" y="52692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4" name="Shape 22"/>
          <p:cNvSpPr/>
          <p:nvPr/>
        </p:nvSpPr>
        <p:spPr>
          <a:xfrm>
            <a:off x="1371600" y="5196078"/>
            <a:ext cx="10058400" cy="966978"/>
          </a:xfrm>
          <a:prstGeom prst="roundRect">
            <a:avLst>
              <a:gd name="adj" fmla="val 7565"/>
            </a:avLst>
          </a:prstGeom>
          <a:solidFill>
            <a:srgbClr val="FFFFFF"/>
          </a:solidFill>
          <a:ln w="12700">
            <a:solidFill>
              <a:srgbClr val="C8D9DC"/>
            </a:solidFill>
            <a:prstDash val="solid"/>
          </a:ln>
        </p:spPr>
        <p:txBody>
          <a:bodyPr/>
          <a:lstStyle/>
          <a:p>
            <a:endParaRPr lang="en-US"/>
          </a:p>
        </p:txBody>
      </p:sp>
      <p:sp>
        <p:nvSpPr>
          <p:cNvPr id="25" name="Text 23"/>
          <p:cNvSpPr txBox="1"/>
          <p:nvPr/>
        </p:nvSpPr>
        <p:spPr>
          <a:xfrm>
            <a:off x="1627632" y="53058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LO4</a:t>
            </a:r>
            <a:endParaRPr lang="en-US" sz="1700" dirty="0"/>
          </a:p>
        </p:txBody>
      </p:sp>
      <p:sp>
        <p:nvSpPr>
          <p:cNvPr id="26" name="Text 24"/>
          <p:cNvSpPr txBox="1"/>
          <p:nvPr/>
        </p:nvSpPr>
        <p:spPr>
          <a:xfrm>
            <a:off x="3246120" y="53058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Build and deploy a multi-step Copilot Agent.</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OPENING</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Learning outcomes · LO5–LO7</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Reasoning agents, SharePoint grounding and secure use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640080" y="2011680"/>
            <a:ext cx="502920" cy="502920"/>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640080" y="20116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5</a:t>
            </a:r>
            <a:endParaRPr lang="en-US" sz="1400" dirty="0"/>
          </a:p>
        </p:txBody>
      </p:sp>
      <p:sp>
        <p:nvSpPr>
          <p:cNvPr id="9" name="Shape 7"/>
          <p:cNvSpPr/>
          <p:nvPr/>
        </p:nvSpPr>
        <p:spPr>
          <a:xfrm>
            <a:off x="1371600" y="1938528"/>
            <a:ext cx="10058400" cy="1328928"/>
          </a:xfrm>
          <a:prstGeom prst="roundRect">
            <a:avLst>
              <a:gd name="adj" fmla="val 550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1627632" y="2048256"/>
            <a:ext cx="1828800" cy="110947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LO5</a:t>
            </a:r>
            <a:endParaRPr lang="en-US" sz="1700" dirty="0"/>
          </a:p>
        </p:txBody>
      </p:sp>
      <p:sp>
        <p:nvSpPr>
          <p:cNvPr id="11" name="Text 9"/>
          <p:cNvSpPr txBox="1"/>
          <p:nvPr/>
        </p:nvSpPr>
        <p:spPr>
          <a:xfrm>
            <a:off x="3246120" y="2048256"/>
            <a:ext cx="7818120" cy="110947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Use Researcher and Analyst for research and data analysis.</a:t>
            </a:r>
            <a:endParaRPr lang="en-US" sz="1600" dirty="0"/>
          </a:p>
        </p:txBody>
      </p:sp>
      <p:sp>
        <p:nvSpPr>
          <p:cNvPr id="12" name="Shape 10"/>
          <p:cNvSpPr/>
          <p:nvPr/>
        </p:nvSpPr>
        <p:spPr>
          <a:xfrm>
            <a:off x="640080" y="3459480"/>
            <a:ext cx="502920" cy="502920"/>
          </a:xfrm>
          <a:prstGeom prst="ellipse">
            <a:avLst/>
          </a:prstGeom>
          <a:solidFill>
            <a:srgbClr val="078897"/>
          </a:solidFill>
          <a:ln w="12700">
            <a:solidFill>
              <a:srgbClr val="078897"/>
            </a:solidFill>
            <a:prstDash val="solid"/>
          </a:ln>
        </p:spPr>
        <p:txBody>
          <a:bodyPr/>
          <a:lstStyle/>
          <a:p>
            <a:endParaRPr/>
          </a:p>
        </p:txBody>
      </p:sp>
      <p:sp>
        <p:nvSpPr>
          <p:cNvPr id="13" name="Text 11"/>
          <p:cNvSpPr txBox="1"/>
          <p:nvPr/>
        </p:nvSpPr>
        <p:spPr>
          <a:xfrm>
            <a:off x="640080" y="34594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6</a:t>
            </a:r>
            <a:endParaRPr lang="en-US" sz="1400" dirty="0"/>
          </a:p>
        </p:txBody>
      </p:sp>
      <p:sp>
        <p:nvSpPr>
          <p:cNvPr id="14" name="Shape 12"/>
          <p:cNvSpPr/>
          <p:nvPr/>
        </p:nvSpPr>
        <p:spPr>
          <a:xfrm>
            <a:off x="1371600" y="3386328"/>
            <a:ext cx="10058400" cy="1328928"/>
          </a:xfrm>
          <a:prstGeom prst="roundRect">
            <a:avLst>
              <a:gd name="adj" fmla="val 5505"/>
            </a:avLst>
          </a:prstGeom>
          <a:solidFill>
            <a:srgbClr val="FFFFFF"/>
          </a:solidFill>
          <a:ln w="12700">
            <a:solidFill>
              <a:srgbClr val="C8D9DC"/>
            </a:solidFill>
            <a:prstDash val="solid"/>
          </a:ln>
        </p:spPr>
        <p:txBody>
          <a:bodyPr/>
          <a:lstStyle/>
          <a:p>
            <a:endParaRPr/>
          </a:p>
        </p:txBody>
      </p:sp>
      <p:sp>
        <p:nvSpPr>
          <p:cNvPr id="15" name="Text 13"/>
          <p:cNvSpPr txBox="1"/>
          <p:nvPr/>
        </p:nvSpPr>
        <p:spPr>
          <a:xfrm>
            <a:off x="1627632" y="3496056"/>
            <a:ext cx="1828800" cy="110947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LO6</a:t>
            </a:r>
            <a:endParaRPr lang="en-US" sz="1700" dirty="0"/>
          </a:p>
        </p:txBody>
      </p:sp>
      <p:sp>
        <p:nvSpPr>
          <p:cNvPr id="16" name="Text 14"/>
          <p:cNvSpPr txBox="1"/>
          <p:nvPr/>
        </p:nvSpPr>
        <p:spPr>
          <a:xfrm>
            <a:off x="3246120" y="3496056"/>
            <a:ext cx="7818120" cy="110947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Integrate SharePoint as a cited engineering knowledge base.</a:t>
            </a:r>
            <a:endParaRPr lang="en-US" sz="1600" dirty="0"/>
          </a:p>
        </p:txBody>
      </p:sp>
      <p:sp>
        <p:nvSpPr>
          <p:cNvPr id="17" name="Shape 15"/>
          <p:cNvSpPr/>
          <p:nvPr/>
        </p:nvSpPr>
        <p:spPr>
          <a:xfrm>
            <a:off x="640080" y="4907280"/>
            <a:ext cx="502920" cy="502920"/>
          </a:xfrm>
          <a:prstGeom prst="ellipse">
            <a:avLst/>
          </a:prstGeom>
          <a:solidFill>
            <a:srgbClr val="078897"/>
          </a:solidFill>
          <a:ln w="12700">
            <a:solidFill>
              <a:srgbClr val="078897"/>
            </a:solidFill>
            <a:prstDash val="solid"/>
          </a:ln>
        </p:spPr>
        <p:txBody>
          <a:bodyPr/>
          <a:lstStyle/>
          <a:p>
            <a:endParaRPr/>
          </a:p>
        </p:txBody>
      </p:sp>
      <p:sp>
        <p:nvSpPr>
          <p:cNvPr id="18" name="Text 16"/>
          <p:cNvSpPr txBox="1"/>
          <p:nvPr/>
        </p:nvSpPr>
        <p:spPr>
          <a:xfrm>
            <a:off x="640080" y="49072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7</a:t>
            </a:r>
            <a:endParaRPr lang="en-US" sz="1400" dirty="0"/>
          </a:p>
        </p:txBody>
      </p:sp>
      <p:sp>
        <p:nvSpPr>
          <p:cNvPr id="19" name="Shape 17"/>
          <p:cNvSpPr/>
          <p:nvPr/>
        </p:nvSpPr>
        <p:spPr>
          <a:xfrm>
            <a:off x="1371600" y="4834128"/>
            <a:ext cx="10058400" cy="1328928"/>
          </a:xfrm>
          <a:prstGeom prst="roundRect">
            <a:avLst>
              <a:gd name="adj" fmla="val 5505"/>
            </a:avLst>
          </a:prstGeom>
          <a:solidFill>
            <a:srgbClr val="FFFFFF"/>
          </a:solidFill>
          <a:ln w="12700">
            <a:solidFill>
              <a:srgbClr val="C8D9DC"/>
            </a:solidFill>
            <a:prstDash val="solid"/>
          </a:ln>
        </p:spPr>
        <p:txBody>
          <a:bodyPr/>
          <a:lstStyle/>
          <a:p>
            <a:endParaRPr lang="en-US"/>
          </a:p>
        </p:txBody>
      </p:sp>
      <p:sp>
        <p:nvSpPr>
          <p:cNvPr id="20" name="Text 18"/>
          <p:cNvSpPr txBox="1"/>
          <p:nvPr/>
        </p:nvSpPr>
        <p:spPr>
          <a:xfrm>
            <a:off x="1627632" y="4943856"/>
            <a:ext cx="1828800" cy="110947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LO7</a:t>
            </a:r>
            <a:endParaRPr lang="en-US" sz="1700" dirty="0"/>
          </a:p>
        </p:txBody>
      </p:sp>
      <p:sp>
        <p:nvSpPr>
          <p:cNvPr id="21" name="Text 19"/>
          <p:cNvSpPr txBox="1"/>
          <p:nvPr/>
        </p:nvSpPr>
        <p:spPr>
          <a:xfrm>
            <a:off x="3246120" y="4943856"/>
            <a:ext cx="7818120" cy="110947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Apply the complete 7-Step AI Security Framework.</a:t>
            </a:r>
            <a:endParaRPr lang="en-US" sz="16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OPENING</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Today’s route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Six modules follow the supplied lesson plan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852678"/>
          </a:xfrm>
          <a:prstGeom prst="roundRect">
            <a:avLst>
              <a:gd name="adj" fmla="val 8579"/>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09:00</a:t>
            </a:r>
            <a:endParaRPr lang="en-US" sz="1600" dirty="0"/>
          </a:p>
        </p:txBody>
      </p:sp>
      <p:sp>
        <p:nvSpPr>
          <p:cNvPr id="11" name="Text 9"/>
          <p:cNvSpPr txBox="1"/>
          <p:nvPr/>
        </p:nvSpPr>
        <p:spPr>
          <a:xfrm>
            <a:off x="786384" y="2743200"/>
            <a:ext cx="3054096" cy="0"/>
          </a:xfrm>
          <a:prstGeom prst="rect">
            <a:avLst/>
          </a:prstGeom>
          <a:noFill/>
          <a:ln/>
        </p:spPr>
        <p:txBody>
          <a:bodyPr wrap="square" lIns="0" tIns="0" rIns="0" bIns="0" rtlCol="0" anchor="t">
            <a:normAutofit fontScale="25000" lnSpcReduction="20000"/>
          </a:bodyPr>
          <a:lstStyle/>
          <a:p>
            <a:pPr marL="0" indent="0" algn="l">
              <a:buNone/>
            </a:pPr>
            <a:r>
              <a:rPr lang="en-US" sz="1400" dirty="0">
                <a:solidFill>
                  <a:srgbClr val="102B3E"/>
                </a:solidFill>
                <a:latin typeface="Aptos" pitchFamily="34" charset="0"/>
                <a:ea typeface="Aptos" pitchFamily="34" charset="-122"/>
                <a:cs typeface="Aptos" pitchFamily="34" charset="-120"/>
              </a:rPr>
              <a:t>M1 · Copilot ecosystem</a:t>
            </a:r>
            <a:endParaRPr lang="en-US" sz="1400" dirty="0"/>
          </a:p>
        </p:txBody>
      </p:sp>
      <p:sp>
        <p:nvSpPr>
          <p:cNvPr id="12" name="Shape 10"/>
          <p:cNvSpPr/>
          <p:nvPr/>
        </p:nvSpPr>
        <p:spPr>
          <a:xfrm>
            <a:off x="4315968" y="2029968"/>
            <a:ext cx="3493008" cy="852678"/>
          </a:xfrm>
          <a:prstGeom prst="roundRect">
            <a:avLst>
              <a:gd name="adj" fmla="val 8579"/>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10:00</a:t>
            </a:r>
            <a:endParaRPr lang="en-US" sz="1600" dirty="0"/>
          </a:p>
        </p:txBody>
      </p:sp>
      <p:sp>
        <p:nvSpPr>
          <p:cNvPr id="16" name="Text 14"/>
          <p:cNvSpPr txBox="1"/>
          <p:nvPr/>
        </p:nvSpPr>
        <p:spPr>
          <a:xfrm>
            <a:off x="4535424" y="2743200"/>
            <a:ext cx="3054096" cy="0"/>
          </a:xfrm>
          <a:prstGeom prst="rect">
            <a:avLst/>
          </a:prstGeom>
          <a:noFill/>
          <a:ln/>
        </p:spPr>
        <p:txBody>
          <a:bodyPr wrap="square" lIns="0" tIns="0" rIns="0" bIns="0" rtlCol="0" anchor="t">
            <a:normAutofit fontScale="25000" lnSpcReduction="20000"/>
          </a:bodyPr>
          <a:lstStyle/>
          <a:p>
            <a:pPr marL="0" indent="0" algn="l">
              <a:buNone/>
            </a:pPr>
            <a:r>
              <a:rPr lang="en-US" sz="1400" dirty="0">
                <a:solidFill>
                  <a:srgbClr val="102B3E"/>
                </a:solidFill>
                <a:latin typeface="Aptos" pitchFamily="34" charset="0"/>
                <a:ea typeface="Aptos" pitchFamily="34" charset="-122"/>
                <a:cs typeface="Aptos" pitchFamily="34" charset="-120"/>
              </a:rPr>
              <a:t>M2 · Prompting</a:t>
            </a:r>
            <a:endParaRPr lang="en-US" sz="1400" dirty="0"/>
          </a:p>
        </p:txBody>
      </p:sp>
      <p:sp>
        <p:nvSpPr>
          <p:cNvPr id="17" name="Shape 15"/>
          <p:cNvSpPr/>
          <p:nvPr/>
        </p:nvSpPr>
        <p:spPr>
          <a:xfrm>
            <a:off x="8065008" y="2029968"/>
            <a:ext cx="3493008" cy="852678"/>
          </a:xfrm>
          <a:prstGeom prst="roundRect">
            <a:avLst>
              <a:gd name="adj" fmla="val 8579"/>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11:15</a:t>
            </a:r>
            <a:endParaRPr lang="en-US" sz="1600" dirty="0"/>
          </a:p>
        </p:txBody>
      </p:sp>
      <p:sp>
        <p:nvSpPr>
          <p:cNvPr id="21" name="Text 19"/>
          <p:cNvSpPr txBox="1"/>
          <p:nvPr/>
        </p:nvSpPr>
        <p:spPr>
          <a:xfrm>
            <a:off x="8284464" y="2743200"/>
            <a:ext cx="3054096" cy="0"/>
          </a:xfrm>
          <a:prstGeom prst="rect">
            <a:avLst/>
          </a:prstGeom>
          <a:noFill/>
          <a:ln/>
        </p:spPr>
        <p:txBody>
          <a:bodyPr wrap="square" lIns="0" tIns="0" rIns="0" bIns="0" rtlCol="0" anchor="t">
            <a:normAutofit fontScale="25000" lnSpcReduction="20000"/>
          </a:bodyPr>
          <a:lstStyle/>
          <a:p>
            <a:pPr marL="0" indent="0" algn="l">
              <a:buNone/>
            </a:pPr>
            <a:r>
              <a:rPr lang="en-US" sz="1400" dirty="0">
                <a:solidFill>
                  <a:srgbClr val="102B3E"/>
                </a:solidFill>
                <a:latin typeface="Aptos" pitchFamily="34" charset="0"/>
                <a:ea typeface="Aptos" pitchFamily="34" charset="-122"/>
                <a:cs typeface="Aptos" pitchFamily="34" charset="-120"/>
              </a:rPr>
              <a:t>Tea break</a:t>
            </a:r>
            <a:endParaRPr lang="en-US" sz="1400" dirty="0"/>
          </a:p>
        </p:txBody>
      </p:sp>
      <p:sp>
        <p:nvSpPr>
          <p:cNvPr id="22" name="Shape 20"/>
          <p:cNvSpPr/>
          <p:nvPr/>
        </p:nvSpPr>
        <p:spPr>
          <a:xfrm>
            <a:off x="566928" y="3102102"/>
            <a:ext cx="3493008" cy="852678"/>
          </a:xfrm>
          <a:prstGeom prst="roundRect">
            <a:avLst>
              <a:gd name="adj" fmla="val 8579"/>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3275838"/>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3275838"/>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3266694"/>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11:30</a:t>
            </a:r>
            <a:endParaRPr lang="en-US" sz="1600" dirty="0"/>
          </a:p>
        </p:txBody>
      </p:sp>
      <p:sp>
        <p:nvSpPr>
          <p:cNvPr id="26" name="Text 24"/>
          <p:cNvSpPr txBox="1"/>
          <p:nvPr/>
        </p:nvSpPr>
        <p:spPr>
          <a:xfrm>
            <a:off x="786384" y="3815334"/>
            <a:ext cx="3054096" cy="0"/>
          </a:xfrm>
          <a:prstGeom prst="rect">
            <a:avLst/>
          </a:prstGeom>
          <a:noFill/>
          <a:ln/>
        </p:spPr>
        <p:txBody>
          <a:bodyPr wrap="square" lIns="0" tIns="0" rIns="0" bIns="0" rtlCol="0" anchor="t">
            <a:normAutofit fontScale="25000" lnSpcReduction="20000"/>
          </a:bodyPr>
          <a:lstStyle/>
          <a:p>
            <a:pPr marL="0" indent="0" algn="l">
              <a:buNone/>
            </a:pPr>
            <a:r>
              <a:rPr lang="en-US" sz="1400" dirty="0">
                <a:solidFill>
                  <a:srgbClr val="102B3E"/>
                </a:solidFill>
                <a:latin typeface="Aptos" pitchFamily="34" charset="0"/>
                <a:ea typeface="Aptos" pitchFamily="34" charset="-122"/>
                <a:cs typeface="Aptos" pitchFamily="34" charset="-120"/>
              </a:rPr>
              <a:t>M3 · FMEA → DMAIC → SPC</a:t>
            </a:r>
            <a:endParaRPr lang="en-US" sz="1400" dirty="0"/>
          </a:p>
        </p:txBody>
      </p:sp>
      <p:sp>
        <p:nvSpPr>
          <p:cNvPr id="27" name="Shape 25"/>
          <p:cNvSpPr/>
          <p:nvPr/>
        </p:nvSpPr>
        <p:spPr>
          <a:xfrm>
            <a:off x="4315968" y="3102102"/>
            <a:ext cx="3493008" cy="852678"/>
          </a:xfrm>
          <a:prstGeom prst="roundRect">
            <a:avLst>
              <a:gd name="adj" fmla="val 8579"/>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3275838"/>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3275838"/>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3266694"/>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13:00</a:t>
            </a:r>
            <a:endParaRPr lang="en-US" sz="1600" dirty="0"/>
          </a:p>
        </p:txBody>
      </p:sp>
      <p:sp>
        <p:nvSpPr>
          <p:cNvPr id="31" name="Text 29"/>
          <p:cNvSpPr txBox="1"/>
          <p:nvPr/>
        </p:nvSpPr>
        <p:spPr>
          <a:xfrm>
            <a:off x="4535424" y="3815334"/>
            <a:ext cx="3054096" cy="0"/>
          </a:xfrm>
          <a:prstGeom prst="rect">
            <a:avLst/>
          </a:prstGeom>
          <a:noFill/>
          <a:ln/>
        </p:spPr>
        <p:txBody>
          <a:bodyPr wrap="square" lIns="0" tIns="0" rIns="0" bIns="0" rtlCol="0" anchor="t">
            <a:normAutofit fontScale="25000" lnSpcReduction="20000"/>
          </a:bodyPr>
          <a:lstStyle/>
          <a:p>
            <a:pPr marL="0" indent="0" algn="l">
              <a:buNone/>
            </a:pPr>
            <a:r>
              <a:rPr lang="en-US" sz="1400" dirty="0">
                <a:solidFill>
                  <a:srgbClr val="102B3E"/>
                </a:solidFill>
                <a:latin typeface="Aptos" pitchFamily="34" charset="0"/>
                <a:ea typeface="Aptos" pitchFamily="34" charset="-122"/>
                <a:cs typeface="Aptos" pitchFamily="34" charset="-120"/>
              </a:rPr>
              <a:t>Lunch</a:t>
            </a:r>
            <a:endParaRPr lang="en-US" sz="1400" dirty="0"/>
          </a:p>
        </p:txBody>
      </p:sp>
      <p:sp>
        <p:nvSpPr>
          <p:cNvPr id="32" name="Shape 30"/>
          <p:cNvSpPr/>
          <p:nvPr/>
        </p:nvSpPr>
        <p:spPr>
          <a:xfrm>
            <a:off x="8065008" y="3102102"/>
            <a:ext cx="3493008" cy="852678"/>
          </a:xfrm>
          <a:prstGeom prst="roundRect">
            <a:avLst>
              <a:gd name="adj" fmla="val 8579"/>
            </a:avLst>
          </a:prstGeom>
          <a:solidFill>
            <a:srgbClr val="FFFFFF"/>
          </a:solidFill>
          <a:ln w="12700">
            <a:solidFill>
              <a:srgbClr val="C8D9DC"/>
            </a:solidFill>
            <a:prstDash val="solid"/>
          </a:ln>
        </p:spPr>
        <p:txBody>
          <a:bodyPr/>
          <a:lstStyle/>
          <a:p>
            <a:endParaRPr/>
          </a:p>
        </p:txBody>
      </p:sp>
      <p:sp>
        <p:nvSpPr>
          <p:cNvPr id="33" name="Shape 31"/>
          <p:cNvSpPr/>
          <p:nvPr/>
        </p:nvSpPr>
        <p:spPr>
          <a:xfrm>
            <a:off x="8247888" y="3275838"/>
            <a:ext cx="411480" cy="411480"/>
          </a:xfrm>
          <a:prstGeom prst="ellipse">
            <a:avLst/>
          </a:prstGeom>
          <a:solidFill>
            <a:srgbClr val="C94B50"/>
          </a:solidFill>
          <a:ln w="12700">
            <a:solidFill>
              <a:srgbClr val="C94B50"/>
            </a:solidFill>
            <a:prstDash val="solid"/>
          </a:ln>
        </p:spPr>
        <p:txBody>
          <a:bodyPr/>
          <a:lstStyle/>
          <a:p>
            <a:endParaRPr/>
          </a:p>
        </p:txBody>
      </p:sp>
      <p:sp>
        <p:nvSpPr>
          <p:cNvPr id="34" name="Text 32"/>
          <p:cNvSpPr txBox="1"/>
          <p:nvPr/>
        </p:nvSpPr>
        <p:spPr>
          <a:xfrm>
            <a:off x="8247888" y="3275838"/>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6</a:t>
            </a:r>
            <a:endParaRPr lang="en-US" sz="1500" dirty="0"/>
          </a:p>
        </p:txBody>
      </p:sp>
      <p:sp>
        <p:nvSpPr>
          <p:cNvPr id="35" name="Text 33"/>
          <p:cNvSpPr txBox="1"/>
          <p:nvPr/>
        </p:nvSpPr>
        <p:spPr>
          <a:xfrm>
            <a:off x="8778240" y="3266694"/>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14:00</a:t>
            </a:r>
            <a:endParaRPr lang="en-US" sz="1600" dirty="0"/>
          </a:p>
        </p:txBody>
      </p:sp>
      <p:sp>
        <p:nvSpPr>
          <p:cNvPr id="36" name="Text 34"/>
          <p:cNvSpPr txBox="1"/>
          <p:nvPr/>
        </p:nvSpPr>
        <p:spPr>
          <a:xfrm>
            <a:off x="8284464" y="3815334"/>
            <a:ext cx="3054096" cy="0"/>
          </a:xfrm>
          <a:prstGeom prst="rect">
            <a:avLst/>
          </a:prstGeom>
          <a:noFill/>
          <a:ln/>
        </p:spPr>
        <p:txBody>
          <a:bodyPr wrap="square" lIns="0" tIns="0" rIns="0" bIns="0" rtlCol="0" anchor="t">
            <a:normAutofit fontScale="25000" lnSpcReduction="20000"/>
          </a:bodyPr>
          <a:lstStyle/>
          <a:p>
            <a:pPr marL="0" indent="0" algn="l">
              <a:buNone/>
            </a:pPr>
            <a:r>
              <a:rPr lang="en-US" sz="1400" dirty="0">
                <a:solidFill>
                  <a:srgbClr val="102B3E"/>
                </a:solidFill>
                <a:latin typeface="Aptos" pitchFamily="34" charset="0"/>
                <a:ea typeface="Aptos" pitchFamily="34" charset="-122"/>
                <a:cs typeface="Aptos" pitchFamily="34" charset="-120"/>
              </a:rPr>
              <a:t>M4 · Agents</a:t>
            </a:r>
            <a:endParaRPr lang="en-US" sz="1400" dirty="0"/>
          </a:p>
        </p:txBody>
      </p:sp>
      <p:sp>
        <p:nvSpPr>
          <p:cNvPr id="37" name="Shape 35"/>
          <p:cNvSpPr/>
          <p:nvPr/>
        </p:nvSpPr>
        <p:spPr>
          <a:xfrm>
            <a:off x="566928" y="4174236"/>
            <a:ext cx="3493008" cy="852678"/>
          </a:xfrm>
          <a:prstGeom prst="roundRect">
            <a:avLst>
              <a:gd name="adj" fmla="val 8579"/>
            </a:avLst>
          </a:prstGeom>
          <a:solidFill>
            <a:srgbClr val="FFFFFF"/>
          </a:solidFill>
          <a:ln w="12700">
            <a:solidFill>
              <a:srgbClr val="C8D9DC"/>
            </a:solidFill>
            <a:prstDash val="solid"/>
          </a:ln>
        </p:spPr>
        <p:txBody>
          <a:bodyPr/>
          <a:lstStyle/>
          <a:p>
            <a:endParaRPr/>
          </a:p>
        </p:txBody>
      </p:sp>
      <p:sp>
        <p:nvSpPr>
          <p:cNvPr id="38" name="Shape 36"/>
          <p:cNvSpPr/>
          <p:nvPr/>
        </p:nvSpPr>
        <p:spPr>
          <a:xfrm>
            <a:off x="749808" y="4347972"/>
            <a:ext cx="411480" cy="411480"/>
          </a:xfrm>
          <a:prstGeom prst="ellipse">
            <a:avLst/>
          </a:prstGeom>
          <a:solidFill>
            <a:srgbClr val="078897"/>
          </a:solidFill>
          <a:ln w="12700">
            <a:solidFill>
              <a:srgbClr val="078897"/>
            </a:solidFill>
            <a:prstDash val="solid"/>
          </a:ln>
        </p:spPr>
        <p:txBody>
          <a:bodyPr/>
          <a:lstStyle/>
          <a:p>
            <a:endParaRPr/>
          </a:p>
        </p:txBody>
      </p:sp>
      <p:sp>
        <p:nvSpPr>
          <p:cNvPr id="39" name="Text 3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7</a:t>
            </a:r>
            <a:endParaRPr lang="en-US" sz="1500" dirty="0"/>
          </a:p>
        </p:txBody>
      </p:sp>
      <p:sp>
        <p:nvSpPr>
          <p:cNvPr id="40" name="Text 38"/>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15:15</a:t>
            </a:r>
            <a:endParaRPr lang="en-US" sz="1600" dirty="0"/>
          </a:p>
        </p:txBody>
      </p:sp>
      <p:sp>
        <p:nvSpPr>
          <p:cNvPr id="41" name="Text 39"/>
          <p:cNvSpPr txBox="1"/>
          <p:nvPr/>
        </p:nvSpPr>
        <p:spPr>
          <a:xfrm>
            <a:off x="786384" y="4887468"/>
            <a:ext cx="3054096" cy="0"/>
          </a:xfrm>
          <a:prstGeom prst="rect">
            <a:avLst/>
          </a:prstGeom>
          <a:noFill/>
          <a:ln/>
        </p:spPr>
        <p:txBody>
          <a:bodyPr wrap="square" lIns="0" tIns="0" rIns="0" bIns="0" rtlCol="0" anchor="t">
            <a:normAutofit fontScale="25000" lnSpcReduction="20000"/>
          </a:bodyPr>
          <a:lstStyle/>
          <a:p>
            <a:pPr marL="0" indent="0" algn="l">
              <a:buNone/>
            </a:pPr>
            <a:r>
              <a:rPr lang="en-US" sz="1400" dirty="0">
                <a:solidFill>
                  <a:srgbClr val="102B3E"/>
                </a:solidFill>
                <a:latin typeface="Aptos" pitchFamily="34" charset="0"/>
                <a:ea typeface="Aptos" pitchFamily="34" charset="-122"/>
                <a:cs typeface="Aptos" pitchFamily="34" charset="-120"/>
              </a:rPr>
              <a:t>Tea break</a:t>
            </a:r>
            <a:endParaRPr lang="en-US" sz="1400" dirty="0"/>
          </a:p>
        </p:txBody>
      </p:sp>
      <p:sp>
        <p:nvSpPr>
          <p:cNvPr id="42" name="Shape 40"/>
          <p:cNvSpPr/>
          <p:nvPr/>
        </p:nvSpPr>
        <p:spPr>
          <a:xfrm>
            <a:off x="4315968" y="4174236"/>
            <a:ext cx="3493008" cy="852678"/>
          </a:xfrm>
          <a:prstGeom prst="roundRect">
            <a:avLst>
              <a:gd name="adj" fmla="val 8579"/>
            </a:avLst>
          </a:prstGeom>
          <a:solidFill>
            <a:srgbClr val="FFFFFF"/>
          </a:solidFill>
          <a:ln w="12700">
            <a:solidFill>
              <a:srgbClr val="C8D9DC"/>
            </a:solidFill>
            <a:prstDash val="solid"/>
          </a:ln>
        </p:spPr>
        <p:txBody>
          <a:bodyPr/>
          <a:lstStyle/>
          <a:p>
            <a:endParaRPr/>
          </a:p>
        </p:txBody>
      </p:sp>
      <p:sp>
        <p:nvSpPr>
          <p:cNvPr id="43" name="Shape 41"/>
          <p:cNvSpPr/>
          <p:nvPr/>
        </p:nvSpPr>
        <p:spPr>
          <a:xfrm>
            <a:off x="4498848" y="4347972"/>
            <a:ext cx="411480" cy="411480"/>
          </a:xfrm>
          <a:prstGeom prst="ellipse">
            <a:avLst/>
          </a:prstGeom>
          <a:solidFill>
            <a:srgbClr val="2477B3"/>
          </a:solidFill>
          <a:ln w="12700">
            <a:solidFill>
              <a:srgbClr val="2477B3"/>
            </a:solidFill>
            <a:prstDash val="solid"/>
          </a:ln>
        </p:spPr>
        <p:txBody>
          <a:bodyPr/>
          <a:lstStyle/>
          <a:p>
            <a:endParaRPr/>
          </a:p>
        </p:txBody>
      </p:sp>
      <p:sp>
        <p:nvSpPr>
          <p:cNvPr id="44" name="Text 42"/>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8</a:t>
            </a:r>
            <a:endParaRPr lang="en-US" sz="1500" dirty="0"/>
          </a:p>
        </p:txBody>
      </p:sp>
      <p:sp>
        <p:nvSpPr>
          <p:cNvPr id="45" name="Text 43"/>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15:30</a:t>
            </a:r>
            <a:endParaRPr lang="en-US" sz="1600" dirty="0"/>
          </a:p>
        </p:txBody>
      </p:sp>
      <p:sp>
        <p:nvSpPr>
          <p:cNvPr id="46" name="Text 44"/>
          <p:cNvSpPr txBox="1"/>
          <p:nvPr/>
        </p:nvSpPr>
        <p:spPr>
          <a:xfrm>
            <a:off x="4535424" y="4887468"/>
            <a:ext cx="3054096" cy="0"/>
          </a:xfrm>
          <a:prstGeom prst="rect">
            <a:avLst/>
          </a:prstGeom>
          <a:noFill/>
          <a:ln/>
        </p:spPr>
        <p:txBody>
          <a:bodyPr wrap="square" lIns="0" tIns="0" rIns="0" bIns="0" rtlCol="0" anchor="t">
            <a:normAutofit fontScale="25000" lnSpcReduction="20000"/>
          </a:bodyPr>
          <a:lstStyle/>
          <a:p>
            <a:pPr marL="0" indent="0" algn="l">
              <a:buNone/>
            </a:pPr>
            <a:r>
              <a:rPr lang="en-US" sz="1400" dirty="0">
                <a:solidFill>
                  <a:srgbClr val="102B3E"/>
                </a:solidFill>
                <a:latin typeface="Aptos" pitchFamily="34" charset="0"/>
                <a:ea typeface="Aptos" pitchFamily="34" charset="-122"/>
                <a:cs typeface="Aptos" pitchFamily="34" charset="-120"/>
              </a:rPr>
              <a:t>M5 · SharePoint</a:t>
            </a:r>
            <a:endParaRPr lang="en-US" sz="1400" dirty="0"/>
          </a:p>
        </p:txBody>
      </p:sp>
      <p:sp>
        <p:nvSpPr>
          <p:cNvPr id="47" name="Shape 45"/>
          <p:cNvSpPr/>
          <p:nvPr/>
        </p:nvSpPr>
        <p:spPr>
          <a:xfrm>
            <a:off x="8065008" y="4174236"/>
            <a:ext cx="3493008" cy="852678"/>
          </a:xfrm>
          <a:prstGeom prst="roundRect">
            <a:avLst>
              <a:gd name="adj" fmla="val 8579"/>
            </a:avLst>
          </a:prstGeom>
          <a:solidFill>
            <a:srgbClr val="FFFFFF"/>
          </a:solidFill>
          <a:ln w="12700">
            <a:solidFill>
              <a:srgbClr val="C8D9DC"/>
            </a:solidFill>
            <a:prstDash val="solid"/>
          </a:ln>
        </p:spPr>
        <p:txBody>
          <a:bodyPr/>
          <a:lstStyle/>
          <a:p>
            <a:endParaRPr/>
          </a:p>
        </p:txBody>
      </p:sp>
      <p:sp>
        <p:nvSpPr>
          <p:cNvPr id="48" name="Shape 46"/>
          <p:cNvSpPr/>
          <p:nvPr/>
        </p:nvSpPr>
        <p:spPr>
          <a:xfrm>
            <a:off x="8247888" y="4347972"/>
            <a:ext cx="411480" cy="411480"/>
          </a:xfrm>
          <a:prstGeom prst="ellipse">
            <a:avLst/>
          </a:prstGeom>
          <a:solidFill>
            <a:srgbClr val="2E8B72"/>
          </a:solidFill>
          <a:ln w="12700">
            <a:solidFill>
              <a:srgbClr val="2E8B72"/>
            </a:solidFill>
            <a:prstDash val="solid"/>
          </a:ln>
        </p:spPr>
        <p:txBody>
          <a:bodyPr/>
          <a:lstStyle/>
          <a:p>
            <a:endParaRPr/>
          </a:p>
        </p:txBody>
      </p:sp>
      <p:sp>
        <p:nvSpPr>
          <p:cNvPr id="49" name="Text 47"/>
          <p:cNvSpPr txBox="1"/>
          <p:nvPr/>
        </p:nvSpPr>
        <p:spPr>
          <a:xfrm>
            <a:off x="824788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9</a:t>
            </a:r>
            <a:endParaRPr lang="en-US" sz="1500" dirty="0"/>
          </a:p>
        </p:txBody>
      </p:sp>
      <p:sp>
        <p:nvSpPr>
          <p:cNvPr id="50" name="Text 48"/>
          <p:cNvSpPr txBox="1"/>
          <p:nvPr/>
        </p:nvSpPr>
        <p:spPr>
          <a:xfrm>
            <a:off x="877824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16:15</a:t>
            </a:r>
            <a:endParaRPr lang="en-US" sz="1600" dirty="0"/>
          </a:p>
        </p:txBody>
      </p:sp>
      <p:sp>
        <p:nvSpPr>
          <p:cNvPr id="51" name="Text 49"/>
          <p:cNvSpPr txBox="1"/>
          <p:nvPr/>
        </p:nvSpPr>
        <p:spPr>
          <a:xfrm>
            <a:off x="8284464" y="4887468"/>
            <a:ext cx="3054096" cy="0"/>
          </a:xfrm>
          <a:prstGeom prst="rect">
            <a:avLst/>
          </a:prstGeom>
          <a:noFill/>
          <a:ln/>
        </p:spPr>
        <p:txBody>
          <a:bodyPr wrap="square" lIns="0" tIns="0" rIns="0" bIns="0" rtlCol="0" anchor="t">
            <a:normAutofit fontScale="25000" lnSpcReduction="20000"/>
          </a:bodyPr>
          <a:lstStyle/>
          <a:p>
            <a:pPr marL="0" indent="0" algn="l">
              <a:buNone/>
            </a:pPr>
            <a:r>
              <a:rPr lang="en-US" sz="1400" dirty="0">
                <a:solidFill>
                  <a:srgbClr val="102B3E"/>
                </a:solidFill>
                <a:latin typeface="Aptos" pitchFamily="34" charset="0"/>
                <a:ea typeface="Aptos" pitchFamily="34" charset="-122"/>
                <a:cs typeface="Aptos" pitchFamily="34" charset="-120"/>
              </a:rPr>
              <a:t>M6 · Security</a:t>
            </a:r>
            <a:endParaRPr lang="en-US" sz="1400" dirty="0"/>
          </a:p>
        </p:txBody>
      </p:sp>
      <p:sp>
        <p:nvSpPr>
          <p:cNvPr id="52" name="Shape 50"/>
          <p:cNvSpPr/>
          <p:nvPr/>
        </p:nvSpPr>
        <p:spPr>
          <a:xfrm>
            <a:off x="566928" y="5246370"/>
            <a:ext cx="3493008" cy="852678"/>
          </a:xfrm>
          <a:prstGeom prst="roundRect">
            <a:avLst>
              <a:gd name="adj" fmla="val 8579"/>
            </a:avLst>
          </a:prstGeom>
          <a:solidFill>
            <a:srgbClr val="FFFFFF"/>
          </a:solidFill>
          <a:ln w="12700">
            <a:solidFill>
              <a:srgbClr val="C8D9DC"/>
            </a:solidFill>
            <a:prstDash val="solid"/>
          </a:ln>
        </p:spPr>
        <p:txBody>
          <a:bodyPr/>
          <a:lstStyle/>
          <a:p>
            <a:endParaRPr/>
          </a:p>
        </p:txBody>
      </p:sp>
      <p:sp>
        <p:nvSpPr>
          <p:cNvPr id="53" name="Shape 51"/>
          <p:cNvSpPr/>
          <p:nvPr/>
        </p:nvSpPr>
        <p:spPr>
          <a:xfrm>
            <a:off x="749808" y="5420106"/>
            <a:ext cx="411480" cy="411480"/>
          </a:xfrm>
          <a:prstGeom prst="ellipse">
            <a:avLst/>
          </a:prstGeom>
          <a:solidFill>
            <a:srgbClr val="F4A62A"/>
          </a:solidFill>
          <a:ln w="12700">
            <a:solidFill>
              <a:srgbClr val="F4A62A"/>
            </a:solidFill>
            <a:prstDash val="solid"/>
          </a:ln>
        </p:spPr>
        <p:txBody>
          <a:bodyPr/>
          <a:lstStyle/>
          <a:p>
            <a:endParaRPr/>
          </a:p>
        </p:txBody>
      </p:sp>
      <p:sp>
        <p:nvSpPr>
          <p:cNvPr id="54" name="Text 52"/>
          <p:cNvSpPr txBox="1"/>
          <p:nvPr/>
        </p:nvSpPr>
        <p:spPr>
          <a:xfrm>
            <a:off x="749808" y="5420106"/>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10</a:t>
            </a:r>
            <a:endParaRPr lang="en-US" sz="1500" dirty="0"/>
          </a:p>
        </p:txBody>
      </p:sp>
      <p:sp>
        <p:nvSpPr>
          <p:cNvPr id="55" name="Text 53"/>
          <p:cNvSpPr txBox="1"/>
          <p:nvPr/>
        </p:nvSpPr>
        <p:spPr>
          <a:xfrm>
            <a:off x="1280160" y="5410962"/>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16:45</a:t>
            </a:r>
            <a:endParaRPr lang="en-US" sz="1600" dirty="0"/>
          </a:p>
        </p:txBody>
      </p:sp>
      <p:sp>
        <p:nvSpPr>
          <p:cNvPr id="56" name="Text 54"/>
          <p:cNvSpPr txBox="1"/>
          <p:nvPr/>
        </p:nvSpPr>
        <p:spPr>
          <a:xfrm>
            <a:off x="786384" y="5959602"/>
            <a:ext cx="3054096" cy="0"/>
          </a:xfrm>
          <a:prstGeom prst="rect">
            <a:avLst/>
          </a:prstGeom>
          <a:noFill/>
          <a:ln/>
        </p:spPr>
        <p:txBody>
          <a:bodyPr wrap="square" lIns="0" tIns="0" rIns="0" bIns="0" rtlCol="0" anchor="t">
            <a:normAutofit fontScale="25000" lnSpcReduction="20000"/>
          </a:bodyPr>
          <a:lstStyle/>
          <a:p>
            <a:pPr marL="0" indent="0" algn="l">
              <a:buNone/>
            </a:pPr>
            <a:r>
              <a:rPr lang="en-US" sz="1400" dirty="0">
                <a:solidFill>
                  <a:srgbClr val="102B3E"/>
                </a:solidFill>
                <a:latin typeface="Aptos" pitchFamily="34" charset="0"/>
                <a:ea typeface="Aptos" pitchFamily="34" charset="-122"/>
                <a:cs typeface="Aptos" pitchFamily="34" charset="-120"/>
              </a:rPr>
              <a:t>Summary and close</a:t>
            </a:r>
            <a:endParaRPr lang="en-US" sz="1400" dirty="0"/>
          </a:p>
        </p:txBody>
      </p:sp>
      <p:sp>
        <p:nvSpPr>
          <p:cNvPr id="57" name="Text 5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5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B3E"/>
        </a:solidFill>
        <a:effectLst/>
      </p:bgPr>
    </p:bg>
    <p:spTree>
      <p:nvGrpSpPr>
        <p:cNvPr id="1" name=""/>
        <p:cNvGrpSpPr/>
        <p:nvPr/>
      </p:nvGrpSpPr>
      <p:grpSpPr>
        <a:xfrm>
          <a:off x="0" y="0"/>
          <a:ext cx="0" cy="0"/>
          <a:chOff x="0" y="0"/>
          <a:chExt cx="0" cy="0"/>
        </a:xfrm>
      </p:grpSpPr>
      <p:pic>
        <p:nvPicPr>
          <p:cNvPr id="2" name="Image 0" descr="/Users/alfredang/Documents/Supporting Document/Tertiary Infotech/Client Projects/Client WSQ Projects/Client - IES/GenAI for Engineers/assets/module-2-document-automation.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5166360" cy="6858000"/>
          </a:xfrm>
          <a:prstGeom prst="rect">
            <a:avLst/>
          </a:prstGeom>
          <a:solidFill>
            <a:srgbClr val="102B3E">
              <a:alpha val="95000"/>
            </a:srgbClr>
          </a:solidFill>
          <a:ln w="12700">
            <a:solidFill>
              <a:srgbClr val="102B3E">
                <a:alpha val="0"/>
              </a:srgbClr>
            </a:solidFill>
            <a:prstDash val="solid"/>
          </a:ln>
        </p:spPr>
        <p:txBody>
          <a:bodyPr/>
          <a:lstStyle/>
          <a:p>
            <a:endParaRPr lang="en-US"/>
          </a:p>
        </p:txBody>
      </p:sp>
      <p:sp>
        <p:nvSpPr>
          <p:cNvPr id="4" name="Text 1"/>
          <p:cNvSpPr txBox="1"/>
          <p:nvPr/>
        </p:nvSpPr>
        <p:spPr>
          <a:xfrm>
            <a:off x="640080" y="502920"/>
            <a:ext cx="640080" cy="274320"/>
          </a:xfrm>
          <a:prstGeom prst="rect">
            <a:avLst/>
          </a:prstGeom>
          <a:noFill/>
          <a:ln/>
        </p:spPr>
        <p:txBody>
          <a:bodyPr wrap="square" lIns="0" tIns="0" rIns="0" bIns="0" rtlCol="0" anchor="ctr">
            <a:normAutofit/>
          </a:bodyPr>
          <a:lstStyle/>
          <a:p>
            <a:pPr marL="0" indent="0" algn="l">
              <a:buNone/>
            </a:pPr>
            <a:r>
              <a:rPr lang="en-US" sz="1700" b="1" dirty="0">
                <a:solidFill>
                  <a:srgbClr val="17A9B8"/>
                </a:solidFill>
                <a:latin typeface="Aptos" pitchFamily="34" charset="0"/>
                <a:ea typeface="Aptos" pitchFamily="34" charset="-122"/>
                <a:cs typeface="Aptos" pitchFamily="34" charset="-120"/>
              </a:rPr>
              <a:t>IES</a:t>
            </a:r>
            <a:endParaRPr lang="en-US" sz="1700" dirty="0"/>
          </a:p>
        </p:txBody>
      </p:sp>
      <p:sp>
        <p:nvSpPr>
          <p:cNvPr id="5" name="Text 2"/>
          <p:cNvSpPr txBox="1"/>
          <p:nvPr/>
        </p:nvSpPr>
        <p:spPr>
          <a:xfrm>
            <a:off x="658368" y="1554480"/>
            <a:ext cx="3291840" cy="320040"/>
          </a:xfrm>
          <a:prstGeom prst="rect">
            <a:avLst/>
          </a:prstGeom>
          <a:noFill/>
          <a:ln/>
        </p:spPr>
        <p:txBody>
          <a:bodyPr wrap="square" lIns="0" tIns="0" rIns="0" bIns="0" rtlCol="0" anchor="ctr">
            <a:normAutofit/>
          </a:bodyPr>
          <a:lstStyle/>
          <a:p>
            <a:pPr marL="0" indent="0" algn="l">
              <a:buNone/>
            </a:pPr>
            <a:r>
              <a:rPr lang="en-US" sz="1400" b="1" dirty="0">
                <a:solidFill>
                  <a:srgbClr val="17A9B8"/>
                </a:solidFill>
                <a:latin typeface="Aptos" pitchFamily="34" charset="0"/>
                <a:ea typeface="Aptos" pitchFamily="34" charset="-122"/>
                <a:cs typeface="Aptos" pitchFamily="34" charset="-120"/>
              </a:rPr>
              <a:t>MODULE 1</a:t>
            </a:r>
            <a:endParaRPr lang="en-US" sz="1400" dirty="0"/>
          </a:p>
        </p:txBody>
      </p:sp>
      <p:sp>
        <p:nvSpPr>
          <p:cNvPr id="6" name="Text 3"/>
          <p:cNvSpPr txBox="1"/>
          <p:nvPr/>
        </p:nvSpPr>
        <p:spPr>
          <a:xfrm>
            <a:off x="658368" y="1993392"/>
            <a:ext cx="4069080" cy="1463040"/>
          </a:xfrm>
          <a:prstGeom prst="rect">
            <a:avLst/>
          </a:prstGeom>
          <a:noFill/>
          <a:ln/>
        </p:spPr>
        <p:txBody>
          <a:bodyPr wrap="square" lIns="0" tIns="0" rIns="0" bIns="0" rtlCol="0" anchor="ctr">
            <a:normAutofit/>
          </a:bodyPr>
          <a:lstStyle/>
          <a:p>
            <a:pPr marL="0" indent="0" algn="l">
              <a:buNone/>
            </a:pPr>
            <a:r>
              <a:rPr lang="en-US" sz="3200" b="1" dirty="0">
                <a:solidFill>
                  <a:srgbClr val="FFFFFF"/>
                </a:solidFill>
                <a:latin typeface="Aptos" pitchFamily="34" charset="0"/>
                <a:ea typeface="Aptos" pitchFamily="34" charset="-122"/>
                <a:cs typeface="Aptos" pitchFamily="34" charset="-120"/>
              </a:rPr>
              <a:t>The Copilot Ecosystem for Engineers</a:t>
            </a:r>
            <a:endParaRPr lang="en-US" sz="3200" dirty="0"/>
          </a:p>
        </p:txBody>
      </p:sp>
      <p:sp>
        <p:nvSpPr>
          <p:cNvPr id="7" name="Text 4"/>
          <p:cNvSpPr txBox="1"/>
          <p:nvPr/>
        </p:nvSpPr>
        <p:spPr>
          <a:xfrm>
            <a:off x="658368" y="3840480"/>
            <a:ext cx="3977640" cy="96012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Choose the right Copilot surface for the engineering job</a:t>
            </a:r>
            <a:endParaRPr lang="en-US" sz="1700" dirty="0"/>
          </a:p>
        </p:txBody>
      </p:sp>
      <p:sp>
        <p:nvSpPr>
          <p:cNvPr id="8" name="Shape 5"/>
          <p:cNvSpPr/>
          <p:nvPr/>
        </p:nvSpPr>
        <p:spPr>
          <a:xfrm>
            <a:off x="658368" y="5102352"/>
            <a:ext cx="1234440" cy="0"/>
          </a:xfrm>
          <a:prstGeom prst="line">
            <a:avLst/>
          </a:prstGeom>
          <a:noFill/>
          <a:ln w="50800">
            <a:solidFill>
              <a:srgbClr val="17A9B8"/>
            </a:solidFill>
            <a:prstDash val="solid"/>
          </a:ln>
        </p:spPr>
        <p:txBody>
          <a:bodyPr/>
          <a:lstStyle/>
          <a:p>
            <a:endParaRPr lang="en-US"/>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Module 1 learning outcomes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By the end of this module, participants can: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640080" y="2011680"/>
            <a:ext cx="502920" cy="502920"/>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640080" y="20116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9" name="Shape 7"/>
          <p:cNvSpPr/>
          <p:nvPr/>
        </p:nvSpPr>
        <p:spPr>
          <a:xfrm>
            <a:off x="1371600" y="19385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1627632" y="20482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Explain</a:t>
            </a:r>
            <a:endParaRPr lang="en-US" sz="1700" dirty="0"/>
          </a:p>
        </p:txBody>
      </p:sp>
      <p:sp>
        <p:nvSpPr>
          <p:cNvPr id="11" name="Text 9"/>
          <p:cNvSpPr txBox="1"/>
          <p:nvPr/>
        </p:nvSpPr>
        <p:spPr>
          <a:xfrm>
            <a:off x="3246120" y="20482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Distinguish GenAI, Copilot and an agent.</a:t>
            </a:r>
            <a:endParaRPr lang="en-US" sz="1600" dirty="0"/>
          </a:p>
        </p:txBody>
      </p:sp>
      <p:sp>
        <p:nvSpPr>
          <p:cNvPr id="12" name="Shape 10"/>
          <p:cNvSpPr/>
          <p:nvPr/>
        </p:nvSpPr>
        <p:spPr>
          <a:xfrm>
            <a:off x="640080" y="3097530"/>
            <a:ext cx="502920" cy="502920"/>
          </a:xfrm>
          <a:prstGeom prst="ellipse">
            <a:avLst/>
          </a:prstGeom>
          <a:solidFill>
            <a:srgbClr val="078897"/>
          </a:solidFill>
          <a:ln w="12700">
            <a:solidFill>
              <a:srgbClr val="078897"/>
            </a:solidFill>
            <a:prstDash val="solid"/>
          </a:ln>
        </p:spPr>
        <p:txBody>
          <a:bodyPr/>
          <a:lstStyle/>
          <a:p>
            <a:endParaRPr/>
          </a:p>
        </p:txBody>
      </p:sp>
      <p:sp>
        <p:nvSpPr>
          <p:cNvPr id="13" name="Text 11"/>
          <p:cNvSpPr txBox="1"/>
          <p:nvPr/>
        </p:nvSpPr>
        <p:spPr>
          <a:xfrm>
            <a:off x="640080" y="30975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4" name="Shape 12"/>
          <p:cNvSpPr/>
          <p:nvPr/>
        </p:nvSpPr>
        <p:spPr>
          <a:xfrm>
            <a:off x="1371600" y="302437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5" name="Text 13"/>
          <p:cNvSpPr txBox="1"/>
          <p:nvPr/>
        </p:nvSpPr>
        <p:spPr>
          <a:xfrm>
            <a:off x="1627632" y="31341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Choose</a:t>
            </a:r>
            <a:endParaRPr lang="en-US" sz="1700" dirty="0"/>
          </a:p>
        </p:txBody>
      </p:sp>
      <p:sp>
        <p:nvSpPr>
          <p:cNvPr id="16" name="Text 14"/>
          <p:cNvSpPr txBox="1"/>
          <p:nvPr/>
        </p:nvSpPr>
        <p:spPr>
          <a:xfrm>
            <a:off x="3246120" y="31341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Match Chat, Word, Excel, PowerPoint and SharePoint to a task.</a:t>
            </a:r>
            <a:endParaRPr lang="en-US" sz="1600" dirty="0"/>
          </a:p>
        </p:txBody>
      </p:sp>
      <p:sp>
        <p:nvSpPr>
          <p:cNvPr id="17" name="Shape 15"/>
          <p:cNvSpPr/>
          <p:nvPr/>
        </p:nvSpPr>
        <p:spPr>
          <a:xfrm>
            <a:off x="640080" y="4183380"/>
            <a:ext cx="502920" cy="502920"/>
          </a:xfrm>
          <a:prstGeom prst="ellipse">
            <a:avLst/>
          </a:prstGeom>
          <a:solidFill>
            <a:srgbClr val="078897"/>
          </a:solidFill>
          <a:ln w="12700">
            <a:solidFill>
              <a:srgbClr val="078897"/>
            </a:solidFill>
            <a:prstDash val="solid"/>
          </a:ln>
        </p:spPr>
        <p:txBody>
          <a:bodyPr/>
          <a:lstStyle/>
          <a:p>
            <a:endParaRPr/>
          </a:p>
        </p:txBody>
      </p:sp>
      <p:sp>
        <p:nvSpPr>
          <p:cNvPr id="18" name="Text 16"/>
          <p:cNvSpPr txBox="1"/>
          <p:nvPr/>
        </p:nvSpPr>
        <p:spPr>
          <a:xfrm>
            <a:off x="640080" y="41833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19" name="Shape 17"/>
          <p:cNvSpPr/>
          <p:nvPr/>
        </p:nvSpPr>
        <p:spPr>
          <a:xfrm>
            <a:off x="1371600" y="41102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20" name="Text 18"/>
          <p:cNvSpPr txBox="1"/>
          <p:nvPr/>
        </p:nvSpPr>
        <p:spPr>
          <a:xfrm>
            <a:off x="1627632" y="42199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Apply</a:t>
            </a:r>
            <a:endParaRPr lang="en-US" sz="1700" dirty="0"/>
          </a:p>
        </p:txBody>
      </p:sp>
      <p:sp>
        <p:nvSpPr>
          <p:cNvPr id="21" name="Text 19"/>
          <p:cNvSpPr txBox="1"/>
          <p:nvPr/>
        </p:nvSpPr>
        <p:spPr>
          <a:xfrm>
            <a:off x="3246120" y="42199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Turn a messy pump problem into a clear brief.</a:t>
            </a:r>
            <a:endParaRPr lang="en-US" sz="1600" dirty="0"/>
          </a:p>
        </p:txBody>
      </p:sp>
      <p:sp>
        <p:nvSpPr>
          <p:cNvPr id="22" name="Shape 20"/>
          <p:cNvSpPr/>
          <p:nvPr/>
        </p:nvSpPr>
        <p:spPr>
          <a:xfrm>
            <a:off x="640080" y="5269230"/>
            <a:ext cx="502920" cy="502920"/>
          </a:xfrm>
          <a:prstGeom prst="ellipse">
            <a:avLst/>
          </a:prstGeom>
          <a:solidFill>
            <a:srgbClr val="078897"/>
          </a:solidFill>
          <a:ln w="12700">
            <a:solidFill>
              <a:srgbClr val="078897"/>
            </a:solidFill>
            <a:prstDash val="solid"/>
          </a:ln>
        </p:spPr>
        <p:txBody>
          <a:bodyPr/>
          <a:lstStyle/>
          <a:p>
            <a:endParaRPr/>
          </a:p>
        </p:txBody>
      </p:sp>
      <p:sp>
        <p:nvSpPr>
          <p:cNvPr id="23" name="Text 21"/>
          <p:cNvSpPr txBox="1"/>
          <p:nvPr/>
        </p:nvSpPr>
        <p:spPr>
          <a:xfrm>
            <a:off x="640080" y="52692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4" name="Shape 22"/>
          <p:cNvSpPr/>
          <p:nvPr/>
        </p:nvSpPr>
        <p:spPr>
          <a:xfrm>
            <a:off x="1371600" y="5196078"/>
            <a:ext cx="10058400" cy="966978"/>
          </a:xfrm>
          <a:prstGeom prst="roundRect">
            <a:avLst>
              <a:gd name="adj" fmla="val 7565"/>
            </a:avLst>
          </a:prstGeom>
          <a:solidFill>
            <a:srgbClr val="FFFFFF"/>
          </a:solidFill>
          <a:ln w="12700">
            <a:solidFill>
              <a:srgbClr val="C8D9DC"/>
            </a:solidFill>
            <a:prstDash val="solid"/>
          </a:ln>
        </p:spPr>
        <p:txBody>
          <a:bodyPr/>
          <a:lstStyle/>
          <a:p>
            <a:endParaRPr lang="en-US"/>
          </a:p>
        </p:txBody>
      </p:sp>
      <p:sp>
        <p:nvSpPr>
          <p:cNvPr id="25" name="Text 23"/>
          <p:cNvSpPr txBox="1"/>
          <p:nvPr/>
        </p:nvSpPr>
        <p:spPr>
          <a:xfrm>
            <a:off x="1627632" y="53058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Verify</a:t>
            </a:r>
            <a:endParaRPr lang="en-US" sz="1700" dirty="0"/>
          </a:p>
        </p:txBody>
      </p:sp>
      <p:sp>
        <p:nvSpPr>
          <p:cNvPr id="26" name="Text 24"/>
          <p:cNvSpPr txBox="1"/>
          <p:nvPr/>
        </p:nvSpPr>
        <p:spPr>
          <a:xfrm>
            <a:off x="3246120" y="53058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Keep evidence and engineering decisions visible.</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AI, GenAI and Copilot are related</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Start with three simple definitions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3486912"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AI</a:t>
            </a:r>
            <a:endParaRPr lang="en-US" sz="2100" dirty="0"/>
          </a:p>
        </p:txBody>
      </p:sp>
      <p:sp>
        <p:nvSpPr>
          <p:cNvPr id="10" name="Text 8"/>
          <p:cNvSpPr txBox="1"/>
          <p:nvPr/>
        </p:nvSpPr>
        <p:spPr>
          <a:xfrm>
            <a:off x="859536"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Software performs tasks that usually need human judgement.</a:t>
            </a:r>
            <a:endParaRPr lang="en-US" sz="1700" dirty="0"/>
          </a:p>
        </p:txBody>
      </p:sp>
      <p:sp>
        <p:nvSpPr>
          <p:cNvPr id="11" name="Shape 9"/>
          <p:cNvSpPr/>
          <p:nvPr/>
        </p:nvSpPr>
        <p:spPr>
          <a:xfrm>
            <a:off x="4309872"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4309872" y="2057400"/>
            <a:ext cx="3486912"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4565904"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Generative AI</a:t>
            </a:r>
            <a:endParaRPr lang="en-US" sz="2100" dirty="0"/>
          </a:p>
        </p:txBody>
      </p:sp>
      <p:sp>
        <p:nvSpPr>
          <p:cNvPr id="14" name="Text 12"/>
          <p:cNvSpPr txBox="1"/>
          <p:nvPr/>
        </p:nvSpPr>
        <p:spPr>
          <a:xfrm>
            <a:off x="4602480"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Creates a new draft from instructions and context.</a:t>
            </a:r>
            <a:endParaRPr lang="en-US" sz="1700" dirty="0"/>
          </a:p>
        </p:txBody>
      </p:sp>
      <p:sp>
        <p:nvSpPr>
          <p:cNvPr id="15" name="Shape 13"/>
          <p:cNvSpPr/>
          <p:nvPr/>
        </p:nvSpPr>
        <p:spPr>
          <a:xfrm>
            <a:off x="8052816" y="2057400"/>
            <a:ext cx="3486912" cy="3959352"/>
          </a:xfrm>
          <a:prstGeom prst="roundRect">
            <a:avLst>
              <a:gd name="adj" fmla="val 2098"/>
            </a:avLst>
          </a:prstGeom>
          <a:solidFill>
            <a:srgbClr val="E2EEF0"/>
          </a:solidFill>
          <a:ln w="12700">
            <a:solidFill>
              <a:srgbClr val="C8D9DC"/>
            </a:solidFill>
            <a:prstDash val="solid"/>
          </a:ln>
        </p:spPr>
        <p:txBody>
          <a:bodyPr/>
          <a:lstStyle/>
          <a:p>
            <a:endParaRPr lang="en-US"/>
          </a:p>
        </p:txBody>
      </p:sp>
      <p:sp>
        <p:nvSpPr>
          <p:cNvPr id="16" name="Shape 14"/>
          <p:cNvSpPr/>
          <p:nvPr/>
        </p:nvSpPr>
        <p:spPr>
          <a:xfrm>
            <a:off x="8052816" y="2057400"/>
            <a:ext cx="3486912"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8308848"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F4A62A"/>
                </a:solidFill>
                <a:latin typeface="Aptos" pitchFamily="34" charset="0"/>
                <a:ea typeface="Aptos" pitchFamily="34" charset="-122"/>
                <a:cs typeface="Aptos" pitchFamily="34" charset="-120"/>
              </a:rPr>
              <a:t>Microsoft 365 Copilot</a:t>
            </a:r>
            <a:endParaRPr lang="en-US" sz="2100" dirty="0"/>
          </a:p>
        </p:txBody>
      </p:sp>
      <p:sp>
        <p:nvSpPr>
          <p:cNvPr id="18" name="Text 16"/>
          <p:cNvSpPr txBox="1"/>
          <p:nvPr/>
        </p:nvSpPr>
        <p:spPr>
          <a:xfrm>
            <a:off x="8345424"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Brings GenAI into work apps and organisational data.</a:t>
            </a:r>
            <a:endParaRPr lang="en-US" sz="1700" dirty="0"/>
          </a:p>
        </p:txBody>
      </p:sp>
      <p:sp>
        <p:nvSpPr>
          <p:cNvPr id="19" name="Text 17"/>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Where productivity improves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Copilot shortens repetitive preparation and first-draft work</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Find</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Locate relevant content</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Structure</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Turn notes into fields</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Calculate</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Suggest formulas and summaries</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Draft</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Create a report or slide</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Review</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Check evidence and approve</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The Microsoft 365 Copilot ecosystem</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Different surfaces support different engineering outputs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Copilot Chat</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Questions and briefs</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Word</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Specifications and reports</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Excel</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Tables, formulas and charts</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PowerPoint</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Management summaries</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Agents</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Repeatable workflows</a:t>
            </a:r>
            <a:endParaRPr lang="en-US" sz="1400" dirty="0"/>
          </a:p>
        </p:txBody>
      </p:sp>
      <p:sp>
        <p:nvSpPr>
          <p:cNvPr id="32" name="Shape 30"/>
          <p:cNvSpPr/>
          <p:nvPr/>
        </p:nvSpPr>
        <p:spPr>
          <a:xfrm>
            <a:off x="806500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33" name="Shape 31"/>
          <p:cNvSpPr/>
          <p:nvPr/>
        </p:nvSpPr>
        <p:spPr>
          <a:xfrm>
            <a:off x="8247888" y="4347972"/>
            <a:ext cx="411480" cy="411480"/>
          </a:xfrm>
          <a:prstGeom prst="ellipse">
            <a:avLst/>
          </a:prstGeom>
          <a:solidFill>
            <a:srgbClr val="C94B50"/>
          </a:solidFill>
          <a:ln w="12700">
            <a:solidFill>
              <a:srgbClr val="C94B50"/>
            </a:solidFill>
            <a:prstDash val="solid"/>
          </a:ln>
        </p:spPr>
        <p:txBody>
          <a:bodyPr/>
          <a:lstStyle/>
          <a:p>
            <a:endParaRPr/>
          </a:p>
        </p:txBody>
      </p:sp>
      <p:sp>
        <p:nvSpPr>
          <p:cNvPr id="34" name="Text 32"/>
          <p:cNvSpPr txBox="1"/>
          <p:nvPr/>
        </p:nvSpPr>
        <p:spPr>
          <a:xfrm>
            <a:off x="824788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6</a:t>
            </a:r>
            <a:endParaRPr lang="en-US" sz="1500" dirty="0"/>
          </a:p>
        </p:txBody>
      </p:sp>
      <p:sp>
        <p:nvSpPr>
          <p:cNvPr id="35" name="Text 33"/>
          <p:cNvSpPr txBox="1"/>
          <p:nvPr/>
        </p:nvSpPr>
        <p:spPr>
          <a:xfrm>
            <a:off x="877824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SharePoint</a:t>
            </a:r>
            <a:endParaRPr lang="en-US" sz="1600" dirty="0"/>
          </a:p>
        </p:txBody>
      </p:sp>
      <p:sp>
        <p:nvSpPr>
          <p:cNvPr id="36" name="Text 34"/>
          <p:cNvSpPr txBox="1"/>
          <p:nvPr/>
        </p:nvSpPr>
        <p:spPr>
          <a:xfrm>
            <a:off x="828446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Grounded knowledge</a:t>
            </a:r>
            <a:endParaRPr lang="en-US" sz="1400" dirty="0"/>
          </a:p>
        </p:txBody>
      </p:sp>
      <p:sp>
        <p:nvSpPr>
          <p:cNvPr id="37" name="Text 3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Copilot Chat · shape the question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Chat when the output is an explanation, brief or plan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pic>
        <p:nvPicPr>
          <p:cNvPr id="7" name="Image 0" descr="/Users/alfredang/Documents/Supporting Document/Tertiary Infotech/Client Projects/Client WSQ Projects/Client - IES/GenAI for Engineers/assets/copilot365-home.png"/>
          <p:cNvPicPr>
            <a:picLocks noChangeAspect="1"/>
          </p:cNvPicPr>
          <p:nvPr/>
        </p:nvPicPr>
        <p:blipFill>
          <a:blip r:embed="rId3"/>
          <a:stretch>
            <a:fillRect/>
          </a:stretch>
        </p:blipFill>
        <p:spPr>
          <a:xfrm>
            <a:off x="566928" y="1993392"/>
            <a:ext cx="6419088" cy="4041648"/>
          </a:xfrm>
          <a:prstGeom prst="rect">
            <a:avLst/>
          </a:prstGeom>
        </p:spPr>
      </p:pic>
      <p:sp>
        <p:nvSpPr>
          <p:cNvPr id="8" name="Shape 5"/>
          <p:cNvSpPr/>
          <p:nvPr/>
        </p:nvSpPr>
        <p:spPr>
          <a:xfrm>
            <a:off x="566928" y="5349240"/>
            <a:ext cx="6419088" cy="685800"/>
          </a:xfrm>
          <a:prstGeom prst="rect">
            <a:avLst/>
          </a:prstGeom>
          <a:solidFill>
            <a:srgbClr val="102B3E">
              <a:alpha val="92000"/>
            </a:srgbClr>
          </a:solidFill>
          <a:ln w="12700">
            <a:solidFill>
              <a:srgbClr val="102B3E">
                <a:alpha val="0"/>
              </a:srgbClr>
            </a:solidFill>
            <a:prstDash val="solid"/>
          </a:ln>
        </p:spPr>
        <p:txBody>
          <a:bodyPr/>
          <a:lstStyle/>
          <a:p>
            <a:endParaRPr/>
          </a:p>
        </p:txBody>
      </p:sp>
      <p:sp>
        <p:nvSpPr>
          <p:cNvPr id="9" name="Text 6"/>
          <p:cNvSpPr txBox="1"/>
          <p:nvPr/>
        </p:nvSpPr>
        <p:spPr>
          <a:xfrm>
            <a:off x="804672" y="5458968"/>
            <a:ext cx="5943600" cy="438912"/>
          </a:xfrm>
          <a:prstGeom prst="rect">
            <a:avLst/>
          </a:prstGeom>
          <a:noFill/>
          <a:ln/>
        </p:spPr>
        <p:txBody>
          <a:bodyPr wrap="square" lIns="0" tIns="0" rIns="0" bIns="0" rtlCol="0" anchor="ctr">
            <a:normAutofit/>
          </a:bodyPr>
          <a:lstStyle/>
          <a:p>
            <a:pPr marL="0" indent="0" algn="l">
              <a:buNone/>
            </a:pPr>
            <a:r>
              <a:rPr lang="en-US" sz="1600" b="1" dirty="0">
                <a:solidFill>
                  <a:srgbClr val="FFFFFF"/>
                </a:solidFill>
                <a:latin typeface="Aptos" pitchFamily="34" charset="0"/>
                <a:ea typeface="Aptos" pitchFamily="34" charset="-122"/>
                <a:cs typeface="Aptos" pitchFamily="34" charset="-120"/>
              </a:rPr>
              <a:t>Use Chat when the output is an explanation, brief or plan</a:t>
            </a:r>
            <a:endParaRPr lang="en-US" sz="1600" dirty="0"/>
          </a:p>
        </p:txBody>
      </p:sp>
      <p:sp>
        <p:nvSpPr>
          <p:cNvPr id="10" name="Shape 7"/>
          <p:cNvSpPr/>
          <p:nvPr/>
        </p:nvSpPr>
        <p:spPr>
          <a:xfrm>
            <a:off x="7388352" y="2103120"/>
            <a:ext cx="384048" cy="384048"/>
          </a:xfrm>
          <a:prstGeom prst="ellipse">
            <a:avLst/>
          </a:prstGeom>
          <a:solidFill>
            <a:srgbClr val="078897"/>
          </a:solidFill>
          <a:ln w="12700">
            <a:solidFill>
              <a:srgbClr val="078897"/>
            </a:solidFill>
            <a:prstDash val="solid"/>
          </a:ln>
        </p:spPr>
        <p:txBody>
          <a:bodyPr/>
          <a:lstStyle/>
          <a:p>
            <a:endParaRPr/>
          </a:p>
        </p:txBody>
      </p:sp>
      <p:sp>
        <p:nvSpPr>
          <p:cNvPr id="11" name="Text 8"/>
          <p:cNvSpPr txBox="1"/>
          <p:nvPr/>
        </p:nvSpPr>
        <p:spPr>
          <a:xfrm>
            <a:off x="7388352" y="2103120"/>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9"/>
          <p:cNvSpPr txBox="1"/>
          <p:nvPr/>
        </p:nvSpPr>
        <p:spPr>
          <a:xfrm>
            <a:off x="7909560" y="2057400"/>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Input</a:t>
            </a:r>
            <a:endParaRPr lang="en-US" sz="1500" dirty="0"/>
          </a:p>
        </p:txBody>
      </p:sp>
      <p:sp>
        <p:nvSpPr>
          <p:cNvPr id="13" name="Text 10"/>
          <p:cNvSpPr txBox="1"/>
          <p:nvPr/>
        </p:nvSpPr>
        <p:spPr>
          <a:xfrm>
            <a:off x="7909560" y="2404872"/>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Messy fault notes and known facts</a:t>
            </a:r>
            <a:endParaRPr lang="en-US" sz="1400" dirty="0"/>
          </a:p>
        </p:txBody>
      </p:sp>
      <p:sp>
        <p:nvSpPr>
          <p:cNvPr id="14" name="Shape 11"/>
          <p:cNvSpPr/>
          <p:nvPr/>
        </p:nvSpPr>
        <p:spPr>
          <a:xfrm>
            <a:off x="7388352" y="3182112"/>
            <a:ext cx="384048" cy="384048"/>
          </a:xfrm>
          <a:prstGeom prst="ellipse">
            <a:avLst/>
          </a:prstGeom>
          <a:solidFill>
            <a:srgbClr val="078897"/>
          </a:solidFill>
          <a:ln w="12700">
            <a:solidFill>
              <a:srgbClr val="078897"/>
            </a:solidFill>
            <a:prstDash val="solid"/>
          </a:ln>
        </p:spPr>
        <p:txBody>
          <a:bodyPr/>
          <a:lstStyle/>
          <a:p>
            <a:endParaRPr/>
          </a:p>
        </p:txBody>
      </p:sp>
      <p:sp>
        <p:nvSpPr>
          <p:cNvPr id="15" name="Text 12"/>
          <p:cNvSpPr txBox="1"/>
          <p:nvPr/>
        </p:nvSpPr>
        <p:spPr>
          <a:xfrm>
            <a:off x="7388352" y="3182112"/>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3"/>
          <p:cNvSpPr txBox="1"/>
          <p:nvPr/>
        </p:nvSpPr>
        <p:spPr>
          <a:xfrm>
            <a:off x="7909560" y="3136392"/>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Copilot helps</a:t>
            </a:r>
            <a:endParaRPr lang="en-US" sz="1500" dirty="0"/>
          </a:p>
        </p:txBody>
      </p:sp>
      <p:sp>
        <p:nvSpPr>
          <p:cNvPr id="17" name="Text 14"/>
          <p:cNvSpPr txBox="1"/>
          <p:nvPr/>
        </p:nvSpPr>
        <p:spPr>
          <a:xfrm>
            <a:off x="7909560" y="3483864"/>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Organise facts, assumptions and open questions</a:t>
            </a:r>
            <a:endParaRPr lang="en-US" sz="1400" dirty="0"/>
          </a:p>
        </p:txBody>
      </p:sp>
      <p:sp>
        <p:nvSpPr>
          <p:cNvPr id="18" name="Shape 15"/>
          <p:cNvSpPr/>
          <p:nvPr/>
        </p:nvSpPr>
        <p:spPr>
          <a:xfrm>
            <a:off x="7388352" y="4261104"/>
            <a:ext cx="384048" cy="384048"/>
          </a:xfrm>
          <a:prstGeom prst="ellipse">
            <a:avLst/>
          </a:prstGeom>
          <a:solidFill>
            <a:srgbClr val="078897"/>
          </a:solidFill>
          <a:ln w="12700">
            <a:solidFill>
              <a:srgbClr val="078897"/>
            </a:solidFill>
            <a:prstDash val="solid"/>
          </a:ln>
        </p:spPr>
        <p:txBody>
          <a:bodyPr/>
          <a:lstStyle/>
          <a:p>
            <a:endParaRPr/>
          </a:p>
        </p:txBody>
      </p:sp>
      <p:sp>
        <p:nvSpPr>
          <p:cNvPr id="19" name="Text 16"/>
          <p:cNvSpPr txBox="1"/>
          <p:nvPr/>
        </p:nvSpPr>
        <p:spPr>
          <a:xfrm>
            <a:off x="7388352" y="4261104"/>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7"/>
          <p:cNvSpPr txBox="1"/>
          <p:nvPr/>
        </p:nvSpPr>
        <p:spPr>
          <a:xfrm>
            <a:off x="7909560" y="4215384"/>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Engineer checks</a:t>
            </a:r>
            <a:endParaRPr lang="en-US" sz="1500" dirty="0"/>
          </a:p>
        </p:txBody>
      </p:sp>
      <p:sp>
        <p:nvSpPr>
          <p:cNvPr id="21" name="Text 18"/>
          <p:cNvSpPr txBox="1"/>
          <p:nvPr/>
        </p:nvSpPr>
        <p:spPr>
          <a:xfrm>
            <a:off x="7909560" y="4562856"/>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No invented values or conclusions</a:t>
            </a:r>
            <a:endParaRPr lang="en-US" sz="1400" dirty="0"/>
          </a:p>
        </p:txBody>
      </p:sp>
      <p:sp>
        <p:nvSpPr>
          <p:cNvPr id="22" name="Text 19"/>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Copilot in Word · draft structured documents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Move from source notes to an editable engineering document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Source</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Requirements or inspection notes</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Prompt</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Sections, tone, limits and evidence</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Draft</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Spec, report, SOP or method statement</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Review</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Clauses, numbers and approvals</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Copilot in Excel · analyse structured data</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named tables, explicit formulas and independent checks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Prepare</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Headers, units and table name</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Ask</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Calculation and chart instructions</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Inspect</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Formulas, ranges and missing values</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Verify</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One result independently</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Copilot in PowerPoint · communicate decisions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Turn checked findings into a short audience-specific story</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Message</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One decision or question</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Evidence</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Two or three supporting facts</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Visual</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Chart, process or comparison</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Boundary</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What remains unknown</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Copilot in Teams · turn discussion into action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Convert meeting content into follow-up work</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Meeting</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Transcript or notes</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Draft</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Decisions and actions</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Assign</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Owner and due date</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Review</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Confirm wording with participants</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SharePoint · supply governed context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 knowledge base helps Copilot answer from controlled sources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Documents</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Standards, manuals, reports</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Permissions</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Who may see each source</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Agent</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Searches the selected scope</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Answer</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Returns citations to open and check</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Agents · reuse a multi-step job</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An agent combines instructions, knowledge and a repeatable workflow</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Collect</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Required fields</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Validate</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Missing information</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Work</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Calculate or draft</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Gate</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Human review</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Deliver</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Reusable output</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Choose the surface from the output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Start with what the engineer needs to produce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1615440" cy="3959352"/>
          </a:xfrm>
          <a:prstGeom prst="roundRect">
            <a:avLst>
              <a:gd name="adj" fmla="val 452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1615440"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1103376" cy="502920"/>
          </a:xfrm>
          <a:prstGeom prst="rect">
            <a:avLst/>
          </a:prstGeom>
          <a:noFill/>
          <a:ln/>
        </p:spPr>
        <p:txBody>
          <a:bodyPr wrap="square" lIns="0" tIns="0" rIns="0" bIns="0" rtlCol="0" anchor="ctr">
            <a:normAutofit lnSpcReduction="10000"/>
          </a:bodyPr>
          <a:lstStyle/>
          <a:p>
            <a:pPr marL="0" indent="0" algn="ctr">
              <a:buNone/>
            </a:pPr>
            <a:r>
              <a:rPr lang="en-US" sz="1700" b="1" dirty="0">
                <a:solidFill>
                  <a:srgbClr val="078897"/>
                </a:solidFill>
                <a:latin typeface="Aptos" pitchFamily="34" charset="0"/>
                <a:ea typeface="Aptos" pitchFamily="34" charset="-122"/>
                <a:cs typeface="Aptos" pitchFamily="34" charset="-120"/>
              </a:rPr>
              <a:t>Question or brief</a:t>
            </a:r>
            <a:endParaRPr lang="en-US" sz="1700" dirty="0"/>
          </a:p>
        </p:txBody>
      </p:sp>
      <p:sp>
        <p:nvSpPr>
          <p:cNvPr id="10" name="Text 8"/>
          <p:cNvSpPr txBox="1"/>
          <p:nvPr/>
        </p:nvSpPr>
        <p:spPr>
          <a:xfrm>
            <a:off x="859536" y="3246120"/>
            <a:ext cx="1030224"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Copilot Chat</a:t>
            </a:r>
            <a:endParaRPr lang="en-US" sz="1400" dirty="0"/>
          </a:p>
        </p:txBody>
      </p:sp>
      <p:sp>
        <p:nvSpPr>
          <p:cNvPr id="11" name="Shape 9"/>
          <p:cNvSpPr/>
          <p:nvPr/>
        </p:nvSpPr>
        <p:spPr>
          <a:xfrm>
            <a:off x="2438400" y="2057400"/>
            <a:ext cx="1615440" cy="3959352"/>
          </a:xfrm>
          <a:prstGeom prst="roundRect">
            <a:avLst>
              <a:gd name="adj" fmla="val 452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2438400" y="2057400"/>
            <a:ext cx="1615440"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2694432" y="2395728"/>
            <a:ext cx="1103376" cy="502920"/>
          </a:xfrm>
          <a:prstGeom prst="rect">
            <a:avLst/>
          </a:prstGeom>
          <a:noFill/>
          <a:ln/>
        </p:spPr>
        <p:txBody>
          <a:bodyPr wrap="square" lIns="0" tIns="0" rIns="0" bIns="0" rtlCol="0" anchor="ctr">
            <a:normAutofit lnSpcReduction="10000"/>
          </a:bodyPr>
          <a:lstStyle/>
          <a:p>
            <a:pPr marL="0" indent="0" algn="ctr">
              <a:buNone/>
            </a:pPr>
            <a:r>
              <a:rPr lang="en-US" sz="1700" b="1" dirty="0">
                <a:solidFill>
                  <a:srgbClr val="2477B3"/>
                </a:solidFill>
                <a:latin typeface="Aptos" pitchFamily="34" charset="0"/>
                <a:ea typeface="Aptos" pitchFamily="34" charset="-122"/>
                <a:cs typeface="Aptos" pitchFamily="34" charset="-120"/>
              </a:rPr>
              <a:t>Editable report</a:t>
            </a:r>
            <a:endParaRPr lang="en-US" sz="1700" dirty="0"/>
          </a:p>
        </p:txBody>
      </p:sp>
      <p:sp>
        <p:nvSpPr>
          <p:cNvPr id="14" name="Text 12"/>
          <p:cNvSpPr txBox="1"/>
          <p:nvPr/>
        </p:nvSpPr>
        <p:spPr>
          <a:xfrm>
            <a:off x="2731008" y="3246120"/>
            <a:ext cx="1030224"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Word</a:t>
            </a:r>
            <a:endParaRPr lang="en-US" sz="1400" dirty="0"/>
          </a:p>
        </p:txBody>
      </p:sp>
      <p:sp>
        <p:nvSpPr>
          <p:cNvPr id="15" name="Shape 13"/>
          <p:cNvSpPr/>
          <p:nvPr/>
        </p:nvSpPr>
        <p:spPr>
          <a:xfrm>
            <a:off x="4309872" y="2057400"/>
            <a:ext cx="1615440" cy="3959352"/>
          </a:xfrm>
          <a:prstGeom prst="roundRect">
            <a:avLst>
              <a:gd name="adj" fmla="val 4528"/>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4309872" y="2057400"/>
            <a:ext cx="1615440"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4565904" y="2395728"/>
            <a:ext cx="1103376" cy="502920"/>
          </a:xfrm>
          <a:prstGeom prst="rect">
            <a:avLst/>
          </a:prstGeom>
          <a:noFill/>
          <a:ln/>
        </p:spPr>
        <p:txBody>
          <a:bodyPr wrap="square" lIns="0" tIns="0" rIns="0" bIns="0" rtlCol="0" anchor="ctr">
            <a:normAutofit lnSpcReduction="10000"/>
          </a:bodyPr>
          <a:lstStyle/>
          <a:p>
            <a:pPr marL="0" indent="0" algn="ctr">
              <a:buNone/>
            </a:pPr>
            <a:r>
              <a:rPr lang="en-US" sz="1700" b="1" dirty="0">
                <a:solidFill>
                  <a:srgbClr val="F4A62A"/>
                </a:solidFill>
                <a:latin typeface="Aptos" pitchFamily="34" charset="0"/>
                <a:ea typeface="Aptos" pitchFamily="34" charset="-122"/>
                <a:cs typeface="Aptos" pitchFamily="34" charset="-120"/>
              </a:rPr>
              <a:t>Calculation or chart</a:t>
            </a:r>
            <a:endParaRPr lang="en-US" sz="1700" dirty="0"/>
          </a:p>
        </p:txBody>
      </p:sp>
      <p:sp>
        <p:nvSpPr>
          <p:cNvPr id="18" name="Text 16"/>
          <p:cNvSpPr txBox="1"/>
          <p:nvPr/>
        </p:nvSpPr>
        <p:spPr>
          <a:xfrm>
            <a:off x="4602480" y="3246120"/>
            <a:ext cx="1030224"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Excel</a:t>
            </a:r>
            <a:endParaRPr lang="en-US" sz="1400" dirty="0"/>
          </a:p>
        </p:txBody>
      </p:sp>
      <p:sp>
        <p:nvSpPr>
          <p:cNvPr id="19" name="Shape 17"/>
          <p:cNvSpPr/>
          <p:nvPr/>
        </p:nvSpPr>
        <p:spPr>
          <a:xfrm>
            <a:off x="6181344" y="2057400"/>
            <a:ext cx="1615440" cy="3959352"/>
          </a:xfrm>
          <a:prstGeom prst="roundRect">
            <a:avLst>
              <a:gd name="adj" fmla="val 4528"/>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6181344" y="2057400"/>
            <a:ext cx="1615440"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6437376" y="2395728"/>
            <a:ext cx="1103376" cy="502920"/>
          </a:xfrm>
          <a:prstGeom prst="rect">
            <a:avLst/>
          </a:prstGeom>
          <a:noFill/>
          <a:ln/>
        </p:spPr>
        <p:txBody>
          <a:bodyPr wrap="square" lIns="0" tIns="0" rIns="0" bIns="0" rtlCol="0" anchor="ctr">
            <a:normAutofit lnSpcReduction="10000"/>
          </a:bodyPr>
          <a:lstStyle/>
          <a:p>
            <a:pPr marL="0" indent="0" algn="ctr">
              <a:buNone/>
            </a:pPr>
            <a:r>
              <a:rPr lang="en-US" sz="1700" b="1" dirty="0">
                <a:solidFill>
                  <a:srgbClr val="2E8B72"/>
                </a:solidFill>
                <a:latin typeface="Aptos" pitchFamily="34" charset="0"/>
                <a:ea typeface="Aptos" pitchFamily="34" charset="-122"/>
                <a:cs typeface="Aptos" pitchFamily="34" charset="-120"/>
              </a:rPr>
              <a:t>Decision story</a:t>
            </a:r>
            <a:endParaRPr lang="en-US" sz="1700" dirty="0"/>
          </a:p>
        </p:txBody>
      </p:sp>
      <p:sp>
        <p:nvSpPr>
          <p:cNvPr id="22" name="Text 20"/>
          <p:cNvSpPr txBox="1"/>
          <p:nvPr/>
        </p:nvSpPr>
        <p:spPr>
          <a:xfrm>
            <a:off x="6473952" y="3246120"/>
            <a:ext cx="1030224"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PowerPoint</a:t>
            </a:r>
            <a:endParaRPr lang="en-US" sz="1400" dirty="0"/>
          </a:p>
        </p:txBody>
      </p:sp>
      <p:sp>
        <p:nvSpPr>
          <p:cNvPr id="23" name="Shape 21"/>
          <p:cNvSpPr/>
          <p:nvPr/>
        </p:nvSpPr>
        <p:spPr>
          <a:xfrm>
            <a:off x="8052816" y="2057400"/>
            <a:ext cx="1615440" cy="3959352"/>
          </a:xfrm>
          <a:prstGeom prst="roundRect">
            <a:avLst>
              <a:gd name="adj" fmla="val 4528"/>
            </a:avLst>
          </a:prstGeom>
          <a:solidFill>
            <a:srgbClr val="FFFFFF"/>
          </a:solidFill>
          <a:ln w="12700">
            <a:solidFill>
              <a:srgbClr val="C8D9DC"/>
            </a:solidFill>
            <a:prstDash val="solid"/>
          </a:ln>
        </p:spPr>
        <p:txBody>
          <a:bodyPr/>
          <a:lstStyle/>
          <a:p>
            <a:endParaRPr lang="en-US"/>
          </a:p>
        </p:txBody>
      </p:sp>
      <p:sp>
        <p:nvSpPr>
          <p:cNvPr id="24" name="Shape 22"/>
          <p:cNvSpPr/>
          <p:nvPr/>
        </p:nvSpPr>
        <p:spPr>
          <a:xfrm>
            <a:off x="8052816" y="2057400"/>
            <a:ext cx="1615440" cy="109728"/>
          </a:xfrm>
          <a:prstGeom prst="rect">
            <a:avLst/>
          </a:prstGeom>
          <a:solidFill>
            <a:srgbClr val="078897"/>
          </a:solidFill>
          <a:ln w="12700">
            <a:solidFill>
              <a:srgbClr val="078897"/>
            </a:solidFill>
            <a:prstDash val="solid"/>
          </a:ln>
        </p:spPr>
        <p:txBody>
          <a:bodyPr/>
          <a:lstStyle/>
          <a:p>
            <a:endParaRPr lang="en-US"/>
          </a:p>
        </p:txBody>
      </p:sp>
      <p:sp>
        <p:nvSpPr>
          <p:cNvPr id="25" name="Text 23"/>
          <p:cNvSpPr txBox="1"/>
          <p:nvPr/>
        </p:nvSpPr>
        <p:spPr>
          <a:xfrm>
            <a:off x="8308848" y="2395728"/>
            <a:ext cx="1103376" cy="502920"/>
          </a:xfrm>
          <a:prstGeom prst="rect">
            <a:avLst/>
          </a:prstGeom>
          <a:noFill/>
          <a:ln/>
        </p:spPr>
        <p:txBody>
          <a:bodyPr wrap="square" lIns="0" tIns="0" rIns="0" bIns="0" rtlCol="0" anchor="ctr">
            <a:normAutofit lnSpcReduction="10000"/>
          </a:bodyPr>
          <a:lstStyle/>
          <a:p>
            <a:pPr marL="0" indent="0" algn="ctr">
              <a:buNone/>
            </a:pPr>
            <a:r>
              <a:rPr lang="en-US" sz="1700" b="1" dirty="0">
                <a:solidFill>
                  <a:srgbClr val="078897"/>
                </a:solidFill>
                <a:latin typeface="Aptos" pitchFamily="34" charset="0"/>
                <a:ea typeface="Aptos" pitchFamily="34" charset="-122"/>
                <a:cs typeface="Aptos" pitchFamily="34" charset="-120"/>
              </a:rPr>
              <a:t>Repeatable workflow</a:t>
            </a:r>
            <a:endParaRPr lang="en-US" sz="1700" dirty="0"/>
          </a:p>
        </p:txBody>
      </p:sp>
      <p:sp>
        <p:nvSpPr>
          <p:cNvPr id="26" name="Text 24"/>
          <p:cNvSpPr txBox="1"/>
          <p:nvPr/>
        </p:nvSpPr>
        <p:spPr>
          <a:xfrm>
            <a:off x="8345424" y="3246120"/>
            <a:ext cx="1030224"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Agent</a:t>
            </a:r>
            <a:endParaRPr lang="en-US" sz="1400" dirty="0"/>
          </a:p>
        </p:txBody>
      </p:sp>
      <p:sp>
        <p:nvSpPr>
          <p:cNvPr id="27" name="Shape 25"/>
          <p:cNvSpPr/>
          <p:nvPr/>
        </p:nvSpPr>
        <p:spPr>
          <a:xfrm>
            <a:off x="9924288" y="2057400"/>
            <a:ext cx="1615440" cy="3959352"/>
          </a:xfrm>
          <a:prstGeom prst="roundRect">
            <a:avLst>
              <a:gd name="adj" fmla="val 4528"/>
            </a:avLst>
          </a:prstGeom>
          <a:solidFill>
            <a:srgbClr val="FFFFFF"/>
          </a:solidFill>
          <a:ln w="12700">
            <a:solidFill>
              <a:srgbClr val="C8D9DC"/>
            </a:solidFill>
            <a:prstDash val="solid"/>
          </a:ln>
        </p:spPr>
        <p:txBody>
          <a:bodyPr/>
          <a:lstStyle/>
          <a:p>
            <a:endParaRPr lang="en-US"/>
          </a:p>
        </p:txBody>
      </p:sp>
      <p:sp>
        <p:nvSpPr>
          <p:cNvPr id="28" name="Shape 26"/>
          <p:cNvSpPr/>
          <p:nvPr/>
        </p:nvSpPr>
        <p:spPr>
          <a:xfrm>
            <a:off x="9924288" y="2057400"/>
            <a:ext cx="1615440" cy="109728"/>
          </a:xfrm>
          <a:prstGeom prst="rect">
            <a:avLst/>
          </a:prstGeom>
          <a:solidFill>
            <a:srgbClr val="2477B3"/>
          </a:solidFill>
          <a:ln w="12700">
            <a:solidFill>
              <a:srgbClr val="2477B3"/>
            </a:solidFill>
            <a:prstDash val="solid"/>
          </a:ln>
        </p:spPr>
        <p:txBody>
          <a:bodyPr/>
          <a:lstStyle/>
          <a:p>
            <a:endParaRPr lang="en-US"/>
          </a:p>
        </p:txBody>
      </p:sp>
      <p:sp>
        <p:nvSpPr>
          <p:cNvPr id="29" name="Text 27"/>
          <p:cNvSpPr txBox="1"/>
          <p:nvPr/>
        </p:nvSpPr>
        <p:spPr>
          <a:xfrm>
            <a:off x="10180320" y="2395728"/>
            <a:ext cx="1103376" cy="502920"/>
          </a:xfrm>
          <a:prstGeom prst="rect">
            <a:avLst/>
          </a:prstGeom>
          <a:noFill/>
          <a:ln/>
        </p:spPr>
        <p:txBody>
          <a:bodyPr wrap="square" lIns="0" tIns="0" rIns="0" bIns="0" rtlCol="0" anchor="ctr">
            <a:normAutofit fontScale="77500" lnSpcReduction="20000"/>
          </a:bodyPr>
          <a:lstStyle/>
          <a:p>
            <a:pPr marL="0" indent="0" algn="ctr">
              <a:buNone/>
            </a:pPr>
            <a:r>
              <a:rPr lang="en-US" sz="1700" b="1" dirty="0">
                <a:solidFill>
                  <a:srgbClr val="2477B3"/>
                </a:solidFill>
                <a:latin typeface="Aptos" pitchFamily="34" charset="0"/>
                <a:ea typeface="Aptos" pitchFamily="34" charset="-122"/>
                <a:cs typeface="Aptos" pitchFamily="34" charset="-120"/>
              </a:rPr>
              <a:t>Cited internal answer</a:t>
            </a:r>
            <a:endParaRPr lang="en-US" sz="1700" dirty="0"/>
          </a:p>
        </p:txBody>
      </p:sp>
      <p:sp>
        <p:nvSpPr>
          <p:cNvPr id="30" name="Text 28"/>
          <p:cNvSpPr txBox="1"/>
          <p:nvPr/>
        </p:nvSpPr>
        <p:spPr>
          <a:xfrm>
            <a:off x="10216896" y="3246120"/>
            <a:ext cx="1030224"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SharePoint agent</a:t>
            </a:r>
            <a:endParaRPr lang="en-US" sz="1400" dirty="0"/>
          </a:p>
        </p:txBody>
      </p:sp>
      <p:sp>
        <p:nvSpPr>
          <p:cNvPr id="31" name="Text 29"/>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2"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The CW-401 training case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One chemical dosing skid links the day</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pic>
        <p:nvPicPr>
          <p:cNvPr id="7" name="Image 0" descr="/Users/alfredang/Documents/Supporting Document/Tertiary Infotech/Client Projects/Client WSQ Projects/Client - IES/GenAI for Engineers/assets/dosing-skid.png"/>
          <p:cNvPicPr>
            <a:picLocks noChangeAspect="1"/>
          </p:cNvPicPr>
          <p:nvPr/>
        </p:nvPicPr>
        <p:blipFill>
          <a:blip r:embed="rId3"/>
          <a:stretch>
            <a:fillRect/>
          </a:stretch>
        </p:blipFill>
        <p:spPr>
          <a:xfrm>
            <a:off x="566928" y="1993392"/>
            <a:ext cx="6419088" cy="4041648"/>
          </a:xfrm>
          <a:prstGeom prst="rect">
            <a:avLst/>
          </a:prstGeom>
        </p:spPr>
      </p:pic>
      <p:sp>
        <p:nvSpPr>
          <p:cNvPr id="8" name="Shape 5"/>
          <p:cNvSpPr/>
          <p:nvPr/>
        </p:nvSpPr>
        <p:spPr>
          <a:xfrm>
            <a:off x="566928" y="5349240"/>
            <a:ext cx="6419088" cy="685800"/>
          </a:xfrm>
          <a:prstGeom prst="rect">
            <a:avLst/>
          </a:prstGeom>
          <a:solidFill>
            <a:srgbClr val="102B3E">
              <a:alpha val="92000"/>
            </a:srgbClr>
          </a:solidFill>
          <a:ln w="12700">
            <a:solidFill>
              <a:srgbClr val="102B3E">
                <a:alpha val="0"/>
              </a:srgbClr>
            </a:solidFill>
            <a:prstDash val="solid"/>
          </a:ln>
        </p:spPr>
        <p:txBody>
          <a:bodyPr/>
          <a:lstStyle/>
          <a:p>
            <a:endParaRPr/>
          </a:p>
        </p:txBody>
      </p:sp>
      <p:sp>
        <p:nvSpPr>
          <p:cNvPr id="9" name="Text 6"/>
          <p:cNvSpPr txBox="1"/>
          <p:nvPr/>
        </p:nvSpPr>
        <p:spPr>
          <a:xfrm>
            <a:off x="804672" y="5458968"/>
            <a:ext cx="5943600" cy="438912"/>
          </a:xfrm>
          <a:prstGeom prst="rect">
            <a:avLst/>
          </a:prstGeom>
          <a:noFill/>
          <a:ln/>
        </p:spPr>
        <p:txBody>
          <a:bodyPr wrap="square" lIns="0" tIns="0" rIns="0" bIns="0" rtlCol="0" anchor="ctr">
            <a:normAutofit/>
          </a:bodyPr>
          <a:lstStyle/>
          <a:p>
            <a:pPr marL="0" indent="0" algn="l">
              <a:buNone/>
            </a:pPr>
            <a:r>
              <a:rPr lang="en-US" sz="1600" b="1" dirty="0">
                <a:solidFill>
                  <a:srgbClr val="FFFFFF"/>
                </a:solidFill>
                <a:latin typeface="Aptos" pitchFamily="34" charset="0"/>
                <a:ea typeface="Aptos" pitchFamily="34" charset="-122"/>
                <a:cs typeface="Aptos" pitchFamily="34" charset="-120"/>
              </a:rPr>
              <a:t>One chemical dosing skid links the day</a:t>
            </a:r>
            <a:endParaRPr lang="en-US" sz="1600" dirty="0"/>
          </a:p>
        </p:txBody>
      </p:sp>
      <p:sp>
        <p:nvSpPr>
          <p:cNvPr id="10" name="Shape 7"/>
          <p:cNvSpPr/>
          <p:nvPr/>
        </p:nvSpPr>
        <p:spPr>
          <a:xfrm>
            <a:off x="7388352" y="2103120"/>
            <a:ext cx="384048" cy="384048"/>
          </a:xfrm>
          <a:prstGeom prst="ellipse">
            <a:avLst/>
          </a:prstGeom>
          <a:solidFill>
            <a:srgbClr val="078897"/>
          </a:solidFill>
          <a:ln w="12700">
            <a:solidFill>
              <a:srgbClr val="078897"/>
            </a:solidFill>
            <a:prstDash val="solid"/>
          </a:ln>
        </p:spPr>
        <p:txBody>
          <a:bodyPr/>
          <a:lstStyle/>
          <a:p>
            <a:endParaRPr/>
          </a:p>
        </p:txBody>
      </p:sp>
      <p:sp>
        <p:nvSpPr>
          <p:cNvPr id="11" name="Text 8"/>
          <p:cNvSpPr txBox="1"/>
          <p:nvPr/>
        </p:nvSpPr>
        <p:spPr>
          <a:xfrm>
            <a:off x="7388352" y="2103120"/>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9"/>
          <p:cNvSpPr txBox="1"/>
          <p:nvPr/>
        </p:nvSpPr>
        <p:spPr>
          <a:xfrm>
            <a:off x="7909560" y="2057400"/>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Duty</a:t>
            </a:r>
            <a:endParaRPr lang="en-US" sz="1500" dirty="0"/>
          </a:p>
        </p:txBody>
      </p:sp>
      <p:sp>
        <p:nvSpPr>
          <p:cNvPr id="13" name="Text 10"/>
          <p:cNvSpPr txBox="1"/>
          <p:nvPr/>
        </p:nvSpPr>
        <p:spPr>
          <a:xfrm>
            <a:off x="7909560" y="2404872"/>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Deliver liquid consistently</a:t>
            </a:r>
            <a:endParaRPr lang="en-US" sz="1400" dirty="0"/>
          </a:p>
        </p:txBody>
      </p:sp>
      <p:sp>
        <p:nvSpPr>
          <p:cNvPr id="14" name="Shape 11"/>
          <p:cNvSpPr/>
          <p:nvPr/>
        </p:nvSpPr>
        <p:spPr>
          <a:xfrm>
            <a:off x="7388352" y="3182112"/>
            <a:ext cx="384048" cy="384048"/>
          </a:xfrm>
          <a:prstGeom prst="ellipse">
            <a:avLst/>
          </a:prstGeom>
          <a:solidFill>
            <a:srgbClr val="078897"/>
          </a:solidFill>
          <a:ln w="12700">
            <a:solidFill>
              <a:srgbClr val="078897"/>
            </a:solidFill>
            <a:prstDash val="solid"/>
          </a:ln>
        </p:spPr>
        <p:txBody>
          <a:bodyPr/>
          <a:lstStyle/>
          <a:p>
            <a:endParaRPr/>
          </a:p>
        </p:txBody>
      </p:sp>
      <p:sp>
        <p:nvSpPr>
          <p:cNvPr id="15" name="Text 12"/>
          <p:cNvSpPr txBox="1"/>
          <p:nvPr/>
        </p:nvSpPr>
        <p:spPr>
          <a:xfrm>
            <a:off x="7388352" y="3182112"/>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3"/>
          <p:cNvSpPr txBox="1"/>
          <p:nvPr/>
        </p:nvSpPr>
        <p:spPr>
          <a:xfrm>
            <a:off x="7909560" y="3136392"/>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Concern</a:t>
            </a:r>
            <a:endParaRPr lang="en-US" sz="1500" dirty="0"/>
          </a:p>
        </p:txBody>
      </p:sp>
      <p:sp>
        <p:nvSpPr>
          <p:cNvPr id="17" name="Text 14"/>
          <p:cNvSpPr txBox="1"/>
          <p:nvPr/>
        </p:nvSpPr>
        <p:spPr>
          <a:xfrm>
            <a:off x="7909560" y="3483864"/>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Some later tests are low</a:t>
            </a:r>
            <a:endParaRPr lang="en-US" sz="1400" dirty="0"/>
          </a:p>
        </p:txBody>
      </p:sp>
      <p:sp>
        <p:nvSpPr>
          <p:cNvPr id="18" name="Shape 15"/>
          <p:cNvSpPr/>
          <p:nvPr/>
        </p:nvSpPr>
        <p:spPr>
          <a:xfrm>
            <a:off x="7388352" y="4261104"/>
            <a:ext cx="384048" cy="384048"/>
          </a:xfrm>
          <a:prstGeom prst="ellipse">
            <a:avLst/>
          </a:prstGeom>
          <a:solidFill>
            <a:srgbClr val="078897"/>
          </a:solidFill>
          <a:ln w="12700">
            <a:solidFill>
              <a:srgbClr val="078897"/>
            </a:solidFill>
            <a:prstDash val="solid"/>
          </a:ln>
        </p:spPr>
        <p:txBody>
          <a:bodyPr/>
          <a:lstStyle/>
          <a:p>
            <a:endParaRPr/>
          </a:p>
        </p:txBody>
      </p:sp>
      <p:sp>
        <p:nvSpPr>
          <p:cNvPr id="19" name="Text 16"/>
          <p:cNvSpPr txBox="1"/>
          <p:nvPr/>
        </p:nvSpPr>
        <p:spPr>
          <a:xfrm>
            <a:off x="7388352" y="4261104"/>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7"/>
          <p:cNvSpPr txBox="1"/>
          <p:nvPr/>
        </p:nvSpPr>
        <p:spPr>
          <a:xfrm>
            <a:off x="7909560" y="4215384"/>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Evidence</a:t>
            </a:r>
            <a:endParaRPr lang="en-US" sz="1500" dirty="0"/>
          </a:p>
        </p:txBody>
      </p:sp>
      <p:sp>
        <p:nvSpPr>
          <p:cNvPr id="21" name="Text 18"/>
          <p:cNvSpPr txBox="1"/>
          <p:nvPr/>
        </p:nvSpPr>
        <p:spPr>
          <a:xfrm>
            <a:off x="7909560" y="4562856"/>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Test readings, failure review and weekly deviations</a:t>
            </a:r>
            <a:endParaRPr lang="en-US" sz="1400" dirty="0"/>
          </a:p>
        </p:txBody>
      </p:sp>
      <p:sp>
        <p:nvSpPr>
          <p:cNvPr id="22" name="Text 19"/>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Start with an evidence packet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Copilot works better when the scope is small and explicit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Pump readings</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12 time-ordered values</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FMEA input</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4 possible failure modes</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Weekly data</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6 improvement records</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TR-401 extract</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Fictional recording requirements</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Copilot helps with the work around a decision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it to prepare evidence; keep approval with people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5358384"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Copilot can</a:t>
            </a:r>
            <a:endParaRPr lang="en-US" sz="2100" dirty="0"/>
          </a:p>
        </p:txBody>
      </p:sp>
      <p:sp>
        <p:nvSpPr>
          <p:cNvPr id="10" name="Text 8"/>
          <p:cNvSpPr txBox="1"/>
          <p:nvPr/>
        </p:nvSpPr>
        <p:spPr>
          <a:xfrm>
            <a:off x="859536"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Summarise, calculate, format, compare and draft.</a:t>
            </a:r>
            <a:endParaRPr lang="en-US" sz="1700" dirty="0"/>
          </a:p>
        </p:txBody>
      </p:sp>
      <p:sp>
        <p:nvSpPr>
          <p:cNvPr id="11" name="Shape 9"/>
          <p:cNvSpPr/>
          <p:nvPr/>
        </p:nvSpPr>
        <p:spPr>
          <a:xfrm>
            <a:off x="6181344"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6181344" y="2057400"/>
            <a:ext cx="5358384"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6437376"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Engineer must</a:t>
            </a:r>
            <a:endParaRPr lang="en-US" sz="2100" dirty="0"/>
          </a:p>
        </p:txBody>
      </p:sp>
      <p:sp>
        <p:nvSpPr>
          <p:cNvPr id="14" name="Text 12"/>
          <p:cNvSpPr txBox="1"/>
          <p:nvPr/>
        </p:nvSpPr>
        <p:spPr>
          <a:xfrm>
            <a:off x="6473952"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Confirm sources, assumptions, formulas, meaning and release.</a:t>
            </a:r>
            <a:endParaRPr lang="en-US" sz="1700" dirty="0"/>
          </a:p>
        </p:txBody>
      </p:sp>
      <p:sp>
        <p:nvSpPr>
          <p:cNvPr id="15" name="Text 1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 useful answer shows its limits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Three questions expose weak outputs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3486912"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Source</a:t>
            </a:r>
            <a:endParaRPr lang="en-US" sz="2100" dirty="0"/>
          </a:p>
        </p:txBody>
      </p:sp>
      <p:sp>
        <p:nvSpPr>
          <p:cNvPr id="10" name="Text 8"/>
          <p:cNvSpPr txBox="1"/>
          <p:nvPr/>
        </p:nvSpPr>
        <p:spPr>
          <a:xfrm>
            <a:off x="859536"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Where did this claim come from?</a:t>
            </a:r>
            <a:endParaRPr lang="en-US" sz="1700" dirty="0"/>
          </a:p>
        </p:txBody>
      </p:sp>
      <p:sp>
        <p:nvSpPr>
          <p:cNvPr id="11" name="Shape 9"/>
          <p:cNvSpPr/>
          <p:nvPr/>
        </p:nvSpPr>
        <p:spPr>
          <a:xfrm>
            <a:off x="4309872"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4309872" y="2057400"/>
            <a:ext cx="3486912"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4565904"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Check</a:t>
            </a:r>
            <a:endParaRPr lang="en-US" sz="2100" dirty="0"/>
          </a:p>
        </p:txBody>
      </p:sp>
      <p:sp>
        <p:nvSpPr>
          <p:cNvPr id="14" name="Text 12"/>
          <p:cNvSpPr txBox="1"/>
          <p:nvPr/>
        </p:nvSpPr>
        <p:spPr>
          <a:xfrm>
            <a:off x="4602480"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Can I reproduce the number?</a:t>
            </a:r>
            <a:endParaRPr lang="en-US" sz="1700" dirty="0"/>
          </a:p>
        </p:txBody>
      </p:sp>
      <p:sp>
        <p:nvSpPr>
          <p:cNvPr id="15" name="Shape 13"/>
          <p:cNvSpPr/>
          <p:nvPr/>
        </p:nvSpPr>
        <p:spPr>
          <a:xfrm>
            <a:off x="8052816" y="2057400"/>
            <a:ext cx="3486912" cy="3959352"/>
          </a:xfrm>
          <a:prstGeom prst="roundRect">
            <a:avLst>
              <a:gd name="adj" fmla="val 2098"/>
            </a:avLst>
          </a:prstGeom>
          <a:solidFill>
            <a:srgbClr val="E2EEF0"/>
          </a:solidFill>
          <a:ln w="12700">
            <a:solidFill>
              <a:srgbClr val="C8D9DC"/>
            </a:solidFill>
            <a:prstDash val="solid"/>
          </a:ln>
        </p:spPr>
        <p:txBody>
          <a:bodyPr/>
          <a:lstStyle/>
          <a:p>
            <a:endParaRPr lang="en-US"/>
          </a:p>
        </p:txBody>
      </p:sp>
      <p:sp>
        <p:nvSpPr>
          <p:cNvPr id="16" name="Shape 14"/>
          <p:cNvSpPr/>
          <p:nvPr/>
        </p:nvSpPr>
        <p:spPr>
          <a:xfrm>
            <a:off x="8052816" y="2057400"/>
            <a:ext cx="3486912"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8308848"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F4A62A"/>
                </a:solidFill>
                <a:latin typeface="Aptos" pitchFamily="34" charset="0"/>
                <a:ea typeface="Aptos" pitchFamily="34" charset="-122"/>
                <a:cs typeface="Aptos" pitchFamily="34" charset="-120"/>
              </a:rPr>
              <a:t>Boundary</a:t>
            </a:r>
            <a:endParaRPr lang="en-US" sz="2100" dirty="0"/>
          </a:p>
        </p:txBody>
      </p:sp>
      <p:sp>
        <p:nvSpPr>
          <p:cNvPr id="18" name="Text 16"/>
          <p:cNvSpPr txBox="1"/>
          <p:nvPr/>
        </p:nvSpPr>
        <p:spPr>
          <a:xfrm>
            <a:off x="8345424"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What does the evidence not prove?</a:t>
            </a:r>
            <a:endParaRPr lang="en-US" sz="1700" dirty="0"/>
          </a:p>
        </p:txBody>
      </p:sp>
      <p:sp>
        <p:nvSpPr>
          <p:cNvPr id="19" name="Text 17"/>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502920" cy="228600"/>
          </a:xfrm>
          <a:prstGeom prst="rect">
            <a:avLst/>
          </a:prstGeom>
          <a:noFill/>
        </p:spPr>
        <p:txBody>
          <a:bodyPr wrap="square" lIns="0" tIns="0" rIns="0" bIns="0">
            <a:spAutoFit/>
          </a:bodyPr>
          <a:lstStyle/>
          <a:p>
            <a:pPr algn="l"/>
            <a:r>
              <a:rPr sz="1100" b="1">
                <a:solidFill>
                  <a:srgbClr val="078897"/>
                </a:solidFill>
                <a:latin typeface="Aptos"/>
              </a:rPr>
              <a:t>IES</a:t>
            </a:r>
          </a:p>
        </p:txBody>
      </p:sp>
      <p:sp>
        <p:nvSpPr>
          <p:cNvPr id="3" name="TextBox 2"/>
          <p:cNvSpPr txBox="1"/>
          <p:nvPr/>
        </p:nvSpPr>
        <p:spPr>
          <a:xfrm>
            <a:off x="1207008" y="201168"/>
            <a:ext cx="5943600" cy="228600"/>
          </a:xfrm>
          <a:prstGeom prst="rect">
            <a:avLst/>
          </a:prstGeom>
          <a:noFill/>
        </p:spPr>
        <p:txBody>
          <a:bodyPr wrap="square" lIns="0" tIns="0" rIns="0" bIns="0">
            <a:spAutoFit/>
          </a:bodyPr>
          <a:lstStyle/>
          <a:p>
            <a:pPr algn="l"/>
            <a:r>
              <a:rPr sz="1100" b="0">
                <a:solidFill>
                  <a:srgbClr val="536A78"/>
                </a:solidFill>
                <a:latin typeface="Aptos"/>
              </a:rPr>
              <a:t>GENAI FOR ENGINEERS  /  MODULE 1</a:t>
            </a:r>
          </a:p>
        </p:txBody>
      </p:sp>
      <p:sp>
        <p:nvSpPr>
          <p:cNvPr id="4" name="TextBox 3"/>
          <p:cNvSpPr txBox="1"/>
          <p:nvPr/>
        </p:nvSpPr>
        <p:spPr>
          <a:xfrm>
            <a:off x="502920" y="640080"/>
            <a:ext cx="11109960" cy="512064"/>
          </a:xfrm>
          <a:prstGeom prst="rect">
            <a:avLst/>
          </a:prstGeom>
          <a:noFill/>
        </p:spPr>
        <p:txBody>
          <a:bodyPr wrap="square" lIns="0" tIns="0" rIns="0" bIns="0">
            <a:spAutoFit/>
          </a:bodyPr>
          <a:lstStyle/>
          <a:p>
            <a:pPr algn="l"/>
            <a:r>
              <a:rPr sz="2900" b="1">
                <a:solidFill>
                  <a:srgbClr val="102B3E"/>
                </a:solidFill>
                <a:latin typeface="Aptos"/>
              </a:rPr>
              <a:t>Your two class agents</a:t>
            </a:r>
          </a:p>
        </p:txBody>
      </p:sp>
      <p:sp>
        <p:nvSpPr>
          <p:cNvPr id="5" name="TextBox 4"/>
          <p:cNvSpPr txBox="1"/>
          <p:nvPr/>
        </p:nvSpPr>
        <p:spPr>
          <a:xfrm>
            <a:off x="502920" y="1225296"/>
            <a:ext cx="11018520" cy="384048"/>
          </a:xfrm>
          <a:prstGeom prst="rect">
            <a:avLst/>
          </a:prstGeom>
          <a:noFill/>
        </p:spPr>
        <p:txBody>
          <a:bodyPr wrap="square" lIns="0" tIns="0" rIns="0" bIns="0">
            <a:spAutoFit/>
          </a:bodyPr>
          <a:lstStyle/>
          <a:p>
            <a:pPr algn="l"/>
            <a:r>
              <a:rPr sz="1500" b="0">
                <a:solidFill>
                  <a:srgbClr val="536A78"/>
                </a:solidFill>
                <a:latin typeface="Aptos"/>
              </a:rPr>
              <a:t>Ask them anything, all day, in your own words</a:t>
            </a:r>
          </a:p>
        </p:txBody>
      </p:sp>
      <p:sp>
        <p:nvSpPr>
          <p:cNvPr id="6" name="Rectangle 5"/>
          <p:cNvSpPr/>
          <p:nvPr/>
        </p:nvSpPr>
        <p:spPr>
          <a:xfrm>
            <a:off x="502920" y="1737360"/>
            <a:ext cx="11109960" cy="18288"/>
          </a:xfrm>
          <a:prstGeom prst="rect">
            <a:avLst/>
          </a:prstGeom>
          <a:solidFill>
            <a:srgbClr val="078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46520"/>
            <a:ext cx="6400800" cy="164592"/>
          </a:xfrm>
          <a:prstGeom prst="rect">
            <a:avLst/>
          </a:prstGeom>
          <a:noFill/>
        </p:spPr>
        <p:txBody>
          <a:bodyPr wrap="square" lIns="0" tIns="0" rIns="0" bIns="0">
            <a:spAutoFit/>
          </a:bodyPr>
          <a:lstStyle/>
          <a:p>
            <a:pPr algn="l"/>
            <a:r>
              <a:rPr sz="800" b="0">
                <a:solidFill>
                  <a:srgbClr val="536A78"/>
                </a:solidFill>
                <a:latin typeface="Aptos"/>
              </a:rPr>
              <a:t>IES  |  ONE-DAY TEACHING ROUTE</a:t>
            </a:r>
          </a:p>
        </p:txBody>
      </p:sp>
      <p:sp>
        <p:nvSpPr>
          <p:cNvPr id="8" name="Rectangle 7"/>
          <p:cNvSpPr/>
          <p:nvPr/>
        </p:nvSpPr>
        <p:spPr>
          <a:xfrm>
            <a:off x="566928" y="1975104"/>
            <a:ext cx="5486400" cy="3703320"/>
          </a:xfrm>
          <a:prstGeom prst="rect">
            <a:avLst/>
          </a:prstGeom>
          <a:solidFill>
            <a:srgbClr val="10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212848"/>
            <a:ext cx="4892040" cy="310896"/>
          </a:xfrm>
          <a:prstGeom prst="rect">
            <a:avLst/>
          </a:prstGeom>
          <a:noFill/>
        </p:spPr>
        <p:txBody>
          <a:bodyPr wrap="square" lIns="0" tIns="0" rIns="0" bIns="0">
            <a:spAutoFit/>
          </a:bodyPr>
          <a:lstStyle/>
          <a:p>
            <a:pPr algn="l"/>
            <a:r>
              <a:rPr sz="1550" b="1">
                <a:solidFill>
                  <a:srgbClr val="FFFFFF"/>
                </a:solidFill>
                <a:latin typeface="Aptos"/>
              </a:rPr>
              <a:t>IES Engineering Methods Tutor</a:t>
            </a:r>
          </a:p>
        </p:txBody>
      </p:sp>
      <p:sp>
        <p:nvSpPr>
          <p:cNvPr id="10" name="TextBox 9"/>
          <p:cNvSpPr txBox="1"/>
          <p:nvPr/>
        </p:nvSpPr>
        <p:spPr>
          <a:xfrm>
            <a:off x="868680" y="2615184"/>
            <a:ext cx="4892040" cy="310896"/>
          </a:xfrm>
          <a:prstGeom prst="rect">
            <a:avLst/>
          </a:prstGeom>
          <a:noFill/>
        </p:spPr>
        <p:txBody>
          <a:bodyPr wrap="square" lIns="0" tIns="0" rIns="0" bIns="0">
            <a:spAutoFit/>
          </a:bodyPr>
          <a:lstStyle/>
          <a:p>
            <a:pPr algn="l"/>
            <a:r>
              <a:rPr sz="1200" b="0">
                <a:solidFill>
                  <a:srgbClr val="17A9B8"/>
                </a:solidFill>
                <a:latin typeface="Aptos"/>
              </a:rPr>
              <a:t>Explains the three methods this course uses.</a:t>
            </a:r>
          </a:p>
        </p:txBody>
      </p:sp>
      <p:sp>
        <p:nvSpPr>
          <p:cNvPr id="11" name="TextBox 10"/>
          <p:cNvSpPr txBox="1"/>
          <p:nvPr/>
        </p:nvSpPr>
        <p:spPr>
          <a:xfrm>
            <a:off x="868680" y="3054096"/>
            <a:ext cx="4892040" cy="201168"/>
          </a:xfrm>
          <a:prstGeom prst="rect">
            <a:avLst/>
          </a:prstGeom>
          <a:noFill/>
        </p:spPr>
        <p:txBody>
          <a:bodyPr wrap="square" lIns="0" tIns="0" rIns="0" bIns="0">
            <a:spAutoFit/>
          </a:bodyPr>
          <a:lstStyle/>
          <a:p>
            <a:pPr algn="l"/>
            <a:r>
              <a:rPr sz="1000" b="1">
                <a:solidFill>
                  <a:srgbClr val="17A9B8"/>
                </a:solidFill>
                <a:latin typeface="Aptos"/>
              </a:rPr>
              <a:t>TRY ASKING</a:t>
            </a:r>
          </a:p>
        </p:txBody>
      </p:sp>
      <p:sp>
        <p:nvSpPr>
          <p:cNvPr id="12" name="TextBox 11"/>
          <p:cNvSpPr txBox="1"/>
          <p:nvPr/>
        </p:nvSpPr>
        <p:spPr>
          <a:xfrm>
            <a:off x="868680" y="3346704"/>
            <a:ext cx="4892040" cy="310896"/>
          </a:xfrm>
          <a:prstGeom prst="rect">
            <a:avLst/>
          </a:prstGeom>
          <a:noFill/>
        </p:spPr>
        <p:txBody>
          <a:bodyPr wrap="square" lIns="0" tIns="0" rIns="0" bIns="0">
            <a:spAutoFit/>
          </a:bodyPr>
          <a:lstStyle/>
          <a:p>
            <a:pPr algn="l"/>
            <a:r>
              <a:rPr sz="1200" b="0">
                <a:solidFill>
                  <a:srgbClr val="FFFFFF"/>
                </a:solidFill>
                <a:latin typeface="Aptos"/>
              </a:rPr>
              <a:t>"Why is a high Detection score bad news?"</a:t>
            </a:r>
          </a:p>
        </p:txBody>
      </p:sp>
      <p:sp>
        <p:nvSpPr>
          <p:cNvPr id="13" name="TextBox 12"/>
          <p:cNvSpPr txBox="1"/>
          <p:nvPr/>
        </p:nvSpPr>
        <p:spPr>
          <a:xfrm>
            <a:off x="868680" y="3730752"/>
            <a:ext cx="4892040" cy="310896"/>
          </a:xfrm>
          <a:prstGeom prst="rect">
            <a:avLst/>
          </a:prstGeom>
          <a:noFill/>
        </p:spPr>
        <p:txBody>
          <a:bodyPr wrap="square" lIns="0" tIns="0" rIns="0" bIns="0">
            <a:spAutoFit/>
          </a:bodyPr>
          <a:lstStyle/>
          <a:p>
            <a:pPr algn="l"/>
            <a:r>
              <a:rPr sz="1200" b="0">
                <a:solidFill>
                  <a:srgbClr val="FFFFFF"/>
                </a:solidFill>
                <a:latin typeface="Aptos"/>
              </a:rPr>
              <a:t>"What is the difference between percentage points and percent?"</a:t>
            </a:r>
          </a:p>
        </p:txBody>
      </p:sp>
      <p:sp>
        <p:nvSpPr>
          <p:cNvPr id="14" name="TextBox 13"/>
          <p:cNvSpPr txBox="1"/>
          <p:nvPr/>
        </p:nvSpPr>
        <p:spPr>
          <a:xfrm>
            <a:off x="868680" y="4114800"/>
            <a:ext cx="4892040" cy="310896"/>
          </a:xfrm>
          <a:prstGeom prst="rect">
            <a:avLst/>
          </a:prstGeom>
          <a:noFill/>
        </p:spPr>
        <p:txBody>
          <a:bodyPr wrap="square" lIns="0" tIns="0" rIns="0" bIns="0">
            <a:spAutoFit/>
          </a:bodyPr>
          <a:lstStyle/>
          <a:p>
            <a:pPr algn="l"/>
            <a:r>
              <a:rPr sz="1200" b="0">
                <a:solidFill>
                  <a:srgbClr val="FFFFFF"/>
                </a:solidFill>
                <a:latin typeface="Aptos"/>
              </a:rPr>
              <a:t>"Why must control limits be frozen?"</a:t>
            </a:r>
          </a:p>
        </p:txBody>
      </p:sp>
      <p:sp>
        <p:nvSpPr>
          <p:cNvPr id="15" name="Rectangle 14"/>
          <p:cNvSpPr/>
          <p:nvPr/>
        </p:nvSpPr>
        <p:spPr>
          <a:xfrm>
            <a:off x="868680" y="4791456"/>
            <a:ext cx="4892040" cy="18288"/>
          </a:xfrm>
          <a:prstGeom prst="rect">
            <a:avLst/>
          </a:prstGeom>
          <a:solidFill>
            <a:srgbClr val="17A9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4974336"/>
            <a:ext cx="4892040" cy="548640"/>
          </a:xfrm>
          <a:prstGeom prst="rect">
            <a:avLst/>
          </a:prstGeom>
          <a:noFill/>
        </p:spPr>
        <p:txBody>
          <a:bodyPr wrap="square" lIns="0" tIns="0" rIns="0" bIns="0">
            <a:spAutoFit/>
          </a:bodyPr>
          <a:lstStyle/>
          <a:p>
            <a:pPr algn="l"/>
            <a:r>
              <a:rPr sz="1150" b="0">
                <a:solidFill>
                  <a:srgbClr val="17A9B8"/>
                </a:solidFill>
                <a:latin typeface="Aptos"/>
              </a:rPr>
              <a:t>Open from Copilot Chat → Agents,</a:t>
            </a:r>
          </a:p>
          <a:p>
            <a:pPr algn="l"/>
            <a:r>
              <a:rPr sz="1150" b="0">
                <a:solidFill>
                  <a:srgbClr val="17A9B8"/>
                </a:solidFill>
                <a:latin typeface="Aptos"/>
              </a:rPr>
              <a:t>or use the link in your lab folder.</a:t>
            </a:r>
          </a:p>
        </p:txBody>
      </p:sp>
      <p:sp>
        <p:nvSpPr>
          <p:cNvPr id="17" name="Rectangle 16"/>
          <p:cNvSpPr/>
          <p:nvPr/>
        </p:nvSpPr>
        <p:spPr>
          <a:xfrm>
            <a:off x="6291072" y="1975104"/>
            <a:ext cx="5486400" cy="3703320"/>
          </a:xfrm>
          <a:prstGeom prst="rect">
            <a:avLst/>
          </a:prstGeom>
          <a:solidFill>
            <a:srgbClr val="10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92824" y="2212848"/>
            <a:ext cx="4892040" cy="310896"/>
          </a:xfrm>
          <a:prstGeom prst="rect">
            <a:avLst/>
          </a:prstGeom>
          <a:noFill/>
        </p:spPr>
        <p:txBody>
          <a:bodyPr wrap="square" lIns="0" tIns="0" rIns="0" bIns="0">
            <a:spAutoFit/>
          </a:bodyPr>
          <a:lstStyle/>
          <a:p>
            <a:pPr algn="l"/>
            <a:r>
              <a:rPr sz="1550" b="1">
                <a:solidFill>
                  <a:srgbClr val="FFFFFF"/>
                </a:solidFill>
                <a:latin typeface="Aptos"/>
              </a:rPr>
              <a:t>IES AI Security Advisor</a:t>
            </a:r>
          </a:p>
        </p:txBody>
      </p:sp>
      <p:sp>
        <p:nvSpPr>
          <p:cNvPr id="19" name="TextBox 18"/>
          <p:cNvSpPr txBox="1"/>
          <p:nvPr/>
        </p:nvSpPr>
        <p:spPr>
          <a:xfrm>
            <a:off x="6592824" y="2615184"/>
            <a:ext cx="4892040" cy="310896"/>
          </a:xfrm>
          <a:prstGeom prst="rect">
            <a:avLst/>
          </a:prstGeom>
          <a:noFill/>
        </p:spPr>
        <p:txBody>
          <a:bodyPr wrap="square" lIns="0" tIns="0" rIns="0" bIns="0">
            <a:spAutoFit/>
          </a:bodyPr>
          <a:lstStyle/>
          <a:p>
            <a:pPr algn="l"/>
            <a:r>
              <a:rPr sz="1200" b="0">
                <a:solidFill>
                  <a:srgbClr val="17A9B8"/>
                </a:solidFill>
                <a:latin typeface="Aptos"/>
              </a:rPr>
              <a:t>Answers safe and accountable AI use questions.</a:t>
            </a:r>
          </a:p>
        </p:txBody>
      </p:sp>
      <p:sp>
        <p:nvSpPr>
          <p:cNvPr id="20" name="TextBox 19"/>
          <p:cNvSpPr txBox="1"/>
          <p:nvPr/>
        </p:nvSpPr>
        <p:spPr>
          <a:xfrm>
            <a:off x="6592824" y="3054096"/>
            <a:ext cx="4892040" cy="201168"/>
          </a:xfrm>
          <a:prstGeom prst="rect">
            <a:avLst/>
          </a:prstGeom>
          <a:noFill/>
        </p:spPr>
        <p:txBody>
          <a:bodyPr wrap="square" lIns="0" tIns="0" rIns="0" bIns="0">
            <a:spAutoFit/>
          </a:bodyPr>
          <a:lstStyle/>
          <a:p>
            <a:pPr algn="l"/>
            <a:r>
              <a:rPr sz="1000" b="1">
                <a:solidFill>
                  <a:srgbClr val="17A9B8"/>
                </a:solidFill>
                <a:latin typeface="Aptos"/>
              </a:rPr>
              <a:t>TRY ASKING</a:t>
            </a:r>
          </a:p>
        </p:txBody>
      </p:sp>
      <p:sp>
        <p:nvSpPr>
          <p:cNvPr id="21" name="TextBox 20"/>
          <p:cNvSpPr txBox="1"/>
          <p:nvPr/>
        </p:nvSpPr>
        <p:spPr>
          <a:xfrm>
            <a:off x="6592824" y="3346704"/>
            <a:ext cx="4892040" cy="310896"/>
          </a:xfrm>
          <a:prstGeom prst="rect">
            <a:avLst/>
          </a:prstGeom>
          <a:noFill/>
        </p:spPr>
        <p:txBody>
          <a:bodyPr wrap="square" lIns="0" tIns="0" rIns="0" bIns="0">
            <a:spAutoFit/>
          </a:bodyPr>
          <a:lstStyle/>
          <a:p>
            <a:pPr algn="l"/>
            <a:r>
              <a:rPr sz="1200" b="0">
                <a:solidFill>
                  <a:srgbClr val="FFFFFF"/>
                </a:solidFill>
                <a:latin typeface="Aptos"/>
              </a:rPr>
              <a:t>"Can I paste an NRIC into a prompt?"</a:t>
            </a:r>
          </a:p>
        </p:txBody>
      </p:sp>
      <p:sp>
        <p:nvSpPr>
          <p:cNvPr id="22" name="TextBox 21"/>
          <p:cNvSpPr txBox="1"/>
          <p:nvPr/>
        </p:nvSpPr>
        <p:spPr>
          <a:xfrm>
            <a:off x="6592824" y="3730752"/>
            <a:ext cx="4892040" cy="310896"/>
          </a:xfrm>
          <a:prstGeom prst="rect">
            <a:avLst/>
          </a:prstGeom>
          <a:noFill/>
        </p:spPr>
        <p:txBody>
          <a:bodyPr wrap="square" lIns="0" tIns="0" rIns="0" bIns="0">
            <a:spAutoFit/>
          </a:bodyPr>
          <a:lstStyle/>
          <a:p>
            <a:pPr algn="l"/>
            <a:r>
              <a:rPr sz="1200" b="0">
                <a:solidFill>
                  <a:srgbClr val="FFFFFF"/>
                </a:solidFill>
                <a:latin typeface="Aptos"/>
              </a:rPr>
              <a:t>"Who is accountable if the agent is wrong?"</a:t>
            </a:r>
          </a:p>
        </p:txBody>
      </p:sp>
      <p:sp>
        <p:nvSpPr>
          <p:cNvPr id="23" name="TextBox 22"/>
          <p:cNvSpPr txBox="1"/>
          <p:nvPr/>
        </p:nvSpPr>
        <p:spPr>
          <a:xfrm>
            <a:off x="6592824" y="4114800"/>
            <a:ext cx="4892040" cy="310896"/>
          </a:xfrm>
          <a:prstGeom prst="rect">
            <a:avLst/>
          </a:prstGeom>
          <a:noFill/>
        </p:spPr>
        <p:txBody>
          <a:bodyPr wrap="square" lIns="0" tIns="0" rIns="0" bIns="0">
            <a:spAutoFit/>
          </a:bodyPr>
          <a:lstStyle/>
          <a:p>
            <a:pPr algn="l"/>
            <a:r>
              <a:rPr sz="1200" b="0">
                <a:solidFill>
                  <a:srgbClr val="FFFFFF"/>
                </a:solidFill>
                <a:latin typeface="Aptos"/>
              </a:rPr>
              <a:t>"What happens to my prompt logs?"</a:t>
            </a:r>
          </a:p>
        </p:txBody>
      </p:sp>
      <p:sp>
        <p:nvSpPr>
          <p:cNvPr id="24" name="Rectangle 23"/>
          <p:cNvSpPr/>
          <p:nvPr/>
        </p:nvSpPr>
        <p:spPr>
          <a:xfrm>
            <a:off x="6592824" y="4791456"/>
            <a:ext cx="4892040" cy="18288"/>
          </a:xfrm>
          <a:prstGeom prst="rect">
            <a:avLst/>
          </a:prstGeom>
          <a:solidFill>
            <a:srgbClr val="17A9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92824" y="4974336"/>
            <a:ext cx="4892040" cy="548640"/>
          </a:xfrm>
          <a:prstGeom prst="rect">
            <a:avLst/>
          </a:prstGeom>
          <a:noFill/>
        </p:spPr>
        <p:txBody>
          <a:bodyPr wrap="square" lIns="0" tIns="0" rIns="0" bIns="0">
            <a:spAutoFit/>
          </a:bodyPr>
          <a:lstStyle/>
          <a:p>
            <a:pPr algn="l"/>
            <a:r>
              <a:rPr sz="1150" b="0">
                <a:solidFill>
                  <a:srgbClr val="17A9B8"/>
                </a:solidFill>
                <a:latin typeface="Aptos"/>
              </a:rPr>
              <a:t>Open from Copilot Chat → Agents,</a:t>
            </a:r>
          </a:p>
          <a:p>
            <a:pPr algn="l"/>
            <a:r>
              <a:rPr sz="1150" b="0">
                <a:solidFill>
                  <a:srgbClr val="17A9B8"/>
                </a:solidFill>
                <a:latin typeface="Aptos"/>
              </a:rPr>
              <a:t>or use the link in your lab folder.</a:t>
            </a:r>
          </a:p>
        </p:txBody>
      </p:sp>
      <p:sp>
        <p:nvSpPr>
          <p:cNvPr id="26" name="TextBox 25"/>
          <p:cNvSpPr txBox="1"/>
          <p:nvPr/>
        </p:nvSpPr>
        <p:spPr>
          <a:xfrm>
            <a:off x="566928" y="5870448"/>
            <a:ext cx="11064240" cy="457200"/>
          </a:xfrm>
          <a:prstGeom prst="rect">
            <a:avLst/>
          </a:prstGeom>
          <a:noFill/>
        </p:spPr>
        <p:txBody>
          <a:bodyPr wrap="square" lIns="0" tIns="0" rIns="0" bIns="0">
            <a:spAutoFit/>
          </a:bodyPr>
          <a:lstStyle/>
          <a:p>
            <a:pPr algn="l"/>
            <a:r>
              <a:rPr sz="1250" b="0">
                <a:solidFill>
                  <a:srgbClr val="078897"/>
                </a:solidFill>
                <a:latin typeface="Aptos"/>
              </a:rPr>
              <a:t>Both agents are shared with the class. They teach and explain; they never approve an engineering decision.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1.1 · Onboarding and tool access check</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Verify access once before the practical work</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1</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Sign in to Microsoft 365</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2</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Open Copilot Chat</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3</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Confirm Copilot in Word and Excel</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4</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Open Agents</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5</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Tell the trainer about any blocked surface</a:t>
            </a:r>
            <a:endParaRPr lang="en-US" sz="1400" dirty="0"/>
          </a:p>
        </p:txBody>
      </p:sp>
      <p:sp>
        <p:nvSpPr>
          <p:cNvPr id="32" name="Text 3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1.2 · AI versus Engineer challenge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Turn the same messy notes into a technical brief</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2743200" cy="4069080"/>
          </a:xfrm>
          <a:prstGeom prst="roundRect">
            <a:avLst/>
          </a:prstGeom>
          <a:solidFill>
            <a:srgbClr val="102B3E"/>
          </a:solidFill>
          <a:ln w="12700">
            <a:solidFill>
              <a:srgbClr val="102B3E"/>
            </a:solidFill>
            <a:prstDash val="solid"/>
          </a:ln>
        </p:spPr>
        <p:txBody>
          <a:bodyPr/>
          <a:lstStyle/>
          <a:p>
            <a:endParaRPr/>
          </a:p>
        </p:txBody>
      </p:sp>
      <p:sp>
        <p:nvSpPr>
          <p:cNvPr id="8" name="Text 6"/>
          <p:cNvSpPr txBox="1"/>
          <p:nvPr/>
        </p:nvSpPr>
        <p:spPr>
          <a:xfrm>
            <a:off x="868680" y="2395728"/>
            <a:ext cx="2148840" cy="548640"/>
          </a:xfrm>
          <a:prstGeom prst="rect">
            <a:avLst/>
          </a:prstGeom>
          <a:noFill/>
          <a:ln/>
        </p:spPr>
        <p:txBody>
          <a:bodyPr wrap="square" lIns="0" tIns="0" rIns="0" bIns="0" rtlCol="0" anchor="ctr">
            <a:normAutofit/>
          </a:bodyPr>
          <a:lstStyle/>
          <a:p>
            <a:pPr marL="0" indent="0" algn="ctr">
              <a:buNone/>
            </a:pPr>
            <a:r>
              <a:rPr lang="en-US" sz="2400" b="1" dirty="0">
                <a:solidFill>
                  <a:srgbClr val="FFFFFF"/>
                </a:solidFill>
                <a:latin typeface="Aptos" pitchFamily="34" charset="0"/>
                <a:ea typeface="Aptos" pitchFamily="34" charset="-122"/>
                <a:cs typeface="Aptos" pitchFamily="34" charset="-120"/>
              </a:rPr>
              <a:t>Lab 1.2</a:t>
            </a:r>
            <a:endParaRPr lang="en-US" sz="2400" dirty="0"/>
          </a:p>
        </p:txBody>
      </p:sp>
      <p:sp>
        <p:nvSpPr>
          <p:cNvPr id="9" name="Text 7"/>
          <p:cNvSpPr txBox="1"/>
          <p:nvPr/>
        </p:nvSpPr>
        <p:spPr>
          <a:xfrm>
            <a:off x="868680" y="3163824"/>
            <a:ext cx="2148840" cy="1143000"/>
          </a:xfrm>
          <a:prstGeom prst="rect">
            <a:avLst/>
          </a:prstGeom>
          <a:noFill/>
          <a:ln/>
        </p:spPr>
        <p:txBody>
          <a:bodyPr wrap="square" lIns="0" tIns="0" rIns="0" bIns="0" rtlCol="0" anchor="ctr">
            <a:normAutofit/>
          </a:bodyPr>
          <a:lstStyle/>
          <a:p>
            <a:pPr marL="0" indent="0" algn="ctr">
              <a:buNone/>
            </a:pPr>
            <a:r>
              <a:rPr lang="en-US" sz="1600" dirty="0">
                <a:solidFill>
                  <a:srgbClr val="FFFFFF"/>
                </a:solidFill>
                <a:latin typeface="Aptos" pitchFamily="34" charset="0"/>
                <a:ea typeface="Aptos" pitchFamily="34" charset="-122"/>
                <a:cs typeface="Aptos" pitchFamily="34" charset="-120"/>
              </a:rPr>
              <a:t>Turn the same messy notes into a technical brief</a:t>
            </a:r>
            <a:endParaRPr lang="en-US" sz="1600" dirty="0"/>
          </a:p>
        </p:txBody>
      </p:sp>
      <p:sp>
        <p:nvSpPr>
          <p:cNvPr id="10" name="Text 8"/>
          <p:cNvSpPr txBox="1"/>
          <p:nvPr/>
        </p:nvSpPr>
        <p:spPr>
          <a:xfrm>
            <a:off x="868680" y="4992624"/>
            <a:ext cx="2148840" cy="274320"/>
          </a:xfrm>
          <a:prstGeom prst="rect">
            <a:avLst/>
          </a:prstGeom>
          <a:noFill/>
          <a:ln/>
        </p:spPr>
        <p:txBody>
          <a:bodyPr wrap="square" lIns="0" tIns="0" rIns="0" bIns="0" rtlCol="0" anchor="ctr">
            <a:normAutofit/>
          </a:bodyPr>
          <a:lstStyle/>
          <a:p>
            <a:pPr marL="0" indent="0" algn="ctr">
              <a:buNone/>
            </a:pPr>
            <a:r>
              <a:rPr lang="en-US" sz="1100" b="1" dirty="0">
                <a:solidFill>
                  <a:srgbClr val="17A9B8"/>
                </a:solidFill>
                <a:latin typeface="Aptos" pitchFamily="34" charset="0"/>
                <a:ea typeface="Aptos" pitchFamily="34" charset="-122"/>
                <a:cs typeface="Aptos" pitchFamily="34" charset="-120"/>
              </a:rPr>
              <a:t>ONE SMALL OUTPUT</a:t>
            </a:r>
            <a:endParaRPr lang="en-US" sz="1100" dirty="0"/>
          </a:p>
        </p:txBody>
      </p:sp>
      <p:sp>
        <p:nvSpPr>
          <p:cNvPr id="11" name="Shape 9"/>
          <p:cNvSpPr/>
          <p:nvPr/>
        </p:nvSpPr>
        <p:spPr>
          <a:xfrm>
            <a:off x="3749040" y="2103120"/>
            <a:ext cx="420624" cy="420624"/>
          </a:xfrm>
          <a:prstGeom prst="ellipse">
            <a:avLst/>
          </a:prstGeom>
          <a:solidFill>
            <a:srgbClr val="078897"/>
          </a:solidFill>
          <a:ln w="12700">
            <a:solidFill>
              <a:srgbClr val="078897"/>
            </a:solidFill>
            <a:prstDash val="solid"/>
          </a:ln>
        </p:spPr>
        <p:txBody>
          <a:bodyPr/>
          <a:lstStyle/>
          <a:p>
            <a:endParaRPr/>
          </a:p>
        </p:txBody>
      </p:sp>
      <p:sp>
        <p:nvSpPr>
          <p:cNvPr id="12" name="Text 10"/>
          <p:cNvSpPr txBox="1"/>
          <p:nvPr/>
        </p:nvSpPr>
        <p:spPr>
          <a:xfrm>
            <a:off x="3749040" y="2103120"/>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13" name="Text 11"/>
          <p:cNvSpPr txBox="1"/>
          <p:nvPr/>
        </p:nvSpPr>
        <p:spPr>
          <a:xfrm>
            <a:off x="4352544" y="1993392"/>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Input</a:t>
            </a:r>
            <a:endParaRPr lang="en-US" sz="1500" dirty="0"/>
          </a:p>
        </p:txBody>
      </p:sp>
      <p:sp>
        <p:nvSpPr>
          <p:cNvPr id="14" name="Text 12"/>
          <p:cNvSpPr txBox="1"/>
          <p:nvPr/>
        </p:nvSpPr>
        <p:spPr>
          <a:xfrm>
            <a:off x="5596128" y="1993392"/>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Later pump tests are low; strainer changed; verification also performed.</a:t>
            </a:r>
            <a:endParaRPr lang="en-US" sz="1500" dirty="0"/>
          </a:p>
        </p:txBody>
      </p:sp>
      <p:sp>
        <p:nvSpPr>
          <p:cNvPr id="15" name="Shape 13"/>
          <p:cNvSpPr/>
          <p:nvPr/>
        </p:nvSpPr>
        <p:spPr>
          <a:xfrm>
            <a:off x="3959352" y="2523744"/>
            <a:ext cx="0" cy="283464"/>
          </a:xfrm>
          <a:prstGeom prst="line">
            <a:avLst/>
          </a:prstGeom>
          <a:noFill/>
          <a:ln w="25400">
            <a:solidFill>
              <a:srgbClr val="C8D9DC"/>
            </a:solidFill>
            <a:prstDash val="solid"/>
          </a:ln>
        </p:spPr>
        <p:txBody>
          <a:bodyPr/>
          <a:lstStyle/>
          <a:p>
            <a:endParaRPr/>
          </a:p>
        </p:txBody>
      </p:sp>
      <p:sp>
        <p:nvSpPr>
          <p:cNvPr id="16" name="Shape 14"/>
          <p:cNvSpPr/>
          <p:nvPr/>
        </p:nvSpPr>
        <p:spPr>
          <a:xfrm>
            <a:off x="3749040" y="2916936"/>
            <a:ext cx="420624" cy="420624"/>
          </a:xfrm>
          <a:prstGeom prst="ellipse">
            <a:avLst/>
          </a:prstGeom>
          <a:solidFill>
            <a:srgbClr val="078897"/>
          </a:solidFill>
          <a:ln w="12700">
            <a:solidFill>
              <a:srgbClr val="078897"/>
            </a:solidFill>
            <a:prstDash val="solid"/>
          </a:ln>
        </p:spPr>
        <p:txBody>
          <a:bodyPr/>
          <a:lstStyle/>
          <a:p>
            <a:endParaRPr/>
          </a:p>
        </p:txBody>
      </p:sp>
      <p:sp>
        <p:nvSpPr>
          <p:cNvPr id="17" name="Text 15"/>
          <p:cNvSpPr txBox="1"/>
          <p:nvPr/>
        </p:nvSpPr>
        <p:spPr>
          <a:xfrm>
            <a:off x="3749040" y="2916936"/>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8" name="Text 16"/>
          <p:cNvSpPr txBox="1"/>
          <p:nvPr/>
        </p:nvSpPr>
        <p:spPr>
          <a:xfrm>
            <a:off x="4352544" y="2807208"/>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Copilot team</a:t>
            </a:r>
            <a:endParaRPr lang="en-US" sz="1500" dirty="0"/>
          </a:p>
        </p:txBody>
      </p:sp>
      <p:sp>
        <p:nvSpPr>
          <p:cNvPr id="19" name="Text 17"/>
          <p:cNvSpPr txBox="1"/>
          <p:nvPr/>
        </p:nvSpPr>
        <p:spPr>
          <a:xfrm>
            <a:off x="5596128" y="2807208"/>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Create facts, assumptions and questions.</a:t>
            </a:r>
            <a:endParaRPr lang="en-US" sz="1500" dirty="0"/>
          </a:p>
        </p:txBody>
      </p:sp>
      <p:sp>
        <p:nvSpPr>
          <p:cNvPr id="20" name="Shape 18"/>
          <p:cNvSpPr/>
          <p:nvPr/>
        </p:nvSpPr>
        <p:spPr>
          <a:xfrm>
            <a:off x="3959352" y="3337560"/>
            <a:ext cx="0" cy="283464"/>
          </a:xfrm>
          <a:prstGeom prst="line">
            <a:avLst/>
          </a:prstGeom>
          <a:noFill/>
          <a:ln w="25400">
            <a:solidFill>
              <a:srgbClr val="C8D9DC"/>
            </a:solidFill>
            <a:prstDash val="solid"/>
          </a:ln>
        </p:spPr>
        <p:txBody>
          <a:bodyPr/>
          <a:lstStyle/>
          <a:p>
            <a:endParaRPr/>
          </a:p>
        </p:txBody>
      </p:sp>
      <p:sp>
        <p:nvSpPr>
          <p:cNvPr id="21" name="Shape 19"/>
          <p:cNvSpPr/>
          <p:nvPr/>
        </p:nvSpPr>
        <p:spPr>
          <a:xfrm>
            <a:off x="3749040" y="3730752"/>
            <a:ext cx="420624" cy="420624"/>
          </a:xfrm>
          <a:prstGeom prst="ellipse">
            <a:avLst/>
          </a:prstGeom>
          <a:solidFill>
            <a:srgbClr val="078897"/>
          </a:solidFill>
          <a:ln w="12700">
            <a:solidFill>
              <a:srgbClr val="078897"/>
            </a:solidFill>
            <a:prstDash val="solid"/>
          </a:ln>
        </p:spPr>
        <p:txBody>
          <a:bodyPr/>
          <a:lstStyle/>
          <a:p>
            <a:endParaRPr/>
          </a:p>
        </p:txBody>
      </p:sp>
      <p:sp>
        <p:nvSpPr>
          <p:cNvPr id="22" name="Text 20"/>
          <p:cNvSpPr txBox="1"/>
          <p:nvPr/>
        </p:nvSpPr>
        <p:spPr>
          <a:xfrm>
            <a:off x="3749040" y="3730752"/>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23" name="Text 21"/>
          <p:cNvSpPr txBox="1"/>
          <p:nvPr/>
        </p:nvSpPr>
        <p:spPr>
          <a:xfrm>
            <a:off x="4352544" y="3621024"/>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Manual team</a:t>
            </a:r>
            <a:endParaRPr lang="en-US" sz="1500" dirty="0"/>
          </a:p>
        </p:txBody>
      </p:sp>
      <p:sp>
        <p:nvSpPr>
          <p:cNvPr id="24" name="Text 22"/>
          <p:cNvSpPr txBox="1"/>
          <p:nvPr/>
        </p:nvSpPr>
        <p:spPr>
          <a:xfrm>
            <a:off x="5596128" y="3621024"/>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Structure the same brief without Copilot.</a:t>
            </a:r>
            <a:endParaRPr lang="en-US" sz="1500" dirty="0"/>
          </a:p>
        </p:txBody>
      </p:sp>
      <p:sp>
        <p:nvSpPr>
          <p:cNvPr id="25" name="Shape 23"/>
          <p:cNvSpPr/>
          <p:nvPr/>
        </p:nvSpPr>
        <p:spPr>
          <a:xfrm>
            <a:off x="3959352" y="4151376"/>
            <a:ext cx="0" cy="283464"/>
          </a:xfrm>
          <a:prstGeom prst="line">
            <a:avLst/>
          </a:prstGeom>
          <a:noFill/>
          <a:ln w="25400">
            <a:solidFill>
              <a:srgbClr val="C8D9DC"/>
            </a:solidFill>
            <a:prstDash val="solid"/>
          </a:ln>
        </p:spPr>
        <p:txBody>
          <a:bodyPr/>
          <a:lstStyle/>
          <a:p>
            <a:endParaRPr/>
          </a:p>
        </p:txBody>
      </p:sp>
      <p:sp>
        <p:nvSpPr>
          <p:cNvPr id="26" name="Shape 24"/>
          <p:cNvSpPr/>
          <p:nvPr/>
        </p:nvSpPr>
        <p:spPr>
          <a:xfrm>
            <a:off x="3749040" y="4544568"/>
            <a:ext cx="420624" cy="420624"/>
          </a:xfrm>
          <a:prstGeom prst="ellipse">
            <a:avLst/>
          </a:prstGeom>
          <a:solidFill>
            <a:srgbClr val="102B3E"/>
          </a:solidFill>
          <a:ln w="12700">
            <a:solidFill>
              <a:srgbClr val="102B3E"/>
            </a:solidFill>
            <a:prstDash val="solid"/>
          </a:ln>
        </p:spPr>
        <p:txBody>
          <a:bodyPr/>
          <a:lstStyle/>
          <a:p>
            <a:endParaRPr/>
          </a:p>
        </p:txBody>
      </p:sp>
      <p:sp>
        <p:nvSpPr>
          <p:cNvPr id="27" name="Text 25"/>
          <p:cNvSpPr txBox="1"/>
          <p:nvPr/>
        </p:nvSpPr>
        <p:spPr>
          <a:xfrm>
            <a:off x="3749040" y="4544568"/>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8" name="Text 26"/>
          <p:cNvSpPr txBox="1"/>
          <p:nvPr/>
        </p:nvSpPr>
        <p:spPr>
          <a:xfrm>
            <a:off x="4352544" y="4434840"/>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Compare</a:t>
            </a:r>
            <a:endParaRPr lang="en-US" sz="1500" dirty="0"/>
          </a:p>
        </p:txBody>
      </p:sp>
      <p:sp>
        <p:nvSpPr>
          <p:cNvPr id="29" name="Text 27"/>
          <p:cNvSpPr txBox="1"/>
          <p:nvPr/>
        </p:nvSpPr>
        <p:spPr>
          <a:xfrm>
            <a:off x="5596128" y="4434840"/>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Speed, completeness and unsupported claims.</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Debrief · where was Copilot faster?</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Productivity is useful only when the result survives review</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5358384"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Fast</a:t>
            </a:r>
            <a:endParaRPr lang="en-US" sz="2100" dirty="0"/>
          </a:p>
        </p:txBody>
      </p:sp>
      <p:sp>
        <p:nvSpPr>
          <p:cNvPr id="10" name="Text 8"/>
          <p:cNvSpPr txBox="1"/>
          <p:nvPr/>
        </p:nvSpPr>
        <p:spPr>
          <a:xfrm>
            <a:off x="859536"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Formatting, headings and possible questions</a:t>
            </a:r>
            <a:endParaRPr lang="en-US" sz="1700" dirty="0"/>
          </a:p>
        </p:txBody>
      </p:sp>
      <p:sp>
        <p:nvSpPr>
          <p:cNvPr id="11" name="Shape 9"/>
          <p:cNvSpPr/>
          <p:nvPr/>
        </p:nvSpPr>
        <p:spPr>
          <a:xfrm>
            <a:off x="6181344"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6181344" y="2057400"/>
            <a:ext cx="5358384"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6437376"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Needs review</a:t>
            </a:r>
            <a:endParaRPr lang="en-US" sz="2100" dirty="0"/>
          </a:p>
        </p:txBody>
      </p:sp>
      <p:sp>
        <p:nvSpPr>
          <p:cNvPr id="14" name="Text 12"/>
          <p:cNvSpPr txBox="1"/>
          <p:nvPr/>
        </p:nvSpPr>
        <p:spPr>
          <a:xfrm>
            <a:off x="6473952"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Units, causation, requirements and sign-off</a:t>
            </a:r>
            <a:endParaRPr lang="en-US" sz="1700" dirty="0"/>
          </a:p>
        </p:txBody>
      </p:sp>
      <p:sp>
        <p:nvSpPr>
          <p:cNvPr id="15" name="Text 1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1</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Module 1 recap</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Choose the surface, provide evidence, check the draft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4069080"/>
          </a:xfrm>
          <a:prstGeom prst="roundRect">
            <a:avLst>
              <a:gd name="adj" fmla="val 2094"/>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Choose</a:t>
            </a:r>
            <a:endParaRPr lang="en-US" sz="1900" dirty="0"/>
          </a:p>
        </p:txBody>
      </p:sp>
      <p:sp>
        <p:nvSpPr>
          <p:cNvPr id="11" name="Text 9"/>
          <p:cNvSpPr txBox="1"/>
          <p:nvPr/>
        </p:nvSpPr>
        <p:spPr>
          <a:xfrm>
            <a:off x="786384" y="2743200"/>
            <a:ext cx="3054096" cy="3172968"/>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Match output to app</a:t>
            </a:r>
            <a:endParaRPr lang="en-US" sz="1600" dirty="0"/>
          </a:p>
        </p:txBody>
      </p:sp>
      <p:sp>
        <p:nvSpPr>
          <p:cNvPr id="12" name="Shape 10"/>
          <p:cNvSpPr/>
          <p:nvPr/>
        </p:nvSpPr>
        <p:spPr>
          <a:xfrm>
            <a:off x="4315968" y="2029968"/>
            <a:ext cx="3493008" cy="4069080"/>
          </a:xfrm>
          <a:prstGeom prst="roundRect">
            <a:avLst>
              <a:gd name="adj" fmla="val 2094"/>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Ground</a:t>
            </a:r>
            <a:endParaRPr lang="en-US" sz="1900" dirty="0"/>
          </a:p>
        </p:txBody>
      </p:sp>
      <p:sp>
        <p:nvSpPr>
          <p:cNvPr id="16" name="Text 14"/>
          <p:cNvSpPr txBox="1"/>
          <p:nvPr/>
        </p:nvSpPr>
        <p:spPr>
          <a:xfrm>
            <a:off x="4535424" y="2743200"/>
            <a:ext cx="3054096" cy="3172968"/>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Use relevant sources</a:t>
            </a:r>
            <a:endParaRPr lang="en-US" sz="1600" dirty="0"/>
          </a:p>
        </p:txBody>
      </p:sp>
      <p:sp>
        <p:nvSpPr>
          <p:cNvPr id="17" name="Shape 15"/>
          <p:cNvSpPr/>
          <p:nvPr/>
        </p:nvSpPr>
        <p:spPr>
          <a:xfrm>
            <a:off x="8065008" y="2029968"/>
            <a:ext cx="3493008" cy="4069080"/>
          </a:xfrm>
          <a:prstGeom prst="roundRect">
            <a:avLst>
              <a:gd name="adj" fmla="val 2094"/>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Verify</a:t>
            </a:r>
            <a:endParaRPr lang="en-US" sz="1900" dirty="0"/>
          </a:p>
        </p:txBody>
      </p:sp>
      <p:sp>
        <p:nvSpPr>
          <p:cNvPr id="21" name="Text 19"/>
          <p:cNvSpPr txBox="1"/>
          <p:nvPr/>
        </p:nvSpPr>
        <p:spPr>
          <a:xfrm>
            <a:off x="8284464" y="2743200"/>
            <a:ext cx="3054096" cy="3172968"/>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Open, calculate and challenge</a:t>
            </a:r>
            <a:endParaRPr lang="en-US" sz="16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102B3E"/>
        </a:solidFill>
        <a:effectLst/>
      </p:bgPr>
    </p:bg>
    <p:spTree>
      <p:nvGrpSpPr>
        <p:cNvPr id="1" name=""/>
        <p:cNvGrpSpPr/>
        <p:nvPr/>
      </p:nvGrpSpPr>
      <p:grpSpPr>
        <a:xfrm>
          <a:off x="0" y="0"/>
          <a:ext cx="0" cy="0"/>
          <a:chOff x="0" y="0"/>
          <a:chExt cx="0" cy="0"/>
        </a:xfrm>
      </p:grpSpPr>
      <p:pic>
        <p:nvPicPr>
          <p:cNvPr id="2" name="Image 0" descr="/Users/alfredang/Documents/Supporting Document/Tertiary Infotech/Client Projects/Client WSQ Projects/Client - IES/GenAI for Engineers/assets/module-2-document-automation.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5166360" cy="6858000"/>
          </a:xfrm>
          <a:prstGeom prst="rect">
            <a:avLst/>
          </a:prstGeom>
          <a:solidFill>
            <a:srgbClr val="102B3E">
              <a:alpha val="95000"/>
            </a:srgbClr>
          </a:solidFill>
          <a:ln w="12700">
            <a:solidFill>
              <a:srgbClr val="102B3E">
                <a:alpha val="0"/>
              </a:srgbClr>
            </a:solidFill>
            <a:prstDash val="solid"/>
          </a:ln>
        </p:spPr>
        <p:txBody>
          <a:bodyPr/>
          <a:lstStyle/>
          <a:p>
            <a:endParaRPr lang="en-US"/>
          </a:p>
        </p:txBody>
      </p:sp>
      <p:sp>
        <p:nvSpPr>
          <p:cNvPr id="4" name="Text 1"/>
          <p:cNvSpPr txBox="1"/>
          <p:nvPr/>
        </p:nvSpPr>
        <p:spPr>
          <a:xfrm>
            <a:off x="640080" y="502920"/>
            <a:ext cx="640080" cy="274320"/>
          </a:xfrm>
          <a:prstGeom prst="rect">
            <a:avLst/>
          </a:prstGeom>
          <a:noFill/>
          <a:ln/>
        </p:spPr>
        <p:txBody>
          <a:bodyPr wrap="square" lIns="0" tIns="0" rIns="0" bIns="0" rtlCol="0" anchor="ctr">
            <a:normAutofit/>
          </a:bodyPr>
          <a:lstStyle/>
          <a:p>
            <a:pPr marL="0" indent="0" algn="l">
              <a:buNone/>
            </a:pPr>
            <a:r>
              <a:rPr lang="en-US" sz="1700" b="1" dirty="0">
                <a:solidFill>
                  <a:srgbClr val="17A9B8"/>
                </a:solidFill>
                <a:latin typeface="Aptos" pitchFamily="34" charset="0"/>
                <a:ea typeface="Aptos" pitchFamily="34" charset="-122"/>
                <a:cs typeface="Aptos" pitchFamily="34" charset="-120"/>
              </a:rPr>
              <a:t>IES</a:t>
            </a:r>
            <a:endParaRPr lang="en-US" sz="1700" dirty="0"/>
          </a:p>
        </p:txBody>
      </p:sp>
      <p:sp>
        <p:nvSpPr>
          <p:cNvPr id="5" name="Text 2"/>
          <p:cNvSpPr txBox="1"/>
          <p:nvPr/>
        </p:nvSpPr>
        <p:spPr>
          <a:xfrm>
            <a:off x="658368" y="1554480"/>
            <a:ext cx="3291840" cy="320040"/>
          </a:xfrm>
          <a:prstGeom prst="rect">
            <a:avLst/>
          </a:prstGeom>
          <a:noFill/>
          <a:ln/>
        </p:spPr>
        <p:txBody>
          <a:bodyPr wrap="square" lIns="0" tIns="0" rIns="0" bIns="0" rtlCol="0" anchor="ctr">
            <a:normAutofit/>
          </a:bodyPr>
          <a:lstStyle/>
          <a:p>
            <a:pPr marL="0" indent="0" algn="l">
              <a:buNone/>
            </a:pPr>
            <a:r>
              <a:rPr lang="en-US" sz="1400" b="1" dirty="0">
                <a:solidFill>
                  <a:srgbClr val="17A9B8"/>
                </a:solidFill>
                <a:latin typeface="Aptos" pitchFamily="34" charset="0"/>
                <a:ea typeface="Aptos" pitchFamily="34" charset="-122"/>
                <a:cs typeface="Aptos" pitchFamily="34" charset="-120"/>
              </a:rPr>
              <a:t>MODULE 2</a:t>
            </a:r>
            <a:endParaRPr lang="en-US" sz="1400" dirty="0"/>
          </a:p>
        </p:txBody>
      </p:sp>
      <p:sp>
        <p:nvSpPr>
          <p:cNvPr id="6" name="Text 3"/>
          <p:cNvSpPr txBox="1"/>
          <p:nvPr/>
        </p:nvSpPr>
        <p:spPr>
          <a:xfrm>
            <a:off x="658368" y="1993392"/>
            <a:ext cx="4069080" cy="1463040"/>
          </a:xfrm>
          <a:prstGeom prst="rect">
            <a:avLst/>
          </a:prstGeom>
          <a:noFill/>
          <a:ln/>
        </p:spPr>
        <p:txBody>
          <a:bodyPr wrap="square" lIns="0" tIns="0" rIns="0" bIns="0" rtlCol="0" anchor="ctr">
            <a:normAutofit/>
          </a:bodyPr>
          <a:lstStyle/>
          <a:p>
            <a:pPr marL="0" indent="0" algn="l">
              <a:buNone/>
            </a:pPr>
            <a:r>
              <a:rPr lang="en-US" sz="3200" b="1" dirty="0">
                <a:solidFill>
                  <a:srgbClr val="FFFFFF"/>
                </a:solidFill>
                <a:latin typeface="Aptos" pitchFamily="34" charset="0"/>
                <a:ea typeface="Aptos" pitchFamily="34" charset="-122"/>
                <a:cs typeface="Aptos" pitchFamily="34" charset="-120"/>
              </a:rPr>
              <a:t>Prompting for Engineering Documents</a:t>
            </a:r>
            <a:endParaRPr lang="en-US" sz="3200" dirty="0"/>
          </a:p>
        </p:txBody>
      </p:sp>
      <p:sp>
        <p:nvSpPr>
          <p:cNvPr id="7" name="Text 4"/>
          <p:cNvSpPr txBox="1"/>
          <p:nvPr/>
        </p:nvSpPr>
        <p:spPr>
          <a:xfrm>
            <a:off x="658368" y="3840480"/>
            <a:ext cx="3977640" cy="96012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R.I.S.E. + E-MAP turn vague requests into reviewable work</a:t>
            </a:r>
            <a:endParaRPr lang="en-US" sz="1700" dirty="0"/>
          </a:p>
        </p:txBody>
      </p:sp>
      <p:sp>
        <p:nvSpPr>
          <p:cNvPr id="8" name="Shape 5"/>
          <p:cNvSpPr/>
          <p:nvPr/>
        </p:nvSpPr>
        <p:spPr>
          <a:xfrm>
            <a:off x="658368" y="5102352"/>
            <a:ext cx="1234440" cy="0"/>
          </a:xfrm>
          <a:prstGeom prst="line">
            <a:avLst/>
          </a:prstGeom>
          <a:noFill/>
          <a:ln w="50800">
            <a:solidFill>
              <a:srgbClr val="17A9B8"/>
            </a:solidFill>
            <a:prstDash val="solid"/>
          </a:ln>
        </p:spPr>
        <p:txBody>
          <a:bodyPr/>
          <a:lstStyle/>
          <a:p>
            <a:endParaRPr lang="en-US"/>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Module 2 learning outcomes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By the end of this module, participants can: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640080" y="2011680"/>
            <a:ext cx="502920" cy="502920"/>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640080" y="20116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9" name="Shape 7"/>
          <p:cNvSpPr/>
          <p:nvPr/>
        </p:nvSpPr>
        <p:spPr>
          <a:xfrm>
            <a:off x="1371600" y="19385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1627632" y="20482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Explain</a:t>
            </a:r>
            <a:endParaRPr lang="en-US" sz="1700" dirty="0"/>
          </a:p>
        </p:txBody>
      </p:sp>
      <p:sp>
        <p:nvSpPr>
          <p:cNvPr id="11" name="Text 9"/>
          <p:cNvSpPr txBox="1"/>
          <p:nvPr/>
        </p:nvSpPr>
        <p:spPr>
          <a:xfrm>
            <a:off x="3246120" y="20482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Describe why prompt engineering improves productivity.</a:t>
            </a:r>
            <a:endParaRPr lang="en-US" sz="1600" dirty="0"/>
          </a:p>
        </p:txBody>
      </p:sp>
      <p:sp>
        <p:nvSpPr>
          <p:cNvPr id="12" name="Shape 10"/>
          <p:cNvSpPr/>
          <p:nvPr/>
        </p:nvSpPr>
        <p:spPr>
          <a:xfrm>
            <a:off x="640080" y="3097530"/>
            <a:ext cx="502920" cy="502920"/>
          </a:xfrm>
          <a:prstGeom prst="ellipse">
            <a:avLst/>
          </a:prstGeom>
          <a:solidFill>
            <a:srgbClr val="078897"/>
          </a:solidFill>
          <a:ln w="12700">
            <a:solidFill>
              <a:srgbClr val="078897"/>
            </a:solidFill>
            <a:prstDash val="solid"/>
          </a:ln>
        </p:spPr>
        <p:txBody>
          <a:bodyPr/>
          <a:lstStyle/>
          <a:p>
            <a:endParaRPr/>
          </a:p>
        </p:txBody>
      </p:sp>
      <p:sp>
        <p:nvSpPr>
          <p:cNvPr id="13" name="Text 11"/>
          <p:cNvSpPr txBox="1"/>
          <p:nvPr/>
        </p:nvSpPr>
        <p:spPr>
          <a:xfrm>
            <a:off x="640080" y="30975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4" name="Shape 12"/>
          <p:cNvSpPr/>
          <p:nvPr/>
        </p:nvSpPr>
        <p:spPr>
          <a:xfrm>
            <a:off x="1371600" y="302437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5" name="Text 13"/>
          <p:cNvSpPr txBox="1"/>
          <p:nvPr/>
        </p:nvSpPr>
        <p:spPr>
          <a:xfrm>
            <a:off x="1627632" y="31341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Apply</a:t>
            </a:r>
            <a:endParaRPr lang="en-US" sz="1700" dirty="0"/>
          </a:p>
        </p:txBody>
      </p:sp>
      <p:sp>
        <p:nvSpPr>
          <p:cNvPr id="16" name="Text 14"/>
          <p:cNvSpPr txBox="1"/>
          <p:nvPr/>
        </p:nvSpPr>
        <p:spPr>
          <a:xfrm>
            <a:off x="3246120" y="31341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Build prompts with R.I.S.E. and E-MAP.</a:t>
            </a:r>
            <a:endParaRPr lang="en-US" sz="1600" dirty="0"/>
          </a:p>
        </p:txBody>
      </p:sp>
      <p:sp>
        <p:nvSpPr>
          <p:cNvPr id="17" name="Shape 15"/>
          <p:cNvSpPr/>
          <p:nvPr/>
        </p:nvSpPr>
        <p:spPr>
          <a:xfrm>
            <a:off x="640080" y="4183380"/>
            <a:ext cx="502920" cy="502920"/>
          </a:xfrm>
          <a:prstGeom prst="ellipse">
            <a:avLst/>
          </a:prstGeom>
          <a:solidFill>
            <a:srgbClr val="078897"/>
          </a:solidFill>
          <a:ln w="12700">
            <a:solidFill>
              <a:srgbClr val="078897"/>
            </a:solidFill>
            <a:prstDash val="solid"/>
          </a:ln>
        </p:spPr>
        <p:txBody>
          <a:bodyPr/>
          <a:lstStyle/>
          <a:p>
            <a:endParaRPr/>
          </a:p>
        </p:txBody>
      </p:sp>
      <p:sp>
        <p:nvSpPr>
          <p:cNvPr id="18" name="Text 16"/>
          <p:cNvSpPr txBox="1"/>
          <p:nvPr/>
        </p:nvSpPr>
        <p:spPr>
          <a:xfrm>
            <a:off x="640080" y="41833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19" name="Shape 17"/>
          <p:cNvSpPr/>
          <p:nvPr/>
        </p:nvSpPr>
        <p:spPr>
          <a:xfrm>
            <a:off x="1371600" y="41102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20" name="Text 18"/>
          <p:cNvSpPr txBox="1"/>
          <p:nvPr/>
        </p:nvSpPr>
        <p:spPr>
          <a:xfrm>
            <a:off x="1627632" y="42199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Improve</a:t>
            </a:r>
            <a:endParaRPr lang="en-US" sz="1700" dirty="0"/>
          </a:p>
        </p:txBody>
      </p:sp>
      <p:sp>
        <p:nvSpPr>
          <p:cNvPr id="21" name="Text 19"/>
          <p:cNvSpPr txBox="1"/>
          <p:nvPr/>
        </p:nvSpPr>
        <p:spPr>
          <a:xfrm>
            <a:off x="3246120" y="42199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Add constraints, examples and output formats.</a:t>
            </a:r>
            <a:endParaRPr lang="en-US" sz="1600" dirty="0"/>
          </a:p>
        </p:txBody>
      </p:sp>
      <p:sp>
        <p:nvSpPr>
          <p:cNvPr id="22" name="Shape 20"/>
          <p:cNvSpPr/>
          <p:nvPr/>
        </p:nvSpPr>
        <p:spPr>
          <a:xfrm>
            <a:off x="640080" y="5269230"/>
            <a:ext cx="502920" cy="502920"/>
          </a:xfrm>
          <a:prstGeom prst="ellipse">
            <a:avLst/>
          </a:prstGeom>
          <a:solidFill>
            <a:srgbClr val="078897"/>
          </a:solidFill>
          <a:ln w="12700">
            <a:solidFill>
              <a:srgbClr val="078897"/>
            </a:solidFill>
            <a:prstDash val="solid"/>
          </a:ln>
        </p:spPr>
        <p:txBody>
          <a:bodyPr/>
          <a:lstStyle/>
          <a:p>
            <a:endParaRPr/>
          </a:p>
        </p:txBody>
      </p:sp>
      <p:sp>
        <p:nvSpPr>
          <p:cNvPr id="23" name="Text 21"/>
          <p:cNvSpPr txBox="1"/>
          <p:nvPr/>
        </p:nvSpPr>
        <p:spPr>
          <a:xfrm>
            <a:off x="640080" y="52692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4" name="Shape 22"/>
          <p:cNvSpPr/>
          <p:nvPr/>
        </p:nvSpPr>
        <p:spPr>
          <a:xfrm>
            <a:off x="1371600" y="5196078"/>
            <a:ext cx="10058400" cy="966978"/>
          </a:xfrm>
          <a:prstGeom prst="roundRect">
            <a:avLst>
              <a:gd name="adj" fmla="val 7565"/>
            </a:avLst>
          </a:prstGeom>
          <a:solidFill>
            <a:srgbClr val="FFFFFF"/>
          </a:solidFill>
          <a:ln w="12700">
            <a:solidFill>
              <a:srgbClr val="C8D9DC"/>
            </a:solidFill>
            <a:prstDash val="solid"/>
          </a:ln>
        </p:spPr>
        <p:txBody>
          <a:bodyPr/>
          <a:lstStyle/>
          <a:p>
            <a:endParaRPr lang="en-US"/>
          </a:p>
        </p:txBody>
      </p:sp>
      <p:sp>
        <p:nvSpPr>
          <p:cNvPr id="25" name="Text 23"/>
          <p:cNvSpPr txBox="1"/>
          <p:nvPr/>
        </p:nvSpPr>
        <p:spPr>
          <a:xfrm>
            <a:off x="1627632" y="53058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Challenge</a:t>
            </a:r>
            <a:endParaRPr lang="en-US" sz="1700" dirty="0"/>
          </a:p>
        </p:txBody>
      </p:sp>
      <p:sp>
        <p:nvSpPr>
          <p:cNvPr id="26" name="Text 24"/>
          <p:cNvSpPr txBox="1"/>
          <p:nvPr/>
        </p:nvSpPr>
        <p:spPr>
          <a:xfrm>
            <a:off x="3246120" y="53058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Use multiple personas and a short debate to expose gaps.</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Prompt engineering reduces avoidable rework</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 clear request improves the first draft and the review</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Faster</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Fewer clarification cycles</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Consistent</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Repeatable structure</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Traceable</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Named sources and checks</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Safer</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Explicit boundaries and approval gates</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Six principles for strong engineering prompts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Build enough structure for a useful and testable answer</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Purpose</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State the decision or output</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Evidence</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Name allowed sources</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Context</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Give system and units</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Steps</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Order the work</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Constraints</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Prevent harmful drift</a:t>
            </a:r>
            <a:endParaRPr lang="en-US" sz="1400" dirty="0"/>
          </a:p>
        </p:txBody>
      </p:sp>
      <p:sp>
        <p:nvSpPr>
          <p:cNvPr id="32" name="Shape 30"/>
          <p:cNvSpPr/>
          <p:nvPr/>
        </p:nvSpPr>
        <p:spPr>
          <a:xfrm>
            <a:off x="806500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33" name="Shape 31"/>
          <p:cNvSpPr/>
          <p:nvPr/>
        </p:nvSpPr>
        <p:spPr>
          <a:xfrm>
            <a:off x="8247888" y="4347972"/>
            <a:ext cx="411480" cy="411480"/>
          </a:xfrm>
          <a:prstGeom prst="ellipse">
            <a:avLst/>
          </a:prstGeom>
          <a:solidFill>
            <a:srgbClr val="C94B50"/>
          </a:solidFill>
          <a:ln w="12700">
            <a:solidFill>
              <a:srgbClr val="C94B50"/>
            </a:solidFill>
            <a:prstDash val="solid"/>
          </a:ln>
        </p:spPr>
        <p:txBody>
          <a:bodyPr/>
          <a:lstStyle/>
          <a:p>
            <a:endParaRPr/>
          </a:p>
        </p:txBody>
      </p:sp>
      <p:sp>
        <p:nvSpPr>
          <p:cNvPr id="34" name="Text 32"/>
          <p:cNvSpPr txBox="1"/>
          <p:nvPr/>
        </p:nvSpPr>
        <p:spPr>
          <a:xfrm>
            <a:off x="824788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6</a:t>
            </a:r>
            <a:endParaRPr lang="en-US" sz="1500" dirty="0"/>
          </a:p>
        </p:txBody>
      </p:sp>
      <p:sp>
        <p:nvSpPr>
          <p:cNvPr id="35" name="Text 33"/>
          <p:cNvSpPr txBox="1"/>
          <p:nvPr/>
        </p:nvSpPr>
        <p:spPr>
          <a:xfrm>
            <a:off x="877824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Check</a:t>
            </a:r>
            <a:endParaRPr lang="en-US" sz="1600" dirty="0"/>
          </a:p>
        </p:txBody>
      </p:sp>
      <p:sp>
        <p:nvSpPr>
          <p:cNvPr id="36" name="Text 34"/>
          <p:cNvSpPr txBox="1"/>
          <p:nvPr/>
        </p:nvSpPr>
        <p:spPr>
          <a:xfrm>
            <a:off x="828446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Define acceptance tests</a:t>
            </a:r>
            <a:endParaRPr lang="en-US" sz="1400" dirty="0"/>
          </a:p>
        </p:txBody>
      </p:sp>
      <p:sp>
        <p:nvSpPr>
          <p:cNvPr id="37" name="Text 3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R.I.S.E. · the practical prompt framework</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Role · Input · Steps · Expectations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R · Role</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Useful perspective</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I · Input</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Exact evidence and scope</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S · Steps</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Ordered work</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E · Expectations</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Format, limits and checks</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R · Role sets perspective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 role guides attention; it does not grant authority</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5358384"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Useful</a:t>
            </a:r>
            <a:endParaRPr lang="en-US" sz="2100" dirty="0"/>
          </a:p>
        </p:txBody>
      </p:sp>
      <p:sp>
        <p:nvSpPr>
          <p:cNvPr id="10" name="Text 8"/>
          <p:cNvSpPr txBox="1"/>
          <p:nvPr/>
        </p:nvSpPr>
        <p:spPr>
          <a:xfrm>
            <a:off x="859536"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Act as an FMEA facilitator and preserve supplied ratings.</a:t>
            </a:r>
            <a:endParaRPr lang="en-US" sz="1700" dirty="0"/>
          </a:p>
        </p:txBody>
      </p:sp>
      <p:sp>
        <p:nvSpPr>
          <p:cNvPr id="11" name="Shape 9"/>
          <p:cNvSpPr/>
          <p:nvPr/>
        </p:nvSpPr>
        <p:spPr>
          <a:xfrm>
            <a:off x="6181344"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6181344" y="2057400"/>
            <a:ext cx="5358384"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6437376"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Unsafe</a:t>
            </a:r>
            <a:endParaRPr lang="en-US" sz="2100" dirty="0"/>
          </a:p>
        </p:txBody>
      </p:sp>
      <p:sp>
        <p:nvSpPr>
          <p:cNvPr id="14" name="Text 12"/>
          <p:cNvSpPr txBox="1"/>
          <p:nvPr/>
        </p:nvSpPr>
        <p:spPr>
          <a:xfrm>
            <a:off x="6473952"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Act as the approving engineer and decide the system is safe.</a:t>
            </a:r>
            <a:endParaRPr lang="en-US" sz="1700" dirty="0"/>
          </a:p>
        </p:txBody>
      </p:sp>
      <p:sp>
        <p:nvSpPr>
          <p:cNvPr id="15" name="Text 1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I · Input names the evidence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Tell Copilot exactly what it may use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Source</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Named table or document</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Scope</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Rows, date range and revision</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Units</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L/h, bar, minutes</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Preserve</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Do not alter source records</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 · Steps make work traceable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Order calculations, comparisons and presentation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Audit</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Check rows and gaps</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Calculate</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Show formula</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Compare</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Use stated baseline</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Present</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Table or chart</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Check</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Return one validation</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E · Expectations define “done”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Specify format, quality and decision boundary</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Format</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Five-row table; three-sentence summary</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Evidence</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Cite source row or clause</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Limit</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Do not infer root cause</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Acceptance</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Reproduce one number</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Build one RISE prompt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Combine all four parts in a single request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Act as an engineering data assistant. Use only PumpReadings. Calculate the baseline mean and control limits, flag monitoring rows, create a chart, show formulas, and state what the chart cannot prove.</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Role</a:t>
            </a:r>
            <a:endParaRPr lang="en-US" sz="1400" dirty="0"/>
          </a:p>
        </p:txBody>
      </p:sp>
      <p:sp>
        <p:nvSpPr>
          <p:cNvPr id="13" name="Text 11"/>
          <p:cNvSpPr txBox="1"/>
          <p:nvPr/>
        </p:nvSpPr>
        <p:spPr>
          <a:xfrm>
            <a:off x="8759952" y="2331720"/>
            <a:ext cx="2761488" cy="45720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Engineering data assistant</a:t>
            </a:r>
            <a:endParaRPr lang="en-US" sz="1300" dirty="0"/>
          </a:p>
        </p:txBody>
      </p:sp>
      <p:sp>
        <p:nvSpPr>
          <p:cNvPr id="14" name="Shape 12"/>
          <p:cNvSpPr/>
          <p:nvPr/>
        </p:nvSpPr>
        <p:spPr>
          <a:xfrm>
            <a:off x="8275320" y="3063240"/>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06324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297180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Input</a:t>
            </a:r>
            <a:endParaRPr lang="en-US" sz="1400" dirty="0"/>
          </a:p>
        </p:txBody>
      </p:sp>
      <p:sp>
        <p:nvSpPr>
          <p:cNvPr id="17" name="Text 15"/>
          <p:cNvSpPr txBox="1"/>
          <p:nvPr/>
        </p:nvSpPr>
        <p:spPr>
          <a:xfrm>
            <a:off x="8759952" y="3291840"/>
            <a:ext cx="2761488" cy="45720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Only PumpReadings</a:t>
            </a:r>
            <a:endParaRPr lang="en-US" sz="1300" dirty="0"/>
          </a:p>
        </p:txBody>
      </p:sp>
      <p:sp>
        <p:nvSpPr>
          <p:cNvPr id="18" name="Shape 16"/>
          <p:cNvSpPr/>
          <p:nvPr/>
        </p:nvSpPr>
        <p:spPr>
          <a:xfrm>
            <a:off x="8275320" y="4023360"/>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02336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393192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Steps</a:t>
            </a:r>
            <a:endParaRPr lang="en-US" sz="1400" dirty="0"/>
          </a:p>
        </p:txBody>
      </p:sp>
      <p:sp>
        <p:nvSpPr>
          <p:cNvPr id="21" name="Text 19"/>
          <p:cNvSpPr txBox="1"/>
          <p:nvPr/>
        </p:nvSpPr>
        <p:spPr>
          <a:xfrm>
            <a:off x="8759952" y="4251960"/>
            <a:ext cx="2761488" cy="45720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Calculate, flag, chart</a:t>
            </a:r>
            <a:endParaRPr lang="en-US" sz="1300" dirty="0"/>
          </a:p>
        </p:txBody>
      </p:sp>
      <p:sp>
        <p:nvSpPr>
          <p:cNvPr id="22" name="Shape 20"/>
          <p:cNvSpPr/>
          <p:nvPr/>
        </p:nvSpPr>
        <p:spPr>
          <a:xfrm>
            <a:off x="8275320" y="4983480"/>
            <a:ext cx="365760" cy="365760"/>
          </a:xfrm>
          <a:prstGeom prst="ellipse">
            <a:avLst/>
          </a:prstGeom>
          <a:solidFill>
            <a:srgbClr val="078897"/>
          </a:solidFill>
          <a:ln w="12700">
            <a:solidFill>
              <a:srgbClr val="078897"/>
            </a:solidFill>
            <a:prstDash val="solid"/>
          </a:ln>
        </p:spPr>
        <p:txBody>
          <a:bodyPr/>
          <a:lstStyle/>
          <a:p>
            <a:endParaRPr/>
          </a:p>
        </p:txBody>
      </p:sp>
      <p:sp>
        <p:nvSpPr>
          <p:cNvPr id="23" name="Text 21"/>
          <p:cNvSpPr txBox="1"/>
          <p:nvPr/>
        </p:nvSpPr>
        <p:spPr>
          <a:xfrm>
            <a:off x="8275320" y="498348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4" name="Text 22"/>
          <p:cNvSpPr txBox="1"/>
          <p:nvPr/>
        </p:nvSpPr>
        <p:spPr>
          <a:xfrm>
            <a:off x="8759952" y="489204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Expected</a:t>
            </a:r>
            <a:endParaRPr lang="en-US" sz="1400" dirty="0"/>
          </a:p>
        </p:txBody>
      </p:sp>
      <p:sp>
        <p:nvSpPr>
          <p:cNvPr id="25" name="Text 23"/>
          <p:cNvSpPr txBox="1"/>
          <p:nvPr/>
        </p:nvSpPr>
        <p:spPr>
          <a:xfrm>
            <a:off x="8759952" y="5212080"/>
            <a:ext cx="2761488" cy="45720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Show formulas; no cause claim</a:t>
            </a:r>
            <a:endParaRPr lang="en-US" sz="1300" dirty="0"/>
          </a:p>
        </p:txBody>
      </p:sp>
      <p:sp>
        <p:nvSpPr>
          <p:cNvPr id="26" name="Text 2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502920" cy="228600"/>
          </a:xfrm>
          <a:prstGeom prst="rect">
            <a:avLst/>
          </a:prstGeom>
          <a:noFill/>
        </p:spPr>
        <p:txBody>
          <a:bodyPr wrap="square" lIns="0" tIns="0" rIns="0" bIns="0">
            <a:spAutoFit/>
          </a:bodyPr>
          <a:lstStyle/>
          <a:p>
            <a:pPr algn="l"/>
            <a:r>
              <a:rPr sz="1100" b="1">
                <a:solidFill>
                  <a:srgbClr val="078897"/>
                </a:solidFill>
                <a:latin typeface="Aptos"/>
              </a:rPr>
              <a:t>IES</a:t>
            </a:r>
          </a:p>
        </p:txBody>
      </p:sp>
      <p:sp>
        <p:nvSpPr>
          <p:cNvPr id="3" name="TextBox 2"/>
          <p:cNvSpPr txBox="1"/>
          <p:nvPr/>
        </p:nvSpPr>
        <p:spPr>
          <a:xfrm>
            <a:off x="1207008" y="201168"/>
            <a:ext cx="5943600" cy="228600"/>
          </a:xfrm>
          <a:prstGeom prst="rect">
            <a:avLst/>
          </a:prstGeom>
          <a:noFill/>
        </p:spPr>
        <p:txBody>
          <a:bodyPr wrap="square" lIns="0" tIns="0" rIns="0" bIns="0">
            <a:spAutoFit/>
          </a:bodyPr>
          <a:lstStyle/>
          <a:p>
            <a:pPr algn="l"/>
            <a:r>
              <a:rPr sz="1100" b="0">
                <a:solidFill>
                  <a:srgbClr val="536A78"/>
                </a:solidFill>
                <a:latin typeface="Aptos"/>
              </a:rPr>
              <a:t>GENAI FOR ENGINEERS  /  MODULE 2</a:t>
            </a:r>
          </a:p>
        </p:txBody>
      </p:sp>
      <p:sp>
        <p:nvSpPr>
          <p:cNvPr id="4" name="TextBox 3"/>
          <p:cNvSpPr txBox="1"/>
          <p:nvPr/>
        </p:nvSpPr>
        <p:spPr>
          <a:xfrm>
            <a:off x="502920" y="640080"/>
            <a:ext cx="11109960" cy="512064"/>
          </a:xfrm>
          <a:prstGeom prst="rect">
            <a:avLst/>
          </a:prstGeom>
          <a:noFill/>
        </p:spPr>
        <p:txBody>
          <a:bodyPr wrap="square" lIns="0" tIns="0" rIns="0" bIns="0">
            <a:spAutoFit/>
          </a:bodyPr>
          <a:lstStyle/>
          <a:p>
            <a:pPr algn="l"/>
            <a:r>
              <a:rPr sz="2900" b="1">
                <a:solidFill>
                  <a:srgbClr val="102B3E"/>
                </a:solidFill>
                <a:latin typeface="Aptos"/>
              </a:rPr>
              <a:t>Weak prompt versus R.I.S.E.</a:t>
            </a:r>
          </a:p>
        </p:txBody>
      </p:sp>
      <p:sp>
        <p:nvSpPr>
          <p:cNvPr id="5" name="TextBox 4"/>
          <p:cNvSpPr txBox="1"/>
          <p:nvPr/>
        </p:nvSpPr>
        <p:spPr>
          <a:xfrm>
            <a:off x="502920" y="1225296"/>
            <a:ext cx="11018520" cy="384048"/>
          </a:xfrm>
          <a:prstGeom prst="rect">
            <a:avLst/>
          </a:prstGeom>
          <a:noFill/>
        </p:spPr>
        <p:txBody>
          <a:bodyPr wrap="square" lIns="0" tIns="0" rIns="0" bIns="0">
            <a:spAutoFit/>
          </a:bodyPr>
          <a:lstStyle/>
          <a:p>
            <a:pPr algn="l"/>
            <a:r>
              <a:rPr sz="1500" b="0">
                <a:solidFill>
                  <a:srgbClr val="536A78"/>
                </a:solidFill>
                <a:latin typeface="Aptos"/>
              </a:rPr>
              <a:t>The same question, asked twice — and what changes in the answer</a:t>
            </a:r>
          </a:p>
        </p:txBody>
      </p:sp>
      <p:sp>
        <p:nvSpPr>
          <p:cNvPr id="6" name="Rectangle 5"/>
          <p:cNvSpPr/>
          <p:nvPr/>
        </p:nvSpPr>
        <p:spPr>
          <a:xfrm>
            <a:off x="502920" y="1737360"/>
            <a:ext cx="11109960" cy="18288"/>
          </a:xfrm>
          <a:prstGeom prst="rect">
            <a:avLst/>
          </a:prstGeom>
          <a:solidFill>
            <a:srgbClr val="078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46520"/>
            <a:ext cx="6400800" cy="164592"/>
          </a:xfrm>
          <a:prstGeom prst="rect">
            <a:avLst/>
          </a:prstGeom>
          <a:noFill/>
        </p:spPr>
        <p:txBody>
          <a:bodyPr wrap="square" lIns="0" tIns="0" rIns="0" bIns="0">
            <a:spAutoFit/>
          </a:bodyPr>
          <a:lstStyle/>
          <a:p>
            <a:pPr algn="l"/>
            <a:r>
              <a:rPr sz="800" b="0">
                <a:solidFill>
                  <a:srgbClr val="536A78"/>
                </a:solidFill>
                <a:latin typeface="Aptos"/>
              </a:rPr>
              <a:t>IES  |  ONE-DAY TEACHING ROUTE</a:t>
            </a:r>
          </a:p>
        </p:txBody>
      </p:sp>
      <p:sp>
        <p:nvSpPr>
          <p:cNvPr id="8" name="Rectangle 7"/>
          <p:cNvSpPr/>
          <p:nvPr/>
        </p:nvSpPr>
        <p:spPr>
          <a:xfrm>
            <a:off x="566928" y="1975104"/>
            <a:ext cx="5349240" cy="1874519"/>
          </a:xfrm>
          <a:prstGeom prst="rect">
            <a:avLst/>
          </a:prstGeom>
          <a:solidFill>
            <a:srgbClr val="EAF3F4"/>
          </a:solidFill>
          <a:ln w="12700">
            <a:solidFill>
              <a:srgbClr val="D8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157984"/>
            <a:ext cx="4754880" cy="237744"/>
          </a:xfrm>
          <a:prstGeom prst="rect">
            <a:avLst/>
          </a:prstGeom>
          <a:noFill/>
        </p:spPr>
        <p:txBody>
          <a:bodyPr wrap="square" lIns="0" tIns="0" rIns="0" bIns="0">
            <a:spAutoFit/>
          </a:bodyPr>
          <a:lstStyle/>
          <a:p>
            <a:pPr algn="l"/>
            <a:r>
              <a:rPr sz="1200" b="1">
                <a:solidFill>
                  <a:srgbClr val="B33A3A"/>
                </a:solidFill>
                <a:latin typeface="Aptos"/>
              </a:rPr>
              <a:t>WEAK PROMPT</a:t>
            </a:r>
          </a:p>
        </p:txBody>
      </p:sp>
      <p:sp>
        <p:nvSpPr>
          <p:cNvPr id="10" name="TextBox 9"/>
          <p:cNvSpPr txBox="1"/>
          <p:nvPr/>
        </p:nvSpPr>
        <p:spPr>
          <a:xfrm>
            <a:off x="868680" y="2487168"/>
            <a:ext cx="4754880" cy="1188720"/>
          </a:xfrm>
          <a:prstGeom prst="rect">
            <a:avLst/>
          </a:prstGeom>
          <a:noFill/>
        </p:spPr>
        <p:txBody>
          <a:bodyPr wrap="square" lIns="0" tIns="0" rIns="0" bIns="0">
            <a:spAutoFit/>
          </a:bodyPr>
          <a:lstStyle/>
          <a:p>
            <a:pPr algn="l"/>
            <a:r>
              <a:rPr sz="1500" b="0">
                <a:solidFill>
                  <a:srgbClr val="102B3E"/>
                </a:solidFill>
                <a:latin typeface="Aptos"/>
              </a:rPr>
              <a:t>"Analyse this pump data and tell me</a:t>
            </a:r>
          </a:p>
          <a:p>
            <a:pPr algn="l"/>
            <a:r>
              <a:rPr sz="1500" b="0">
                <a:solidFill>
                  <a:srgbClr val="102B3E"/>
                </a:solidFill>
                <a:latin typeface="Aptos"/>
              </a:rPr>
              <a:t>if there is a problem."</a:t>
            </a:r>
          </a:p>
        </p:txBody>
      </p:sp>
      <p:sp>
        <p:nvSpPr>
          <p:cNvPr id="11" name="TextBox 10"/>
          <p:cNvSpPr txBox="1"/>
          <p:nvPr/>
        </p:nvSpPr>
        <p:spPr>
          <a:xfrm>
            <a:off x="566928" y="3968496"/>
            <a:ext cx="5349240" cy="1737360"/>
          </a:xfrm>
          <a:prstGeom prst="rect">
            <a:avLst/>
          </a:prstGeom>
          <a:noFill/>
        </p:spPr>
        <p:txBody>
          <a:bodyPr wrap="square" lIns="0" tIns="0" rIns="0" bIns="0">
            <a:spAutoFit/>
          </a:bodyPr>
          <a:lstStyle/>
          <a:p>
            <a:pPr algn="l">
              <a:spcAft>
                <a:spcPts val="400"/>
              </a:spcAft>
            </a:pPr>
            <a:r>
              <a:rPr sz="1250" b="0">
                <a:solidFill>
                  <a:srgbClr val="536A78"/>
                </a:solidFill>
                <a:latin typeface="Aptos"/>
              </a:rPr>
              <a:t>What comes back</a:t>
            </a:r>
          </a:p>
          <a:p>
            <a:pPr algn="l">
              <a:spcAft>
                <a:spcPts val="400"/>
              </a:spcAft>
            </a:pPr>
            <a:r>
              <a:rPr sz="1250" b="0">
                <a:solidFill>
                  <a:srgbClr val="536A78"/>
                </a:solidFill>
                <a:latin typeface="Aptos"/>
              </a:rPr>
              <a:t>·  No stated method, so you cannot repeat it</a:t>
            </a:r>
          </a:p>
          <a:p>
            <a:pPr algn="l">
              <a:spcAft>
                <a:spcPts val="400"/>
              </a:spcAft>
            </a:pPr>
            <a:r>
              <a:rPr sz="1250" b="0">
                <a:solidFill>
                  <a:srgbClr val="536A78"/>
                </a:solidFill>
                <a:latin typeface="Aptos"/>
              </a:rPr>
              <a:t>·  Limits recalculated on the drifting data</a:t>
            </a:r>
          </a:p>
          <a:p>
            <a:pPr algn="l">
              <a:spcAft>
                <a:spcPts val="400"/>
              </a:spcAft>
            </a:pPr>
            <a:r>
              <a:rPr sz="1250" b="0">
                <a:solidFill>
                  <a:srgbClr val="536A78"/>
                </a:solidFill>
                <a:latin typeface="Aptos"/>
              </a:rPr>
              <a:t>·  A confident cause, with no evidence</a:t>
            </a:r>
          </a:p>
          <a:p>
            <a:pPr algn="l">
              <a:spcAft>
                <a:spcPts val="400"/>
              </a:spcAft>
            </a:pPr>
            <a:r>
              <a:rPr sz="1250" b="0">
                <a:solidFill>
                  <a:srgbClr val="536A78"/>
                </a:solidFill>
                <a:latin typeface="Aptos"/>
              </a:rPr>
              <a:t>·  No units, no formulas, nothing to check</a:t>
            </a:r>
          </a:p>
        </p:txBody>
      </p:sp>
      <p:sp>
        <p:nvSpPr>
          <p:cNvPr id="12" name="Rectangle 11"/>
          <p:cNvSpPr/>
          <p:nvPr/>
        </p:nvSpPr>
        <p:spPr>
          <a:xfrm>
            <a:off x="6291072" y="1975104"/>
            <a:ext cx="5349240" cy="1874519"/>
          </a:xfrm>
          <a:prstGeom prst="rect">
            <a:avLst/>
          </a:prstGeom>
          <a:solidFill>
            <a:srgbClr val="10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92824" y="2157984"/>
            <a:ext cx="4754880" cy="237744"/>
          </a:xfrm>
          <a:prstGeom prst="rect">
            <a:avLst/>
          </a:prstGeom>
          <a:noFill/>
        </p:spPr>
        <p:txBody>
          <a:bodyPr wrap="square" lIns="0" tIns="0" rIns="0" bIns="0">
            <a:spAutoFit/>
          </a:bodyPr>
          <a:lstStyle/>
          <a:p>
            <a:pPr algn="l"/>
            <a:r>
              <a:rPr sz="1200" b="1">
                <a:solidFill>
                  <a:srgbClr val="17A9B8"/>
                </a:solidFill>
                <a:latin typeface="Aptos"/>
              </a:rPr>
              <a:t>R.I.S.E. PROMPT</a:t>
            </a:r>
          </a:p>
        </p:txBody>
      </p:sp>
      <p:sp>
        <p:nvSpPr>
          <p:cNvPr id="14" name="TextBox 13"/>
          <p:cNvSpPr txBox="1"/>
          <p:nvPr/>
        </p:nvSpPr>
        <p:spPr>
          <a:xfrm>
            <a:off x="6592824" y="2487168"/>
            <a:ext cx="4754880" cy="1234440"/>
          </a:xfrm>
          <a:prstGeom prst="rect">
            <a:avLst/>
          </a:prstGeom>
          <a:noFill/>
        </p:spPr>
        <p:txBody>
          <a:bodyPr wrap="square" lIns="0" tIns="0" rIns="0" bIns="0">
            <a:spAutoFit/>
          </a:bodyPr>
          <a:lstStyle/>
          <a:p>
            <a:pPr algn="l"/>
            <a:r>
              <a:rPr sz="1350" b="0">
                <a:solidFill>
                  <a:srgbClr val="FFFFFF"/>
                </a:solidFill>
                <a:latin typeface="Aptos"/>
              </a:rPr>
              <a:t>"Act as an SPC analyst. Use only</a:t>
            </a:r>
          </a:p>
          <a:p>
            <a:pPr algn="l"/>
            <a:r>
              <a:rPr sz="1350" b="0">
                <a:solidFill>
                  <a:srgbClr val="FFFFFF"/>
                </a:solidFill>
                <a:latin typeface="Aptos"/>
              </a:rPr>
              <a:t>SPCData. Calculate limits from the</a:t>
            </a:r>
          </a:p>
          <a:p>
            <a:pPr algn="l"/>
            <a:r>
              <a:rPr sz="1350" b="0">
                <a:solidFill>
                  <a:srgbClr val="FFFFFF"/>
                </a:solidFill>
                <a:latin typeface="Aptos"/>
              </a:rPr>
              <a:t>12 baseline subgroups, then freeze</a:t>
            </a:r>
          </a:p>
          <a:p>
            <a:pPr algn="l"/>
            <a:r>
              <a:rPr sz="1350" b="0">
                <a:solidFill>
                  <a:srgbClr val="FFFFFF"/>
                </a:solidFill>
                <a:latin typeface="Aptos"/>
              </a:rPr>
              <a:t>them. Show every formula."</a:t>
            </a:r>
          </a:p>
        </p:txBody>
      </p:sp>
      <p:sp>
        <p:nvSpPr>
          <p:cNvPr id="15" name="TextBox 14"/>
          <p:cNvSpPr txBox="1"/>
          <p:nvPr/>
        </p:nvSpPr>
        <p:spPr>
          <a:xfrm>
            <a:off x="6291072" y="3968496"/>
            <a:ext cx="5349240" cy="1737360"/>
          </a:xfrm>
          <a:prstGeom prst="rect">
            <a:avLst/>
          </a:prstGeom>
          <a:noFill/>
        </p:spPr>
        <p:txBody>
          <a:bodyPr wrap="square" lIns="0" tIns="0" rIns="0" bIns="0">
            <a:spAutoFit/>
          </a:bodyPr>
          <a:lstStyle/>
          <a:p>
            <a:pPr algn="l">
              <a:spcAft>
                <a:spcPts val="400"/>
              </a:spcAft>
            </a:pPr>
            <a:r>
              <a:rPr sz="1250" b="0">
                <a:solidFill>
                  <a:srgbClr val="536A78"/>
                </a:solidFill>
                <a:latin typeface="Aptos"/>
              </a:rPr>
              <a:t>What comes back</a:t>
            </a:r>
          </a:p>
          <a:p>
            <a:pPr algn="l">
              <a:spcAft>
                <a:spcPts val="400"/>
              </a:spcAft>
            </a:pPr>
            <a:r>
              <a:rPr sz="1250" b="0">
                <a:solidFill>
                  <a:srgbClr val="536A78"/>
                </a:solidFill>
                <a:latin typeface="Aptos"/>
              </a:rPr>
              <a:t>·  A named method a reviewer can follow</a:t>
            </a:r>
          </a:p>
          <a:p>
            <a:pPr algn="l">
              <a:spcAft>
                <a:spcPts val="400"/>
              </a:spcAft>
            </a:pPr>
            <a:r>
              <a:rPr sz="1250" b="0">
                <a:solidFill>
                  <a:srgbClr val="536A78"/>
                </a:solidFill>
                <a:latin typeface="Aptos"/>
              </a:rPr>
              <a:t>·  Limits from the baseline only, frozen</a:t>
            </a:r>
          </a:p>
          <a:p>
            <a:pPr algn="l">
              <a:spcAft>
                <a:spcPts val="400"/>
              </a:spcAft>
            </a:pPr>
            <a:r>
              <a:rPr sz="1250" b="0">
                <a:solidFill>
                  <a:srgbClr val="536A78"/>
                </a:solidFill>
                <a:latin typeface="Aptos"/>
              </a:rPr>
              <a:t>·  A signal to investigate, not a cause</a:t>
            </a:r>
          </a:p>
          <a:p>
            <a:pPr algn="l">
              <a:spcAft>
                <a:spcPts val="400"/>
              </a:spcAft>
            </a:pPr>
            <a:r>
              <a:rPr sz="1250" b="0">
                <a:solidFill>
                  <a:srgbClr val="536A78"/>
                </a:solidFill>
                <a:latin typeface="Aptos"/>
              </a:rPr>
              <a:t>·  Formulas and units you can check by hand</a:t>
            </a:r>
          </a:p>
        </p:txBody>
      </p:sp>
      <p:sp>
        <p:nvSpPr>
          <p:cNvPr id="16" name="TextBox 15"/>
          <p:cNvSpPr txBox="1"/>
          <p:nvPr/>
        </p:nvSpPr>
        <p:spPr>
          <a:xfrm>
            <a:off x="566928" y="5870448"/>
            <a:ext cx="11064240" cy="457200"/>
          </a:xfrm>
          <a:prstGeom prst="rect">
            <a:avLst/>
          </a:prstGeom>
          <a:noFill/>
        </p:spPr>
        <p:txBody>
          <a:bodyPr wrap="square" lIns="0" tIns="0" rIns="0" bIns="0">
            <a:spAutoFit/>
          </a:bodyPr>
          <a:lstStyle/>
          <a:p>
            <a:pPr algn="l"/>
            <a:r>
              <a:rPr sz="1250" b="0">
                <a:solidFill>
                  <a:srgbClr val="078897"/>
                </a:solidFill>
                <a:latin typeface="Aptos"/>
              </a:rPr>
              <a:t>The difference is not politeness. Naming the evidence and the steps is what makes the answer reviewable — and what stops the model inventing the part you did not specify.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502920" cy="228600"/>
          </a:xfrm>
          <a:prstGeom prst="rect">
            <a:avLst/>
          </a:prstGeom>
          <a:noFill/>
        </p:spPr>
        <p:txBody>
          <a:bodyPr wrap="square" lIns="0" tIns="0" rIns="0" bIns="0">
            <a:spAutoFit/>
          </a:bodyPr>
          <a:lstStyle/>
          <a:p>
            <a:pPr algn="l"/>
            <a:r>
              <a:rPr sz="1100" b="1">
                <a:solidFill>
                  <a:srgbClr val="078897"/>
                </a:solidFill>
                <a:latin typeface="Aptos"/>
              </a:rPr>
              <a:t>IES</a:t>
            </a:r>
          </a:p>
        </p:txBody>
      </p:sp>
      <p:sp>
        <p:nvSpPr>
          <p:cNvPr id="3" name="TextBox 2"/>
          <p:cNvSpPr txBox="1"/>
          <p:nvPr/>
        </p:nvSpPr>
        <p:spPr>
          <a:xfrm>
            <a:off x="1207008" y="201168"/>
            <a:ext cx="5943600" cy="228600"/>
          </a:xfrm>
          <a:prstGeom prst="rect">
            <a:avLst/>
          </a:prstGeom>
          <a:noFill/>
        </p:spPr>
        <p:txBody>
          <a:bodyPr wrap="square" lIns="0" tIns="0" rIns="0" bIns="0">
            <a:spAutoFit/>
          </a:bodyPr>
          <a:lstStyle/>
          <a:p>
            <a:pPr algn="l"/>
            <a:r>
              <a:rPr sz="1100" b="0">
                <a:solidFill>
                  <a:srgbClr val="536A78"/>
                </a:solidFill>
                <a:latin typeface="Aptos"/>
              </a:rPr>
              <a:t>GENAI FOR ENGINEERS  /  MODULE 2</a:t>
            </a:r>
          </a:p>
        </p:txBody>
      </p:sp>
      <p:sp>
        <p:nvSpPr>
          <p:cNvPr id="4" name="TextBox 3"/>
          <p:cNvSpPr txBox="1"/>
          <p:nvPr/>
        </p:nvSpPr>
        <p:spPr>
          <a:xfrm>
            <a:off x="502920" y="640080"/>
            <a:ext cx="11109960" cy="512064"/>
          </a:xfrm>
          <a:prstGeom prst="rect">
            <a:avLst/>
          </a:prstGeom>
          <a:noFill/>
        </p:spPr>
        <p:txBody>
          <a:bodyPr wrap="square" lIns="0" tIns="0" rIns="0" bIns="0">
            <a:spAutoFit/>
          </a:bodyPr>
          <a:lstStyle/>
          <a:p>
            <a:pPr algn="l"/>
            <a:r>
              <a:rPr sz="2900" b="1">
                <a:solidFill>
                  <a:srgbClr val="102B3E"/>
                </a:solidFill>
                <a:latin typeface="Aptos"/>
              </a:rPr>
              <a:t>What E-MAP adds on top of R.I.S.E.</a:t>
            </a:r>
          </a:p>
        </p:txBody>
      </p:sp>
      <p:sp>
        <p:nvSpPr>
          <p:cNvPr id="5" name="TextBox 4"/>
          <p:cNvSpPr txBox="1"/>
          <p:nvPr/>
        </p:nvSpPr>
        <p:spPr>
          <a:xfrm>
            <a:off x="502920" y="1225296"/>
            <a:ext cx="11018520" cy="384048"/>
          </a:xfrm>
          <a:prstGeom prst="rect">
            <a:avLst/>
          </a:prstGeom>
          <a:noFill/>
        </p:spPr>
        <p:txBody>
          <a:bodyPr wrap="square" lIns="0" tIns="0" rIns="0" bIns="0">
            <a:spAutoFit/>
          </a:bodyPr>
          <a:lstStyle/>
          <a:p>
            <a:pPr algn="l"/>
            <a:r>
              <a:rPr sz="1500" b="0">
                <a:solidFill>
                  <a:srgbClr val="536A78"/>
                </a:solidFill>
                <a:latin typeface="Aptos"/>
              </a:rPr>
              <a:t>Engineering context, Metrics, Assumptions, Parameters</a:t>
            </a:r>
          </a:p>
        </p:txBody>
      </p:sp>
      <p:sp>
        <p:nvSpPr>
          <p:cNvPr id="6" name="Rectangle 5"/>
          <p:cNvSpPr/>
          <p:nvPr/>
        </p:nvSpPr>
        <p:spPr>
          <a:xfrm>
            <a:off x="502920" y="1737360"/>
            <a:ext cx="11109960" cy="18288"/>
          </a:xfrm>
          <a:prstGeom prst="rect">
            <a:avLst/>
          </a:prstGeom>
          <a:solidFill>
            <a:srgbClr val="078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46520"/>
            <a:ext cx="6400800" cy="164592"/>
          </a:xfrm>
          <a:prstGeom prst="rect">
            <a:avLst/>
          </a:prstGeom>
          <a:noFill/>
        </p:spPr>
        <p:txBody>
          <a:bodyPr wrap="square" lIns="0" tIns="0" rIns="0" bIns="0">
            <a:spAutoFit/>
          </a:bodyPr>
          <a:lstStyle/>
          <a:p>
            <a:pPr algn="l"/>
            <a:r>
              <a:rPr sz="800" b="0">
                <a:solidFill>
                  <a:srgbClr val="536A78"/>
                </a:solidFill>
                <a:latin typeface="Aptos"/>
              </a:rPr>
              <a:t>IES  |  ONE-DAY TEACHING ROUTE</a:t>
            </a:r>
          </a:p>
        </p:txBody>
      </p:sp>
      <p:sp>
        <p:nvSpPr>
          <p:cNvPr id="8" name="Rounded Rectangle 7"/>
          <p:cNvSpPr/>
          <p:nvPr/>
        </p:nvSpPr>
        <p:spPr>
          <a:xfrm>
            <a:off x="566928" y="1993392"/>
            <a:ext cx="384048" cy="384048"/>
          </a:xfrm>
          <a:prstGeom prst="roundRect">
            <a:avLst>
              <a:gd name="adj" fmla="val 6000"/>
            </a:avLst>
          </a:prstGeom>
          <a:solidFill>
            <a:srgbClr val="078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2048256"/>
            <a:ext cx="384048" cy="274320"/>
          </a:xfrm>
          <a:prstGeom prst="rect">
            <a:avLst/>
          </a:prstGeom>
          <a:noFill/>
        </p:spPr>
        <p:txBody>
          <a:bodyPr wrap="square" lIns="0" tIns="0" rIns="0" bIns="0">
            <a:spAutoFit/>
          </a:bodyPr>
          <a:lstStyle/>
          <a:p>
            <a:pPr algn="ctr"/>
            <a:r>
              <a:rPr sz="1300" b="1">
                <a:solidFill>
                  <a:srgbClr val="FFFFFF"/>
                </a:solidFill>
                <a:latin typeface="Aptos"/>
              </a:rPr>
              <a:t>E</a:t>
            </a:r>
          </a:p>
        </p:txBody>
      </p:sp>
      <p:sp>
        <p:nvSpPr>
          <p:cNvPr id="10" name="TextBox 9"/>
          <p:cNvSpPr txBox="1"/>
          <p:nvPr/>
        </p:nvSpPr>
        <p:spPr>
          <a:xfrm>
            <a:off x="1097280" y="2011680"/>
            <a:ext cx="2331720" cy="274320"/>
          </a:xfrm>
          <a:prstGeom prst="rect">
            <a:avLst/>
          </a:prstGeom>
          <a:noFill/>
        </p:spPr>
        <p:txBody>
          <a:bodyPr wrap="square" lIns="0" tIns="0" rIns="0" bIns="0">
            <a:spAutoFit/>
          </a:bodyPr>
          <a:lstStyle/>
          <a:p>
            <a:pPr algn="l"/>
            <a:r>
              <a:rPr sz="1350" b="1">
                <a:solidFill>
                  <a:srgbClr val="102B3E"/>
                </a:solidFill>
                <a:latin typeface="Aptos"/>
              </a:rPr>
              <a:t>Engineering context</a:t>
            </a:r>
          </a:p>
        </p:txBody>
      </p:sp>
      <p:sp>
        <p:nvSpPr>
          <p:cNvPr id="11" name="TextBox 10"/>
          <p:cNvSpPr txBox="1"/>
          <p:nvPr/>
        </p:nvSpPr>
        <p:spPr>
          <a:xfrm>
            <a:off x="3611880" y="2011680"/>
            <a:ext cx="3794760" cy="347472"/>
          </a:xfrm>
          <a:prstGeom prst="rect">
            <a:avLst/>
          </a:prstGeom>
          <a:noFill/>
        </p:spPr>
        <p:txBody>
          <a:bodyPr wrap="square" lIns="0" tIns="0" rIns="0" bIns="0">
            <a:spAutoFit/>
          </a:bodyPr>
          <a:lstStyle/>
          <a:p>
            <a:pPr algn="l"/>
            <a:r>
              <a:rPr sz="1150" b="0">
                <a:solidFill>
                  <a:srgbClr val="B33A3A"/>
                </a:solidFill>
                <a:latin typeface="Aptos"/>
              </a:rPr>
              <a:t>Without: "improve the dosing process"</a:t>
            </a:r>
          </a:p>
        </p:txBody>
      </p:sp>
      <p:sp>
        <p:nvSpPr>
          <p:cNvPr id="12" name="TextBox 11"/>
          <p:cNvSpPr txBox="1"/>
          <p:nvPr/>
        </p:nvSpPr>
        <p:spPr>
          <a:xfrm>
            <a:off x="7635240" y="2011680"/>
            <a:ext cx="4005072" cy="347472"/>
          </a:xfrm>
          <a:prstGeom prst="rect">
            <a:avLst/>
          </a:prstGeom>
          <a:noFill/>
        </p:spPr>
        <p:txBody>
          <a:bodyPr wrap="square" lIns="0" tIns="0" rIns="0" bIns="0">
            <a:spAutoFit/>
          </a:bodyPr>
          <a:lstStyle/>
          <a:p>
            <a:pPr algn="l"/>
            <a:r>
              <a:rPr sz="1150" b="0">
                <a:solidFill>
                  <a:srgbClr val="1E7A4F"/>
                </a:solidFill>
                <a:latin typeface="Aptos"/>
              </a:rPr>
              <a:t>With: "chemical dosing skid, weekly delivery test in L/h"</a:t>
            </a:r>
          </a:p>
        </p:txBody>
      </p:sp>
      <p:sp>
        <p:nvSpPr>
          <p:cNvPr id="13" name="Rounded Rectangle 12"/>
          <p:cNvSpPr/>
          <p:nvPr/>
        </p:nvSpPr>
        <p:spPr>
          <a:xfrm>
            <a:off x="566928" y="2926080"/>
            <a:ext cx="384048" cy="384048"/>
          </a:xfrm>
          <a:prstGeom prst="roundRect">
            <a:avLst>
              <a:gd name="adj" fmla="val 6000"/>
            </a:avLst>
          </a:prstGeom>
          <a:solidFill>
            <a:srgbClr val="078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 y="2980944"/>
            <a:ext cx="384048" cy="274320"/>
          </a:xfrm>
          <a:prstGeom prst="rect">
            <a:avLst/>
          </a:prstGeom>
          <a:noFill/>
        </p:spPr>
        <p:txBody>
          <a:bodyPr wrap="square" lIns="0" tIns="0" rIns="0" bIns="0">
            <a:spAutoFit/>
          </a:bodyPr>
          <a:lstStyle/>
          <a:p>
            <a:pPr algn="ctr"/>
            <a:r>
              <a:rPr sz="1300" b="1">
                <a:solidFill>
                  <a:srgbClr val="FFFFFF"/>
                </a:solidFill>
                <a:latin typeface="Aptos"/>
              </a:rPr>
              <a:t>M</a:t>
            </a:r>
          </a:p>
        </p:txBody>
      </p:sp>
      <p:sp>
        <p:nvSpPr>
          <p:cNvPr id="15" name="TextBox 14"/>
          <p:cNvSpPr txBox="1"/>
          <p:nvPr/>
        </p:nvSpPr>
        <p:spPr>
          <a:xfrm>
            <a:off x="1097280" y="2944368"/>
            <a:ext cx="2331720" cy="274320"/>
          </a:xfrm>
          <a:prstGeom prst="rect">
            <a:avLst/>
          </a:prstGeom>
          <a:noFill/>
        </p:spPr>
        <p:txBody>
          <a:bodyPr wrap="square" lIns="0" tIns="0" rIns="0" bIns="0">
            <a:spAutoFit/>
          </a:bodyPr>
          <a:lstStyle/>
          <a:p>
            <a:pPr algn="l"/>
            <a:r>
              <a:rPr sz="1350" b="1">
                <a:solidFill>
                  <a:srgbClr val="102B3E"/>
                </a:solidFill>
                <a:latin typeface="Aptos"/>
              </a:rPr>
              <a:t>Metrics</a:t>
            </a:r>
          </a:p>
        </p:txBody>
      </p:sp>
      <p:sp>
        <p:nvSpPr>
          <p:cNvPr id="16" name="TextBox 15"/>
          <p:cNvSpPr txBox="1"/>
          <p:nvPr/>
        </p:nvSpPr>
        <p:spPr>
          <a:xfrm>
            <a:off x="3611880" y="2944368"/>
            <a:ext cx="3794760" cy="347472"/>
          </a:xfrm>
          <a:prstGeom prst="rect">
            <a:avLst/>
          </a:prstGeom>
          <a:noFill/>
        </p:spPr>
        <p:txBody>
          <a:bodyPr wrap="square" lIns="0" tIns="0" rIns="0" bIns="0">
            <a:spAutoFit/>
          </a:bodyPr>
          <a:lstStyle/>
          <a:p>
            <a:pPr algn="l"/>
            <a:r>
              <a:rPr sz="1150" b="0">
                <a:solidFill>
                  <a:srgbClr val="B33A3A"/>
                </a:solidFill>
                <a:latin typeface="Aptos"/>
              </a:rPr>
              <a:t>Without: "show the improvement"</a:t>
            </a:r>
          </a:p>
        </p:txBody>
      </p:sp>
      <p:sp>
        <p:nvSpPr>
          <p:cNvPr id="17" name="TextBox 16"/>
          <p:cNvSpPr txBox="1"/>
          <p:nvPr/>
        </p:nvSpPr>
        <p:spPr>
          <a:xfrm>
            <a:off x="7635240" y="2944368"/>
            <a:ext cx="4005072" cy="347472"/>
          </a:xfrm>
          <a:prstGeom prst="rect">
            <a:avLst/>
          </a:prstGeom>
          <a:noFill/>
        </p:spPr>
        <p:txBody>
          <a:bodyPr wrap="square" lIns="0" tIns="0" rIns="0" bIns="0">
            <a:spAutoFit/>
          </a:bodyPr>
          <a:lstStyle/>
          <a:p>
            <a:pPr algn="l"/>
            <a:r>
              <a:rPr sz="1150" b="0">
                <a:solidFill>
                  <a:srgbClr val="1E7A4F"/>
                </a:solidFill>
                <a:latin typeface="Aptos"/>
              </a:rPr>
              <a:t>With: "deviation rate = deviations / opportunities, percent, 2 dp"</a:t>
            </a:r>
          </a:p>
        </p:txBody>
      </p:sp>
      <p:sp>
        <p:nvSpPr>
          <p:cNvPr id="18" name="Rounded Rectangle 17"/>
          <p:cNvSpPr/>
          <p:nvPr/>
        </p:nvSpPr>
        <p:spPr>
          <a:xfrm>
            <a:off x="566928" y="3858768"/>
            <a:ext cx="384048" cy="384048"/>
          </a:xfrm>
          <a:prstGeom prst="roundRect">
            <a:avLst>
              <a:gd name="adj" fmla="val 6000"/>
            </a:avLst>
          </a:prstGeom>
          <a:solidFill>
            <a:srgbClr val="078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3913632"/>
            <a:ext cx="384048" cy="274320"/>
          </a:xfrm>
          <a:prstGeom prst="rect">
            <a:avLst/>
          </a:prstGeom>
          <a:noFill/>
        </p:spPr>
        <p:txBody>
          <a:bodyPr wrap="square" lIns="0" tIns="0" rIns="0" bIns="0">
            <a:spAutoFit/>
          </a:bodyPr>
          <a:lstStyle/>
          <a:p>
            <a:pPr algn="ctr"/>
            <a:r>
              <a:rPr sz="1300" b="1">
                <a:solidFill>
                  <a:srgbClr val="FFFFFF"/>
                </a:solidFill>
                <a:latin typeface="Aptos"/>
              </a:rPr>
              <a:t>A</a:t>
            </a:r>
          </a:p>
        </p:txBody>
      </p:sp>
      <p:sp>
        <p:nvSpPr>
          <p:cNvPr id="20" name="TextBox 19"/>
          <p:cNvSpPr txBox="1"/>
          <p:nvPr/>
        </p:nvSpPr>
        <p:spPr>
          <a:xfrm>
            <a:off x="1097280" y="3877056"/>
            <a:ext cx="2331720" cy="274320"/>
          </a:xfrm>
          <a:prstGeom prst="rect">
            <a:avLst/>
          </a:prstGeom>
          <a:noFill/>
        </p:spPr>
        <p:txBody>
          <a:bodyPr wrap="square" lIns="0" tIns="0" rIns="0" bIns="0">
            <a:spAutoFit/>
          </a:bodyPr>
          <a:lstStyle/>
          <a:p>
            <a:pPr algn="l"/>
            <a:r>
              <a:rPr sz="1350" b="1">
                <a:solidFill>
                  <a:srgbClr val="102B3E"/>
                </a:solidFill>
                <a:latin typeface="Aptos"/>
              </a:rPr>
              <a:t>Assumptions</a:t>
            </a:r>
          </a:p>
        </p:txBody>
      </p:sp>
      <p:sp>
        <p:nvSpPr>
          <p:cNvPr id="21" name="TextBox 20"/>
          <p:cNvSpPr txBox="1"/>
          <p:nvPr/>
        </p:nvSpPr>
        <p:spPr>
          <a:xfrm>
            <a:off x="3611880" y="3877056"/>
            <a:ext cx="3794760" cy="347472"/>
          </a:xfrm>
          <a:prstGeom prst="rect">
            <a:avLst/>
          </a:prstGeom>
          <a:noFill/>
        </p:spPr>
        <p:txBody>
          <a:bodyPr wrap="square" lIns="0" tIns="0" rIns="0" bIns="0">
            <a:spAutoFit/>
          </a:bodyPr>
          <a:lstStyle/>
          <a:p>
            <a:pPr algn="l"/>
            <a:r>
              <a:rPr sz="1150" b="0">
                <a:solidFill>
                  <a:srgbClr val="B33A3A"/>
                </a:solidFill>
                <a:latin typeface="Aptos"/>
              </a:rPr>
              <a:t>Without: assumptions stay hidden inside the answer</a:t>
            </a:r>
          </a:p>
        </p:txBody>
      </p:sp>
      <p:sp>
        <p:nvSpPr>
          <p:cNvPr id="22" name="TextBox 21"/>
          <p:cNvSpPr txBox="1"/>
          <p:nvPr/>
        </p:nvSpPr>
        <p:spPr>
          <a:xfrm>
            <a:off x="7635240" y="3877056"/>
            <a:ext cx="4005072" cy="347472"/>
          </a:xfrm>
          <a:prstGeom prst="rect">
            <a:avLst/>
          </a:prstGeom>
          <a:noFill/>
        </p:spPr>
        <p:txBody>
          <a:bodyPr wrap="square" lIns="0" tIns="0" rIns="0" bIns="0">
            <a:spAutoFit/>
          </a:bodyPr>
          <a:lstStyle/>
          <a:p>
            <a:pPr algn="l"/>
            <a:r>
              <a:rPr sz="1150" b="0">
                <a:solidFill>
                  <a:srgbClr val="1E7A4F"/>
                </a:solidFill>
                <a:latin typeface="Aptos"/>
              </a:rPr>
              <a:t>With: "state that the deviation definition was unchanged"</a:t>
            </a:r>
          </a:p>
        </p:txBody>
      </p:sp>
      <p:sp>
        <p:nvSpPr>
          <p:cNvPr id="23" name="Rounded Rectangle 22"/>
          <p:cNvSpPr/>
          <p:nvPr/>
        </p:nvSpPr>
        <p:spPr>
          <a:xfrm>
            <a:off x="566928" y="4791456"/>
            <a:ext cx="384048" cy="384048"/>
          </a:xfrm>
          <a:prstGeom prst="roundRect">
            <a:avLst>
              <a:gd name="adj" fmla="val 6000"/>
            </a:avLst>
          </a:prstGeom>
          <a:solidFill>
            <a:srgbClr val="078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 y="4846320"/>
            <a:ext cx="384048" cy="274320"/>
          </a:xfrm>
          <a:prstGeom prst="rect">
            <a:avLst/>
          </a:prstGeom>
          <a:noFill/>
        </p:spPr>
        <p:txBody>
          <a:bodyPr wrap="square" lIns="0" tIns="0" rIns="0" bIns="0">
            <a:spAutoFit/>
          </a:bodyPr>
          <a:lstStyle/>
          <a:p>
            <a:pPr algn="ctr"/>
            <a:r>
              <a:rPr sz="1300" b="1">
                <a:solidFill>
                  <a:srgbClr val="FFFFFF"/>
                </a:solidFill>
                <a:latin typeface="Aptos"/>
              </a:rPr>
              <a:t>P</a:t>
            </a:r>
          </a:p>
        </p:txBody>
      </p:sp>
      <p:sp>
        <p:nvSpPr>
          <p:cNvPr id="25" name="TextBox 24"/>
          <p:cNvSpPr txBox="1"/>
          <p:nvPr/>
        </p:nvSpPr>
        <p:spPr>
          <a:xfrm>
            <a:off x="1097280" y="4809744"/>
            <a:ext cx="2331720" cy="274320"/>
          </a:xfrm>
          <a:prstGeom prst="rect">
            <a:avLst/>
          </a:prstGeom>
          <a:noFill/>
        </p:spPr>
        <p:txBody>
          <a:bodyPr wrap="square" lIns="0" tIns="0" rIns="0" bIns="0">
            <a:spAutoFit/>
          </a:bodyPr>
          <a:lstStyle/>
          <a:p>
            <a:pPr algn="l"/>
            <a:r>
              <a:rPr sz="1350" b="1">
                <a:solidFill>
                  <a:srgbClr val="102B3E"/>
                </a:solidFill>
                <a:latin typeface="Aptos"/>
              </a:rPr>
              <a:t>Parameters</a:t>
            </a:r>
          </a:p>
        </p:txBody>
      </p:sp>
      <p:sp>
        <p:nvSpPr>
          <p:cNvPr id="26" name="TextBox 25"/>
          <p:cNvSpPr txBox="1"/>
          <p:nvPr/>
        </p:nvSpPr>
        <p:spPr>
          <a:xfrm>
            <a:off x="3611880" y="4809744"/>
            <a:ext cx="3794760" cy="347472"/>
          </a:xfrm>
          <a:prstGeom prst="rect">
            <a:avLst/>
          </a:prstGeom>
          <a:noFill/>
        </p:spPr>
        <p:txBody>
          <a:bodyPr wrap="square" lIns="0" tIns="0" rIns="0" bIns="0">
            <a:spAutoFit/>
          </a:bodyPr>
          <a:lstStyle/>
          <a:p>
            <a:pPr algn="l"/>
            <a:r>
              <a:rPr sz="1150" b="0">
                <a:solidFill>
                  <a:srgbClr val="B33A3A"/>
                </a:solidFill>
                <a:latin typeface="Aptos"/>
              </a:rPr>
              <a:t>Without: the model chooses its own scope</a:t>
            </a:r>
          </a:p>
        </p:txBody>
      </p:sp>
      <p:sp>
        <p:nvSpPr>
          <p:cNvPr id="27" name="TextBox 26"/>
          <p:cNvSpPr txBox="1"/>
          <p:nvPr/>
        </p:nvSpPr>
        <p:spPr>
          <a:xfrm>
            <a:off x="7635240" y="4809744"/>
            <a:ext cx="4005072" cy="347472"/>
          </a:xfrm>
          <a:prstGeom prst="rect">
            <a:avLst/>
          </a:prstGeom>
          <a:noFill/>
        </p:spPr>
        <p:txBody>
          <a:bodyPr wrap="square" lIns="0" tIns="0" rIns="0" bIns="0">
            <a:spAutoFit/>
          </a:bodyPr>
          <a:lstStyle/>
          <a:p>
            <a:pPr algn="l"/>
            <a:r>
              <a:rPr sz="1150" b="0">
                <a:solidFill>
                  <a:srgbClr val="1E7A4F"/>
                </a:solidFill>
                <a:latin typeface="Aptos"/>
              </a:rPr>
              <a:t>With: "six weeks only, three per phase, no other period"</a:t>
            </a:r>
          </a:p>
        </p:txBody>
      </p:sp>
      <p:sp>
        <p:nvSpPr>
          <p:cNvPr id="28" name="Rectangle 27"/>
          <p:cNvSpPr/>
          <p:nvPr/>
        </p:nvSpPr>
        <p:spPr>
          <a:xfrm>
            <a:off x="566928" y="5779008"/>
            <a:ext cx="11064240" cy="566928"/>
          </a:xfrm>
          <a:prstGeom prst="rect">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8680" y="5907024"/>
            <a:ext cx="10515600" cy="365760"/>
          </a:xfrm>
          <a:prstGeom prst="rect">
            <a:avLst/>
          </a:prstGeom>
          <a:noFill/>
        </p:spPr>
        <p:txBody>
          <a:bodyPr wrap="square" lIns="0" tIns="0" rIns="0" bIns="0">
            <a:spAutoFit/>
          </a:bodyPr>
          <a:lstStyle/>
          <a:p>
            <a:pPr algn="l"/>
            <a:r>
              <a:rPr sz="1250" b="0">
                <a:solidFill>
                  <a:srgbClr val="102B3E"/>
                </a:solidFill>
                <a:latin typeface="Aptos"/>
              </a:rPr>
              <a:t>E-MAP is what stops a generic answer. It pins the units, keeps the assumptions visible, and fences the data — so two engineers running the same prompt get the same result.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502920" cy="228600"/>
          </a:xfrm>
          <a:prstGeom prst="rect">
            <a:avLst/>
          </a:prstGeom>
          <a:noFill/>
        </p:spPr>
        <p:txBody>
          <a:bodyPr wrap="square" lIns="0" tIns="0" rIns="0" bIns="0">
            <a:spAutoFit/>
          </a:bodyPr>
          <a:lstStyle/>
          <a:p>
            <a:pPr algn="l"/>
            <a:r>
              <a:rPr sz="1100" b="1">
                <a:solidFill>
                  <a:srgbClr val="078897"/>
                </a:solidFill>
                <a:latin typeface="Aptos"/>
              </a:rPr>
              <a:t>IES</a:t>
            </a:r>
          </a:p>
        </p:txBody>
      </p:sp>
      <p:sp>
        <p:nvSpPr>
          <p:cNvPr id="3" name="TextBox 2"/>
          <p:cNvSpPr txBox="1"/>
          <p:nvPr/>
        </p:nvSpPr>
        <p:spPr>
          <a:xfrm>
            <a:off x="1207008" y="201168"/>
            <a:ext cx="5943600" cy="228600"/>
          </a:xfrm>
          <a:prstGeom prst="rect">
            <a:avLst/>
          </a:prstGeom>
          <a:noFill/>
        </p:spPr>
        <p:txBody>
          <a:bodyPr wrap="square" lIns="0" tIns="0" rIns="0" bIns="0">
            <a:spAutoFit/>
          </a:bodyPr>
          <a:lstStyle/>
          <a:p>
            <a:pPr algn="l"/>
            <a:r>
              <a:rPr sz="1100" b="0">
                <a:solidFill>
                  <a:srgbClr val="536A78"/>
                </a:solidFill>
                <a:latin typeface="Aptos"/>
              </a:rPr>
              <a:t>GENAI FOR ENGINEERS  /  MODULE 2</a:t>
            </a:r>
          </a:p>
        </p:txBody>
      </p:sp>
      <p:sp>
        <p:nvSpPr>
          <p:cNvPr id="4" name="TextBox 3"/>
          <p:cNvSpPr txBox="1"/>
          <p:nvPr/>
        </p:nvSpPr>
        <p:spPr>
          <a:xfrm>
            <a:off x="502920" y="640080"/>
            <a:ext cx="11109960" cy="512064"/>
          </a:xfrm>
          <a:prstGeom prst="rect">
            <a:avLst/>
          </a:prstGeom>
          <a:noFill/>
        </p:spPr>
        <p:txBody>
          <a:bodyPr wrap="square" lIns="0" tIns="0" rIns="0" bIns="0">
            <a:spAutoFit/>
          </a:bodyPr>
          <a:lstStyle/>
          <a:p>
            <a:pPr algn="l"/>
            <a:r>
              <a:rPr sz="2900" b="1">
                <a:solidFill>
                  <a:srgbClr val="102B3E"/>
                </a:solidFill>
                <a:latin typeface="Aptos"/>
              </a:rPr>
              <a:t>What better prompting actually buys you</a:t>
            </a:r>
          </a:p>
        </p:txBody>
      </p:sp>
      <p:sp>
        <p:nvSpPr>
          <p:cNvPr id="5" name="TextBox 4"/>
          <p:cNvSpPr txBox="1"/>
          <p:nvPr/>
        </p:nvSpPr>
        <p:spPr>
          <a:xfrm>
            <a:off x="502920" y="1225296"/>
            <a:ext cx="11018520" cy="384048"/>
          </a:xfrm>
          <a:prstGeom prst="rect">
            <a:avLst/>
          </a:prstGeom>
          <a:noFill/>
        </p:spPr>
        <p:txBody>
          <a:bodyPr wrap="square" lIns="0" tIns="0" rIns="0" bIns="0">
            <a:spAutoFit/>
          </a:bodyPr>
          <a:lstStyle/>
          <a:p>
            <a:pPr algn="l"/>
            <a:r>
              <a:rPr sz="1500" b="0">
                <a:solidFill>
                  <a:srgbClr val="536A78"/>
                </a:solidFill>
                <a:latin typeface="Aptos"/>
              </a:rPr>
              <a:t>Measured on the same task, by the same engineer</a:t>
            </a:r>
          </a:p>
        </p:txBody>
      </p:sp>
      <p:sp>
        <p:nvSpPr>
          <p:cNvPr id="6" name="Rectangle 5"/>
          <p:cNvSpPr/>
          <p:nvPr/>
        </p:nvSpPr>
        <p:spPr>
          <a:xfrm>
            <a:off x="502920" y="1737360"/>
            <a:ext cx="11109960" cy="18288"/>
          </a:xfrm>
          <a:prstGeom prst="rect">
            <a:avLst/>
          </a:prstGeom>
          <a:solidFill>
            <a:srgbClr val="078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46520"/>
            <a:ext cx="6400800" cy="164592"/>
          </a:xfrm>
          <a:prstGeom prst="rect">
            <a:avLst/>
          </a:prstGeom>
          <a:noFill/>
        </p:spPr>
        <p:txBody>
          <a:bodyPr wrap="square" lIns="0" tIns="0" rIns="0" bIns="0">
            <a:spAutoFit/>
          </a:bodyPr>
          <a:lstStyle/>
          <a:p>
            <a:pPr algn="l"/>
            <a:r>
              <a:rPr sz="800" b="0">
                <a:solidFill>
                  <a:srgbClr val="536A78"/>
                </a:solidFill>
                <a:latin typeface="Aptos"/>
              </a:rPr>
              <a:t>IES  |  ONE-DAY TEACHING ROUTE</a:t>
            </a:r>
          </a:p>
        </p:txBody>
      </p:sp>
      <p:sp>
        <p:nvSpPr>
          <p:cNvPr id="8" name="Rectangle 7"/>
          <p:cNvSpPr/>
          <p:nvPr/>
        </p:nvSpPr>
        <p:spPr>
          <a:xfrm>
            <a:off x="566928" y="2103120"/>
            <a:ext cx="2670048" cy="2148840"/>
          </a:xfrm>
          <a:prstGeom prst="rect">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2103120"/>
            <a:ext cx="2670048" cy="54864"/>
          </a:xfrm>
          <a:prstGeom prst="rect">
            <a:avLst/>
          </a:prstGeom>
          <a:solidFill>
            <a:srgbClr val="078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395728"/>
            <a:ext cx="2194560" cy="292608"/>
          </a:xfrm>
          <a:prstGeom prst="rect">
            <a:avLst/>
          </a:prstGeom>
          <a:noFill/>
        </p:spPr>
        <p:txBody>
          <a:bodyPr wrap="square" lIns="0" tIns="0" rIns="0" bIns="0">
            <a:spAutoFit/>
          </a:bodyPr>
          <a:lstStyle/>
          <a:p>
            <a:pPr algn="l"/>
            <a:r>
              <a:rPr sz="1500" b="1">
                <a:solidFill>
                  <a:srgbClr val="102B3E"/>
                </a:solidFill>
                <a:latin typeface="Aptos"/>
              </a:rPr>
              <a:t>Rework</a:t>
            </a:r>
          </a:p>
        </p:txBody>
      </p:sp>
      <p:sp>
        <p:nvSpPr>
          <p:cNvPr id="11" name="TextBox 10"/>
          <p:cNvSpPr txBox="1"/>
          <p:nvPr/>
        </p:nvSpPr>
        <p:spPr>
          <a:xfrm>
            <a:off x="822960" y="2834640"/>
            <a:ext cx="2194560" cy="1280160"/>
          </a:xfrm>
          <a:prstGeom prst="rect">
            <a:avLst/>
          </a:prstGeom>
          <a:noFill/>
        </p:spPr>
        <p:txBody>
          <a:bodyPr wrap="square" lIns="0" tIns="0" rIns="0" bIns="0">
            <a:spAutoFit/>
          </a:bodyPr>
          <a:lstStyle/>
          <a:p>
            <a:pPr algn="l"/>
            <a:r>
              <a:rPr sz="1200" b="0">
                <a:solidFill>
                  <a:srgbClr val="536A78"/>
                </a:solidFill>
                <a:latin typeface="Aptos"/>
              </a:rPr>
              <a:t>Fewer regeneration cycles because the format and scope were stated once.</a:t>
            </a:r>
          </a:p>
        </p:txBody>
      </p:sp>
      <p:sp>
        <p:nvSpPr>
          <p:cNvPr id="12" name="Rectangle 11"/>
          <p:cNvSpPr/>
          <p:nvPr/>
        </p:nvSpPr>
        <p:spPr>
          <a:xfrm>
            <a:off x="3364992" y="2103120"/>
            <a:ext cx="2670048" cy="2148840"/>
          </a:xfrm>
          <a:prstGeom prst="rect">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64992" y="2103120"/>
            <a:ext cx="2670048" cy="54864"/>
          </a:xfrm>
          <a:prstGeom prst="rect">
            <a:avLst/>
          </a:prstGeom>
          <a:solidFill>
            <a:srgbClr val="078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21024" y="2395728"/>
            <a:ext cx="2194560" cy="292608"/>
          </a:xfrm>
          <a:prstGeom prst="rect">
            <a:avLst/>
          </a:prstGeom>
          <a:noFill/>
        </p:spPr>
        <p:txBody>
          <a:bodyPr wrap="square" lIns="0" tIns="0" rIns="0" bIns="0">
            <a:spAutoFit/>
          </a:bodyPr>
          <a:lstStyle/>
          <a:p>
            <a:pPr algn="l"/>
            <a:r>
              <a:rPr sz="1500" b="1">
                <a:solidFill>
                  <a:srgbClr val="102B3E"/>
                </a:solidFill>
                <a:latin typeface="Aptos"/>
              </a:rPr>
              <a:t>Traceability</a:t>
            </a:r>
          </a:p>
        </p:txBody>
      </p:sp>
      <p:sp>
        <p:nvSpPr>
          <p:cNvPr id="15" name="TextBox 14"/>
          <p:cNvSpPr txBox="1"/>
          <p:nvPr/>
        </p:nvSpPr>
        <p:spPr>
          <a:xfrm>
            <a:off x="3621024" y="2834640"/>
            <a:ext cx="2194560" cy="1280160"/>
          </a:xfrm>
          <a:prstGeom prst="rect">
            <a:avLst/>
          </a:prstGeom>
          <a:noFill/>
        </p:spPr>
        <p:txBody>
          <a:bodyPr wrap="square" lIns="0" tIns="0" rIns="0" bIns="0">
            <a:spAutoFit/>
          </a:bodyPr>
          <a:lstStyle/>
          <a:p>
            <a:pPr algn="l"/>
            <a:r>
              <a:rPr sz="1200" b="0">
                <a:solidFill>
                  <a:srgbClr val="536A78"/>
                </a:solidFill>
                <a:latin typeface="Aptos"/>
              </a:rPr>
              <a:t>Every number carries a formula and a source, so review is fast.</a:t>
            </a:r>
          </a:p>
        </p:txBody>
      </p:sp>
      <p:sp>
        <p:nvSpPr>
          <p:cNvPr id="16" name="Rectangle 15"/>
          <p:cNvSpPr/>
          <p:nvPr/>
        </p:nvSpPr>
        <p:spPr>
          <a:xfrm>
            <a:off x="6163056" y="2103120"/>
            <a:ext cx="2670048" cy="2148840"/>
          </a:xfrm>
          <a:prstGeom prst="rect">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63056" y="2103120"/>
            <a:ext cx="2670048" cy="54864"/>
          </a:xfrm>
          <a:prstGeom prst="rect">
            <a:avLst/>
          </a:prstGeom>
          <a:solidFill>
            <a:srgbClr val="078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9088" y="2395728"/>
            <a:ext cx="2194560" cy="292608"/>
          </a:xfrm>
          <a:prstGeom prst="rect">
            <a:avLst/>
          </a:prstGeom>
          <a:noFill/>
        </p:spPr>
        <p:txBody>
          <a:bodyPr wrap="square" lIns="0" tIns="0" rIns="0" bIns="0">
            <a:spAutoFit/>
          </a:bodyPr>
          <a:lstStyle/>
          <a:p>
            <a:pPr algn="l"/>
            <a:r>
              <a:rPr sz="1500" b="1">
                <a:solidFill>
                  <a:srgbClr val="102B3E"/>
                </a:solidFill>
                <a:latin typeface="Aptos"/>
              </a:rPr>
              <a:t>Safety</a:t>
            </a:r>
          </a:p>
        </p:txBody>
      </p:sp>
      <p:sp>
        <p:nvSpPr>
          <p:cNvPr id="19" name="TextBox 18"/>
          <p:cNvSpPr txBox="1"/>
          <p:nvPr/>
        </p:nvSpPr>
        <p:spPr>
          <a:xfrm>
            <a:off x="6419088" y="2834640"/>
            <a:ext cx="2194560" cy="1280160"/>
          </a:xfrm>
          <a:prstGeom prst="rect">
            <a:avLst/>
          </a:prstGeom>
          <a:noFill/>
        </p:spPr>
        <p:txBody>
          <a:bodyPr wrap="square" lIns="0" tIns="0" rIns="0" bIns="0">
            <a:spAutoFit/>
          </a:bodyPr>
          <a:lstStyle/>
          <a:p>
            <a:pPr algn="l"/>
            <a:r>
              <a:rPr sz="1200" b="0">
                <a:solidFill>
                  <a:srgbClr val="536A78"/>
                </a:solidFill>
                <a:latin typeface="Aptos"/>
              </a:rPr>
              <a:t>The boundary is explicit, so the model does not approve or diagnose.</a:t>
            </a:r>
          </a:p>
        </p:txBody>
      </p:sp>
      <p:sp>
        <p:nvSpPr>
          <p:cNvPr id="20" name="Rectangle 19"/>
          <p:cNvSpPr/>
          <p:nvPr/>
        </p:nvSpPr>
        <p:spPr>
          <a:xfrm>
            <a:off x="8961120" y="2103120"/>
            <a:ext cx="2670048" cy="2148840"/>
          </a:xfrm>
          <a:prstGeom prst="rect">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961120" y="2103120"/>
            <a:ext cx="2670048" cy="54864"/>
          </a:xfrm>
          <a:prstGeom prst="rect">
            <a:avLst/>
          </a:prstGeom>
          <a:solidFill>
            <a:srgbClr val="078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17152" y="2395728"/>
            <a:ext cx="2194560" cy="292608"/>
          </a:xfrm>
          <a:prstGeom prst="rect">
            <a:avLst/>
          </a:prstGeom>
          <a:noFill/>
        </p:spPr>
        <p:txBody>
          <a:bodyPr wrap="square" lIns="0" tIns="0" rIns="0" bIns="0">
            <a:spAutoFit/>
          </a:bodyPr>
          <a:lstStyle/>
          <a:p>
            <a:pPr algn="l"/>
            <a:r>
              <a:rPr sz="1500" b="1">
                <a:solidFill>
                  <a:srgbClr val="102B3E"/>
                </a:solidFill>
                <a:latin typeface="Aptos"/>
              </a:rPr>
              <a:t>Repeatability</a:t>
            </a:r>
          </a:p>
        </p:txBody>
      </p:sp>
      <p:sp>
        <p:nvSpPr>
          <p:cNvPr id="23" name="TextBox 22"/>
          <p:cNvSpPr txBox="1"/>
          <p:nvPr/>
        </p:nvSpPr>
        <p:spPr>
          <a:xfrm>
            <a:off x="9217152" y="2834640"/>
            <a:ext cx="2194560" cy="1280160"/>
          </a:xfrm>
          <a:prstGeom prst="rect">
            <a:avLst/>
          </a:prstGeom>
          <a:noFill/>
        </p:spPr>
        <p:txBody>
          <a:bodyPr wrap="square" lIns="0" tIns="0" rIns="0" bIns="0">
            <a:spAutoFit/>
          </a:bodyPr>
          <a:lstStyle/>
          <a:p>
            <a:pPr algn="l"/>
            <a:r>
              <a:rPr sz="1200" b="0">
                <a:solidFill>
                  <a:srgbClr val="536A78"/>
                </a:solidFill>
                <a:latin typeface="Aptos"/>
              </a:rPr>
              <a:t>A colleague can rerun the prompt and get a comparable answer.</a:t>
            </a:r>
          </a:p>
        </p:txBody>
      </p:sp>
      <p:sp>
        <p:nvSpPr>
          <p:cNvPr id="24" name="TextBox 23"/>
          <p:cNvSpPr txBox="1"/>
          <p:nvPr/>
        </p:nvSpPr>
        <p:spPr>
          <a:xfrm>
            <a:off x="566928" y="4709160"/>
            <a:ext cx="11064240" cy="310896"/>
          </a:xfrm>
          <a:prstGeom prst="rect">
            <a:avLst/>
          </a:prstGeom>
          <a:noFill/>
        </p:spPr>
        <p:txBody>
          <a:bodyPr wrap="square" lIns="0" tIns="0" rIns="0" bIns="0">
            <a:spAutoFit/>
          </a:bodyPr>
          <a:lstStyle/>
          <a:p>
            <a:pPr algn="l"/>
            <a:r>
              <a:rPr sz="1500" b="1">
                <a:solidFill>
                  <a:srgbClr val="102B3E"/>
                </a:solidFill>
                <a:latin typeface="Aptos"/>
              </a:rPr>
              <a:t>The one habit that matters most</a:t>
            </a:r>
          </a:p>
        </p:txBody>
      </p:sp>
      <p:sp>
        <p:nvSpPr>
          <p:cNvPr id="25" name="TextBox 24"/>
          <p:cNvSpPr txBox="1"/>
          <p:nvPr/>
        </p:nvSpPr>
        <p:spPr>
          <a:xfrm>
            <a:off x="566928" y="5102352"/>
            <a:ext cx="11064240" cy="1005840"/>
          </a:xfrm>
          <a:prstGeom prst="rect">
            <a:avLst/>
          </a:prstGeom>
          <a:noFill/>
        </p:spPr>
        <p:txBody>
          <a:bodyPr wrap="square" lIns="0" tIns="0" rIns="0" bIns="0">
            <a:spAutoFit/>
          </a:bodyPr>
          <a:lstStyle/>
          <a:p>
            <a:pPr algn="l"/>
            <a:r>
              <a:rPr sz="1350" b="0">
                <a:solidFill>
                  <a:srgbClr val="536A78"/>
                </a:solidFill>
                <a:latin typeface="Aptos"/>
              </a:rPr>
              <a:t>Name the evidence the model may use, and forbid everything else. Almost every invented failure mode, phantom clause and confident wrong cause in this course traces back to a prompt that did not say which data was in scope.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Iterative prompting is a review loop</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Check one gap, refine one instruction, rerun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Run</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Generate first draft</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Inspect</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Compare with source</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Find gap</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One error or omission</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Refine</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Add one precise instruction</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Rerun</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Compare the change</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E-MAP adds engineering context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Engineering · Metrics · Assumptions · Parameters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E · Engineering</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System, function, lifecycle</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M · Metrics</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Units, formula, target</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A · Assumptions</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Known, unknown, provisional</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P · Parameters</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Limits, conditions, revision</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Engineering context prevents generic answers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Describe the system and the decision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pic>
        <p:nvPicPr>
          <p:cNvPr id="7" name="Image 0" descr="/Users/alfredang/Documents/Supporting Document/Tertiary Infotech/Client Projects/Client WSQ Projects/Client - IES/GenAI for Engineers/assets/dosing-skid.png"/>
          <p:cNvPicPr>
            <a:picLocks noChangeAspect="1"/>
          </p:cNvPicPr>
          <p:nvPr/>
        </p:nvPicPr>
        <p:blipFill>
          <a:blip r:embed="rId3"/>
          <a:stretch>
            <a:fillRect/>
          </a:stretch>
        </p:blipFill>
        <p:spPr>
          <a:xfrm>
            <a:off x="566928" y="1993392"/>
            <a:ext cx="6419088" cy="4041648"/>
          </a:xfrm>
          <a:prstGeom prst="rect">
            <a:avLst/>
          </a:prstGeom>
        </p:spPr>
      </p:pic>
      <p:sp>
        <p:nvSpPr>
          <p:cNvPr id="8" name="Shape 5"/>
          <p:cNvSpPr/>
          <p:nvPr/>
        </p:nvSpPr>
        <p:spPr>
          <a:xfrm>
            <a:off x="566928" y="5349240"/>
            <a:ext cx="6419088" cy="685800"/>
          </a:xfrm>
          <a:prstGeom prst="rect">
            <a:avLst/>
          </a:prstGeom>
          <a:solidFill>
            <a:srgbClr val="102B3E">
              <a:alpha val="92000"/>
            </a:srgbClr>
          </a:solidFill>
          <a:ln w="12700">
            <a:solidFill>
              <a:srgbClr val="102B3E">
                <a:alpha val="0"/>
              </a:srgbClr>
            </a:solidFill>
            <a:prstDash val="solid"/>
          </a:ln>
        </p:spPr>
        <p:txBody>
          <a:bodyPr/>
          <a:lstStyle/>
          <a:p>
            <a:endParaRPr/>
          </a:p>
        </p:txBody>
      </p:sp>
      <p:sp>
        <p:nvSpPr>
          <p:cNvPr id="9" name="Text 6"/>
          <p:cNvSpPr txBox="1"/>
          <p:nvPr/>
        </p:nvSpPr>
        <p:spPr>
          <a:xfrm>
            <a:off x="804672" y="5458968"/>
            <a:ext cx="5943600" cy="438912"/>
          </a:xfrm>
          <a:prstGeom prst="rect">
            <a:avLst/>
          </a:prstGeom>
          <a:noFill/>
          <a:ln/>
        </p:spPr>
        <p:txBody>
          <a:bodyPr wrap="square" lIns="0" tIns="0" rIns="0" bIns="0" rtlCol="0" anchor="ctr">
            <a:normAutofit/>
          </a:bodyPr>
          <a:lstStyle/>
          <a:p>
            <a:pPr marL="0" indent="0" algn="l">
              <a:buNone/>
            </a:pPr>
            <a:r>
              <a:rPr lang="en-US" sz="1600" b="1" dirty="0">
                <a:solidFill>
                  <a:srgbClr val="FFFFFF"/>
                </a:solidFill>
                <a:latin typeface="Aptos" pitchFamily="34" charset="0"/>
                <a:ea typeface="Aptos" pitchFamily="34" charset="-122"/>
                <a:cs typeface="Aptos" pitchFamily="34" charset="-120"/>
              </a:rPr>
              <a:t>Describe the system and the decision</a:t>
            </a:r>
            <a:endParaRPr lang="en-US" sz="1600" dirty="0"/>
          </a:p>
        </p:txBody>
      </p:sp>
      <p:sp>
        <p:nvSpPr>
          <p:cNvPr id="10" name="Shape 7"/>
          <p:cNvSpPr/>
          <p:nvPr/>
        </p:nvSpPr>
        <p:spPr>
          <a:xfrm>
            <a:off x="7388352" y="2103120"/>
            <a:ext cx="384048" cy="384048"/>
          </a:xfrm>
          <a:prstGeom prst="ellipse">
            <a:avLst/>
          </a:prstGeom>
          <a:solidFill>
            <a:srgbClr val="078897"/>
          </a:solidFill>
          <a:ln w="12700">
            <a:solidFill>
              <a:srgbClr val="078897"/>
            </a:solidFill>
            <a:prstDash val="solid"/>
          </a:ln>
        </p:spPr>
        <p:txBody>
          <a:bodyPr/>
          <a:lstStyle/>
          <a:p>
            <a:endParaRPr/>
          </a:p>
        </p:txBody>
      </p:sp>
      <p:sp>
        <p:nvSpPr>
          <p:cNvPr id="11" name="Text 8"/>
          <p:cNvSpPr txBox="1"/>
          <p:nvPr/>
        </p:nvSpPr>
        <p:spPr>
          <a:xfrm>
            <a:off x="7388352" y="2103120"/>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9"/>
          <p:cNvSpPr txBox="1"/>
          <p:nvPr/>
        </p:nvSpPr>
        <p:spPr>
          <a:xfrm>
            <a:off x="7909560" y="2057400"/>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System</a:t>
            </a:r>
            <a:endParaRPr lang="en-US" sz="1500" dirty="0"/>
          </a:p>
        </p:txBody>
      </p:sp>
      <p:sp>
        <p:nvSpPr>
          <p:cNvPr id="13" name="Text 10"/>
          <p:cNvSpPr txBox="1"/>
          <p:nvPr/>
        </p:nvSpPr>
        <p:spPr>
          <a:xfrm>
            <a:off x="7909560" y="2404872"/>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CW-401 chemical dosing skid</a:t>
            </a:r>
            <a:endParaRPr lang="en-US" sz="1400" dirty="0"/>
          </a:p>
        </p:txBody>
      </p:sp>
      <p:sp>
        <p:nvSpPr>
          <p:cNvPr id="14" name="Shape 11"/>
          <p:cNvSpPr/>
          <p:nvPr/>
        </p:nvSpPr>
        <p:spPr>
          <a:xfrm>
            <a:off x="7388352" y="3182112"/>
            <a:ext cx="384048" cy="384048"/>
          </a:xfrm>
          <a:prstGeom prst="ellipse">
            <a:avLst/>
          </a:prstGeom>
          <a:solidFill>
            <a:srgbClr val="078897"/>
          </a:solidFill>
          <a:ln w="12700">
            <a:solidFill>
              <a:srgbClr val="078897"/>
            </a:solidFill>
            <a:prstDash val="solid"/>
          </a:ln>
        </p:spPr>
        <p:txBody>
          <a:bodyPr/>
          <a:lstStyle/>
          <a:p>
            <a:endParaRPr/>
          </a:p>
        </p:txBody>
      </p:sp>
      <p:sp>
        <p:nvSpPr>
          <p:cNvPr id="15" name="Text 12"/>
          <p:cNvSpPr txBox="1"/>
          <p:nvPr/>
        </p:nvSpPr>
        <p:spPr>
          <a:xfrm>
            <a:off x="7388352" y="3182112"/>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3"/>
          <p:cNvSpPr txBox="1"/>
          <p:nvPr/>
        </p:nvSpPr>
        <p:spPr>
          <a:xfrm>
            <a:off x="7909560" y="3136392"/>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Function</a:t>
            </a:r>
            <a:endParaRPr lang="en-US" sz="1500" dirty="0"/>
          </a:p>
        </p:txBody>
      </p:sp>
      <p:sp>
        <p:nvSpPr>
          <p:cNvPr id="17" name="Text 14"/>
          <p:cNvSpPr txBox="1"/>
          <p:nvPr/>
        </p:nvSpPr>
        <p:spPr>
          <a:xfrm>
            <a:off x="7909560" y="3483864"/>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Deliver liquid at a controlled rate</a:t>
            </a:r>
            <a:endParaRPr lang="en-US" sz="1400" dirty="0"/>
          </a:p>
        </p:txBody>
      </p:sp>
      <p:sp>
        <p:nvSpPr>
          <p:cNvPr id="18" name="Shape 15"/>
          <p:cNvSpPr/>
          <p:nvPr/>
        </p:nvSpPr>
        <p:spPr>
          <a:xfrm>
            <a:off x="7388352" y="4261104"/>
            <a:ext cx="384048" cy="384048"/>
          </a:xfrm>
          <a:prstGeom prst="ellipse">
            <a:avLst/>
          </a:prstGeom>
          <a:solidFill>
            <a:srgbClr val="078897"/>
          </a:solidFill>
          <a:ln w="12700">
            <a:solidFill>
              <a:srgbClr val="078897"/>
            </a:solidFill>
            <a:prstDash val="solid"/>
          </a:ln>
        </p:spPr>
        <p:txBody>
          <a:bodyPr/>
          <a:lstStyle/>
          <a:p>
            <a:endParaRPr/>
          </a:p>
        </p:txBody>
      </p:sp>
      <p:sp>
        <p:nvSpPr>
          <p:cNvPr id="19" name="Text 16"/>
          <p:cNvSpPr txBox="1"/>
          <p:nvPr/>
        </p:nvSpPr>
        <p:spPr>
          <a:xfrm>
            <a:off x="7388352" y="4261104"/>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7"/>
          <p:cNvSpPr txBox="1"/>
          <p:nvPr/>
        </p:nvSpPr>
        <p:spPr>
          <a:xfrm>
            <a:off x="7909560" y="4215384"/>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Lifecycle</a:t>
            </a:r>
            <a:endParaRPr lang="en-US" sz="1500" dirty="0"/>
          </a:p>
        </p:txBody>
      </p:sp>
      <p:sp>
        <p:nvSpPr>
          <p:cNvPr id="21" name="Text 18"/>
          <p:cNvSpPr txBox="1"/>
          <p:nvPr/>
        </p:nvSpPr>
        <p:spPr>
          <a:xfrm>
            <a:off x="7909560" y="4562856"/>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Standardised delivery test</a:t>
            </a:r>
            <a:endParaRPr lang="en-US" sz="1400" dirty="0"/>
          </a:p>
        </p:txBody>
      </p:sp>
      <p:sp>
        <p:nvSpPr>
          <p:cNvPr id="22" name="Shape 19"/>
          <p:cNvSpPr/>
          <p:nvPr/>
        </p:nvSpPr>
        <p:spPr>
          <a:xfrm>
            <a:off x="7388352" y="5340096"/>
            <a:ext cx="384048" cy="384048"/>
          </a:xfrm>
          <a:prstGeom prst="ellipse">
            <a:avLst/>
          </a:prstGeom>
          <a:solidFill>
            <a:srgbClr val="078897"/>
          </a:solidFill>
          <a:ln w="12700">
            <a:solidFill>
              <a:srgbClr val="078897"/>
            </a:solidFill>
            <a:prstDash val="solid"/>
          </a:ln>
        </p:spPr>
        <p:txBody>
          <a:bodyPr/>
          <a:lstStyle/>
          <a:p>
            <a:endParaRPr/>
          </a:p>
        </p:txBody>
      </p:sp>
      <p:sp>
        <p:nvSpPr>
          <p:cNvPr id="23" name="Text 20"/>
          <p:cNvSpPr txBox="1"/>
          <p:nvPr/>
        </p:nvSpPr>
        <p:spPr>
          <a:xfrm>
            <a:off x="7388352" y="5340096"/>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4" name="Text 21"/>
          <p:cNvSpPr txBox="1"/>
          <p:nvPr/>
        </p:nvSpPr>
        <p:spPr>
          <a:xfrm>
            <a:off x="7909560" y="5294376"/>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Decision</a:t>
            </a:r>
            <a:endParaRPr lang="en-US" sz="1500" dirty="0"/>
          </a:p>
        </p:txBody>
      </p:sp>
      <p:sp>
        <p:nvSpPr>
          <p:cNvPr id="25" name="Text 22"/>
          <p:cNvSpPr txBox="1"/>
          <p:nvPr/>
        </p:nvSpPr>
        <p:spPr>
          <a:xfrm>
            <a:off x="7909560" y="5641848"/>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Investigate unusual change</a:t>
            </a:r>
            <a:endParaRPr lang="en-US" sz="1400" dirty="0"/>
          </a:p>
        </p:txBody>
      </p:sp>
      <p:sp>
        <p:nvSpPr>
          <p:cNvPr id="26" name="Text 2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Metrics make comparison explicit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Name numerator, denominator, units and time basis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331720"/>
            <a:ext cx="3523488" cy="3337560"/>
          </a:xfrm>
          <a:prstGeom prst="roundRect">
            <a:avLst>
              <a:gd name="adj" fmla="val 2192"/>
            </a:avLst>
          </a:prstGeom>
          <a:solidFill>
            <a:srgbClr val="FFFFFF"/>
          </a:solidFill>
          <a:ln w="12700">
            <a:solidFill>
              <a:srgbClr val="C8D9DC"/>
            </a:solidFill>
            <a:prstDash val="solid"/>
          </a:ln>
        </p:spPr>
        <p:txBody>
          <a:bodyPr/>
          <a:lstStyle/>
          <a:p>
            <a:endParaRPr lang="en-US"/>
          </a:p>
        </p:txBody>
      </p:sp>
      <p:sp>
        <p:nvSpPr>
          <p:cNvPr id="8" name="Text 6"/>
          <p:cNvSpPr txBox="1"/>
          <p:nvPr/>
        </p:nvSpPr>
        <p:spPr>
          <a:xfrm>
            <a:off x="749808" y="2651760"/>
            <a:ext cx="3157728"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Flow rate</a:t>
            </a:r>
            <a:endParaRPr lang="en-US" sz="1800" dirty="0"/>
          </a:p>
        </p:txBody>
      </p:sp>
      <p:sp>
        <p:nvSpPr>
          <p:cNvPr id="9" name="Text 7"/>
          <p:cNvSpPr txBox="1"/>
          <p:nvPr/>
        </p:nvSpPr>
        <p:spPr>
          <a:xfrm>
            <a:off x="749808" y="3493008"/>
            <a:ext cx="3157728" cy="1051560"/>
          </a:xfrm>
          <a:prstGeom prst="rect">
            <a:avLst/>
          </a:prstGeom>
          <a:noFill/>
          <a:ln/>
        </p:spPr>
        <p:txBody>
          <a:bodyPr wrap="square" lIns="0" tIns="0" rIns="0" bIns="0" rtlCol="0" anchor="ctr">
            <a:normAutofit/>
          </a:bodyPr>
          <a:lstStyle/>
          <a:p>
            <a:pPr marL="0" indent="0" algn="ctr">
              <a:buNone/>
            </a:pPr>
            <a:r>
              <a:rPr lang="en-US" sz="2600" b="1" dirty="0">
                <a:solidFill>
                  <a:srgbClr val="2477B3"/>
                </a:solidFill>
                <a:latin typeface="Aptos" pitchFamily="34" charset="0"/>
                <a:ea typeface="Aptos" pitchFamily="34" charset="-122"/>
                <a:cs typeface="Aptos" pitchFamily="34" charset="-120"/>
              </a:rPr>
              <a:t>Volume × 3600 ÷ duration</a:t>
            </a:r>
            <a:endParaRPr lang="en-US" sz="2600" dirty="0"/>
          </a:p>
        </p:txBody>
      </p:sp>
      <p:sp>
        <p:nvSpPr>
          <p:cNvPr id="10" name="Shape 8"/>
          <p:cNvSpPr/>
          <p:nvPr/>
        </p:nvSpPr>
        <p:spPr>
          <a:xfrm>
            <a:off x="4291584" y="2331720"/>
            <a:ext cx="3523488" cy="3337560"/>
          </a:xfrm>
          <a:prstGeom prst="roundRect">
            <a:avLst>
              <a:gd name="adj" fmla="val 2192"/>
            </a:avLst>
          </a:prstGeom>
          <a:solidFill>
            <a:srgbClr val="FFFFFF"/>
          </a:solidFill>
          <a:ln w="12700">
            <a:solidFill>
              <a:srgbClr val="C8D9DC"/>
            </a:solidFill>
            <a:prstDash val="solid"/>
          </a:ln>
        </p:spPr>
        <p:txBody>
          <a:bodyPr/>
          <a:lstStyle/>
          <a:p>
            <a:endParaRPr lang="en-US"/>
          </a:p>
        </p:txBody>
      </p:sp>
      <p:sp>
        <p:nvSpPr>
          <p:cNvPr id="11" name="Text 9"/>
          <p:cNvSpPr txBox="1"/>
          <p:nvPr/>
        </p:nvSpPr>
        <p:spPr>
          <a:xfrm>
            <a:off x="4474464" y="2651760"/>
            <a:ext cx="3157728"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Deviation rate</a:t>
            </a:r>
            <a:endParaRPr lang="en-US" sz="1800" dirty="0"/>
          </a:p>
        </p:txBody>
      </p:sp>
      <p:sp>
        <p:nvSpPr>
          <p:cNvPr id="12" name="Text 10"/>
          <p:cNvSpPr txBox="1"/>
          <p:nvPr/>
        </p:nvSpPr>
        <p:spPr>
          <a:xfrm>
            <a:off x="4474464" y="3493008"/>
            <a:ext cx="3157728" cy="1051560"/>
          </a:xfrm>
          <a:prstGeom prst="rect">
            <a:avLst/>
          </a:prstGeom>
          <a:noFill/>
          <a:ln/>
        </p:spPr>
        <p:txBody>
          <a:bodyPr wrap="square" lIns="0" tIns="0" rIns="0" bIns="0" rtlCol="0" anchor="ctr">
            <a:normAutofit/>
          </a:bodyPr>
          <a:lstStyle/>
          <a:p>
            <a:pPr marL="0" indent="0" algn="ctr">
              <a:buNone/>
            </a:pPr>
            <a:r>
              <a:rPr lang="en-US" sz="2600" b="1" dirty="0">
                <a:solidFill>
                  <a:srgbClr val="2477B3"/>
                </a:solidFill>
                <a:latin typeface="Aptos" pitchFamily="34" charset="0"/>
                <a:ea typeface="Aptos" pitchFamily="34" charset="-122"/>
                <a:cs typeface="Aptos" pitchFamily="34" charset="-120"/>
              </a:rPr>
              <a:t>Deviations ÷ opportunities</a:t>
            </a:r>
            <a:endParaRPr lang="en-US" sz="2600" dirty="0"/>
          </a:p>
        </p:txBody>
      </p:sp>
      <p:sp>
        <p:nvSpPr>
          <p:cNvPr id="13" name="Shape 11"/>
          <p:cNvSpPr/>
          <p:nvPr/>
        </p:nvSpPr>
        <p:spPr>
          <a:xfrm>
            <a:off x="8016240" y="2331720"/>
            <a:ext cx="3523488" cy="3337560"/>
          </a:xfrm>
          <a:prstGeom prst="roundRect">
            <a:avLst>
              <a:gd name="adj" fmla="val 2192"/>
            </a:avLst>
          </a:prstGeom>
          <a:solidFill>
            <a:srgbClr val="E2EEF0"/>
          </a:solidFill>
          <a:ln w="12700">
            <a:solidFill>
              <a:srgbClr val="C8D9DC"/>
            </a:solidFill>
            <a:prstDash val="solid"/>
          </a:ln>
        </p:spPr>
        <p:txBody>
          <a:bodyPr/>
          <a:lstStyle/>
          <a:p>
            <a:endParaRPr lang="en-US"/>
          </a:p>
        </p:txBody>
      </p:sp>
      <p:sp>
        <p:nvSpPr>
          <p:cNvPr id="14" name="Text 12"/>
          <p:cNvSpPr txBox="1"/>
          <p:nvPr/>
        </p:nvSpPr>
        <p:spPr>
          <a:xfrm>
            <a:off x="8199120" y="2651760"/>
            <a:ext cx="3157728"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RPN</a:t>
            </a:r>
            <a:endParaRPr lang="en-US" sz="1800" dirty="0"/>
          </a:p>
        </p:txBody>
      </p:sp>
      <p:sp>
        <p:nvSpPr>
          <p:cNvPr id="15" name="Text 13"/>
          <p:cNvSpPr txBox="1"/>
          <p:nvPr/>
        </p:nvSpPr>
        <p:spPr>
          <a:xfrm>
            <a:off x="8199120" y="3493008"/>
            <a:ext cx="3157728" cy="1051560"/>
          </a:xfrm>
          <a:prstGeom prst="rect">
            <a:avLst/>
          </a:prstGeom>
          <a:noFill/>
          <a:ln/>
        </p:spPr>
        <p:txBody>
          <a:bodyPr wrap="square" lIns="0" tIns="0" rIns="0" bIns="0" rtlCol="0" anchor="ctr">
            <a:normAutofit/>
          </a:bodyPr>
          <a:lstStyle/>
          <a:p>
            <a:pPr marL="0" indent="0" algn="ctr">
              <a:buNone/>
            </a:pPr>
            <a:r>
              <a:rPr lang="en-US" sz="2600" b="1" dirty="0">
                <a:solidFill>
                  <a:srgbClr val="102B3E"/>
                </a:solidFill>
                <a:latin typeface="Aptos" pitchFamily="34" charset="0"/>
                <a:ea typeface="Aptos" pitchFamily="34" charset="-122"/>
                <a:cs typeface="Aptos" pitchFamily="34" charset="-120"/>
              </a:rPr>
              <a:t>Severity × Occurrence × Detection</a:t>
            </a:r>
            <a:endParaRPr lang="en-US" sz="2600" dirty="0"/>
          </a:p>
        </p:txBody>
      </p:sp>
      <p:sp>
        <p:nvSpPr>
          <p:cNvPr id="16" name="Text 1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Assumptions must remain visible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Separate what is known from what is provisional</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3486912"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Known</a:t>
            </a:r>
            <a:endParaRPr lang="en-US" sz="2100" dirty="0"/>
          </a:p>
        </p:txBody>
      </p:sp>
      <p:sp>
        <p:nvSpPr>
          <p:cNvPr id="10" name="Text 8"/>
          <p:cNvSpPr txBox="1"/>
          <p:nvPr/>
        </p:nvSpPr>
        <p:spPr>
          <a:xfrm>
            <a:off x="859536"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T10 = 59.4 L/h</a:t>
            </a:r>
            <a:endParaRPr lang="en-US" sz="1700" dirty="0"/>
          </a:p>
        </p:txBody>
      </p:sp>
      <p:sp>
        <p:nvSpPr>
          <p:cNvPr id="11" name="Shape 9"/>
          <p:cNvSpPr/>
          <p:nvPr/>
        </p:nvSpPr>
        <p:spPr>
          <a:xfrm>
            <a:off x="4309872"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4309872" y="2057400"/>
            <a:ext cx="3486912"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4565904"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Assumption</a:t>
            </a:r>
            <a:endParaRPr lang="en-US" sz="2100" dirty="0"/>
          </a:p>
        </p:txBody>
      </p:sp>
      <p:sp>
        <p:nvSpPr>
          <p:cNvPr id="14" name="Text 12"/>
          <p:cNvSpPr txBox="1"/>
          <p:nvPr/>
        </p:nvSpPr>
        <p:spPr>
          <a:xfrm>
            <a:off x="4602480"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Test conditions were comparable</a:t>
            </a:r>
            <a:endParaRPr lang="en-US" sz="1700" dirty="0"/>
          </a:p>
        </p:txBody>
      </p:sp>
      <p:sp>
        <p:nvSpPr>
          <p:cNvPr id="15" name="Shape 13"/>
          <p:cNvSpPr/>
          <p:nvPr/>
        </p:nvSpPr>
        <p:spPr>
          <a:xfrm>
            <a:off x="8052816" y="2057400"/>
            <a:ext cx="3486912" cy="3959352"/>
          </a:xfrm>
          <a:prstGeom prst="roundRect">
            <a:avLst>
              <a:gd name="adj" fmla="val 2098"/>
            </a:avLst>
          </a:prstGeom>
          <a:solidFill>
            <a:srgbClr val="E2EEF0"/>
          </a:solidFill>
          <a:ln w="12700">
            <a:solidFill>
              <a:srgbClr val="C8D9DC"/>
            </a:solidFill>
            <a:prstDash val="solid"/>
          </a:ln>
        </p:spPr>
        <p:txBody>
          <a:bodyPr/>
          <a:lstStyle/>
          <a:p>
            <a:endParaRPr lang="en-US"/>
          </a:p>
        </p:txBody>
      </p:sp>
      <p:sp>
        <p:nvSpPr>
          <p:cNvPr id="16" name="Shape 14"/>
          <p:cNvSpPr/>
          <p:nvPr/>
        </p:nvSpPr>
        <p:spPr>
          <a:xfrm>
            <a:off x="8052816" y="2057400"/>
            <a:ext cx="3486912"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8308848"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F4A62A"/>
                </a:solidFill>
                <a:latin typeface="Aptos" pitchFamily="34" charset="0"/>
                <a:ea typeface="Aptos" pitchFamily="34" charset="-122"/>
                <a:cs typeface="Aptos" pitchFamily="34" charset="-120"/>
              </a:rPr>
              <a:t>Unknown</a:t>
            </a:r>
            <a:endParaRPr lang="en-US" sz="2100" dirty="0"/>
          </a:p>
        </p:txBody>
      </p:sp>
      <p:sp>
        <p:nvSpPr>
          <p:cNvPr id="18" name="Text 16"/>
          <p:cNvSpPr txBox="1"/>
          <p:nvPr/>
        </p:nvSpPr>
        <p:spPr>
          <a:xfrm>
            <a:off x="8345424"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Which intervention changed performance</a:t>
            </a:r>
            <a:endParaRPr lang="en-US" sz="1700" dirty="0"/>
          </a:p>
        </p:txBody>
      </p:sp>
      <p:sp>
        <p:nvSpPr>
          <p:cNvPr id="19" name="Text 17"/>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Parameters define the operating boundary</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Give limits, revisions and conditions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Revision</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TR-401 revision 1</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Reference</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Eight Baseline readings</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Specification</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58.9–65.1 L/h fictional range</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Rule</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Do not change source rows</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Combine RISE and E-MAP</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RISE structures the request; E-MAP supplies technical detail</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2033016"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2033016"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3553968" cy="2926080"/>
          </a:xfrm>
          <a:prstGeom prst="roundRect">
            <a:avLst>
              <a:gd name="adj" fmla="val 2500"/>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3279648"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RISE</a:t>
            </a:r>
            <a:endParaRPr lang="en-US" sz="1800" dirty="0"/>
          </a:p>
        </p:txBody>
      </p:sp>
      <p:sp>
        <p:nvSpPr>
          <p:cNvPr id="11" name="Text 9"/>
          <p:cNvSpPr txBox="1"/>
          <p:nvPr/>
        </p:nvSpPr>
        <p:spPr>
          <a:xfrm>
            <a:off x="731520" y="3767328"/>
            <a:ext cx="3224784"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Who, evidence, work, output</a:t>
            </a:r>
            <a:endParaRPr lang="en-US" sz="1500" dirty="0"/>
          </a:p>
        </p:txBody>
      </p:sp>
      <p:sp>
        <p:nvSpPr>
          <p:cNvPr id="12" name="Shape 10"/>
          <p:cNvSpPr/>
          <p:nvPr/>
        </p:nvSpPr>
        <p:spPr>
          <a:xfrm>
            <a:off x="4139184"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4276344" y="2743200"/>
            <a:ext cx="3553968" cy="2926080"/>
          </a:xfrm>
          <a:prstGeom prst="roundRect">
            <a:avLst>
              <a:gd name="adj" fmla="val 2500"/>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4413504" y="3063240"/>
            <a:ext cx="3279648"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E-MAP</a:t>
            </a:r>
            <a:endParaRPr lang="en-US" sz="1800" dirty="0"/>
          </a:p>
        </p:txBody>
      </p:sp>
      <p:sp>
        <p:nvSpPr>
          <p:cNvPr id="17" name="Text 15"/>
          <p:cNvSpPr txBox="1"/>
          <p:nvPr/>
        </p:nvSpPr>
        <p:spPr>
          <a:xfrm>
            <a:off x="4440936" y="3767328"/>
            <a:ext cx="3224784"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System, measures, assumptions, limits</a:t>
            </a:r>
            <a:endParaRPr lang="en-US" sz="1500" dirty="0"/>
          </a:p>
        </p:txBody>
      </p:sp>
      <p:sp>
        <p:nvSpPr>
          <p:cNvPr id="18" name="Shape 16"/>
          <p:cNvSpPr/>
          <p:nvPr/>
        </p:nvSpPr>
        <p:spPr>
          <a:xfrm>
            <a:off x="7848600"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9451848" y="2029968"/>
            <a:ext cx="621792" cy="621792"/>
          </a:xfrm>
          <a:prstGeom prst="ellipse">
            <a:avLst/>
          </a:prstGeom>
          <a:solidFill>
            <a:srgbClr val="102B3E"/>
          </a:solidFill>
          <a:ln w="12700">
            <a:solidFill>
              <a:srgbClr val="102B3E"/>
            </a:solidFill>
            <a:prstDash val="solid"/>
          </a:ln>
        </p:spPr>
        <p:txBody>
          <a:bodyPr/>
          <a:lstStyle/>
          <a:p>
            <a:endParaRPr/>
          </a:p>
        </p:txBody>
      </p:sp>
      <p:sp>
        <p:nvSpPr>
          <p:cNvPr id="20" name="Text 18"/>
          <p:cNvSpPr txBox="1"/>
          <p:nvPr/>
        </p:nvSpPr>
        <p:spPr>
          <a:xfrm>
            <a:off x="9451848"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7985760" y="2743200"/>
            <a:ext cx="3553968" cy="2926080"/>
          </a:xfrm>
          <a:prstGeom prst="roundRect">
            <a:avLst>
              <a:gd name="adj" fmla="val 2500"/>
            </a:avLst>
          </a:prstGeom>
          <a:solidFill>
            <a:srgbClr val="E2EEF0"/>
          </a:solidFill>
          <a:ln w="12700">
            <a:solidFill>
              <a:srgbClr val="C8D9DC"/>
            </a:solidFill>
            <a:prstDash val="solid"/>
          </a:ln>
        </p:spPr>
        <p:txBody>
          <a:bodyPr/>
          <a:lstStyle/>
          <a:p>
            <a:endParaRPr lang="en-US"/>
          </a:p>
        </p:txBody>
      </p:sp>
      <p:sp>
        <p:nvSpPr>
          <p:cNvPr id="22" name="Text 20"/>
          <p:cNvSpPr txBox="1"/>
          <p:nvPr/>
        </p:nvSpPr>
        <p:spPr>
          <a:xfrm>
            <a:off x="8122920" y="3063240"/>
            <a:ext cx="3279648"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Result</a:t>
            </a:r>
            <a:endParaRPr lang="en-US" sz="1800" dirty="0"/>
          </a:p>
        </p:txBody>
      </p:sp>
      <p:sp>
        <p:nvSpPr>
          <p:cNvPr id="23" name="Text 21"/>
          <p:cNvSpPr txBox="1"/>
          <p:nvPr/>
        </p:nvSpPr>
        <p:spPr>
          <a:xfrm>
            <a:off x="8150352" y="3767328"/>
            <a:ext cx="3224784"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 draft that can be checked</a:t>
            </a:r>
            <a:endParaRPr lang="en-US" sz="1500" dirty="0"/>
          </a:p>
        </p:txBody>
      </p:sp>
      <p:sp>
        <p:nvSpPr>
          <p:cNvPr id="24" name="Text 22"/>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Constraints make the answer reviewable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State what must be preserved and what must not be claimed</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Data</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Keep units, order and missing values</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Formula</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Show rows and parameters</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Evidence</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Use named sources only</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Decision</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Do not invent cause or approval</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Weak and strong constraints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Precise boundaries are easier to test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5358384"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Weak</a:t>
            </a:r>
            <a:endParaRPr lang="en-US" sz="2100" dirty="0"/>
          </a:p>
        </p:txBody>
      </p:sp>
      <p:sp>
        <p:nvSpPr>
          <p:cNvPr id="10" name="Text 8"/>
          <p:cNvSpPr txBox="1"/>
          <p:nvPr/>
        </p:nvSpPr>
        <p:spPr>
          <a:xfrm>
            <a:off x="859536"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Be accurate and careful.</a:t>
            </a:r>
            <a:endParaRPr lang="en-US" sz="1700" dirty="0"/>
          </a:p>
        </p:txBody>
      </p:sp>
      <p:sp>
        <p:nvSpPr>
          <p:cNvPr id="11" name="Shape 9"/>
          <p:cNvSpPr/>
          <p:nvPr/>
        </p:nvSpPr>
        <p:spPr>
          <a:xfrm>
            <a:off x="6181344"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6181344" y="2057400"/>
            <a:ext cx="5358384"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6437376"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Strong</a:t>
            </a:r>
            <a:endParaRPr lang="en-US" sz="2100" dirty="0"/>
          </a:p>
        </p:txBody>
      </p:sp>
      <p:sp>
        <p:nvSpPr>
          <p:cNvPr id="14" name="Text 12"/>
          <p:cNvSpPr txBox="1"/>
          <p:nvPr/>
        </p:nvSpPr>
        <p:spPr>
          <a:xfrm>
            <a:off x="6473952"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Use only FMEAInput; preserve four rows and ratings; show RPN formula; flag Severity ≥ 9; do not approve risk.</a:t>
            </a:r>
            <a:endParaRPr lang="en-US" sz="1700" dirty="0"/>
          </a:p>
        </p:txBody>
      </p:sp>
      <p:sp>
        <p:nvSpPr>
          <p:cNvPr id="15" name="Text 1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Request a fixed output schema</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 small structure makes review faster</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Observation</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What changed?</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Evidence</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Which value supports it?</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Limitation</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What remains unknown?</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Next check</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What evidence is needed?</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Ask Copilot to expose its evidence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Traceability begins inside the prompt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Source</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Name sheet, table or clause</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Formula</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Show calculation</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Assumption</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Label provisional statements</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Citation</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Provide a link or passage</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Unknown</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Say when evidence is absent</a:t>
            </a:r>
            <a:endParaRPr lang="en-US" sz="1400" dirty="0"/>
          </a:p>
        </p:txBody>
      </p:sp>
      <p:sp>
        <p:nvSpPr>
          <p:cNvPr id="32" name="Text 3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Multi-persona review catches different gaps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viewpoints that have distinct responsibilities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Reliability</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Failure mechanisms and maintainability</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Operations</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Conditions, sequence and practicality</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Safety</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Hazards and safeguards</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Quality</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Evidence, criteria and traceability</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Multi-persona prompt example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Ask each role to challenge the same draft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Review the draft from three perspectives: reliability, operations and safety. Each persona must identify one unsupported claim, one missing piece of evidence and one practical check. Preserve disagreements.</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Reliability</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What failure mechanism is unsupported?</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Operations</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Which condition may have changed?</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Safety</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What must be checked before action?</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Let the personas debate before synthesis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Disagreement can reveal assumptions hidden by consensus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1989734" cy="3959352"/>
          </a:xfrm>
          <a:prstGeom prst="roundRect">
            <a:avLst>
              <a:gd name="adj" fmla="val 3676"/>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1989734"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1477670"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Claim</a:t>
            </a:r>
            <a:endParaRPr lang="en-US" sz="1700" dirty="0"/>
          </a:p>
        </p:txBody>
      </p:sp>
      <p:sp>
        <p:nvSpPr>
          <p:cNvPr id="10" name="Text 8"/>
          <p:cNvSpPr txBox="1"/>
          <p:nvPr/>
        </p:nvSpPr>
        <p:spPr>
          <a:xfrm>
            <a:off x="859536" y="3246120"/>
            <a:ext cx="1404518"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“The strainer replacement solved the problem.”</a:t>
            </a:r>
            <a:endParaRPr lang="en-US" sz="1400" dirty="0"/>
          </a:p>
        </p:txBody>
      </p:sp>
      <p:sp>
        <p:nvSpPr>
          <p:cNvPr id="11" name="Shape 9"/>
          <p:cNvSpPr/>
          <p:nvPr/>
        </p:nvSpPr>
        <p:spPr>
          <a:xfrm>
            <a:off x="2812694" y="2057400"/>
            <a:ext cx="1989734" cy="3959352"/>
          </a:xfrm>
          <a:prstGeom prst="roundRect">
            <a:avLst>
              <a:gd name="adj" fmla="val 3676"/>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2812694" y="2057400"/>
            <a:ext cx="1989734"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068726" y="2395728"/>
            <a:ext cx="1477670"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Reliability</a:t>
            </a:r>
            <a:endParaRPr lang="en-US" sz="1700" dirty="0"/>
          </a:p>
        </p:txBody>
      </p:sp>
      <p:sp>
        <p:nvSpPr>
          <p:cNvPr id="14" name="Text 12"/>
          <p:cNvSpPr txBox="1"/>
          <p:nvPr/>
        </p:nvSpPr>
        <p:spPr>
          <a:xfrm>
            <a:off x="3105302" y="3246120"/>
            <a:ext cx="1404518"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Was blockage confirmed?</a:t>
            </a:r>
            <a:endParaRPr lang="en-US" sz="1400" dirty="0"/>
          </a:p>
        </p:txBody>
      </p:sp>
      <p:sp>
        <p:nvSpPr>
          <p:cNvPr id="15" name="Shape 13"/>
          <p:cNvSpPr/>
          <p:nvPr/>
        </p:nvSpPr>
        <p:spPr>
          <a:xfrm>
            <a:off x="5058461" y="2057400"/>
            <a:ext cx="1989734" cy="3959352"/>
          </a:xfrm>
          <a:prstGeom prst="roundRect">
            <a:avLst>
              <a:gd name="adj" fmla="val 3676"/>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5058461" y="2057400"/>
            <a:ext cx="1989734"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5314493" y="2395728"/>
            <a:ext cx="1477670"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Operations</a:t>
            </a:r>
            <a:endParaRPr lang="en-US" sz="1700" dirty="0"/>
          </a:p>
        </p:txBody>
      </p:sp>
      <p:sp>
        <p:nvSpPr>
          <p:cNvPr id="18" name="Text 16"/>
          <p:cNvSpPr txBox="1"/>
          <p:nvPr/>
        </p:nvSpPr>
        <p:spPr>
          <a:xfrm>
            <a:off x="5351069" y="3246120"/>
            <a:ext cx="1404518"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Two interventions happened together.</a:t>
            </a:r>
            <a:endParaRPr lang="en-US" sz="1400" dirty="0"/>
          </a:p>
        </p:txBody>
      </p:sp>
      <p:sp>
        <p:nvSpPr>
          <p:cNvPr id="19" name="Shape 17"/>
          <p:cNvSpPr/>
          <p:nvPr/>
        </p:nvSpPr>
        <p:spPr>
          <a:xfrm>
            <a:off x="7304227" y="2057400"/>
            <a:ext cx="1989734" cy="3959352"/>
          </a:xfrm>
          <a:prstGeom prst="roundRect">
            <a:avLst>
              <a:gd name="adj" fmla="val 3676"/>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7304227" y="2057400"/>
            <a:ext cx="1989734"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7560259" y="2395728"/>
            <a:ext cx="1477670"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Safety</a:t>
            </a:r>
            <a:endParaRPr lang="en-US" sz="1700" dirty="0"/>
          </a:p>
        </p:txBody>
      </p:sp>
      <p:sp>
        <p:nvSpPr>
          <p:cNvPr id="22" name="Text 20"/>
          <p:cNvSpPr txBox="1"/>
          <p:nvPr/>
        </p:nvSpPr>
        <p:spPr>
          <a:xfrm>
            <a:off x="7596835" y="3246120"/>
            <a:ext cx="1404518"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What must be checked before changing controls?</a:t>
            </a:r>
            <a:endParaRPr lang="en-US" sz="1400" dirty="0"/>
          </a:p>
        </p:txBody>
      </p:sp>
      <p:sp>
        <p:nvSpPr>
          <p:cNvPr id="23" name="Shape 21"/>
          <p:cNvSpPr/>
          <p:nvPr/>
        </p:nvSpPr>
        <p:spPr>
          <a:xfrm>
            <a:off x="9549994" y="2057400"/>
            <a:ext cx="1989734" cy="3959352"/>
          </a:xfrm>
          <a:prstGeom prst="roundRect">
            <a:avLst>
              <a:gd name="adj" fmla="val 3676"/>
            </a:avLst>
          </a:prstGeom>
          <a:solidFill>
            <a:srgbClr val="FFFFFF"/>
          </a:solidFill>
          <a:ln w="12700">
            <a:solidFill>
              <a:srgbClr val="C8D9DC"/>
            </a:solidFill>
            <a:prstDash val="solid"/>
          </a:ln>
        </p:spPr>
        <p:txBody>
          <a:bodyPr/>
          <a:lstStyle/>
          <a:p>
            <a:endParaRPr lang="en-US"/>
          </a:p>
        </p:txBody>
      </p:sp>
      <p:sp>
        <p:nvSpPr>
          <p:cNvPr id="24" name="Shape 22"/>
          <p:cNvSpPr/>
          <p:nvPr/>
        </p:nvSpPr>
        <p:spPr>
          <a:xfrm>
            <a:off x="9549994" y="2057400"/>
            <a:ext cx="1989734" cy="109728"/>
          </a:xfrm>
          <a:prstGeom prst="rect">
            <a:avLst/>
          </a:prstGeom>
          <a:solidFill>
            <a:srgbClr val="078897"/>
          </a:solidFill>
          <a:ln w="12700">
            <a:solidFill>
              <a:srgbClr val="078897"/>
            </a:solidFill>
            <a:prstDash val="solid"/>
          </a:ln>
        </p:spPr>
        <p:txBody>
          <a:bodyPr/>
          <a:lstStyle/>
          <a:p>
            <a:endParaRPr lang="en-US"/>
          </a:p>
        </p:txBody>
      </p:sp>
      <p:sp>
        <p:nvSpPr>
          <p:cNvPr id="25" name="Text 23"/>
          <p:cNvSpPr txBox="1"/>
          <p:nvPr/>
        </p:nvSpPr>
        <p:spPr>
          <a:xfrm>
            <a:off x="9806026" y="2395728"/>
            <a:ext cx="1477670"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Synthesis</a:t>
            </a:r>
            <a:endParaRPr lang="en-US" sz="1700" dirty="0"/>
          </a:p>
        </p:txBody>
      </p:sp>
      <p:sp>
        <p:nvSpPr>
          <p:cNvPr id="26" name="Text 24"/>
          <p:cNvSpPr txBox="1"/>
          <p:nvPr/>
        </p:nvSpPr>
        <p:spPr>
          <a:xfrm>
            <a:off x="9842602" y="3246120"/>
            <a:ext cx="1404518"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Performance improved; cause remains unisolated.</a:t>
            </a:r>
            <a:endParaRPr lang="en-US" sz="14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Debate prompt example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Require argument, rebuttal and a bounded conclusion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Run a two-round review. Reliability, Operations and Safety each state one claim with evidence. In round two, each challenges one other claim. Finish with agreed facts, unresolved disagreements and the smallest test that could resolve them. Do not force consensus.</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Round 1</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Each persona gives evidence</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Round 2</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Challenge another claim</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Final</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List agreement, disagreement and next test</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54</a:t>
            </a:fld>
            <a:endParaRPr lang="en-US"/>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One roadside drainage inspection, carried across four Copilot apps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The scenario behind Labs 2.1 to 2.4</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One roadside drainage inspection, carried across four Copilot apps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The job</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 worker inspects roadside drains on the public road network</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The rule</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Silt depth must stay at or under 50 mm</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One passes</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WO-021 at DR-17 reads 32 mm and goes to approval</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One fails</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WO-022 at DR-23 reads 74 mm, is desilted, then passes</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Excel · two drainage work orders, from intake to the Pass/Fail decision</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2.1 · Work order intake and assignment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Excel · two drainage work orders, from intake to the Pass/Fail decision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Excel</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The register, already a named table</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Status history</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Six ordered states, one row per change</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Decision</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32 mm passes, 74 mm fails against 50 mm</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Output</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Work-Order-Register.xlsx, carried forward</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55</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Word · one order passes, one fails, is desilted and reinspected</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2.2 · Inspection reports and rectification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Word · one order passes, one fails, is desilted and reinspected</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Word</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Two reports drafted from the register</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Margin</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+18, -24 and +22 mm, checked by hand</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Fail branch</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74 mm fails, desilted, 28 mm passes</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Versioning</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RPT-022-v2 keeps the first failure visible</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56</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Outlook · request approval to close, without claiming you have it</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2.3 · Email the report to the manager</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Outlook · request approval to close, without claiming you have it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Outlook</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Two emails drafted with Copilot</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The gate</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Approval is requested, never assumed</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The risk</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 summary that hides the initial failure</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Output</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Approval_Log records what was sent, when</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Review</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Every figure traced back to the source</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57</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PowerPoint · create a management summary</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Communicate the checked decision, evidence and next action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Headline</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Observed change</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Evidence</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One chart and two values</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Boundary</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Cause not yet proven</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Decision</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Controlled next test</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58</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Module 2 recap</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Prompt quality is visible in the result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Structure</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RISE</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Technical context</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E-MAP</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Improve</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Constraints + personas + iteration</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Accept</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Evidence + independent check</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59</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6">
    <p:bg>
      <p:bgPr>
        <a:solidFill>
          <a:srgbClr val="102B3E"/>
        </a:solidFill>
        <a:effectLst/>
      </p:bgPr>
    </p:bg>
    <p:spTree>
      <p:nvGrpSpPr>
        <p:cNvPr id="1" name=""/>
        <p:cNvGrpSpPr/>
        <p:nvPr/>
      </p:nvGrpSpPr>
      <p:grpSpPr>
        <a:xfrm>
          <a:off x="0" y="0"/>
          <a:ext cx="0" cy="0"/>
          <a:chOff x="0" y="0"/>
          <a:chExt cx="0" cy="0"/>
        </a:xfrm>
      </p:grpSpPr>
      <p:pic>
        <p:nvPicPr>
          <p:cNvPr id="2" name="Image 0" descr="/Users/alfredang/Documents/Supporting Document/Tertiary Infotech/Client Projects/Client WSQ Projects/Client - IES/GenAI for Engineers/assets/module-3-quality-methods.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5166360" cy="6858000"/>
          </a:xfrm>
          <a:prstGeom prst="rect">
            <a:avLst/>
          </a:prstGeom>
          <a:solidFill>
            <a:srgbClr val="102B3E">
              <a:alpha val="95000"/>
            </a:srgbClr>
          </a:solidFill>
          <a:ln w="12700">
            <a:solidFill>
              <a:srgbClr val="102B3E">
                <a:alpha val="0"/>
              </a:srgbClr>
            </a:solidFill>
            <a:prstDash val="solid"/>
          </a:ln>
        </p:spPr>
        <p:txBody>
          <a:bodyPr/>
          <a:lstStyle/>
          <a:p>
            <a:endParaRPr lang="en-US"/>
          </a:p>
        </p:txBody>
      </p:sp>
      <p:sp>
        <p:nvSpPr>
          <p:cNvPr id="4" name="Text 1"/>
          <p:cNvSpPr txBox="1"/>
          <p:nvPr/>
        </p:nvSpPr>
        <p:spPr>
          <a:xfrm>
            <a:off x="640080" y="502920"/>
            <a:ext cx="640080" cy="274320"/>
          </a:xfrm>
          <a:prstGeom prst="rect">
            <a:avLst/>
          </a:prstGeom>
          <a:noFill/>
          <a:ln/>
        </p:spPr>
        <p:txBody>
          <a:bodyPr wrap="square" lIns="0" tIns="0" rIns="0" bIns="0" rtlCol="0" anchor="ctr">
            <a:normAutofit/>
          </a:bodyPr>
          <a:lstStyle/>
          <a:p>
            <a:pPr marL="0" indent="0" algn="l">
              <a:buNone/>
            </a:pPr>
            <a:r>
              <a:rPr lang="en-US" sz="1700" b="1" dirty="0">
                <a:solidFill>
                  <a:srgbClr val="17A9B8"/>
                </a:solidFill>
                <a:latin typeface="Aptos" pitchFamily="34" charset="0"/>
                <a:ea typeface="Aptos" pitchFamily="34" charset="-122"/>
                <a:cs typeface="Aptos" pitchFamily="34" charset="-120"/>
              </a:rPr>
              <a:t>IES</a:t>
            </a:r>
            <a:endParaRPr lang="en-US" sz="1700" dirty="0"/>
          </a:p>
        </p:txBody>
      </p:sp>
      <p:sp>
        <p:nvSpPr>
          <p:cNvPr id="5" name="Text 2"/>
          <p:cNvSpPr txBox="1"/>
          <p:nvPr/>
        </p:nvSpPr>
        <p:spPr>
          <a:xfrm>
            <a:off x="658368" y="1554480"/>
            <a:ext cx="3291840" cy="320040"/>
          </a:xfrm>
          <a:prstGeom prst="rect">
            <a:avLst/>
          </a:prstGeom>
          <a:noFill/>
          <a:ln/>
        </p:spPr>
        <p:txBody>
          <a:bodyPr wrap="square" lIns="0" tIns="0" rIns="0" bIns="0" rtlCol="0" anchor="ctr">
            <a:normAutofit/>
          </a:bodyPr>
          <a:lstStyle/>
          <a:p>
            <a:pPr marL="0" indent="0" algn="l">
              <a:buNone/>
            </a:pPr>
            <a:r>
              <a:rPr lang="en-US" sz="1400" b="1" dirty="0">
                <a:solidFill>
                  <a:srgbClr val="17A9B8"/>
                </a:solidFill>
                <a:latin typeface="Aptos" pitchFamily="34" charset="0"/>
                <a:ea typeface="Aptos" pitchFamily="34" charset="-122"/>
                <a:cs typeface="Aptos" pitchFamily="34" charset="-120"/>
              </a:rPr>
              <a:t>MODULE 3</a:t>
            </a:r>
            <a:endParaRPr lang="en-US" sz="1400" dirty="0"/>
          </a:p>
        </p:txBody>
      </p:sp>
      <p:sp>
        <p:nvSpPr>
          <p:cNvPr id="6" name="Text 3"/>
          <p:cNvSpPr txBox="1"/>
          <p:nvPr/>
        </p:nvSpPr>
        <p:spPr>
          <a:xfrm>
            <a:off x="658368" y="1993392"/>
            <a:ext cx="4069080" cy="1463040"/>
          </a:xfrm>
          <a:prstGeom prst="rect">
            <a:avLst/>
          </a:prstGeom>
          <a:noFill/>
          <a:ln/>
        </p:spPr>
        <p:txBody>
          <a:bodyPr wrap="square" lIns="0" tIns="0" rIns="0" bIns="0" rtlCol="0" anchor="ctr">
            <a:normAutofit/>
          </a:bodyPr>
          <a:lstStyle/>
          <a:p>
            <a:pPr marL="0" indent="0" algn="l">
              <a:buNone/>
            </a:pPr>
            <a:r>
              <a:rPr lang="en-US" sz="3200" b="1" dirty="0">
                <a:solidFill>
                  <a:srgbClr val="FFFFFF"/>
                </a:solidFill>
                <a:latin typeface="Aptos" pitchFamily="34" charset="0"/>
                <a:ea typeface="Aptos" pitchFamily="34" charset="-122"/>
                <a:cs typeface="Aptos" pitchFamily="34" charset="-120"/>
              </a:rPr>
              <a:t>Engineering Methodology Primer &amp; Document Automation</a:t>
            </a:r>
            <a:endParaRPr lang="en-US" sz="3200" dirty="0"/>
          </a:p>
        </p:txBody>
      </p:sp>
      <p:sp>
        <p:nvSpPr>
          <p:cNvPr id="7" name="Text 4"/>
          <p:cNvSpPr txBox="1"/>
          <p:nvPr/>
        </p:nvSpPr>
        <p:spPr>
          <a:xfrm>
            <a:off x="658368" y="3840480"/>
            <a:ext cx="3977640" cy="96012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Understand FMEA → DMAIC → SPC before asking Copilot to build the outputs</a:t>
            </a:r>
            <a:endParaRPr lang="en-US" sz="1700" dirty="0"/>
          </a:p>
        </p:txBody>
      </p:sp>
      <p:sp>
        <p:nvSpPr>
          <p:cNvPr id="8" name="Shape 5"/>
          <p:cNvSpPr/>
          <p:nvPr/>
        </p:nvSpPr>
        <p:spPr>
          <a:xfrm>
            <a:off x="658368" y="5102352"/>
            <a:ext cx="1234440" cy="0"/>
          </a:xfrm>
          <a:prstGeom prst="line">
            <a:avLst/>
          </a:prstGeom>
          <a:noFill/>
          <a:ln w="50800">
            <a:solidFill>
              <a:srgbClr val="17A9B8"/>
            </a:solidFill>
            <a:prstDash val="solid"/>
          </a:ln>
        </p:spPr>
        <p:txBody>
          <a:bodyPr/>
          <a:lstStyle/>
          <a:p>
            <a:endParaRPr lang="en-US"/>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60</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Module 3 learning outcomes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By the end of this module, participants can: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640080" y="2011680"/>
            <a:ext cx="502920" cy="502920"/>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640080" y="20116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9" name="Shape 7"/>
          <p:cNvSpPr/>
          <p:nvPr/>
        </p:nvSpPr>
        <p:spPr>
          <a:xfrm>
            <a:off x="1371600" y="19385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1627632" y="20482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FMEA</a:t>
            </a:r>
            <a:endParaRPr lang="en-US" sz="1700" dirty="0"/>
          </a:p>
        </p:txBody>
      </p:sp>
      <p:sp>
        <p:nvSpPr>
          <p:cNvPr id="11" name="Text 9"/>
          <p:cNvSpPr txBox="1"/>
          <p:nvPr/>
        </p:nvSpPr>
        <p:spPr>
          <a:xfrm>
            <a:off x="3246120" y="20482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Explain failure mode, effect, cause, control and RPN.</a:t>
            </a:r>
            <a:endParaRPr lang="en-US" sz="1600" dirty="0"/>
          </a:p>
        </p:txBody>
      </p:sp>
      <p:sp>
        <p:nvSpPr>
          <p:cNvPr id="12" name="Shape 10"/>
          <p:cNvSpPr/>
          <p:nvPr/>
        </p:nvSpPr>
        <p:spPr>
          <a:xfrm>
            <a:off x="640080" y="3097530"/>
            <a:ext cx="502920" cy="502920"/>
          </a:xfrm>
          <a:prstGeom prst="ellipse">
            <a:avLst/>
          </a:prstGeom>
          <a:solidFill>
            <a:srgbClr val="078897"/>
          </a:solidFill>
          <a:ln w="12700">
            <a:solidFill>
              <a:srgbClr val="078897"/>
            </a:solidFill>
            <a:prstDash val="solid"/>
          </a:ln>
        </p:spPr>
        <p:txBody>
          <a:bodyPr/>
          <a:lstStyle/>
          <a:p>
            <a:endParaRPr/>
          </a:p>
        </p:txBody>
      </p:sp>
      <p:sp>
        <p:nvSpPr>
          <p:cNvPr id="13" name="Text 11"/>
          <p:cNvSpPr txBox="1"/>
          <p:nvPr/>
        </p:nvSpPr>
        <p:spPr>
          <a:xfrm>
            <a:off x="640080" y="30975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4" name="Shape 12"/>
          <p:cNvSpPr/>
          <p:nvPr/>
        </p:nvSpPr>
        <p:spPr>
          <a:xfrm>
            <a:off x="1371600" y="302437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5" name="Text 13"/>
          <p:cNvSpPr txBox="1"/>
          <p:nvPr/>
        </p:nvSpPr>
        <p:spPr>
          <a:xfrm>
            <a:off x="1627632" y="31341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DMAIC</a:t>
            </a:r>
            <a:endParaRPr lang="en-US" sz="1700" dirty="0"/>
          </a:p>
        </p:txBody>
      </p:sp>
      <p:sp>
        <p:nvSpPr>
          <p:cNvPr id="16" name="Text 14"/>
          <p:cNvSpPr txBox="1"/>
          <p:nvPr/>
        </p:nvSpPr>
        <p:spPr>
          <a:xfrm>
            <a:off x="3246120" y="31341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Explain five phases and three everyday analysis tools.</a:t>
            </a:r>
            <a:endParaRPr lang="en-US" sz="1600" dirty="0"/>
          </a:p>
        </p:txBody>
      </p:sp>
      <p:sp>
        <p:nvSpPr>
          <p:cNvPr id="17" name="Shape 15"/>
          <p:cNvSpPr/>
          <p:nvPr/>
        </p:nvSpPr>
        <p:spPr>
          <a:xfrm>
            <a:off x="640080" y="4183380"/>
            <a:ext cx="502920" cy="502920"/>
          </a:xfrm>
          <a:prstGeom prst="ellipse">
            <a:avLst/>
          </a:prstGeom>
          <a:solidFill>
            <a:srgbClr val="078897"/>
          </a:solidFill>
          <a:ln w="12700">
            <a:solidFill>
              <a:srgbClr val="078897"/>
            </a:solidFill>
            <a:prstDash val="solid"/>
          </a:ln>
        </p:spPr>
        <p:txBody>
          <a:bodyPr/>
          <a:lstStyle/>
          <a:p>
            <a:endParaRPr/>
          </a:p>
        </p:txBody>
      </p:sp>
      <p:sp>
        <p:nvSpPr>
          <p:cNvPr id="18" name="Text 16"/>
          <p:cNvSpPr txBox="1"/>
          <p:nvPr/>
        </p:nvSpPr>
        <p:spPr>
          <a:xfrm>
            <a:off x="640080" y="41833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19" name="Shape 17"/>
          <p:cNvSpPr/>
          <p:nvPr/>
        </p:nvSpPr>
        <p:spPr>
          <a:xfrm>
            <a:off x="1371600" y="41102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20" name="Text 18"/>
          <p:cNvSpPr txBox="1"/>
          <p:nvPr/>
        </p:nvSpPr>
        <p:spPr>
          <a:xfrm>
            <a:off x="1627632" y="42199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SPC</a:t>
            </a:r>
            <a:endParaRPr lang="en-US" sz="1700" dirty="0"/>
          </a:p>
        </p:txBody>
      </p:sp>
      <p:sp>
        <p:nvSpPr>
          <p:cNvPr id="21" name="Text 19"/>
          <p:cNvSpPr txBox="1"/>
          <p:nvPr/>
        </p:nvSpPr>
        <p:spPr>
          <a:xfrm>
            <a:off x="3246120" y="42199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Explain control charts, variation and Cp/Cpk.</a:t>
            </a:r>
            <a:endParaRPr lang="en-US" sz="1600" dirty="0"/>
          </a:p>
        </p:txBody>
      </p:sp>
      <p:sp>
        <p:nvSpPr>
          <p:cNvPr id="22" name="Shape 20"/>
          <p:cNvSpPr/>
          <p:nvPr/>
        </p:nvSpPr>
        <p:spPr>
          <a:xfrm>
            <a:off x="640080" y="5269230"/>
            <a:ext cx="502920" cy="502920"/>
          </a:xfrm>
          <a:prstGeom prst="ellipse">
            <a:avLst/>
          </a:prstGeom>
          <a:solidFill>
            <a:srgbClr val="078897"/>
          </a:solidFill>
          <a:ln w="12700">
            <a:solidFill>
              <a:srgbClr val="078897"/>
            </a:solidFill>
            <a:prstDash val="solid"/>
          </a:ln>
        </p:spPr>
        <p:txBody>
          <a:bodyPr/>
          <a:lstStyle/>
          <a:p>
            <a:endParaRPr/>
          </a:p>
        </p:txBody>
      </p:sp>
      <p:sp>
        <p:nvSpPr>
          <p:cNvPr id="23" name="Text 21"/>
          <p:cNvSpPr txBox="1"/>
          <p:nvPr/>
        </p:nvSpPr>
        <p:spPr>
          <a:xfrm>
            <a:off x="640080" y="52692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4" name="Shape 22"/>
          <p:cNvSpPr/>
          <p:nvPr/>
        </p:nvSpPr>
        <p:spPr>
          <a:xfrm>
            <a:off x="1371600" y="5196078"/>
            <a:ext cx="10058400" cy="966978"/>
          </a:xfrm>
          <a:prstGeom prst="roundRect">
            <a:avLst>
              <a:gd name="adj" fmla="val 7565"/>
            </a:avLst>
          </a:prstGeom>
          <a:solidFill>
            <a:srgbClr val="FFFFFF"/>
          </a:solidFill>
          <a:ln w="12700">
            <a:solidFill>
              <a:srgbClr val="C8D9DC"/>
            </a:solidFill>
            <a:prstDash val="solid"/>
          </a:ln>
        </p:spPr>
        <p:txBody>
          <a:bodyPr/>
          <a:lstStyle/>
          <a:p>
            <a:endParaRPr lang="en-US"/>
          </a:p>
        </p:txBody>
      </p:sp>
      <p:sp>
        <p:nvSpPr>
          <p:cNvPr id="25" name="Text 23"/>
          <p:cNvSpPr txBox="1"/>
          <p:nvPr/>
        </p:nvSpPr>
        <p:spPr>
          <a:xfrm>
            <a:off x="1627632" y="53058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Apply</a:t>
            </a:r>
            <a:endParaRPr lang="en-US" sz="1700" dirty="0"/>
          </a:p>
        </p:txBody>
      </p:sp>
      <p:sp>
        <p:nvSpPr>
          <p:cNvPr id="26" name="Text 24"/>
          <p:cNvSpPr txBox="1"/>
          <p:nvPr/>
        </p:nvSpPr>
        <p:spPr>
          <a:xfrm>
            <a:off x="3246120" y="53058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Use Copilot in Excel and verify one result per method.</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61</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Use the methods in this sequence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Risk → improvement → monitoring, and that is the order of your three labs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2033016"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2033016"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3553968" cy="2926080"/>
          </a:xfrm>
          <a:prstGeom prst="roundRect">
            <a:avLst>
              <a:gd name="adj" fmla="val 2500"/>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3279648"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1 · FMEA</a:t>
            </a:r>
            <a:endParaRPr lang="en-US" sz="1800" dirty="0"/>
          </a:p>
        </p:txBody>
      </p:sp>
      <p:sp>
        <p:nvSpPr>
          <p:cNvPr id="11" name="Text 9"/>
          <p:cNvSpPr txBox="1"/>
          <p:nvPr/>
        </p:nvSpPr>
        <p:spPr>
          <a:xfrm>
            <a:off x="731520" y="3767328"/>
            <a:ext cx="3224784"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What could fail?  ·  Lab 3.1</a:t>
            </a:r>
            <a:endParaRPr lang="en-US" sz="1500" dirty="0"/>
          </a:p>
        </p:txBody>
      </p:sp>
      <p:sp>
        <p:nvSpPr>
          <p:cNvPr id="12" name="Shape 10"/>
          <p:cNvSpPr/>
          <p:nvPr/>
        </p:nvSpPr>
        <p:spPr>
          <a:xfrm>
            <a:off x="4139184"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4276344" y="2743200"/>
            <a:ext cx="3553968" cy="2926080"/>
          </a:xfrm>
          <a:prstGeom prst="roundRect">
            <a:avLst>
              <a:gd name="adj" fmla="val 2500"/>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4413504" y="3063240"/>
            <a:ext cx="3279648"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2 · DMAIC</a:t>
            </a:r>
            <a:endParaRPr lang="en-US" sz="1800" dirty="0"/>
          </a:p>
        </p:txBody>
      </p:sp>
      <p:sp>
        <p:nvSpPr>
          <p:cNvPr id="17" name="Text 15"/>
          <p:cNvSpPr txBox="1"/>
          <p:nvPr/>
        </p:nvSpPr>
        <p:spPr>
          <a:xfrm>
            <a:off x="4440936" y="3767328"/>
            <a:ext cx="3224784"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How will we improve?  ·  Lab 3.2</a:t>
            </a:r>
            <a:endParaRPr lang="en-US" sz="1500" dirty="0"/>
          </a:p>
        </p:txBody>
      </p:sp>
      <p:sp>
        <p:nvSpPr>
          <p:cNvPr id="18" name="Shape 16"/>
          <p:cNvSpPr/>
          <p:nvPr/>
        </p:nvSpPr>
        <p:spPr>
          <a:xfrm>
            <a:off x="7848600"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9451848" y="2029968"/>
            <a:ext cx="621792" cy="621792"/>
          </a:xfrm>
          <a:prstGeom prst="ellipse">
            <a:avLst/>
          </a:prstGeom>
          <a:solidFill>
            <a:srgbClr val="102B3E"/>
          </a:solidFill>
          <a:ln w="12700">
            <a:solidFill>
              <a:srgbClr val="102B3E"/>
            </a:solidFill>
            <a:prstDash val="solid"/>
          </a:ln>
        </p:spPr>
        <p:txBody>
          <a:bodyPr/>
          <a:lstStyle/>
          <a:p>
            <a:endParaRPr/>
          </a:p>
        </p:txBody>
      </p:sp>
      <p:sp>
        <p:nvSpPr>
          <p:cNvPr id="20" name="Text 18"/>
          <p:cNvSpPr txBox="1"/>
          <p:nvPr/>
        </p:nvSpPr>
        <p:spPr>
          <a:xfrm>
            <a:off x="9451848"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7985760" y="2743200"/>
            <a:ext cx="3553968" cy="2926080"/>
          </a:xfrm>
          <a:prstGeom prst="roundRect">
            <a:avLst>
              <a:gd name="adj" fmla="val 2500"/>
            </a:avLst>
          </a:prstGeom>
          <a:solidFill>
            <a:srgbClr val="E2EEF0"/>
          </a:solidFill>
          <a:ln w="12700">
            <a:solidFill>
              <a:srgbClr val="C8D9DC"/>
            </a:solidFill>
            <a:prstDash val="solid"/>
          </a:ln>
        </p:spPr>
        <p:txBody>
          <a:bodyPr/>
          <a:lstStyle/>
          <a:p>
            <a:endParaRPr lang="en-US"/>
          </a:p>
        </p:txBody>
      </p:sp>
      <p:sp>
        <p:nvSpPr>
          <p:cNvPr id="22" name="Text 20"/>
          <p:cNvSpPr txBox="1"/>
          <p:nvPr/>
        </p:nvSpPr>
        <p:spPr>
          <a:xfrm>
            <a:off x="8122920" y="3063240"/>
            <a:ext cx="3279648"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3 · SPC</a:t>
            </a:r>
            <a:endParaRPr lang="en-US" sz="1800" dirty="0"/>
          </a:p>
        </p:txBody>
      </p:sp>
      <p:sp>
        <p:nvSpPr>
          <p:cNvPr id="23" name="Text 21"/>
          <p:cNvSpPr txBox="1"/>
          <p:nvPr/>
        </p:nvSpPr>
        <p:spPr>
          <a:xfrm>
            <a:off x="8150352" y="3767328"/>
            <a:ext cx="3224784"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Is the process stable?  ·  Lab 3.3</a:t>
            </a:r>
            <a:endParaRPr lang="en-US" sz="1500" dirty="0"/>
          </a:p>
        </p:txBody>
      </p:sp>
      <p:sp>
        <p:nvSpPr>
          <p:cNvPr id="24" name="Text 22"/>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62</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FMEA · what it is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 structured review of potential failure before harm or disruption occurs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pic>
        <p:nvPicPr>
          <p:cNvPr id="7" name="Image 0" descr="/Users/alfredang/Documents/Supporting Document/Tertiary Infotech/Client Projects/Client WSQ Projects/Client - IES/GenAI for Engineers/assets/cw401-fmea.png"/>
          <p:cNvPicPr>
            <a:picLocks noChangeAspect="1"/>
          </p:cNvPicPr>
          <p:nvPr/>
        </p:nvPicPr>
        <p:blipFill>
          <a:blip r:embed="rId3"/>
          <a:stretch>
            <a:fillRect/>
          </a:stretch>
        </p:blipFill>
        <p:spPr>
          <a:xfrm>
            <a:off x="566928" y="1993392"/>
            <a:ext cx="6419088" cy="4041648"/>
          </a:xfrm>
          <a:prstGeom prst="rect">
            <a:avLst/>
          </a:prstGeom>
        </p:spPr>
      </p:pic>
      <p:sp>
        <p:nvSpPr>
          <p:cNvPr id="8" name="Shape 5"/>
          <p:cNvSpPr/>
          <p:nvPr/>
        </p:nvSpPr>
        <p:spPr>
          <a:xfrm>
            <a:off x="566928" y="5349240"/>
            <a:ext cx="6419088" cy="685800"/>
          </a:xfrm>
          <a:prstGeom prst="rect">
            <a:avLst/>
          </a:prstGeom>
          <a:solidFill>
            <a:srgbClr val="102B3E">
              <a:alpha val="92000"/>
            </a:srgbClr>
          </a:solidFill>
          <a:ln w="12700">
            <a:solidFill>
              <a:srgbClr val="102B3E">
                <a:alpha val="0"/>
              </a:srgbClr>
            </a:solidFill>
            <a:prstDash val="solid"/>
          </a:ln>
        </p:spPr>
        <p:txBody>
          <a:bodyPr/>
          <a:lstStyle/>
          <a:p>
            <a:endParaRPr/>
          </a:p>
        </p:txBody>
      </p:sp>
      <p:sp>
        <p:nvSpPr>
          <p:cNvPr id="9" name="Text 6"/>
          <p:cNvSpPr txBox="1"/>
          <p:nvPr/>
        </p:nvSpPr>
        <p:spPr>
          <a:xfrm>
            <a:off x="804672" y="5458968"/>
            <a:ext cx="5943600" cy="438912"/>
          </a:xfrm>
          <a:prstGeom prst="rect">
            <a:avLst/>
          </a:prstGeom>
          <a:noFill/>
          <a:ln/>
        </p:spPr>
        <p:txBody>
          <a:bodyPr wrap="square" lIns="0" tIns="0" rIns="0" bIns="0" rtlCol="0" anchor="ctr">
            <a:normAutofit/>
          </a:bodyPr>
          <a:lstStyle/>
          <a:p>
            <a:pPr marL="0" indent="0" algn="l">
              <a:buNone/>
            </a:pPr>
            <a:r>
              <a:rPr lang="en-US" sz="1600" b="1" dirty="0">
                <a:solidFill>
                  <a:srgbClr val="FFFFFF"/>
                </a:solidFill>
                <a:latin typeface="Aptos" pitchFamily="34" charset="0"/>
                <a:ea typeface="Aptos" pitchFamily="34" charset="-122"/>
                <a:cs typeface="Aptos" pitchFamily="34" charset="-120"/>
              </a:rPr>
              <a:t>A structured review of potential failure before harm or disruption occurs</a:t>
            </a:r>
            <a:endParaRPr lang="en-US" sz="1600" dirty="0"/>
          </a:p>
        </p:txBody>
      </p:sp>
      <p:sp>
        <p:nvSpPr>
          <p:cNvPr id="10" name="Shape 7"/>
          <p:cNvSpPr/>
          <p:nvPr/>
        </p:nvSpPr>
        <p:spPr>
          <a:xfrm>
            <a:off x="7388352" y="2103120"/>
            <a:ext cx="384048" cy="384048"/>
          </a:xfrm>
          <a:prstGeom prst="ellipse">
            <a:avLst/>
          </a:prstGeom>
          <a:solidFill>
            <a:srgbClr val="078897"/>
          </a:solidFill>
          <a:ln w="12700">
            <a:solidFill>
              <a:srgbClr val="078897"/>
            </a:solidFill>
            <a:prstDash val="solid"/>
          </a:ln>
        </p:spPr>
        <p:txBody>
          <a:bodyPr/>
          <a:lstStyle/>
          <a:p>
            <a:endParaRPr/>
          </a:p>
        </p:txBody>
      </p:sp>
      <p:sp>
        <p:nvSpPr>
          <p:cNvPr id="11" name="Text 8"/>
          <p:cNvSpPr txBox="1"/>
          <p:nvPr/>
        </p:nvSpPr>
        <p:spPr>
          <a:xfrm>
            <a:off x="7388352" y="2103120"/>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9"/>
          <p:cNvSpPr txBox="1"/>
          <p:nvPr/>
        </p:nvSpPr>
        <p:spPr>
          <a:xfrm>
            <a:off x="7909560" y="2057400"/>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Full name</a:t>
            </a:r>
            <a:endParaRPr lang="en-US" sz="1500" dirty="0"/>
          </a:p>
        </p:txBody>
      </p:sp>
      <p:sp>
        <p:nvSpPr>
          <p:cNvPr id="13" name="Text 10"/>
          <p:cNvSpPr txBox="1"/>
          <p:nvPr/>
        </p:nvSpPr>
        <p:spPr>
          <a:xfrm>
            <a:off x="7909560" y="2404872"/>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Failure Mode and Effects Analysis</a:t>
            </a:r>
            <a:endParaRPr lang="en-US" sz="1400" dirty="0"/>
          </a:p>
        </p:txBody>
      </p:sp>
      <p:sp>
        <p:nvSpPr>
          <p:cNvPr id="14" name="Shape 11"/>
          <p:cNvSpPr/>
          <p:nvPr/>
        </p:nvSpPr>
        <p:spPr>
          <a:xfrm>
            <a:off x="7388352" y="3182112"/>
            <a:ext cx="384048" cy="384048"/>
          </a:xfrm>
          <a:prstGeom prst="ellipse">
            <a:avLst/>
          </a:prstGeom>
          <a:solidFill>
            <a:srgbClr val="078897"/>
          </a:solidFill>
          <a:ln w="12700">
            <a:solidFill>
              <a:srgbClr val="078897"/>
            </a:solidFill>
            <a:prstDash val="solid"/>
          </a:ln>
        </p:spPr>
        <p:txBody>
          <a:bodyPr/>
          <a:lstStyle/>
          <a:p>
            <a:endParaRPr/>
          </a:p>
        </p:txBody>
      </p:sp>
      <p:sp>
        <p:nvSpPr>
          <p:cNvPr id="15" name="Text 12"/>
          <p:cNvSpPr txBox="1"/>
          <p:nvPr/>
        </p:nvSpPr>
        <p:spPr>
          <a:xfrm>
            <a:off x="7388352" y="3182112"/>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3"/>
          <p:cNvSpPr txBox="1"/>
          <p:nvPr/>
        </p:nvSpPr>
        <p:spPr>
          <a:xfrm>
            <a:off x="7909560" y="3136392"/>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Question</a:t>
            </a:r>
            <a:endParaRPr lang="en-US" sz="1500" dirty="0"/>
          </a:p>
        </p:txBody>
      </p:sp>
      <p:sp>
        <p:nvSpPr>
          <p:cNvPr id="17" name="Text 14"/>
          <p:cNvSpPr txBox="1"/>
          <p:nvPr/>
        </p:nvSpPr>
        <p:spPr>
          <a:xfrm>
            <a:off x="7909560" y="3483864"/>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What could fail, with what effect, and how is it controlled?</a:t>
            </a:r>
            <a:endParaRPr lang="en-US" sz="1400" dirty="0"/>
          </a:p>
        </p:txBody>
      </p:sp>
      <p:sp>
        <p:nvSpPr>
          <p:cNvPr id="18" name="Shape 15"/>
          <p:cNvSpPr/>
          <p:nvPr/>
        </p:nvSpPr>
        <p:spPr>
          <a:xfrm>
            <a:off x="7388352" y="4261104"/>
            <a:ext cx="384048" cy="384048"/>
          </a:xfrm>
          <a:prstGeom prst="ellipse">
            <a:avLst/>
          </a:prstGeom>
          <a:solidFill>
            <a:srgbClr val="078897"/>
          </a:solidFill>
          <a:ln w="12700">
            <a:solidFill>
              <a:srgbClr val="078897"/>
            </a:solidFill>
            <a:prstDash val="solid"/>
          </a:ln>
        </p:spPr>
        <p:txBody>
          <a:bodyPr/>
          <a:lstStyle/>
          <a:p>
            <a:endParaRPr/>
          </a:p>
        </p:txBody>
      </p:sp>
      <p:sp>
        <p:nvSpPr>
          <p:cNvPr id="19" name="Text 16"/>
          <p:cNvSpPr txBox="1"/>
          <p:nvPr/>
        </p:nvSpPr>
        <p:spPr>
          <a:xfrm>
            <a:off x="7388352" y="4261104"/>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7"/>
          <p:cNvSpPr txBox="1"/>
          <p:nvPr/>
        </p:nvSpPr>
        <p:spPr>
          <a:xfrm>
            <a:off x="7909560" y="4215384"/>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Output</a:t>
            </a:r>
            <a:endParaRPr lang="en-US" sz="1500" dirty="0"/>
          </a:p>
        </p:txBody>
      </p:sp>
      <p:sp>
        <p:nvSpPr>
          <p:cNvPr id="21" name="Text 18"/>
          <p:cNvSpPr txBox="1"/>
          <p:nvPr/>
        </p:nvSpPr>
        <p:spPr>
          <a:xfrm>
            <a:off x="7909560" y="4562856"/>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Prioritised action list with evidence gaps</a:t>
            </a:r>
            <a:endParaRPr lang="en-US" sz="1400" dirty="0"/>
          </a:p>
        </p:txBody>
      </p:sp>
      <p:sp>
        <p:nvSpPr>
          <p:cNvPr id="22" name="Text 19"/>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63</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When engineers use FMEA</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it before release and when systems or processes change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Design</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Compare concepts</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Commission</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Review new failure paths</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Change</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Assess modification risk</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Operation</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Update after evidence</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Review</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Track actions and residual risk</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64</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An FMEA row tells one risk story</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Read the columns from left to right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423160"/>
            <a:ext cx="2062886" cy="3154680"/>
          </a:xfrm>
          <a:prstGeom prst="roundRect">
            <a:avLst>
              <a:gd name="adj" fmla="val 3546"/>
            </a:avLst>
          </a:prstGeom>
          <a:solidFill>
            <a:srgbClr val="FFFFFF"/>
          </a:solidFill>
          <a:ln w="12700">
            <a:solidFill>
              <a:srgbClr val="C8D9DC"/>
            </a:solidFill>
            <a:prstDash val="solid"/>
          </a:ln>
        </p:spPr>
        <p:txBody>
          <a:bodyPr/>
          <a:lstStyle/>
          <a:p>
            <a:endParaRPr/>
          </a:p>
        </p:txBody>
      </p:sp>
      <p:sp>
        <p:nvSpPr>
          <p:cNvPr id="8" name="Shape 6"/>
          <p:cNvSpPr/>
          <p:nvPr/>
        </p:nvSpPr>
        <p:spPr>
          <a:xfrm>
            <a:off x="1342339" y="2112264"/>
            <a:ext cx="512064" cy="512064"/>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1342339" y="2112264"/>
            <a:ext cx="512064" cy="512064"/>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10" name="Text 8"/>
          <p:cNvSpPr txBox="1"/>
          <p:nvPr/>
        </p:nvSpPr>
        <p:spPr>
          <a:xfrm>
            <a:off x="704088" y="2761488"/>
            <a:ext cx="1788566" cy="411480"/>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Function</a:t>
            </a:r>
            <a:endParaRPr lang="en-US" sz="1500" dirty="0"/>
          </a:p>
        </p:txBody>
      </p:sp>
      <p:sp>
        <p:nvSpPr>
          <p:cNvPr id="11" name="Text 9"/>
          <p:cNvSpPr txBox="1"/>
          <p:nvPr/>
        </p:nvSpPr>
        <p:spPr>
          <a:xfrm>
            <a:off x="731520" y="3456432"/>
            <a:ext cx="1733702" cy="137160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Deliver liquid</a:t>
            </a:r>
            <a:endParaRPr lang="en-US" sz="1400" dirty="0"/>
          </a:p>
        </p:txBody>
      </p:sp>
      <p:sp>
        <p:nvSpPr>
          <p:cNvPr id="12" name="Shape 10"/>
          <p:cNvSpPr/>
          <p:nvPr/>
        </p:nvSpPr>
        <p:spPr>
          <a:xfrm>
            <a:off x="2638958" y="3977640"/>
            <a:ext cx="146304"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2794406" y="2423160"/>
            <a:ext cx="2062886" cy="3154680"/>
          </a:xfrm>
          <a:prstGeom prst="roundRect">
            <a:avLst>
              <a:gd name="adj" fmla="val 3546"/>
            </a:avLst>
          </a:prstGeom>
          <a:solidFill>
            <a:srgbClr val="FFFFFF"/>
          </a:solidFill>
          <a:ln w="12700">
            <a:solidFill>
              <a:srgbClr val="C8D9DC"/>
            </a:solidFill>
            <a:prstDash val="solid"/>
          </a:ln>
        </p:spPr>
        <p:txBody>
          <a:bodyPr/>
          <a:lstStyle/>
          <a:p>
            <a:endParaRPr/>
          </a:p>
        </p:txBody>
      </p:sp>
      <p:sp>
        <p:nvSpPr>
          <p:cNvPr id="14" name="Shape 12"/>
          <p:cNvSpPr/>
          <p:nvPr/>
        </p:nvSpPr>
        <p:spPr>
          <a:xfrm>
            <a:off x="3569818" y="2112264"/>
            <a:ext cx="512064" cy="512064"/>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3569818" y="2112264"/>
            <a:ext cx="512064" cy="512064"/>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16" name="Text 14"/>
          <p:cNvSpPr txBox="1"/>
          <p:nvPr/>
        </p:nvSpPr>
        <p:spPr>
          <a:xfrm>
            <a:off x="2931566" y="2761488"/>
            <a:ext cx="1788566" cy="411480"/>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Failure mode</a:t>
            </a:r>
            <a:endParaRPr lang="en-US" sz="1500" dirty="0"/>
          </a:p>
        </p:txBody>
      </p:sp>
      <p:sp>
        <p:nvSpPr>
          <p:cNvPr id="17" name="Text 15"/>
          <p:cNvSpPr txBox="1"/>
          <p:nvPr/>
        </p:nvSpPr>
        <p:spPr>
          <a:xfrm>
            <a:off x="2958998" y="3456432"/>
            <a:ext cx="1733702" cy="137160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Low delivery</a:t>
            </a:r>
            <a:endParaRPr lang="en-US" sz="1400" dirty="0"/>
          </a:p>
        </p:txBody>
      </p:sp>
      <p:sp>
        <p:nvSpPr>
          <p:cNvPr id="18" name="Shape 16"/>
          <p:cNvSpPr/>
          <p:nvPr/>
        </p:nvSpPr>
        <p:spPr>
          <a:xfrm>
            <a:off x="4866437" y="3977640"/>
            <a:ext cx="146304"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021885" y="2423160"/>
            <a:ext cx="2062886" cy="3154680"/>
          </a:xfrm>
          <a:prstGeom prst="roundRect">
            <a:avLst>
              <a:gd name="adj" fmla="val 3546"/>
            </a:avLst>
          </a:prstGeom>
          <a:solidFill>
            <a:srgbClr val="FFFFFF"/>
          </a:solidFill>
          <a:ln w="12700">
            <a:solidFill>
              <a:srgbClr val="C8D9DC"/>
            </a:solidFill>
            <a:prstDash val="solid"/>
          </a:ln>
        </p:spPr>
        <p:txBody>
          <a:bodyPr/>
          <a:lstStyle/>
          <a:p>
            <a:endParaRPr/>
          </a:p>
        </p:txBody>
      </p:sp>
      <p:sp>
        <p:nvSpPr>
          <p:cNvPr id="20" name="Shape 18"/>
          <p:cNvSpPr/>
          <p:nvPr/>
        </p:nvSpPr>
        <p:spPr>
          <a:xfrm>
            <a:off x="5797296" y="2112264"/>
            <a:ext cx="512064" cy="512064"/>
          </a:xfrm>
          <a:prstGeom prst="ellipse">
            <a:avLst/>
          </a:prstGeom>
          <a:solidFill>
            <a:srgbClr val="078897"/>
          </a:solidFill>
          <a:ln w="12700">
            <a:solidFill>
              <a:srgbClr val="078897"/>
            </a:solidFill>
            <a:prstDash val="solid"/>
          </a:ln>
        </p:spPr>
        <p:txBody>
          <a:bodyPr/>
          <a:lstStyle/>
          <a:p>
            <a:endParaRPr/>
          </a:p>
        </p:txBody>
      </p:sp>
      <p:sp>
        <p:nvSpPr>
          <p:cNvPr id="21" name="Text 19"/>
          <p:cNvSpPr txBox="1"/>
          <p:nvPr/>
        </p:nvSpPr>
        <p:spPr>
          <a:xfrm>
            <a:off x="5797296" y="2112264"/>
            <a:ext cx="512064" cy="512064"/>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22" name="Text 20"/>
          <p:cNvSpPr txBox="1"/>
          <p:nvPr/>
        </p:nvSpPr>
        <p:spPr>
          <a:xfrm>
            <a:off x="5159045" y="2761488"/>
            <a:ext cx="1788566" cy="411480"/>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Effect</a:t>
            </a:r>
            <a:endParaRPr lang="en-US" sz="1500" dirty="0"/>
          </a:p>
        </p:txBody>
      </p:sp>
      <p:sp>
        <p:nvSpPr>
          <p:cNvPr id="23" name="Text 21"/>
          <p:cNvSpPr txBox="1"/>
          <p:nvPr/>
        </p:nvSpPr>
        <p:spPr>
          <a:xfrm>
            <a:off x="5186477" y="3456432"/>
            <a:ext cx="1733702" cy="137160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Incorrect dose</a:t>
            </a:r>
            <a:endParaRPr lang="en-US" sz="1400" dirty="0"/>
          </a:p>
        </p:txBody>
      </p:sp>
      <p:sp>
        <p:nvSpPr>
          <p:cNvPr id="24" name="Shape 22"/>
          <p:cNvSpPr/>
          <p:nvPr/>
        </p:nvSpPr>
        <p:spPr>
          <a:xfrm>
            <a:off x="7093915" y="3977640"/>
            <a:ext cx="146304"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249363" y="2423160"/>
            <a:ext cx="2062886" cy="3154680"/>
          </a:xfrm>
          <a:prstGeom prst="roundRect">
            <a:avLst>
              <a:gd name="adj" fmla="val 3546"/>
            </a:avLst>
          </a:prstGeom>
          <a:solidFill>
            <a:srgbClr val="FFFFFF"/>
          </a:solidFill>
          <a:ln w="12700">
            <a:solidFill>
              <a:srgbClr val="C8D9DC"/>
            </a:solidFill>
            <a:prstDash val="solid"/>
          </a:ln>
        </p:spPr>
        <p:txBody>
          <a:bodyPr/>
          <a:lstStyle/>
          <a:p>
            <a:endParaRPr/>
          </a:p>
        </p:txBody>
      </p:sp>
      <p:sp>
        <p:nvSpPr>
          <p:cNvPr id="26" name="Shape 24"/>
          <p:cNvSpPr/>
          <p:nvPr/>
        </p:nvSpPr>
        <p:spPr>
          <a:xfrm>
            <a:off x="8024774" y="2112264"/>
            <a:ext cx="512064" cy="512064"/>
          </a:xfrm>
          <a:prstGeom prst="ellipse">
            <a:avLst/>
          </a:prstGeom>
          <a:solidFill>
            <a:srgbClr val="078897"/>
          </a:solidFill>
          <a:ln w="12700">
            <a:solidFill>
              <a:srgbClr val="078897"/>
            </a:solidFill>
            <a:prstDash val="solid"/>
          </a:ln>
        </p:spPr>
        <p:txBody>
          <a:bodyPr/>
          <a:lstStyle/>
          <a:p>
            <a:endParaRPr/>
          </a:p>
        </p:txBody>
      </p:sp>
      <p:sp>
        <p:nvSpPr>
          <p:cNvPr id="27" name="Text 25"/>
          <p:cNvSpPr txBox="1"/>
          <p:nvPr/>
        </p:nvSpPr>
        <p:spPr>
          <a:xfrm>
            <a:off x="8024774" y="2112264"/>
            <a:ext cx="512064" cy="512064"/>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4</a:t>
            </a:r>
            <a:endParaRPr lang="en-US" sz="1600" dirty="0"/>
          </a:p>
        </p:txBody>
      </p:sp>
      <p:sp>
        <p:nvSpPr>
          <p:cNvPr id="28" name="Text 26"/>
          <p:cNvSpPr txBox="1"/>
          <p:nvPr/>
        </p:nvSpPr>
        <p:spPr>
          <a:xfrm>
            <a:off x="7386523" y="2761488"/>
            <a:ext cx="1788566" cy="411480"/>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Cause</a:t>
            </a:r>
            <a:endParaRPr lang="en-US" sz="1500" dirty="0"/>
          </a:p>
        </p:txBody>
      </p:sp>
      <p:sp>
        <p:nvSpPr>
          <p:cNvPr id="29" name="Text 27"/>
          <p:cNvSpPr txBox="1"/>
          <p:nvPr/>
        </p:nvSpPr>
        <p:spPr>
          <a:xfrm>
            <a:off x="7413955" y="3456432"/>
            <a:ext cx="1733702" cy="137160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Restricted strainer</a:t>
            </a:r>
            <a:endParaRPr lang="en-US" sz="1400" dirty="0"/>
          </a:p>
        </p:txBody>
      </p:sp>
      <p:sp>
        <p:nvSpPr>
          <p:cNvPr id="30" name="Shape 28"/>
          <p:cNvSpPr/>
          <p:nvPr/>
        </p:nvSpPr>
        <p:spPr>
          <a:xfrm>
            <a:off x="9321394" y="3977640"/>
            <a:ext cx="146304"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9476842" y="2423160"/>
            <a:ext cx="2062886" cy="3154680"/>
          </a:xfrm>
          <a:prstGeom prst="roundRect">
            <a:avLst>
              <a:gd name="adj" fmla="val 3546"/>
            </a:avLst>
          </a:prstGeom>
          <a:solidFill>
            <a:srgbClr val="E2EEF0"/>
          </a:solidFill>
          <a:ln w="12700">
            <a:solidFill>
              <a:srgbClr val="C8D9DC"/>
            </a:solidFill>
            <a:prstDash val="solid"/>
          </a:ln>
        </p:spPr>
        <p:txBody>
          <a:bodyPr/>
          <a:lstStyle/>
          <a:p>
            <a:endParaRPr/>
          </a:p>
        </p:txBody>
      </p:sp>
      <p:sp>
        <p:nvSpPr>
          <p:cNvPr id="32" name="Shape 30"/>
          <p:cNvSpPr/>
          <p:nvPr/>
        </p:nvSpPr>
        <p:spPr>
          <a:xfrm>
            <a:off x="10252253" y="2112264"/>
            <a:ext cx="512064" cy="512064"/>
          </a:xfrm>
          <a:prstGeom prst="ellipse">
            <a:avLst/>
          </a:prstGeom>
          <a:solidFill>
            <a:srgbClr val="102B3E"/>
          </a:solidFill>
          <a:ln w="12700">
            <a:solidFill>
              <a:srgbClr val="102B3E"/>
            </a:solidFill>
            <a:prstDash val="solid"/>
          </a:ln>
        </p:spPr>
        <p:txBody>
          <a:bodyPr/>
          <a:lstStyle/>
          <a:p>
            <a:endParaRPr/>
          </a:p>
        </p:txBody>
      </p:sp>
      <p:sp>
        <p:nvSpPr>
          <p:cNvPr id="33" name="Text 31"/>
          <p:cNvSpPr txBox="1"/>
          <p:nvPr/>
        </p:nvSpPr>
        <p:spPr>
          <a:xfrm>
            <a:off x="10252253" y="2112264"/>
            <a:ext cx="512064" cy="512064"/>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5</a:t>
            </a:r>
            <a:endParaRPr lang="en-US" sz="1600" dirty="0"/>
          </a:p>
        </p:txBody>
      </p:sp>
      <p:sp>
        <p:nvSpPr>
          <p:cNvPr id="34" name="Text 32"/>
          <p:cNvSpPr txBox="1"/>
          <p:nvPr/>
        </p:nvSpPr>
        <p:spPr>
          <a:xfrm>
            <a:off x="9614002" y="2761488"/>
            <a:ext cx="1788566" cy="411480"/>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Control</a:t>
            </a:r>
            <a:endParaRPr lang="en-US" sz="1500" dirty="0"/>
          </a:p>
        </p:txBody>
      </p:sp>
      <p:sp>
        <p:nvSpPr>
          <p:cNvPr id="35" name="Text 33"/>
          <p:cNvSpPr txBox="1"/>
          <p:nvPr/>
        </p:nvSpPr>
        <p:spPr>
          <a:xfrm>
            <a:off x="9641434" y="3456432"/>
            <a:ext cx="1733702" cy="137160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Delivery test</a:t>
            </a:r>
            <a:endParaRPr lang="en-US" sz="14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65</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Failure mode, effect, cause and control</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Four terms answer four different questions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Failure mode</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How could the function fail?</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Effect</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What happens next?</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Cause</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Why might it happen?</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Control</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How is it prevented or detected?</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66</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Severity, Occurrence and Detection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Three ratings support prioritisation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4069080"/>
          </a:xfrm>
          <a:prstGeom prst="roundRect">
            <a:avLst>
              <a:gd name="adj" fmla="val 2094"/>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Severity</a:t>
            </a:r>
            <a:endParaRPr lang="en-US" sz="1900" dirty="0"/>
          </a:p>
        </p:txBody>
      </p:sp>
      <p:sp>
        <p:nvSpPr>
          <p:cNvPr id="11" name="Text 9"/>
          <p:cNvSpPr txBox="1"/>
          <p:nvPr/>
        </p:nvSpPr>
        <p:spPr>
          <a:xfrm>
            <a:off x="786384" y="2743200"/>
            <a:ext cx="3054096" cy="3172968"/>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How serious is the effect?</a:t>
            </a:r>
            <a:endParaRPr lang="en-US" sz="1600" dirty="0"/>
          </a:p>
        </p:txBody>
      </p:sp>
      <p:sp>
        <p:nvSpPr>
          <p:cNvPr id="12" name="Shape 10"/>
          <p:cNvSpPr/>
          <p:nvPr/>
        </p:nvSpPr>
        <p:spPr>
          <a:xfrm>
            <a:off x="4315968" y="2029968"/>
            <a:ext cx="3493008" cy="4069080"/>
          </a:xfrm>
          <a:prstGeom prst="roundRect">
            <a:avLst>
              <a:gd name="adj" fmla="val 2094"/>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Occurrence</a:t>
            </a:r>
            <a:endParaRPr lang="en-US" sz="1900" dirty="0"/>
          </a:p>
        </p:txBody>
      </p:sp>
      <p:sp>
        <p:nvSpPr>
          <p:cNvPr id="16" name="Text 14"/>
          <p:cNvSpPr txBox="1"/>
          <p:nvPr/>
        </p:nvSpPr>
        <p:spPr>
          <a:xfrm>
            <a:off x="4535424" y="2743200"/>
            <a:ext cx="3054096" cy="3172968"/>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How likely is the cause?</a:t>
            </a:r>
            <a:endParaRPr lang="en-US" sz="1600" dirty="0"/>
          </a:p>
        </p:txBody>
      </p:sp>
      <p:sp>
        <p:nvSpPr>
          <p:cNvPr id="17" name="Shape 15"/>
          <p:cNvSpPr/>
          <p:nvPr/>
        </p:nvSpPr>
        <p:spPr>
          <a:xfrm>
            <a:off x="8065008" y="2029968"/>
            <a:ext cx="3493008" cy="4069080"/>
          </a:xfrm>
          <a:prstGeom prst="roundRect">
            <a:avLst>
              <a:gd name="adj" fmla="val 2094"/>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Detection</a:t>
            </a:r>
            <a:endParaRPr lang="en-US" sz="1900" dirty="0"/>
          </a:p>
        </p:txBody>
      </p:sp>
      <p:sp>
        <p:nvSpPr>
          <p:cNvPr id="21" name="Text 19"/>
          <p:cNvSpPr txBox="1"/>
          <p:nvPr/>
        </p:nvSpPr>
        <p:spPr>
          <a:xfrm>
            <a:off x="8284464" y="2743200"/>
            <a:ext cx="3054096" cy="3172968"/>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How unlikely are current controls to detect it? Higher D = poorer detection.</a:t>
            </a:r>
            <a:endParaRPr lang="en-US" sz="16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67</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RPN makes the calculation visible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Risk Priority Number = Severity × Occurrence × Detection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331720"/>
            <a:ext cx="3523488" cy="3337560"/>
          </a:xfrm>
          <a:prstGeom prst="roundRect">
            <a:avLst>
              <a:gd name="adj" fmla="val 2192"/>
            </a:avLst>
          </a:prstGeom>
          <a:solidFill>
            <a:srgbClr val="FFFFFF"/>
          </a:solidFill>
          <a:ln w="12700">
            <a:solidFill>
              <a:srgbClr val="C8D9DC"/>
            </a:solidFill>
            <a:prstDash val="solid"/>
          </a:ln>
        </p:spPr>
        <p:txBody>
          <a:bodyPr/>
          <a:lstStyle/>
          <a:p>
            <a:endParaRPr lang="en-US"/>
          </a:p>
        </p:txBody>
      </p:sp>
      <p:sp>
        <p:nvSpPr>
          <p:cNvPr id="8" name="Text 6"/>
          <p:cNvSpPr txBox="1"/>
          <p:nvPr/>
        </p:nvSpPr>
        <p:spPr>
          <a:xfrm>
            <a:off x="749808" y="2651760"/>
            <a:ext cx="3157728"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FM01</a:t>
            </a:r>
            <a:endParaRPr lang="en-US" sz="1800" dirty="0"/>
          </a:p>
        </p:txBody>
      </p:sp>
      <p:sp>
        <p:nvSpPr>
          <p:cNvPr id="9" name="Text 7"/>
          <p:cNvSpPr txBox="1"/>
          <p:nvPr/>
        </p:nvSpPr>
        <p:spPr>
          <a:xfrm>
            <a:off x="749808" y="3493008"/>
            <a:ext cx="3157728" cy="1051560"/>
          </a:xfrm>
          <a:prstGeom prst="rect">
            <a:avLst/>
          </a:prstGeom>
          <a:noFill/>
          <a:ln/>
        </p:spPr>
        <p:txBody>
          <a:bodyPr wrap="square" lIns="0" tIns="0" rIns="0" bIns="0" rtlCol="0" anchor="ctr">
            <a:normAutofit/>
          </a:bodyPr>
          <a:lstStyle/>
          <a:p>
            <a:pPr marL="0" indent="0" algn="ctr">
              <a:buNone/>
            </a:pPr>
            <a:r>
              <a:rPr lang="en-US" sz="2600" b="1" dirty="0">
                <a:solidFill>
                  <a:srgbClr val="2477B3"/>
                </a:solidFill>
                <a:latin typeface="Aptos" pitchFamily="34" charset="0"/>
                <a:ea typeface="Aptos" pitchFamily="34" charset="-122"/>
                <a:cs typeface="Aptos" pitchFamily="34" charset="-120"/>
              </a:rPr>
              <a:t>7 × 5 × 4</a:t>
            </a:r>
            <a:endParaRPr lang="en-US" sz="2600" dirty="0"/>
          </a:p>
        </p:txBody>
      </p:sp>
      <p:sp>
        <p:nvSpPr>
          <p:cNvPr id="10" name="Shape 8"/>
          <p:cNvSpPr/>
          <p:nvPr/>
        </p:nvSpPr>
        <p:spPr>
          <a:xfrm>
            <a:off x="4291584" y="2331720"/>
            <a:ext cx="3523488" cy="3337560"/>
          </a:xfrm>
          <a:prstGeom prst="roundRect">
            <a:avLst>
              <a:gd name="adj" fmla="val 2192"/>
            </a:avLst>
          </a:prstGeom>
          <a:solidFill>
            <a:srgbClr val="FFFFFF"/>
          </a:solidFill>
          <a:ln w="12700">
            <a:solidFill>
              <a:srgbClr val="C8D9DC"/>
            </a:solidFill>
            <a:prstDash val="solid"/>
          </a:ln>
        </p:spPr>
        <p:txBody>
          <a:bodyPr/>
          <a:lstStyle/>
          <a:p>
            <a:endParaRPr lang="en-US"/>
          </a:p>
        </p:txBody>
      </p:sp>
      <p:sp>
        <p:nvSpPr>
          <p:cNvPr id="11" name="Text 9"/>
          <p:cNvSpPr txBox="1"/>
          <p:nvPr/>
        </p:nvSpPr>
        <p:spPr>
          <a:xfrm>
            <a:off x="4474464" y="2651760"/>
            <a:ext cx="3157728"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RPN</a:t>
            </a:r>
            <a:endParaRPr lang="en-US" sz="1800" dirty="0"/>
          </a:p>
        </p:txBody>
      </p:sp>
      <p:sp>
        <p:nvSpPr>
          <p:cNvPr id="12" name="Text 10"/>
          <p:cNvSpPr txBox="1"/>
          <p:nvPr/>
        </p:nvSpPr>
        <p:spPr>
          <a:xfrm>
            <a:off x="4474464" y="3493008"/>
            <a:ext cx="3157728" cy="1051560"/>
          </a:xfrm>
          <a:prstGeom prst="rect">
            <a:avLst/>
          </a:prstGeom>
          <a:noFill/>
          <a:ln/>
        </p:spPr>
        <p:txBody>
          <a:bodyPr wrap="square" lIns="0" tIns="0" rIns="0" bIns="0" rtlCol="0" anchor="ctr">
            <a:normAutofit/>
          </a:bodyPr>
          <a:lstStyle/>
          <a:p>
            <a:pPr marL="0" indent="0" algn="ctr">
              <a:buNone/>
            </a:pPr>
            <a:r>
              <a:rPr lang="en-US" sz="2600" b="1" dirty="0">
                <a:solidFill>
                  <a:srgbClr val="2477B3"/>
                </a:solidFill>
                <a:latin typeface="Aptos" pitchFamily="34" charset="0"/>
                <a:ea typeface="Aptos" pitchFamily="34" charset="-122"/>
                <a:cs typeface="Aptos" pitchFamily="34" charset="-120"/>
              </a:rPr>
              <a:t>140</a:t>
            </a:r>
            <a:endParaRPr lang="en-US" sz="2600" dirty="0"/>
          </a:p>
        </p:txBody>
      </p:sp>
      <p:sp>
        <p:nvSpPr>
          <p:cNvPr id="13" name="Shape 11"/>
          <p:cNvSpPr/>
          <p:nvPr/>
        </p:nvSpPr>
        <p:spPr>
          <a:xfrm>
            <a:off x="8016240" y="2331720"/>
            <a:ext cx="3523488" cy="3337560"/>
          </a:xfrm>
          <a:prstGeom prst="roundRect">
            <a:avLst>
              <a:gd name="adj" fmla="val 2192"/>
            </a:avLst>
          </a:prstGeom>
          <a:solidFill>
            <a:srgbClr val="E2EEF0"/>
          </a:solidFill>
          <a:ln w="12700">
            <a:solidFill>
              <a:srgbClr val="C8D9DC"/>
            </a:solidFill>
            <a:prstDash val="solid"/>
          </a:ln>
        </p:spPr>
        <p:txBody>
          <a:bodyPr/>
          <a:lstStyle/>
          <a:p>
            <a:endParaRPr lang="en-US"/>
          </a:p>
        </p:txBody>
      </p:sp>
      <p:sp>
        <p:nvSpPr>
          <p:cNvPr id="14" name="Text 12"/>
          <p:cNvSpPr txBox="1"/>
          <p:nvPr/>
        </p:nvSpPr>
        <p:spPr>
          <a:xfrm>
            <a:off x="8199120" y="2651760"/>
            <a:ext cx="3157728"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Meaning</a:t>
            </a:r>
            <a:endParaRPr lang="en-US" sz="1800" dirty="0"/>
          </a:p>
        </p:txBody>
      </p:sp>
      <p:sp>
        <p:nvSpPr>
          <p:cNvPr id="15" name="Text 13"/>
          <p:cNvSpPr txBox="1"/>
          <p:nvPr/>
        </p:nvSpPr>
        <p:spPr>
          <a:xfrm>
            <a:off x="8199120" y="3493008"/>
            <a:ext cx="3157728" cy="1051560"/>
          </a:xfrm>
          <a:prstGeom prst="rect">
            <a:avLst/>
          </a:prstGeom>
          <a:noFill/>
          <a:ln/>
        </p:spPr>
        <p:txBody>
          <a:bodyPr wrap="square" lIns="0" tIns="0" rIns="0" bIns="0" rtlCol="0" anchor="ctr">
            <a:normAutofit/>
          </a:bodyPr>
          <a:lstStyle/>
          <a:p>
            <a:pPr marL="0" indent="0" algn="ctr">
              <a:buNone/>
            </a:pPr>
            <a:r>
              <a:rPr lang="en-US" sz="2600" b="1" dirty="0">
                <a:solidFill>
                  <a:srgbClr val="102B3E"/>
                </a:solidFill>
                <a:latin typeface="Aptos" pitchFamily="34" charset="0"/>
                <a:ea typeface="Aptos" pitchFamily="34" charset="-122"/>
                <a:cs typeface="Aptos" pitchFamily="34" charset="-120"/>
              </a:rPr>
              <a:t>Priority for review; not probability</a:t>
            </a:r>
            <a:endParaRPr lang="en-US" sz="2600" dirty="0"/>
          </a:p>
        </p:txBody>
      </p:sp>
      <p:sp>
        <p:nvSpPr>
          <p:cNvPr id="16" name="Text 1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68</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 lower RPN can still need urgent action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severity gates and engineering judgement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3486912"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FM01</a:t>
            </a:r>
            <a:endParaRPr lang="en-US" sz="2100" dirty="0"/>
          </a:p>
        </p:txBody>
      </p:sp>
      <p:sp>
        <p:nvSpPr>
          <p:cNvPr id="10" name="Text 8"/>
          <p:cNvSpPr txBox="1"/>
          <p:nvPr/>
        </p:nvSpPr>
        <p:spPr>
          <a:xfrm>
            <a:off x="859536"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RPN 140 · Severity 7</a:t>
            </a:r>
            <a:endParaRPr lang="en-US" sz="1700" dirty="0"/>
          </a:p>
        </p:txBody>
      </p:sp>
      <p:sp>
        <p:nvSpPr>
          <p:cNvPr id="11" name="Shape 9"/>
          <p:cNvSpPr/>
          <p:nvPr/>
        </p:nvSpPr>
        <p:spPr>
          <a:xfrm>
            <a:off x="4309872"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4309872" y="2057400"/>
            <a:ext cx="3486912"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4565904"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FM04</a:t>
            </a:r>
            <a:endParaRPr lang="en-US" sz="2100" dirty="0"/>
          </a:p>
        </p:txBody>
      </p:sp>
      <p:sp>
        <p:nvSpPr>
          <p:cNvPr id="14" name="Text 12"/>
          <p:cNvSpPr txBox="1"/>
          <p:nvPr/>
        </p:nvSpPr>
        <p:spPr>
          <a:xfrm>
            <a:off x="4602480"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RPN 90 · Severity 9</a:t>
            </a:r>
            <a:endParaRPr lang="en-US" sz="1700" dirty="0"/>
          </a:p>
        </p:txBody>
      </p:sp>
      <p:sp>
        <p:nvSpPr>
          <p:cNvPr id="15" name="Shape 13"/>
          <p:cNvSpPr/>
          <p:nvPr/>
        </p:nvSpPr>
        <p:spPr>
          <a:xfrm>
            <a:off x="8052816" y="2057400"/>
            <a:ext cx="3486912" cy="3959352"/>
          </a:xfrm>
          <a:prstGeom prst="roundRect">
            <a:avLst>
              <a:gd name="adj" fmla="val 2098"/>
            </a:avLst>
          </a:prstGeom>
          <a:solidFill>
            <a:srgbClr val="E2EEF0"/>
          </a:solidFill>
          <a:ln w="12700">
            <a:solidFill>
              <a:srgbClr val="C8D9DC"/>
            </a:solidFill>
            <a:prstDash val="solid"/>
          </a:ln>
        </p:spPr>
        <p:txBody>
          <a:bodyPr/>
          <a:lstStyle/>
          <a:p>
            <a:endParaRPr lang="en-US"/>
          </a:p>
        </p:txBody>
      </p:sp>
      <p:sp>
        <p:nvSpPr>
          <p:cNvPr id="16" name="Shape 14"/>
          <p:cNvSpPr/>
          <p:nvPr/>
        </p:nvSpPr>
        <p:spPr>
          <a:xfrm>
            <a:off x="8052816" y="2057400"/>
            <a:ext cx="3486912"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8308848"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F4A62A"/>
                </a:solidFill>
                <a:latin typeface="Aptos" pitchFamily="34" charset="0"/>
                <a:ea typeface="Aptos" pitchFamily="34" charset="-122"/>
                <a:cs typeface="Aptos" pitchFamily="34" charset="-120"/>
              </a:rPr>
              <a:t>Decision</a:t>
            </a:r>
            <a:endParaRPr lang="en-US" sz="2100" dirty="0"/>
          </a:p>
        </p:txBody>
      </p:sp>
      <p:sp>
        <p:nvSpPr>
          <p:cNvPr id="18" name="Text 16"/>
          <p:cNvSpPr txBox="1"/>
          <p:nvPr/>
        </p:nvSpPr>
        <p:spPr>
          <a:xfrm>
            <a:off x="8345424"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Review FM04 despite lower RPN</a:t>
            </a:r>
            <a:endParaRPr lang="en-US" sz="1700" dirty="0"/>
          </a:p>
        </p:txBody>
      </p:sp>
      <p:sp>
        <p:nvSpPr>
          <p:cNvPr id="19" name="Text 17"/>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69</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Worked FMEA · four supplied rows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Copilot calculates; the team owns ratings and actions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103120"/>
            <a:ext cx="914400" cy="475488"/>
          </a:xfrm>
          <a:prstGeom prst="rect">
            <a:avLst/>
          </a:prstGeom>
          <a:solidFill>
            <a:srgbClr val="078897"/>
          </a:solidFill>
          <a:ln w="12700">
            <a:solidFill>
              <a:srgbClr val="FFFFFF"/>
            </a:solidFill>
            <a:prstDash val="solid"/>
          </a:ln>
        </p:spPr>
        <p:txBody>
          <a:bodyPr/>
          <a:lstStyle/>
          <a:p>
            <a:endParaRPr lang="en-US"/>
          </a:p>
        </p:txBody>
      </p:sp>
      <p:sp>
        <p:nvSpPr>
          <p:cNvPr id="8" name="Text 6"/>
          <p:cNvSpPr txBox="1"/>
          <p:nvPr/>
        </p:nvSpPr>
        <p:spPr>
          <a:xfrm>
            <a:off x="566928" y="2103120"/>
            <a:ext cx="914400" cy="47548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ID</a:t>
            </a:r>
            <a:endParaRPr lang="en-US" sz="1300" dirty="0"/>
          </a:p>
        </p:txBody>
      </p:sp>
      <p:sp>
        <p:nvSpPr>
          <p:cNvPr id="9" name="Shape 7"/>
          <p:cNvSpPr/>
          <p:nvPr/>
        </p:nvSpPr>
        <p:spPr>
          <a:xfrm>
            <a:off x="1481328" y="2103120"/>
            <a:ext cx="2834640" cy="475488"/>
          </a:xfrm>
          <a:prstGeom prst="rect">
            <a:avLst/>
          </a:prstGeom>
          <a:solidFill>
            <a:srgbClr val="078897"/>
          </a:solidFill>
          <a:ln w="12700">
            <a:solidFill>
              <a:srgbClr val="FFFFFF"/>
            </a:solidFill>
            <a:prstDash val="solid"/>
          </a:ln>
        </p:spPr>
        <p:txBody>
          <a:bodyPr/>
          <a:lstStyle/>
          <a:p>
            <a:endParaRPr lang="en-US"/>
          </a:p>
        </p:txBody>
      </p:sp>
      <p:sp>
        <p:nvSpPr>
          <p:cNvPr id="10" name="Text 8"/>
          <p:cNvSpPr txBox="1"/>
          <p:nvPr/>
        </p:nvSpPr>
        <p:spPr>
          <a:xfrm>
            <a:off x="1481328" y="2103120"/>
            <a:ext cx="2834640" cy="47548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Failure mode</a:t>
            </a:r>
            <a:endParaRPr lang="en-US" sz="1300" dirty="0"/>
          </a:p>
        </p:txBody>
      </p:sp>
      <p:sp>
        <p:nvSpPr>
          <p:cNvPr id="11" name="Shape 9"/>
          <p:cNvSpPr/>
          <p:nvPr/>
        </p:nvSpPr>
        <p:spPr>
          <a:xfrm>
            <a:off x="4315968" y="2103120"/>
            <a:ext cx="658368" cy="475488"/>
          </a:xfrm>
          <a:prstGeom prst="rect">
            <a:avLst/>
          </a:prstGeom>
          <a:solidFill>
            <a:srgbClr val="078897"/>
          </a:solidFill>
          <a:ln w="12700">
            <a:solidFill>
              <a:srgbClr val="FFFFFF"/>
            </a:solidFill>
            <a:prstDash val="solid"/>
          </a:ln>
        </p:spPr>
        <p:txBody>
          <a:bodyPr/>
          <a:lstStyle/>
          <a:p>
            <a:endParaRPr lang="en-US"/>
          </a:p>
        </p:txBody>
      </p:sp>
      <p:sp>
        <p:nvSpPr>
          <p:cNvPr id="12" name="Text 10"/>
          <p:cNvSpPr txBox="1"/>
          <p:nvPr/>
        </p:nvSpPr>
        <p:spPr>
          <a:xfrm>
            <a:off x="4315968" y="2103120"/>
            <a:ext cx="658368" cy="47548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S</a:t>
            </a:r>
            <a:endParaRPr lang="en-US" sz="1300" dirty="0"/>
          </a:p>
        </p:txBody>
      </p:sp>
      <p:sp>
        <p:nvSpPr>
          <p:cNvPr id="13" name="Shape 11"/>
          <p:cNvSpPr/>
          <p:nvPr/>
        </p:nvSpPr>
        <p:spPr>
          <a:xfrm>
            <a:off x="4974336" y="2103120"/>
            <a:ext cx="658368" cy="475488"/>
          </a:xfrm>
          <a:prstGeom prst="rect">
            <a:avLst/>
          </a:prstGeom>
          <a:solidFill>
            <a:srgbClr val="078897"/>
          </a:solidFill>
          <a:ln w="12700">
            <a:solidFill>
              <a:srgbClr val="FFFFFF"/>
            </a:solidFill>
            <a:prstDash val="solid"/>
          </a:ln>
        </p:spPr>
        <p:txBody>
          <a:bodyPr/>
          <a:lstStyle/>
          <a:p>
            <a:endParaRPr lang="en-US"/>
          </a:p>
        </p:txBody>
      </p:sp>
      <p:sp>
        <p:nvSpPr>
          <p:cNvPr id="14" name="Text 12"/>
          <p:cNvSpPr txBox="1"/>
          <p:nvPr/>
        </p:nvSpPr>
        <p:spPr>
          <a:xfrm>
            <a:off x="4974336" y="2103120"/>
            <a:ext cx="658368" cy="47548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O</a:t>
            </a:r>
            <a:endParaRPr lang="en-US" sz="1300" dirty="0"/>
          </a:p>
        </p:txBody>
      </p:sp>
      <p:sp>
        <p:nvSpPr>
          <p:cNvPr id="15" name="Shape 13"/>
          <p:cNvSpPr/>
          <p:nvPr/>
        </p:nvSpPr>
        <p:spPr>
          <a:xfrm>
            <a:off x="5632704" y="2103120"/>
            <a:ext cx="658368" cy="475488"/>
          </a:xfrm>
          <a:prstGeom prst="rect">
            <a:avLst/>
          </a:prstGeom>
          <a:solidFill>
            <a:srgbClr val="078897"/>
          </a:solidFill>
          <a:ln w="12700">
            <a:solidFill>
              <a:srgbClr val="FFFFFF"/>
            </a:solidFill>
            <a:prstDash val="solid"/>
          </a:ln>
        </p:spPr>
        <p:txBody>
          <a:bodyPr/>
          <a:lstStyle/>
          <a:p>
            <a:endParaRPr lang="en-US"/>
          </a:p>
        </p:txBody>
      </p:sp>
      <p:sp>
        <p:nvSpPr>
          <p:cNvPr id="16" name="Text 14"/>
          <p:cNvSpPr txBox="1"/>
          <p:nvPr/>
        </p:nvSpPr>
        <p:spPr>
          <a:xfrm>
            <a:off x="5632704" y="2103120"/>
            <a:ext cx="658368" cy="47548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D</a:t>
            </a:r>
            <a:endParaRPr lang="en-US" sz="1300" dirty="0"/>
          </a:p>
        </p:txBody>
      </p:sp>
      <p:sp>
        <p:nvSpPr>
          <p:cNvPr id="17" name="Shape 15"/>
          <p:cNvSpPr/>
          <p:nvPr/>
        </p:nvSpPr>
        <p:spPr>
          <a:xfrm>
            <a:off x="6291072" y="2103120"/>
            <a:ext cx="914400" cy="475488"/>
          </a:xfrm>
          <a:prstGeom prst="rect">
            <a:avLst/>
          </a:prstGeom>
          <a:solidFill>
            <a:srgbClr val="078897"/>
          </a:solidFill>
          <a:ln w="12700">
            <a:solidFill>
              <a:srgbClr val="FFFFFF"/>
            </a:solidFill>
            <a:prstDash val="solid"/>
          </a:ln>
        </p:spPr>
        <p:txBody>
          <a:bodyPr/>
          <a:lstStyle/>
          <a:p>
            <a:endParaRPr lang="en-US"/>
          </a:p>
        </p:txBody>
      </p:sp>
      <p:sp>
        <p:nvSpPr>
          <p:cNvPr id="18" name="Text 16"/>
          <p:cNvSpPr txBox="1"/>
          <p:nvPr/>
        </p:nvSpPr>
        <p:spPr>
          <a:xfrm>
            <a:off x="6291072" y="2103120"/>
            <a:ext cx="914400" cy="47548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RPN</a:t>
            </a:r>
            <a:endParaRPr lang="en-US" sz="1300" dirty="0"/>
          </a:p>
        </p:txBody>
      </p:sp>
      <p:sp>
        <p:nvSpPr>
          <p:cNvPr id="19" name="Shape 17"/>
          <p:cNvSpPr/>
          <p:nvPr/>
        </p:nvSpPr>
        <p:spPr>
          <a:xfrm>
            <a:off x="566928" y="2578608"/>
            <a:ext cx="914400" cy="612648"/>
          </a:xfrm>
          <a:prstGeom prst="rect">
            <a:avLst/>
          </a:prstGeom>
          <a:solidFill>
            <a:srgbClr val="FFFFFF"/>
          </a:solidFill>
          <a:ln w="8890">
            <a:solidFill>
              <a:srgbClr val="C8D9DC"/>
            </a:solidFill>
            <a:prstDash val="solid"/>
          </a:ln>
        </p:spPr>
        <p:txBody>
          <a:bodyPr/>
          <a:lstStyle/>
          <a:p>
            <a:endParaRPr lang="en-US"/>
          </a:p>
        </p:txBody>
      </p:sp>
      <p:sp>
        <p:nvSpPr>
          <p:cNvPr id="20" name="Text 18"/>
          <p:cNvSpPr txBox="1"/>
          <p:nvPr/>
        </p:nvSpPr>
        <p:spPr>
          <a:xfrm>
            <a:off x="612648" y="2624328"/>
            <a:ext cx="822960"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FM01</a:t>
            </a:r>
            <a:endParaRPr lang="en-US" sz="1500" dirty="0"/>
          </a:p>
        </p:txBody>
      </p:sp>
      <p:sp>
        <p:nvSpPr>
          <p:cNvPr id="21" name="Shape 19"/>
          <p:cNvSpPr/>
          <p:nvPr/>
        </p:nvSpPr>
        <p:spPr>
          <a:xfrm>
            <a:off x="1481328" y="2578608"/>
            <a:ext cx="2834640" cy="612648"/>
          </a:xfrm>
          <a:prstGeom prst="rect">
            <a:avLst/>
          </a:prstGeom>
          <a:solidFill>
            <a:srgbClr val="FFFFFF"/>
          </a:solidFill>
          <a:ln w="8890">
            <a:solidFill>
              <a:srgbClr val="C8D9DC"/>
            </a:solidFill>
            <a:prstDash val="solid"/>
          </a:ln>
        </p:spPr>
        <p:txBody>
          <a:bodyPr/>
          <a:lstStyle/>
          <a:p>
            <a:endParaRPr lang="en-US"/>
          </a:p>
        </p:txBody>
      </p:sp>
      <p:sp>
        <p:nvSpPr>
          <p:cNvPr id="22" name="Text 20"/>
          <p:cNvSpPr txBox="1"/>
          <p:nvPr/>
        </p:nvSpPr>
        <p:spPr>
          <a:xfrm>
            <a:off x="1527048" y="2624328"/>
            <a:ext cx="2743200" cy="52120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Low delivery</a:t>
            </a:r>
            <a:endParaRPr lang="en-US" sz="1400" dirty="0"/>
          </a:p>
        </p:txBody>
      </p:sp>
      <p:sp>
        <p:nvSpPr>
          <p:cNvPr id="23" name="Shape 21"/>
          <p:cNvSpPr/>
          <p:nvPr/>
        </p:nvSpPr>
        <p:spPr>
          <a:xfrm>
            <a:off x="4315968" y="2578608"/>
            <a:ext cx="658368" cy="612648"/>
          </a:xfrm>
          <a:prstGeom prst="rect">
            <a:avLst/>
          </a:prstGeom>
          <a:solidFill>
            <a:srgbClr val="FFFFFF"/>
          </a:solidFill>
          <a:ln w="8890">
            <a:solidFill>
              <a:srgbClr val="C8D9DC"/>
            </a:solidFill>
            <a:prstDash val="solid"/>
          </a:ln>
        </p:spPr>
        <p:txBody>
          <a:bodyPr/>
          <a:lstStyle/>
          <a:p>
            <a:endParaRPr lang="en-US"/>
          </a:p>
        </p:txBody>
      </p:sp>
      <p:sp>
        <p:nvSpPr>
          <p:cNvPr id="24" name="Text 22"/>
          <p:cNvSpPr txBox="1"/>
          <p:nvPr/>
        </p:nvSpPr>
        <p:spPr>
          <a:xfrm>
            <a:off x="4361688" y="2624328"/>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7</a:t>
            </a:r>
            <a:endParaRPr lang="en-US" sz="1500" dirty="0"/>
          </a:p>
        </p:txBody>
      </p:sp>
      <p:sp>
        <p:nvSpPr>
          <p:cNvPr id="25" name="Shape 23"/>
          <p:cNvSpPr/>
          <p:nvPr/>
        </p:nvSpPr>
        <p:spPr>
          <a:xfrm>
            <a:off x="4974336" y="2578608"/>
            <a:ext cx="658368" cy="612648"/>
          </a:xfrm>
          <a:prstGeom prst="rect">
            <a:avLst/>
          </a:prstGeom>
          <a:solidFill>
            <a:srgbClr val="FFFFFF"/>
          </a:solidFill>
          <a:ln w="8890">
            <a:solidFill>
              <a:srgbClr val="C8D9DC"/>
            </a:solidFill>
            <a:prstDash val="solid"/>
          </a:ln>
        </p:spPr>
        <p:txBody>
          <a:bodyPr/>
          <a:lstStyle/>
          <a:p>
            <a:endParaRPr lang="en-US"/>
          </a:p>
        </p:txBody>
      </p:sp>
      <p:sp>
        <p:nvSpPr>
          <p:cNvPr id="26" name="Text 24"/>
          <p:cNvSpPr txBox="1"/>
          <p:nvPr/>
        </p:nvSpPr>
        <p:spPr>
          <a:xfrm>
            <a:off x="5020056" y="2624328"/>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5</a:t>
            </a:r>
            <a:endParaRPr lang="en-US" sz="1500" dirty="0"/>
          </a:p>
        </p:txBody>
      </p:sp>
      <p:sp>
        <p:nvSpPr>
          <p:cNvPr id="27" name="Shape 25"/>
          <p:cNvSpPr/>
          <p:nvPr/>
        </p:nvSpPr>
        <p:spPr>
          <a:xfrm>
            <a:off x="5632704" y="2578608"/>
            <a:ext cx="658368" cy="612648"/>
          </a:xfrm>
          <a:prstGeom prst="rect">
            <a:avLst/>
          </a:prstGeom>
          <a:solidFill>
            <a:srgbClr val="FFFFFF"/>
          </a:solidFill>
          <a:ln w="8890">
            <a:solidFill>
              <a:srgbClr val="C8D9DC"/>
            </a:solidFill>
            <a:prstDash val="solid"/>
          </a:ln>
        </p:spPr>
        <p:txBody>
          <a:bodyPr/>
          <a:lstStyle/>
          <a:p>
            <a:endParaRPr lang="en-US"/>
          </a:p>
        </p:txBody>
      </p:sp>
      <p:sp>
        <p:nvSpPr>
          <p:cNvPr id="28" name="Text 26"/>
          <p:cNvSpPr txBox="1"/>
          <p:nvPr/>
        </p:nvSpPr>
        <p:spPr>
          <a:xfrm>
            <a:off x="5678424" y="2624328"/>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4</a:t>
            </a:r>
            <a:endParaRPr lang="en-US" sz="1500" dirty="0"/>
          </a:p>
        </p:txBody>
      </p:sp>
      <p:sp>
        <p:nvSpPr>
          <p:cNvPr id="29" name="Shape 27"/>
          <p:cNvSpPr/>
          <p:nvPr/>
        </p:nvSpPr>
        <p:spPr>
          <a:xfrm>
            <a:off x="6291072" y="2578608"/>
            <a:ext cx="914400" cy="612648"/>
          </a:xfrm>
          <a:prstGeom prst="rect">
            <a:avLst/>
          </a:prstGeom>
          <a:solidFill>
            <a:srgbClr val="FFFFFF"/>
          </a:solidFill>
          <a:ln w="8890">
            <a:solidFill>
              <a:srgbClr val="C8D9DC"/>
            </a:solidFill>
            <a:prstDash val="solid"/>
          </a:ln>
        </p:spPr>
        <p:txBody>
          <a:bodyPr/>
          <a:lstStyle/>
          <a:p>
            <a:endParaRPr lang="en-US"/>
          </a:p>
        </p:txBody>
      </p:sp>
      <p:sp>
        <p:nvSpPr>
          <p:cNvPr id="30" name="Text 28"/>
          <p:cNvSpPr txBox="1"/>
          <p:nvPr/>
        </p:nvSpPr>
        <p:spPr>
          <a:xfrm>
            <a:off x="6336792" y="2624328"/>
            <a:ext cx="822960" cy="521208"/>
          </a:xfrm>
          <a:prstGeom prst="rect">
            <a:avLst/>
          </a:prstGeom>
          <a:noFill/>
          <a:ln/>
        </p:spPr>
        <p:txBody>
          <a:bodyPr wrap="square" lIns="0" tIns="0" rIns="0" bIns="0" rtlCol="0" anchor="ctr">
            <a:normAutofit/>
          </a:bodyPr>
          <a:lstStyle/>
          <a:p>
            <a:pPr marL="0" indent="0" algn="ctr">
              <a:buNone/>
            </a:pPr>
            <a:r>
              <a:rPr lang="en-US" sz="1500" b="1" dirty="0">
                <a:solidFill>
                  <a:srgbClr val="102B3E"/>
                </a:solidFill>
                <a:latin typeface="Aptos" pitchFamily="34" charset="0"/>
                <a:ea typeface="Aptos" pitchFamily="34" charset="-122"/>
                <a:cs typeface="Aptos" pitchFamily="34" charset="-120"/>
              </a:rPr>
              <a:t>140</a:t>
            </a:r>
            <a:endParaRPr lang="en-US" sz="1500" dirty="0"/>
          </a:p>
        </p:txBody>
      </p:sp>
      <p:sp>
        <p:nvSpPr>
          <p:cNvPr id="31" name="Shape 29"/>
          <p:cNvSpPr/>
          <p:nvPr/>
        </p:nvSpPr>
        <p:spPr>
          <a:xfrm>
            <a:off x="566928" y="3191256"/>
            <a:ext cx="914400" cy="612648"/>
          </a:xfrm>
          <a:prstGeom prst="rect">
            <a:avLst/>
          </a:prstGeom>
          <a:solidFill>
            <a:srgbClr val="F5F8F8"/>
          </a:solidFill>
          <a:ln w="8890">
            <a:solidFill>
              <a:srgbClr val="C8D9DC"/>
            </a:solidFill>
            <a:prstDash val="solid"/>
          </a:ln>
        </p:spPr>
        <p:txBody>
          <a:bodyPr/>
          <a:lstStyle/>
          <a:p>
            <a:endParaRPr lang="en-US"/>
          </a:p>
        </p:txBody>
      </p:sp>
      <p:sp>
        <p:nvSpPr>
          <p:cNvPr id="32" name="Text 30"/>
          <p:cNvSpPr txBox="1"/>
          <p:nvPr/>
        </p:nvSpPr>
        <p:spPr>
          <a:xfrm>
            <a:off x="612648" y="3236976"/>
            <a:ext cx="822960"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FM02</a:t>
            </a:r>
            <a:endParaRPr lang="en-US" sz="1500" dirty="0"/>
          </a:p>
        </p:txBody>
      </p:sp>
      <p:sp>
        <p:nvSpPr>
          <p:cNvPr id="33" name="Shape 31"/>
          <p:cNvSpPr/>
          <p:nvPr/>
        </p:nvSpPr>
        <p:spPr>
          <a:xfrm>
            <a:off x="1481328" y="3191256"/>
            <a:ext cx="2834640" cy="612648"/>
          </a:xfrm>
          <a:prstGeom prst="rect">
            <a:avLst/>
          </a:prstGeom>
          <a:solidFill>
            <a:srgbClr val="F5F8F8"/>
          </a:solidFill>
          <a:ln w="8890">
            <a:solidFill>
              <a:srgbClr val="C8D9DC"/>
            </a:solidFill>
            <a:prstDash val="solid"/>
          </a:ln>
        </p:spPr>
        <p:txBody>
          <a:bodyPr/>
          <a:lstStyle/>
          <a:p>
            <a:endParaRPr lang="en-US"/>
          </a:p>
        </p:txBody>
      </p:sp>
      <p:sp>
        <p:nvSpPr>
          <p:cNvPr id="34" name="Text 32"/>
          <p:cNvSpPr txBox="1"/>
          <p:nvPr/>
        </p:nvSpPr>
        <p:spPr>
          <a:xfrm>
            <a:off x="1527048" y="3236976"/>
            <a:ext cx="2743200" cy="52120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No start</a:t>
            </a:r>
            <a:endParaRPr lang="en-US" sz="1400" dirty="0"/>
          </a:p>
        </p:txBody>
      </p:sp>
      <p:sp>
        <p:nvSpPr>
          <p:cNvPr id="35" name="Shape 33"/>
          <p:cNvSpPr/>
          <p:nvPr/>
        </p:nvSpPr>
        <p:spPr>
          <a:xfrm>
            <a:off x="4315968" y="3191256"/>
            <a:ext cx="658368" cy="612648"/>
          </a:xfrm>
          <a:prstGeom prst="rect">
            <a:avLst/>
          </a:prstGeom>
          <a:solidFill>
            <a:srgbClr val="F5F8F8"/>
          </a:solidFill>
          <a:ln w="8890">
            <a:solidFill>
              <a:srgbClr val="C8D9DC"/>
            </a:solidFill>
            <a:prstDash val="solid"/>
          </a:ln>
        </p:spPr>
        <p:txBody>
          <a:bodyPr/>
          <a:lstStyle/>
          <a:p>
            <a:endParaRPr lang="en-US"/>
          </a:p>
        </p:txBody>
      </p:sp>
      <p:sp>
        <p:nvSpPr>
          <p:cNvPr id="36" name="Text 34"/>
          <p:cNvSpPr txBox="1"/>
          <p:nvPr/>
        </p:nvSpPr>
        <p:spPr>
          <a:xfrm>
            <a:off x="4361688" y="3236976"/>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8</a:t>
            </a:r>
            <a:endParaRPr lang="en-US" sz="1500" dirty="0"/>
          </a:p>
        </p:txBody>
      </p:sp>
      <p:sp>
        <p:nvSpPr>
          <p:cNvPr id="37" name="Shape 35"/>
          <p:cNvSpPr/>
          <p:nvPr/>
        </p:nvSpPr>
        <p:spPr>
          <a:xfrm>
            <a:off x="4974336" y="3191256"/>
            <a:ext cx="658368" cy="612648"/>
          </a:xfrm>
          <a:prstGeom prst="rect">
            <a:avLst/>
          </a:prstGeom>
          <a:solidFill>
            <a:srgbClr val="F5F8F8"/>
          </a:solidFill>
          <a:ln w="8890">
            <a:solidFill>
              <a:srgbClr val="C8D9DC"/>
            </a:solidFill>
            <a:prstDash val="solid"/>
          </a:ln>
        </p:spPr>
        <p:txBody>
          <a:bodyPr/>
          <a:lstStyle/>
          <a:p>
            <a:endParaRPr lang="en-US"/>
          </a:p>
        </p:txBody>
      </p:sp>
      <p:sp>
        <p:nvSpPr>
          <p:cNvPr id="38" name="Text 36"/>
          <p:cNvSpPr txBox="1"/>
          <p:nvPr/>
        </p:nvSpPr>
        <p:spPr>
          <a:xfrm>
            <a:off x="5020056" y="3236976"/>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3</a:t>
            </a:r>
            <a:endParaRPr lang="en-US" sz="1500" dirty="0"/>
          </a:p>
        </p:txBody>
      </p:sp>
      <p:sp>
        <p:nvSpPr>
          <p:cNvPr id="39" name="Shape 37"/>
          <p:cNvSpPr/>
          <p:nvPr/>
        </p:nvSpPr>
        <p:spPr>
          <a:xfrm>
            <a:off x="5632704" y="3191256"/>
            <a:ext cx="658368" cy="612648"/>
          </a:xfrm>
          <a:prstGeom prst="rect">
            <a:avLst/>
          </a:prstGeom>
          <a:solidFill>
            <a:srgbClr val="F5F8F8"/>
          </a:solidFill>
          <a:ln w="8890">
            <a:solidFill>
              <a:srgbClr val="C8D9DC"/>
            </a:solidFill>
            <a:prstDash val="solid"/>
          </a:ln>
        </p:spPr>
        <p:txBody>
          <a:bodyPr/>
          <a:lstStyle/>
          <a:p>
            <a:endParaRPr lang="en-US"/>
          </a:p>
        </p:txBody>
      </p:sp>
      <p:sp>
        <p:nvSpPr>
          <p:cNvPr id="40" name="Text 38"/>
          <p:cNvSpPr txBox="1"/>
          <p:nvPr/>
        </p:nvSpPr>
        <p:spPr>
          <a:xfrm>
            <a:off x="5678424" y="3236976"/>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3</a:t>
            </a:r>
            <a:endParaRPr lang="en-US" sz="1500" dirty="0"/>
          </a:p>
        </p:txBody>
      </p:sp>
      <p:sp>
        <p:nvSpPr>
          <p:cNvPr id="41" name="Shape 39"/>
          <p:cNvSpPr/>
          <p:nvPr/>
        </p:nvSpPr>
        <p:spPr>
          <a:xfrm>
            <a:off x="6291072" y="3191256"/>
            <a:ext cx="914400" cy="612648"/>
          </a:xfrm>
          <a:prstGeom prst="rect">
            <a:avLst/>
          </a:prstGeom>
          <a:solidFill>
            <a:srgbClr val="F5F8F8"/>
          </a:solidFill>
          <a:ln w="8890">
            <a:solidFill>
              <a:srgbClr val="C8D9DC"/>
            </a:solidFill>
            <a:prstDash val="solid"/>
          </a:ln>
        </p:spPr>
        <p:txBody>
          <a:bodyPr/>
          <a:lstStyle/>
          <a:p>
            <a:endParaRPr lang="en-US"/>
          </a:p>
        </p:txBody>
      </p:sp>
      <p:sp>
        <p:nvSpPr>
          <p:cNvPr id="42" name="Text 40"/>
          <p:cNvSpPr txBox="1"/>
          <p:nvPr/>
        </p:nvSpPr>
        <p:spPr>
          <a:xfrm>
            <a:off x="6336792" y="3236976"/>
            <a:ext cx="822960" cy="521208"/>
          </a:xfrm>
          <a:prstGeom prst="rect">
            <a:avLst/>
          </a:prstGeom>
          <a:noFill/>
          <a:ln/>
        </p:spPr>
        <p:txBody>
          <a:bodyPr wrap="square" lIns="0" tIns="0" rIns="0" bIns="0" rtlCol="0" anchor="ctr">
            <a:normAutofit/>
          </a:bodyPr>
          <a:lstStyle/>
          <a:p>
            <a:pPr marL="0" indent="0" algn="ctr">
              <a:buNone/>
            </a:pPr>
            <a:r>
              <a:rPr lang="en-US" sz="1500" b="1" dirty="0">
                <a:solidFill>
                  <a:srgbClr val="102B3E"/>
                </a:solidFill>
                <a:latin typeface="Aptos" pitchFamily="34" charset="0"/>
                <a:ea typeface="Aptos" pitchFamily="34" charset="-122"/>
                <a:cs typeface="Aptos" pitchFamily="34" charset="-120"/>
              </a:rPr>
              <a:t>72</a:t>
            </a:r>
            <a:endParaRPr lang="en-US" sz="1500" dirty="0"/>
          </a:p>
        </p:txBody>
      </p:sp>
      <p:sp>
        <p:nvSpPr>
          <p:cNvPr id="43" name="Shape 41"/>
          <p:cNvSpPr/>
          <p:nvPr/>
        </p:nvSpPr>
        <p:spPr>
          <a:xfrm>
            <a:off x="566928" y="3803904"/>
            <a:ext cx="914400" cy="612648"/>
          </a:xfrm>
          <a:prstGeom prst="rect">
            <a:avLst/>
          </a:prstGeom>
          <a:solidFill>
            <a:srgbClr val="FFFFFF"/>
          </a:solidFill>
          <a:ln w="8890">
            <a:solidFill>
              <a:srgbClr val="C8D9DC"/>
            </a:solidFill>
            <a:prstDash val="solid"/>
          </a:ln>
        </p:spPr>
        <p:txBody>
          <a:bodyPr/>
          <a:lstStyle/>
          <a:p>
            <a:endParaRPr lang="en-US"/>
          </a:p>
        </p:txBody>
      </p:sp>
      <p:sp>
        <p:nvSpPr>
          <p:cNvPr id="44" name="Text 42"/>
          <p:cNvSpPr txBox="1"/>
          <p:nvPr/>
        </p:nvSpPr>
        <p:spPr>
          <a:xfrm>
            <a:off x="612648" y="3849624"/>
            <a:ext cx="822960"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FM03</a:t>
            </a:r>
            <a:endParaRPr lang="en-US" sz="1500" dirty="0"/>
          </a:p>
        </p:txBody>
      </p:sp>
      <p:sp>
        <p:nvSpPr>
          <p:cNvPr id="45" name="Shape 43"/>
          <p:cNvSpPr/>
          <p:nvPr/>
        </p:nvSpPr>
        <p:spPr>
          <a:xfrm>
            <a:off x="1481328" y="3803904"/>
            <a:ext cx="2834640" cy="612648"/>
          </a:xfrm>
          <a:prstGeom prst="rect">
            <a:avLst/>
          </a:prstGeom>
          <a:solidFill>
            <a:srgbClr val="FFFFFF"/>
          </a:solidFill>
          <a:ln w="8890">
            <a:solidFill>
              <a:srgbClr val="C8D9DC"/>
            </a:solidFill>
            <a:prstDash val="solid"/>
          </a:ln>
        </p:spPr>
        <p:txBody>
          <a:bodyPr/>
          <a:lstStyle/>
          <a:p>
            <a:endParaRPr lang="en-US"/>
          </a:p>
        </p:txBody>
      </p:sp>
      <p:sp>
        <p:nvSpPr>
          <p:cNvPr id="46" name="Text 44"/>
          <p:cNvSpPr txBox="1"/>
          <p:nvPr/>
        </p:nvSpPr>
        <p:spPr>
          <a:xfrm>
            <a:off x="1527048" y="3849624"/>
            <a:ext cx="2743200" cy="52120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Wrong reading</a:t>
            </a:r>
            <a:endParaRPr lang="en-US" sz="1400" dirty="0"/>
          </a:p>
        </p:txBody>
      </p:sp>
      <p:sp>
        <p:nvSpPr>
          <p:cNvPr id="47" name="Shape 45"/>
          <p:cNvSpPr/>
          <p:nvPr/>
        </p:nvSpPr>
        <p:spPr>
          <a:xfrm>
            <a:off x="4315968" y="3803904"/>
            <a:ext cx="658368" cy="612648"/>
          </a:xfrm>
          <a:prstGeom prst="rect">
            <a:avLst/>
          </a:prstGeom>
          <a:solidFill>
            <a:srgbClr val="FFFFFF"/>
          </a:solidFill>
          <a:ln w="8890">
            <a:solidFill>
              <a:srgbClr val="C8D9DC"/>
            </a:solidFill>
            <a:prstDash val="solid"/>
          </a:ln>
        </p:spPr>
        <p:txBody>
          <a:bodyPr/>
          <a:lstStyle/>
          <a:p>
            <a:endParaRPr lang="en-US"/>
          </a:p>
        </p:txBody>
      </p:sp>
      <p:sp>
        <p:nvSpPr>
          <p:cNvPr id="48" name="Text 46"/>
          <p:cNvSpPr txBox="1"/>
          <p:nvPr/>
        </p:nvSpPr>
        <p:spPr>
          <a:xfrm>
            <a:off x="4361688" y="3849624"/>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6</a:t>
            </a:r>
            <a:endParaRPr lang="en-US" sz="1500" dirty="0"/>
          </a:p>
        </p:txBody>
      </p:sp>
      <p:sp>
        <p:nvSpPr>
          <p:cNvPr id="49" name="Shape 47"/>
          <p:cNvSpPr/>
          <p:nvPr/>
        </p:nvSpPr>
        <p:spPr>
          <a:xfrm>
            <a:off x="4974336" y="3803904"/>
            <a:ext cx="658368" cy="612648"/>
          </a:xfrm>
          <a:prstGeom prst="rect">
            <a:avLst/>
          </a:prstGeom>
          <a:solidFill>
            <a:srgbClr val="FFFFFF"/>
          </a:solidFill>
          <a:ln w="8890">
            <a:solidFill>
              <a:srgbClr val="C8D9DC"/>
            </a:solidFill>
            <a:prstDash val="solid"/>
          </a:ln>
        </p:spPr>
        <p:txBody>
          <a:bodyPr/>
          <a:lstStyle/>
          <a:p>
            <a:endParaRPr lang="en-US"/>
          </a:p>
        </p:txBody>
      </p:sp>
      <p:sp>
        <p:nvSpPr>
          <p:cNvPr id="50" name="Text 48"/>
          <p:cNvSpPr txBox="1"/>
          <p:nvPr/>
        </p:nvSpPr>
        <p:spPr>
          <a:xfrm>
            <a:off x="5020056" y="3849624"/>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4</a:t>
            </a:r>
            <a:endParaRPr lang="en-US" sz="1500" dirty="0"/>
          </a:p>
        </p:txBody>
      </p:sp>
      <p:sp>
        <p:nvSpPr>
          <p:cNvPr id="51" name="Shape 49"/>
          <p:cNvSpPr/>
          <p:nvPr/>
        </p:nvSpPr>
        <p:spPr>
          <a:xfrm>
            <a:off x="5632704" y="3803904"/>
            <a:ext cx="658368" cy="612648"/>
          </a:xfrm>
          <a:prstGeom prst="rect">
            <a:avLst/>
          </a:prstGeom>
          <a:solidFill>
            <a:srgbClr val="FFFFFF"/>
          </a:solidFill>
          <a:ln w="8890">
            <a:solidFill>
              <a:srgbClr val="C8D9DC"/>
            </a:solidFill>
            <a:prstDash val="solid"/>
          </a:ln>
        </p:spPr>
        <p:txBody>
          <a:bodyPr/>
          <a:lstStyle/>
          <a:p>
            <a:endParaRPr lang="en-US"/>
          </a:p>
        </p:txBody>
      </p:sp>
      <p:sp>
        <p:nvSpPr>
          <p:cNvPr id="52" name="Text 50"/>
          <p:cNvSpPr txBox="1"/>
          <p:nvPr/>
        </p:nvSpPr>
        <p:spPr>
          <a:xfrm>
            <a:off x="5678424" y="3849624"/>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5</a:t>
            </a:r>
            <a:endParaRPr lang="en-US" sz="1500" dirty="0"/>
          </a:p>
        </p:txBody>
      </p:sp>
      <p:sp>
        <p:nvSpPr>
          <p:cNvPr id="53" name="Shape 51"/>
          <p:cNvSpPr/>
          <p:nvPr/>
        </p:nvSpPr>
        <p:spPr>
          <a:xfrm>
            <a:off x="6291072" y="3803904"/>
            <a:ext cx="914400" cy="612648"/>
          </a:xfrm>
          <a:prstGeom prst="rect">
            <a:avLst/>
          </a:prstGeom>
          <a:solidFill>
            <a:srgbClr val="FFFFFF"/>
          </a:solidFill>
          <a:ln w="8890">
            <a:solidFill>
              <a:srgbClr val="C8D9DC"/>
            </a:solidFill>
            <a:prstDash val="solid"/>
          </a:ln>
        </p:spPr>
        <p:txBody>
          <a:bodyPr/>
          <a:lstStyle/>
          <a:p>
            <a:endParaRPr lang="en-US"/>
          </a:p>
        </p:txBody>
      </p:sp>
      <p:sp>
        <p:nvSpPr>
          <p:cNvPr id="54" name="Text 52"/>
          <p:cNvSpPr txBox="1"/>
          <p:nvPr/>
        </p:nvSpPr>
        <p:spPr>
          <a:xfrm>
            <a:off x="6336792" y="3849624"/>
            <a:ext cx="822960" cy="521208"/>
          </a:xfrm>
          <a:prstGeom prst="rect">
            <a:avLst/>
          </a:prstGeom>
          <a:noFill/>
          <a:ln/>
        </p:spPr>
        <p:txBody>
          <a:bodyPr wrap="square" lIns="0" tIns="0" rIns="0" bIns="0" rtlCol="0" anchor="ctr">
            <a:normAutofit/>
          </a:bodyPr>
          <a:lstStyle/>
          <a:p>
            <a:pPr marL="0" indent="0" algn="ctr">
              <a:buNone/>
            </a:pPr>
            <a:r>
              <a:rPr lang="en-US" sz="1500" b="1" dirty="0">
                <a:solidFill>
                  <a:srgbClr val="102B3E"/>
                </a:solidFill>
                <a:latin typeface="Aptos" pitchFamily="34" charset="0"/>
                <a:ea typeface="Aptos" pitchFamily="34" charset="-122"/>
                <a:cs typeface="Aptos" pitchFamily="34" charset="-120"/>
              </a:rPr>
              <a:t>120</a:t>
            </a:r>
            <a:endParaRPr lang="en-US" sz="1500" dirty="0"/>
          </a:p>
        </p:txBody>
      </p:sp>
      <p:sp>
        <p:nvSpPr>
          <p:cNvPr id="55" name="Shape 53"/>
          <p:cNvSpPr/>
          <p:nvPr/>
        </p:nvSpPr>
        <p:spPr>
          <a:xfrm>
            <a:off x="566928" y="4416552"/>
            <a:ext cx="914400" cy="612648"/>
          </a:xfrm>
          <a:prstGeom prst="rect">
            <a:avLst/>
          </a:prstGeom>
          <a:solidFill>
            <a:srgbClr val="F5F8F8"/>
          </a:solidFill>
          <a:ln w="8890">
            <a:solidFill>
              <a:srgbClr val="C8D9DC"/>
            </a:solidFill>
            <a:prstDash val="solid"/>
          </a:ln>
        </p:spPr>
        <p:txBody>
          <a:bodyPr/>
          <a:lstStyle/>
          <a:p>
            <a:endParaRPr lang="en-US"/>
          </a:p>
        </p:txBody>
      </p:sp>
      <p:sp>
        <p:nvSpPr>
          <p:cNvPr id="56" name="Text 54"/>
          <p:cNvSpPr txBox="1"/>
          <p:nvPr/>
        </p:nvSpPr>
        <p:spPr>
          <a:xfrm>
            <a:off x="612648" y="4462272"/>
            <a:ext cx="822960"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FM04</a:t>
            </a:r>
            <a:endParaRPr lang="en-US" sz="1500" dirty="0"/>
          </a:p>
        </p:txBody>
      </p:sp>
      <p:sp>
        <p:nvSpPr>
          <p:cNvPr id="57" name="Shape 55"/>
          <p:cNvSpPr/>
          <p:nvPr/>
        </p:nvSpPr>
        <p:spPr>
          <a:xfrm>
            <a:off x="1481328" y="4416552"/>
            <a:ext cx="2834640" cy="612648"/>
          </a:xfrm>
          <a:prstGeom prst="rect">
            <a:avLst/>
          </a:prstGeom>
          <a:solidFill>
            <a:srgbClr val="F5F8F8"/>
          </a:solidFill>
          <a:ln w="8890">
            <a:solidFill>
              <a:srgbClr val="C8D9DC"/>
            </a:solidFill>
            <a:prstDash val="solid"/>
          </a:ln>
        </p:spPr>
        <p:txBody>
          <a:bodyPr/>
          <a:lstStyle/>
          <a:p>
            <a:endParaRPr lang="en-US"/>
          </a:p>
        </p:txBody>
      </p:sp>
      <p:sp>
        <p:nvSpPr>
          <p:cNvPr id="58" name="Text 56"/>
          <p:cNvSpPr txBox="1"/>
          <p:nvPr/>
        </p:nvSpPr>
        <p:spPr>
          <a:xfrm>
            <a:off x="1527048" y="4462272"/>
            <a:ext cx="2743200" cy="52120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Leak</a:t>
            </a:r>
            <a:endParaRPr lang="en-US" sz="1400" dirty="0"/>
          </a:p>
        </p:txBody>
      </p:sp>
      <p:sp>
        <p:nvSpPr>
          <p:cNvPr id="59" name="Shape 57"/>
          <p:cNvSpPr/>
          <p:nvPr/>
        </p:nvSpPr>
        <p:spPr>
          <a:xfrm>
            <a:off x="4315968" y="4416552"/>
            <a:ext cx="658368" cy="612648"/>
          </a:xfrm>
          <a:prstGeom prst="rect">
            <a:avLst/>
          </a:prstGeom>
          <a:solidFill>
            <a:srgbClr val="F5F8F8"/>
          </a:solidFill>
          <a:ln w="8890">
            <a:solidFill>
              <a:srgbClr val="C8D9DC"/>
            </a:solidFill>
            <a:prstDash val="solid"/>
          </a:ln>
        </p:spPr>
        <p:txBody>
          <a:bodyPr/>
          <a:lstStyle/>
          <a:p>
            <a:endParaRPr lang="en-US"/>
          </a:p>
        </p:txBody>
      </p:sp>
      <p:sp>
        <p:nvSpPr>
          <p:cNvPr id="60" name="Text 58"/>
          <p:cNvSpPr txBox="1"/>
          <p:nvPr/>
        </p:nvSpPr>
        <p:spPr>
          <a:xfrm>
            <a:off x="4361688" y="4462272"/>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9</a:t>
            </a:r>
            <a:endParaRPr lang="en-US" sz="1500" dirty="0"/>
          </a:p>
        </p:txBody>
      </p:sp>
      <p:sp>
        <p:nvSpPr>
          <p:cNvPr id="61" name="Shape 59"/>
          <p:cNvSpPr/>
          <p:nvPr/>
        </p:nvSpPr>
        <p:spPr>
          <a:xfrm>
            <a:off x="4974336" y="4416552"/>
            <a:ext cx="658368" cy="612648"/>
          </a:xfrm>
          <a:prstGeom prst="rect">
            <a:avLst/>
          </a:prstGeom>
          <a:solidFill>
            <a:srgbClr val="F5F8F8"/>
          </a:solidFill>
          <a:ln w="8890">
            <a:solidFill>
              <a:srgbClr val="C8D9DC"/>
            </a:solidFill>
            <a:prstDash val="solid"/>
          </a:ln>
        </p:spPr>
        <p:txBody>
          <a:bodyPr/>
          <a:lstStyle/>
          <a:p>
            <a:endParaRPr lang="en-US"/>
          </a:p>
        </p:txBody>
      </p:sp>
      <p:sp>
        <p:nvSpPr>
          <p:cNvPr id="62" name="Text 60"/>
          <p:cNvSpPr txBox="1"/>
          <p:nvPr/>
        </p:nvSpPr>
        <p:spPr>
          <a:xfrm>
            <a:off x="5020056" y="4462272"/>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2</a:t>
            </a:r>
            <a:endParaRPr lang="en-US" sz="1500" dirty="0"/>
          </a:p>
        </p:txBody>
      </p:sp>
      <p:sp>
        <p:nvSpPr>
          <p:cNvPr id="63" name="Shape 61"/>
          <p:cNvSpPr/>
          <p:nvPr/>
        </p:nvSpPr>
        <p:spPr>
          <a:xfrm>
            <a:off x="5632704" y="4416552"/>
            <a:ext cx="658368" cy="612648"/>
          </a:xfrm>
          <a:prstGeom prst="rect">
            <a:avLst/>
          </a:prstGeom>
          <a:solidFill>
            <a:srgbClr val="F5F8F8"/>
          </a:solidFill>
          <a:ln w="8890">
            <a:solidFill>
              <a:srgbClr val="C8D9DC"/>
            </a:solidFill>
            <a:prstDash val="solid"/>
          </a:ln>
        </p:spPr>
        <p:txBody>
          <a:bodyPr/>
          <a:lstStyle/>
          <a:p>
            <a:endParaRPr lang="en-US"/>
          </a:p>
        </p:txBody>
      </p:sp>
      <p:sp>
        <p:nvSpPr>
          <p:cNvPr id="64" name="Text 62"/>
          <p:cNvSpPr txBox="1"/>
          <p:nvPr/>
        </p:nvSpPr>
        <p:spPr>
          <a:xfrm>
            <a:off x="5678424" y="4462272"/>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5</a:t>
            </a:r>
            <a:endParaRPr lang="en-US" sz="1500" dirty="0"/>
          </a:p>
        </p:txBody>
      </p:sp>
      <p:sp>
        <p:nvSpPr>
          <p:cNvPr id="65" name="Shape 63"/>
          <p:cNvSpPr/>
          <p:nvPr/>
        </p:nvSpPr>
        <p:spPr>
          <a:xfrm>
            <a:off x="6291072" y="4416552"/>
            <a:ext cx="914400" cy="612648"/>
          </a:xfrm>
          <a:prstGeom prst="rect">
            <a:avLst/>
          </a:prstGeom>
          <a:solidFill>
            <a:srgbClr val="F5F8F8"/>
          </a:solidFill>
          <a:ln w="8890">
            <a:solidFill>
              <a:srgbClr val="C8D9DC"/>
            </a:solidFill>
            <a:prstDash val="solid"/>
          </a:ln>
        </p:spPr>
        <p:txBody>
          <a:bodyPr/>
          <a:lstStyle/>
          <a:p>
            <a:endParaRPr lang="en-US"/>
          </a:p>
        </p:txBody>
      </p:sp>
      <p:sp>
        <p:nvSpPr>
          <p:cNvPr id="66" name="Text 64"/>
          <p:cNvSpPr txBox="1"/>
          <p:nvPr/>
        </p:nvSpPr>
        <p:spPr>
          <a:xfrm>
            <a:off x="6336792" y="4462272"/>
            <a:ext cx="822960" cy="521208"/>
          </a:xfrm>
          <a:prstGeom prst="rect">
            <a:avLst/>
          </a:prstGeom>
          <a:noFill/>
          <a:ln/>
        </p:spPr>
        <p:txBody>
          <a:bodyPr wrap="square" lIns="0" tIns="0" rIns="0" bIns="0" rtlCol="0" anchor="ctr">
            <a:normAutofit/>
          </a:bodyPr>
          <a:lstStyle/>
          <a:p>
            <a:pPr marL="0" indent="0" algn="ctr">
              <a:buNone/>
            </a:pPr>
            <a:r>
              <a:rPr lang="en-US" sz="1500" b="1" dirty="0">
                <a:solidFill>
                  <a:srgbClr val="102B3E"/>
                </a:solidFill>
                <a:latin typeface="Aptos" pitchFamily="34" charset="0"/>
                <a:ea typeface="Aptos" pitchFamily="34" charset="-122"/>
                <a:cs typeface="Aptos" pitchFamily="34" charset="-120"/>
              </a:rPr>
              <a:t>90</a:t>
            </a:r>
            <a:endParaRPr lang="en-US" sz="1500" dirty="0"/>
          </a:p>
        </p:txBody>
      </p:sp>
      <p:sp>
        <p:nvSpPr>
          <p:cNvPr id="67" name="Shape 65"/>
          <p:cNvSpPr/>
          <p:nvPr/>
        </p:nvSpPr>
        <p:spPr>
          <a:xfrm>
            <a:off x="8275320" y="2121408"/>
            <a:ext cx="3182112" cy="3310128"/>
          </a:xfrm>
          <a:prstGeom prst="roundRect">
            <a:avLst>
              <a:gd name="adj" fmla="val 2299"/>
            </a:avLst>
          </a:prstGeom>
          <a:solidFill>
            <a:srgbClr val="FFF7E8"/>
          </a:solidFill>
          <a:ln w="12700">
            <a:solidFill>
              <a:srgbClr val="F2C572"/>
            </a:solidFill>
            <a:prstDash val="solid"/>
          </a:ln>
        </p:spPr>
        <p:txBody>
          <a:bodyPr/>
          <a:lstStyle/>
          <a:p>
            <a:endParaRPr lang="en-US"/>
          </a:p>
        </p:txBody>
      </p:sp>
      <p:sp>
        <p:nvSpPr>
          <p:cNvPr id="68" name="Text 66"/>
          <p:cNvSpPr txBox="1"/>
          <p:nvPr/>
        </p:nvSpPr>
        <p:spPr>
          <a:xfrm>
            <a:off x="8549640" y="2423160"/>
            <a:ext cx="2633472" cy="365760"/>
          </a:xfrm>
          <a:prstGeom prst="rect">
            <a:avLst/>
          </a:prstGeom>
          <a:noFill/>
          <a:ln/>
        </p:spPr>
        <p:txBody>
          <a:bodyPr wrap="square" lIns="0" tIns="0" rIns="0" bIns="0" rtlCol="0" anchor="ctr">
            <a:normAutofit/>
          </a:bodyPr>
          <a:lstStyle/>
          <a:p>
            <a:pPr marL="0" indent="0" algn="l">
              <a:buNone/>
            </a:pPr>
            <a:r>
              <a:rPr lang="en-US" sz="1900" b="1" dirty="0">
                <a:solidFill>
                  <a:srgbClr val="F4A62A"/>
                </a:solidFill>
                <a:latin typeface="Aptos" pitchFamily="34" charset="0"/>
                <a:ea typeface="Aptos" pitchFamily="34" charset="-122"/>
                <a:cs typeface="Aptos" pitchFamily="34" charset="-120"/>
              </a:rPr>
              <a:t>How to act</a:t>
            </a:r>
            <a:endParaRPr lang="en-US" sz="1900" dirty="0"/>
          </a:p>
        </p:txBody>
      </p:sp>
      <p:sp>
        <p:nvSpPr>
          <p:cNvPr id="69" name="Text 67"/>
          <p:cNvSpPr txBox="1"/>
          <p:nvPr/>
        </p:nvSpPr>
        <p:spPr>
          <a:xfrm>
            <a:off x="8549640" y="2999232"/>
            <a:ext cx="2633472" cy="192024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1. Check the rating basis</a:t>
            </a:r>
            <a:endParaRPr lang="en-US" sz="1600" dirty="0"/>
          </a:p>
          <a:p>
            <a:pPr marL="0" indent="0" algn="l">
              <a:buNone/>
            </a:pPr>
            <a:r>
              <a:rPr lang="en-US" sz="1600" dirty="0">
                <a:solidFill>
                  <a:srgbClr val="102B3E"/>
                </a:solidFill>
                <a:latin typeface="Aptos" pitchFamily="34" charset="0"/>
                <a:ea typeface="Aptos" pitchFamily="34" charset="-122"/>
                <a:cs typeface="Aptos" pitchFamily="34" charset="-120"/>
              </a:rPr>
              <a:t>2. Rank RPNs</a:t>
            </a:r>
            <a:endParaRPr lang="en-US" sz="1600" dirty="0"/>
          </a:p>
          <a:p>
            <a:pPr marL="0" indent="0" algn="l">
              <a:buNone/>
            </a:pPr>
            <a:r>
              <a:rPr lang="en-US" sz="1600" dirty="0">
                <a:solidFill>
                  <a:srgbClr val="102B3E"/>
                </a:solidFill>
                <a:latin typeface="Aptos" pitchFamily="34" charset="0"/>
                <a:ea typeface="Aptos" pitchFamily="34" charset="-122"/>
                <a:cs typeface="Aptos" pitchFamily="34" charset="-120"/>
              </a:rPr>
              <a:t>3. Apply severity gate</a:t>
            </a:r>
            <a:endParaRPr lang="en-US" sz="1600" dirty="0"/>
          </a:p>
          <a:p>
            <a:pPr marL="0" indent="0" algn="l">
              <a:buNone/>
            </a:pPr>
            <a:r>
              <a:rPr lang="en-US" sz="1600" dirty="0">
                <a:solidFill>
                  <a:srgbClr val="102B3E"/>
                </a:solidFill>
                <a:latin typeface="Aptos" pitchFamily="34" charset="0"/>
                <a:ea typeface="Aptos" pitchFamily="34" charset="-122"/>
                <a:cs typeface="Aptos" pitchFamily="34" charset="-120"/>
              </a:rPr>
              <a:t>4. Assign action and owner</a:t>
            </a:r>
            <a:endParaRPr lang="en-US" sz="1600" dirty="0"/>
          </a:p>
          <a:p>
            <a:pPr marL="0" indent="0" algn="l">
              <a:buNone/>
            </a:pPr>
            <a:r>
              <a:rPr lang="en-US" sz="1600" dirty="0">
                <a:solidFill>
                  <a:srgbClr val="102B3E"/>
                </a:solidFill>
                <a:latin typeface="Aptos" pitchFamily="34" charset="0"/>
                <a:ea typeface="Aptos" pitchFamily="34" charset="-122"/>
                <a:cs typeface="Aptos" pitchFamily="34" charset="-120"/>
              </a:rPr>
              <a:t>5. Reassess residual risk</a:t>
            </a:r>
            <a:endParaRPr lang="en-US" sz="1600" dirty="0"/>
          </a:p>
        </p:txBody>
      </p:sp>
      <p:sp>
        <p:nvSpPr>
          <p:cNvPr id="70" name="Text 6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7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70</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Act on an FMEA result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Prioritisation should lead to owned, verified work</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Confirm</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Evidence and scoring basis</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Prioritise</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RPN plus severity gate</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Assign</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Action, owner, due date</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Implement</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Complete the change</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Reassess</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Residual S/O/D and evidence</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71</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How Copilot improves FMEA productivity</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Reduce table setup and drafting time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5358384"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Copilot helps</a:t>
            </a:r>
            <a:endParaRPr lang="en-US" sz="2100" dirty="0"/>
          </a:p>
        </p:txBody>
      </p:sp>
      <p:sp>
        <p:nvSpPr>
          <p:cNvPr id="10" name="Text 8"/>
          <p:cNvSpPr txBox="1"/>
          <p:nvPr/>
        </p:nvSpPr>
        <p:spPr>
          <a:xfrm>
            <a:off x="859536"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Draft rows, calculate RPN, sort, flag and format.</a:t>
            </a:r>
            <a:endParaRPr lang="en-US" sz="1700" dirty="0"/>
          </a:p>
        </p:txBody>
      </p:sp>
      <p:sp>
        <p:nvSpPr>
          <p:cNvPr id="11" name="Shape 9"/>
          <p:cNvSpPr/>
          <p:nvPr/>
        </p:nvSpPr>
        <p:spPr>
          <a:xfrm>
            <a:off x="6181344"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6181344" y="2057400"/>
            <a:ext cx="5358384"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6437376"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Engineer verifies</a:t>
            </a:r>
            <a:endParaRPr lang="en-US" sz="2100" dirty="0"/>
          </a:p>
        </p:txBody>
      </p:sp>
      <p:sp>
        <p:nvSpPr>
          <p:cNvPr id="14" name="Text 12"/>
          <p:cNvSpPr txBox="1"/>
          <p:nvPr/>
        </p:nvSpPr>
        <p:spPr>
          <a:xfrm>
            <a:off x="6473952"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System scope, failure logic, ratings, actions and residual risk.</a:t>
            </a:r>
            <a:endParaRPr lang="en-US" sz="1700" dirty="0"/>
          </a:p>
        </p:txBody>
      </p:sp>
      <p:sp>
        <p:nvSpPr>
          <p:cNvPr id="15" name="Text 1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72</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FMEA prompt · preserve the engineering record</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Name the table, formula, gate and decision boundary</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Act as an FMEA facilitator. Use only FMEAInput. Preserve all rows and supplied ratings. Calculate RPN = Severity × Occurrence × Detection, rank the rows, flag Severity 9 or higher, and add one evidence request and action per row. Show formulas. Do not invent incidents or approve the design.</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Input</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FMEAInput · 4 rows</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Output</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RPN, rank and action</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Check</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FM01 = 140; FM04 S = 9</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73</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3.1 · FMEA document and RPN table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20 minutes · one small table and two independent checks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2743200" cy="4069080"/>
          </a:xfrm>
          <a:prstGeom prst="roundRect">
            <a:avLst/>
          </a:prstGeom>
          <a:solidFill>
            <a:srgbClr val="102B3E"/>
          </a:solidFill>
          <a:ln w="12700">
            <a:solidFill>
              <a:srgbClr val="102B3E"/>
            </a:solidFill>
            <a:prstDash val="solid"/>
          </a:ln>
        </p:spPr>
        <p:txBody>
          <a:bodyPr/>
          <a:lstStyle/>
          <a:p>
            <a:endParaRPr/>
          </a:p>
        </p:txBody>
      </p:sp>
      <p:sp>
        <p:nvSpPr>
          <p:cNvPr id="8" name="Text 6"/>
          <p:cNvSpPr txBox="1"/>
          <p:nvPr/>
        </p:nvSpPr>
        <p:spPr>
          <a:xfrm>
            <a:off x="868680" y="2395728"/>
            <a:ext cx="2148840" cy="548640"/>
          </a:xfrm>
          <a:prstGeom prst="rect">
            <a:avLst/>
          </a:prstGeom>
          <a:noFill/>
          <a:ln/>
        </p:spPr>
        <p:txBody>
          <a:bodyPr wrap="square" lIns="0" tIns="0" rIns="0" bIns="0" rtlCol="0" anchor="ctr">
            <a:normAutofit/>
          </a:bodyPr>
          <a:lstStyle/>
          <a:p>
            <a:pPr marL="0" indent="0" algn="ctr">
              <a:buNone/>
            </a:pPr>
            <a:r>
              <a:rPr lang="en-US" sz="2400" b="1" dirty="0">
                <a:solidFill>
                  <a:srgbClr val="FFFFFF"/>
                </a:solidFill>
                <a:latin typeface="Aptos" pitchFamily="34" charset="0"/>
                <a:ea typeface="Aptos" pitchFamily="34" charset="-122"/>
                <a:cs typeface="Aptos" pitchFamily="34" charset="-120"/>
              </a:rPr>
              <a:t>Lab 3.1</a:t>
            </a:r>
            <a:endParaRPr lang="en-US" sz="2400" dirty="0"/>
          </a:p>
        </p:txBody>
      </p:sp>
      <p:sp>
        <p:nvSpPr>
          <p:cNvPr id="9" name="Text 7"/>
          <p:cNvSpPr txBox="1"/>
          <p:nvPr/>
        </p:nvSpPr>
        <p:spPr>
          <a:xfrm>
            <a:off x="868680" y="3163824"/>
            <a:ext cx="2148840" cy="1143000"/>
          </a:xfrm>
          <a:prstGeom prst="rect">
            <a:avLst/>
          </a:prstGeom>
          <a:noFill/>
          <a:ln/>
        </p:spPr>
        <p:txBody>
          <a:bodyPr wrap="square" lIns="0" tIns="0" rIns="0" bIns="0" rtlCol="0" anchor="ctr">
            <a:normAutofit/>
          </a:bodyPr>
          <a:lstStyle/>
          <a:p>
            <a:pPr marL="0" indent="0" algn="ctr">
              <a:buNone/>
            </a:pPr>
            <a:r>
              <a:rPr lang="en-US" sz="1600" dirty="0">
                <a:solidFill>
                  <a:srgbClr val="FFFFFF"/>
                </a:solidFill>
                <a:latin typeface="Aptos" pitchFamily="34" charset="0"/>
                <a:ea typeface="Aptos" pitchFamily="34" charset="-122"/>
                <a:cs typeface="Aptos" pitchFamily="34" charset="-120"/>
              </a:rPr>
              <a:t>20 minutes · one small table and two independent checks</a:t>
            </a:r>
            <a:endParaRPr lang="en-US" sz="1600" dirty="0"/>
          </a:p>
        </p:txBody>
      </p:sp>
      <p:sp>
        <p:nvSpPr>
          <p:cNvPr id="10" name="Text 8"/>
          <p:cNvSpPr txBox="1"/>
          <p:nvPr/>
        </p:nvSpPr>
        <p:spPr>
          <a:xfrm>
            <a:off x="868680" y="4992624"/>
            <a:ext cx="2148840" cy="274320"/>
          </a:xfrm>
          <a:prstGeom prst="rect">
            <a:avLst/>
          </a:prstGeom>
          <a:noFill/>
          <a:ln/>
        </p:spPr>
        <p:txBody>
          <a:bodyPr wrap="square" lIns="0" tIns="0" rIns="0" bIns="0" rtlCol="0" anchor="ctr">
            <a:normAutofit/>
          </a:bodyPr>
          <a:lstStyle/>
          <a:p>
            <a:pPr marL="0" indent="0" algn="ctr">
              <a:buNone/>
            </a:pPr>
            <a:r>
              <a:rPr lang="en-US" sz="1100" b="1" dirty="0">
                <a:solidFill>
                  <a:srgbClr val="17A9B8"/>
                </a:solidFill>
                <a:latin typeface="Aptos" pitchFamily="34" charset="0"/>
                <a:ea typeface="Aptos" pitchFamily="34" charset="-122"/>
                <a:cs typeface="Aptos" pitchFamily="34" charset="-120"/>
              </a:rPr>
              <a:t>ONE SMALL OUTPUT</a:t>
            </a:r>
            <a:endParaRPr lang="en-US" sz="1100" dirty="0"/>
          </a:p>
        </p:txBody>
      </p:sp>
      <p:sp>
        <p:nvSpPr>
          <p:cNvPr id="11" name="Shape 9"/>
          <p:cNvSpPr/>
          <p:nvPr/>
        </p:nvSpPr>
        <p:spPr>
          <a:xfrm>
            <a:off x="3749040" y="2103120"/>
            <a:ext cx="420624" cy="420624"/>
          </a:xfrm>
          <a:prstGeom prst="ellipse">
            <a:avLst/>
          </a:prstGeom>
          <a:solidFill>
            <a:srgbClr val="078897"/>
          </a:solidFill>
          <a:ln w="12700">
            <a:solidFill>
              <a:srgbClr val="078897"/>
            </a:solidFill>
            <a:prstDash val="solid"/>
          </a:ln>
        </p:spPr>
        <p:txBody>
          <a:bodyPr/>
          <a:lstStyle/>
          <a:p>
            <a:endParaRPr/>
          </a:p>
        </p:txBody>
      </p:sp>
      <p:sp>
        <p:nvSpPr>
          <p:cNvPr id="12" name="Text 10"/>
          <p:cNvSpPr txBox="1"/>
          <p:nvPr/>
        </p:nvSpPr>
        <p:spPr>
          <a:xfrm>
            <a:off x="3749040" y="2103120"/>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13" name="Text 11"/>
          <p:cNvSpPr txBox="1"/>
          <p:nvPr/>
        </p:nvSpPr>
        <p:spPr>
          <a:xfrm>
            <a:off x="4352544" y="1993392"/>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Open</a:t>
            </a:r>
            <a:endParaRPr lang="en-US" sz="1500" dirty="0"/>
          </a:p>
        </p:txBody>
      </p:sp>
      <p:sp>
        <p:nvSpPr>
          <p:cNvPr id="14" name="Text 12"/>
          <p:cNvSpPr txBox="1"/>
          <p:nvPr/>
        </p:nvSpPr>
        <p:spPr>
          <a:xfrm>
            <a:off x="5596128" y="1993392"/>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Labs/Lab-3.1-FMEA-Document/Starter.xlsx</a:t>
            </a:r>
            <a:endParaRPr lang="en-US" sz="1500" dirty="0"/>
          </a:p>
        </p:txBody>
      </p:sp>
      <p:sp>
        <p:nvSpPr>
          <p:cNvPr id="15" name="Shape 13"/>
          <p:cNvSpPr/>
          <p:nvPr/>
        </p:nvSpPr>
        <p:spPr>
          <a:xfrm>
            <a:off x="3959352" y="2523744"/>
            <a:ext cx="0" cy="283464"/>
          </a:xfrm>
          <a:prstGeom prst="line">
            <a:avLst/>
          </a:prstGeom>
          <a:noFill/>
          <a:ln w="25400">
            <a:solidFill>
              <a:srgbClr val="C8D9DC"/>
            </a:solidFill>
            <a:prstDash val="solid"/>
          </a:ln>
        </p:spPr>
        <p:txBody>
          <a:bodyPr/>
          <a:lstStyle/>
          <a:p>
            <a:endParaRPr/>
          </a:p>
        </p:txBody>
      </p:sp>
      <p:sp>
        <p:nvSpPr>
          <p:cNvPr id="16" name="Shape 14"/>
          <p:cNvSpPr/>
          <p:nvPr/>
        </p:nvSpPr>
        <p:spPr>
          <a:xfrm>
            <a:off x="3749040" y="2916936"/>
            <a:ext cx="420624" cy="420624"/>
          </a:xfrm>
          <a:prstGeom prst="ellipse">
            <a:avLst/>
          </a:prstGeom>
          <a:solidFill>
            <a:srgbClr val="078897"/>
          </a:solidFill>
          <a:ln w="12700">
            <a:solidFill>
              <a:srgbClr val="078897"/>
            </a:solidFill>
            <a:prstDash val="solid"/>
          </a:ln>
        </p:spPr>
        <p:txBody>
          <a:bodyPr/>
          <a:lstStyle/>
          <a:p>
            <a:endParaRPr/>
          </a:p>
        </p:txBody>
      </p:sp>
      <p:sp>
        <p:nvSpPr>
          <p:cNvPr id="17" name="Text 15"/>
          <p:cNvSpPr txBox="1"/>
          <p:nvPr/>
        </p:nvSpPr>
        <p:spPr>
          <a:xfrm>
            <a:off x="3749040" y="2916936"/>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8" name="Text 16"/>
          <p:cNvSpPr txBox="1"/>
          <p:nvPr/>
        </p:nvSpPr>
        <p:spPr>
          <a:xfrm>
            <a:off x="4352544" y="2807208"/>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Select</a:t>
            </a:r>
            <a:endParaRPr lang="en-US" sz="1500" dirty="0"/>
          </a:p>
        </p:txBody>
      </p:sp>
      <p:sp>
        <p:nvSpPr>
          <p:cNvPr id="19" name="Text 17"/>
          <p:cNvSpPr txBox="1"/>
          <p:nvPr/>
        </p:nvSpPr>
        <p:spPr>
          <a:xfrm>
            <a:off x="5596128" y="2807208"/>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FMEAInput</a:t>
            </a:r>
            <a:endParaRPr lang="en-US" sz="1500" dirty="0"/>
          </a:p>
        </p:txBody>
      </p:sp>
      <p:sp>
        <p:nvSpPr>
          <p:cNvPr id="20" name="Shape 18"/>
          <p:cNvSpPr/>
          <p:nvPr/>
        </p:nvSpPr>
        <p:spPr>
          <a:xfrm>
            <a:off x="3959352" y="3337560"/>
            <a:ext cx="0" cy="283464"/>
          </a:xfrm>
          <a:prstGeom prst="line">
            <a:avLst/>
          </a:prstGeom>
          <a:noFill/>
          <a:ln w="25400">
            <a:solidFill>
              <a:srgbClr val="C8D9DC"/>
            </a:solidFill>
            <a:prstDash val="solid"/>
          </a:ln>
        </p:spPr>
        <p:txBody>
          <a:bodyPr/>
          <a:lstStyle/>
          <a:p>
            <a:endParaRPr/>
          </a:p>
        </p:txBody>
      </p:sp>
      <p:sp>
        <p:nvSpPr>
          <p:cNvPr id="21" name="Shape 19"/>
          <p:cNvSpPr/>
          <p:nvPr/>
        </p:nvSpPr>
        <p:spPr>
          <a:xfrm>
            <a:off x="3749040" y="3730752"/>
            <a:ext cx="420624" cy="420624"/>
          </a:xfrm>
          <a:prstGeom prst="ellipse">
            <a:avLst/>
          </a:prstGeom>
          <a:solidFill>
            <a:srgbClr val="078897"/>
          </a:solidFill>
          <a:ln w="12700">
            <a:solidFill>
              <a:srgbClr val="078897"/>
            </a:solidFill>
            <a:prstDash val="solid"/>
          </a:ln>
        </p:spPr>
        <p:txBody>
          <a:bodyPr/>
          <a:lstStyle/>
          <a:p>
            <a:endParaRPr/>
          </a:p>
        </p:txBody>
      </p:sp>
      <p:sp>
        <p:nvSpPr>
          <p:cNvPr id="22" name="Text 20"/>
          <p:cNvSpPr txBox="1"/>
          <p:nvPr/>
        </p:nvSpPr>
        <p:spPr>
          <a:xfrm>
            <a:off x="3749040" y="3730752"/>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23" name="Text 21"/>
          <p:cNvSpPr txBox="1"/>
          <p:nvPr/>
        </p:nvSpPr>
        <p:spPr>
          <a:xfrm>
            <a:off x="4352544" y="3621024"/>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Ask</a:t>
            </a:r>
            <a:endParaRPr lang="en-US" sz="1500" dirty="0"/>
          </a:p>
        </p:txBody>
      </p:sp>
      <p:sp>
        <p:nvSpPr>
          <p:cNvPr id="24" name="Text 22"/>
          <p:cNvSpPr txBox="1"/>
          <p:nvPr/>
        </p:nvSpPr>
        <p:spPr>
          <a:xfrm>
            <a:off x="5596128" y="3621024"/>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Paste Copilot_Prompt</a:t>
            </a:r>
            <a:endParaRPr lang="en-US" sz="1500" dirty="0"/>
          </a:p>
        </p:txBody>
      </p:sp>
      <p:sp>
        <p:nvSpPr>
          <p:cNvPr id="25" name="Shape 23"/>
          <p:cNvSpPr/>
          <p:nvPr/>
        </p:nvSpPr>
        <p:spPr>
          <a:xfrm>
            <a:off x="3959352" y="4151376"/>
            <a:ext cx="0" cy="283464"/>
          </a:xfrm>
          <a:prstGeom prst="line">
            <a:avLst/>
          </a:prstGeom>
          <a:noFill/>
          <a:ln w="25400">
            <a:solidFill>
              <a:srgbClr val="C8D9DC"/>
            </a:solidFill>
            <a:prstDash val="solid"/>
          </a:ln>
        </p:spPr>
        <p:txBody>
          <a:bodyPr/>
          <a:lstStyle/>
          <a:p>
            <a:endParaRPr/>
          </a:p>
        </p:txBody>
      </p:sp>
      <p:sp>
        <p:nvSpPr>
          <p:cNvPr id="26" name="Shape 24"/>
          <p:cNvSpPr/>
          <p:nvPr/>
        </p:nvSpPr>
        <p:spPr>
          <a:xfrm>
            <a:off x="3749040" y="4544568"/>
            <a:ext cx="420624" cy="420624"/>
          </a:xfrm>
          <a:prstGeom prst="ellipse">
            <a:avLst/>
          </a:prstGeom>
          <a:solidFill>
            <a:srgbClr val="078897"/>
          </a:solidFill>
          <a:ln w="12700">
            <a:solidFill>
              <a:srgbClr val="078897"/>
            </a:solidFill>
            <a:prstDash val="solid"/>
          </a:ln>
        </p:spPr>
        <p:txBody>
          <a:bodyPr/>
          <a:lstStyle/>
          <a:p>
            <a:endParaRPr/>
          </a:p>
        </p:txBody>
      </p:sp>
      <p:sp>
        <p:nvSpPr>
          <p:cNvPr id="27" name="Text 25"/>
          <p:cNvSpPr txBox="1"/>
          <p:nvPr/>
        </p:nvSpPr>
        <p:spPr>
          <a:xfrm>
            <a:off x="3749040" y="4544568"/>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8" name="Text 26"/>
          <p:cNvSpPr txBox="1"/>
          <p:nvPr/>
        </p:nvSpPr>
        <p:spPr>
          <a:xfrm>
            <a:off x="4352544" y="4434840"/>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Verify</a:t>
            </a:r>
            <a:endParaRPr lang="en-US" sz="1500" dirty="0"/>
          </a:p>
        </p:txBody>
      </p:sp>
      <p:sp>
        <p:nvSpPr>
          <p:cNvPr id="29" name="Text 27"/>
          <p:cNvSpPr txBox="1"/>
          <p:nvPr/>
        </p:nvSpPr>
        <p:spPr>
          <a:xfrm>
            <a:off x="5596128" y="4434840"/>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FM01 = 140; FM04 Severity = 9</a:t>
            </a:r>
            <a:endParaRPr lang="en-US" sz="1500" dirty="0"/>
          </a:p>
        </p:txBody>
      </p:sp>
      <p:sp>
        <p:nvSpPr>
          <p:cNvPr id="30" name="Shape 28"/>
          <p:cNvSpPr/>
          <p:nvPr/>
        </p:nvSpPr>
        <p:spPr>
          <a:xfrm>
            <a:off x="3959352" y="4965192"/>
            <a:ext cx="0" cy="283464"/>
          </a:xfrm>
          <a:prstGeom prst="line">
            <a:avLst/>
          </a:prstGeom>
          <a:noFill/>
          <a:ln w="25400">
            <a:solidFill>
              <a:srgbClr val="C8D9DC"/>
            </a:solidFill>
            <a:prstDash val="solid"/>
          </a:ln>
        </p:spPr>
        <p:txBody>
          <a:bodyPr/>
          <a:lstStyle/>
          <a:p>
            <a:endParaRPr/>
          </a:p>
        </p:txBody>
      </p:sp>
      <p:sp>
        <p:nvSpPr>
          <p:cNvPr id="31" name="Shape 29"/>
          <p:cNvSpPr/>
          <p:nvPr/>
        </p:nvSpPr>
        <p:spPr>
          <a:xfrm>
            <a:off x="3749040" y="5358384"/>
            <a:ext cx="420624" cy="420624"/>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3749040" y="5358384"/>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5</a:t>
            </a:r>
            <a:endParaRPr lang="en-US" sz="1400" dirty="0"/>
          </a:p>
        </p:txBody>
      </p:sp>
      <p:sp>
        <p:nvSpPr>
          <p:cNvPr id="33" name="Text 31"/>
          <p:cNvSpPr txBox="1"/>
          <p:nvPr/>
        </p:nvSpPr>
        <p:spPr>
          <a:xfrm>
            <a:off x="4352544" y="5248656"/>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Save</a:t>
            </a:r>
            <a:endParaRPr lang="en-US" sz="1500" dirty="0"/>
          </a:p>
        </p:txBody>
      </p:sp>
      <p:sp>
        <p:nvSpPr>
          <p:cNvPr id="34" name="Text 32"/>
          <p:cNvSpPr txBox="1"/>
          <p:nvPr/>
        </p:nvSpPr>
        <p:spPr>
          <a:xfrm>
            <a:off x="5596128" y="5248656"/>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Ranked table + evidence request</a:t>
            </a:r>
            <a:endParaRPr lang="en-US" sz="1500" dirty="0"/>
          </a:p>
        </p:txBody>
      </p:sp>
      <p:sp>
        <p:nvSpPr>
          <p:cNvPr id="35" name="Text 3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6"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74</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Six Sigma · what it is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 disciplined approach to reducing defects and variation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pic>
        <p:nvPicPr>
          <p:cNvPr id="7" name="Image 0" descr="/Users/alfredang/Documents/Supporting Document/Tertiary Infotech/Client Projects/Client WSQ Projects/Client - IES/GenAI for Engineers/assets/cw401-pareto.png"/>
          <p:cNvPicPr>
            <a:picLocks noChangeAspect="1"/>
          </p:cNvPicPr>
          <p:nvPr/>
        </p:nvPicPr>
        <p:blipFill>
          <a:blip r:embed="rId3"/>
          <a:stretch>
            <a:fillRect/>
          </a:stretch>
        </p:blipFill>
        <p:spPr>
          <a:xfrm>
            <a:off x="566928" y="1993392"/>
            <a:ext cx="6419088" cy="4041648"/>
          </a:xfrm>
          <a:prstGeom prst="rect">
            <a:avLst/>
          </a:prstGeom>
        </p:spPr>
      </p:pic>
      <p:sp>
        <p:nvSpPr>
          <p:cNvPr id="8" name="Shape 5"/>
          <p:cNvSpPr/>
          <p:nvPr/>
        </p:nvSpPr>
        <p:spPr>
          <a:xfrm>
            <a:off x="566928" y="5349240"/>
            <a:ext cx="6419088" cy="685800"/>
          </a:xfrm>
          <a:prstGeom prst="rect">
            <a:avLst/>
          </a:prstGeom>
          <a:solidFill>
            <a:srgbClr val="102B3E">
              <a:alpha val="92000"/>
            </a:srgbClr>
          </a:solidFill>
          <a:ln w="12700">
            <a:solidFill>
              <a:srgbClr val="102B3E">
                <a:alpha val="0"/>
              </a:srgbClr>
            </a:solidFill>
            <a:prstDash val="solid"/>
          </a:ln>
        </p:spPr>
        <p:txBody>
          <a:bodyPr/>
          <a:lstStyle/>
          <a:p>
            <a:endParaRPr/>
          </a:p>
        </p:txBody>
      </p:sp>
      <p:sp>
        <p:nvSpPr>
          <p:cNvPr id="9" name="Text 6"/>
          <p:cNvSpPr txBox="1"/>
          <p:nvPr/>
        </p:nvSpPr>
        <p:spPr>
          <a:xfrm>
            <a:off x="804672" y="5458968"/>
            <a:ext cx="5943600" cy="438912"/>
          </a:xfrm>
          <a:prstGeom prst="rect">
            <a:avLst/>
          </a:prstGeom>
          <a:noFill/>
          <a:ln/>
        </p:spPr>
        <p:txBody>
          <a:bodyPr wrap="square" lIns="0" tIns="0" rIns="0" bIns="0" rtlCol="0" anchor="ctr">
            <a:normAutofit/>
          </a:bodyPr>
          <a:lstStyle/>
          <a:p>
            <a:pPr marL="0" indent="0" algn="l">
              <a:buNone/>
            </a:pPr>
            <a:r>
              <a:rPr lang="en-US" sz="1600" b="1" dirty="0">
                <a:solidFill>
                  <a:srgbClr val="FFFFFF"/>
                </a:solidFill>
                <a:latin typeface="Aptos" pitchFamily="34" charset="0"/>
                <a:ea typeface="Aptos" pitchFamily="34" charset="-122"/>
                <a:cs typeface="Aptos" pitchFamily="34" charset="-120"/>
              </a:rPr>
              <a:t>A disciplined approach to reducing defects and variation</a:t>
            </a:r>
            <a:endParaRPr lang="en-US" sz="1600" dirty="0"/>
          </a:p>
        </p:txBody>
      </p:sp>
      <p:sp>
        <p:nvSpPr>
          <p:cNvPr id="10" name="Shape 7"/>
          <p:cNvSpPr/>
          <p:nvPr/>
        </p:nvSpPr>
        <p:spPr>
          <a:xfrm>
            <a:off x="7388352" y="2103120"/>
            <a:ext cx="384048" cy="384048"/>
          </a:xfrm>
          <a:prstGeom prst="ellipse">
            <a:avLst/>
          </a:prstGeom>
          <a:solidFill>
            <a:srgbClr val="078897"/>
          </a:solidFill>
          <a:ln w="12700">
            <a:solidFill>
              <a:srgbClr val="078897"/>
            </a:solidFill>
            <a:prstDash val="solid"/>
          </a:ln>
        </p:spPr>
        <p:txBody>
          <a:bodyPr/>
          <a:lstStyle/>
          <a:p>
            <a:endParaRPr/>
          </a:p>
        </p:txBody>
      </p:sp>
      <p:sp>
        <p:nvSpPr>
          <p:cNvPr id="11" name="Text 8"/>
          <p:cNvSpPr txBox="1"/>
          <p:nvPr/>
        </p:nvSpPr>
        <p:spPr>
          <a:xfrm>
            <a:off x="7388352" y="2103120"/>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9"/>
          <p:cNvSpPr txBox="1"/>
          <p:nvPr/>
        </p:nvSpPr>
        <p:spPr>
          <a:xfrm>
            <a:off x="7909560" y="2057400"/>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Focus</a:t>
            </a:r>
            <a:endParaRPr lang="en-US" sz="1500" dirty="0"/>
          </a:p>
        </p:txBody>
      </p:sp>
      <p:sp>
        <p:nvSpPr>
          <p:cNvPr id="13" name="Text 10"/>
          <p:cNvSpPr txBox="1"/>
          <p:nvPr/>
        </p:nvSpPr>
        <p:spPr>
          <a:xfrm>
            <a:off x="7909560" y="2404872"/>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Customer-critical performance</a:t>
            </a:r>
            <a:endParaRPr lang="en-US" sz="1400" dirty="0"/>
          </a:p>
        </p:txBody>
      </p:sp>
      <p:sp>
        <p:nvSpPr>
          <p:cNvPr id="14" name="Shape 11"/>
          <p:cNvSpPr/>
          <p:nvPr/>
        </p:nvSpPr>
        <p:spPr>
          <a:xfrm>
            <a:off x="7388352" y="3182112"/>
            <a:ext cx="384048" cy="384048"/>
          </a:xfrm>
          <a:prstGeom prst="ellipse">
            <a:avLst/>
          </a:prstGeom>
          <a:solidFill>
            <a:srgbClr val="078897"/>
          </a:solidFill>
          <a:ln w="12700">
            <a:solidFill>
              <a:srgbClr val="078897"/>
            </a:solidFill>
            <a:prstDash val="solid"/>
          </a:ln>
        </p:spPr>
        <p:txBody>
          <a:bodyPr/>
          <a:lstStyle/>
          <a:p>
            <a:endParaRPr/>
          </a:p>
        </p:txBody>
      </p:sp>
      <p:sp>
        <p:nvSpPr>
          <p:cNvPr id="15" name="Text 12"/>
          <p:cNvSpPr txBox="1"/>
          <p:nvPr/>
        </p:nvSpPr>
        <p:spPr>
          <a:xfrm>
            <a:off x="7388352" y="3182112"/>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3"/>
          <p:cNvSpPr txBox="1"/>
          <p:nvPr/>
        </p:nvSpPr>
        <p:spPr>
          <a:xfrm>
            <a:off x="7909560" y="3136392"/>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Evidence</a:t>
            </a:r>
            <a:endParaRPr lang="en-US" sz="1500" dirty="0"/>
          </a:p>
        </p:txBody>
      </p:sp>
      <p:sp>
        <p:nvSpPr>
          <p:cNvPr id="17" name="Text 14"/>
          <p:cNvSpPr txBox="1"/>
          <p:nvPr/>
        </p:nvSpPr>
        <p:spPr>
          <a:xfrm>
            <a:off x="7909560" y="3483864"/>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Measured process behaviour</a:t>
            </a:r>
            <a:endParaRPr lang="en-US" sz="1400" dirty="0"/>
          </a:p>
        </p:txBody>
      </p:sp>
      <p:sp>
        <p:nvSpPr>
          <p:cNvPr id="18" name="Shape 15"/>
          <p:cNvSpPr/>
          <p:nvPr/>
        </p:nvSpPr>
        <p:spPr>
          <a:xfrm>
            <a:off x="7388352" y="4261104"/>
            <a:ext cx="384048" cy="384048"/>
          </a:xfrm>
          <a:prstGeom prst="ellipse">
            <a:avLst/>
          </a:prstGeom>
          <a:solidFill>
            <a:srgbClr val="078897"/>
          </a:solidFill>
          <a:ln w="12700">
            <a:solidFill>
              <a:srgbClr val="078897"/>
            </a:solidFill>
            <a:prstDash val="solid"/>
          </a:ln>
        </p:spPr>
        <p:txBody>
          <a:bodyPr/>
          <a:lstStyle/>
          <a:p>
            <a:endParaRPr/>
          </a:p>
        </p:txBody>
      </p:sp>
      <p:sp>
        <p:nvSpPr>
          <p:cNvPr id="19" name="Text 16"/>
          <p:cNvSpPr txBox="1"/>
          <p:nvPr/>
        </p:nvSpPr>
        <p:spPr>
          <a:xfrm>
            <a:off x="7388352" y="4261104"/>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7"/>
          <p:cNvSpPr txBox="1"/>
          <p:nvPr/>
        </p:nvSpPr>
        <p:spPr>
          <a:xfrm>
            <a:off x="7909560" y="4215384"/>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Method</a:t>
            </a:r>
            <a:endParaRPr lang="en-US" sz="1500" dirty="0"/>
          </a:p>
        </p:txBody>
      </p:sp>
      <p:sp>
        <p:nvSpPr>
          <p:cNvPr id="21" name="Text 18"/>
          <p:cNvSpPr txBox="1"/>
          <p:nvPr/>
        </p:nvSpPr>
        <p:spPr>
          <a:xfrm>
            <a:off x="7909560" y="4562856"/>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DMAIC for improving an existing process</a:t>
            </a:r>
            <a:endParaRPr lang="en-US" sz="1400" dirty="0"/>
          </a:p>
        </p:txBody>
      </p:sp>
      <p:sp>
        <p:nvSpPr>
          <p:cNvPr id="22" name="Text 19"/>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75</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DMAIC is the improvement roadmap</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Define · Measure · Analyse · Improve · Control</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14416" y="1947672"/>
            <a:ext cx="950976" cy="950976"/>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5614416" y="1947672"/>
            <a:ext cx="950976" cy="95097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7"/>
          <p:cNvSpPr txBox="1"/>
          <p:nvPr/>
        </p:nvSpPr>
        <p:spPr>
          <a:xfrm>
            <a:off x="5312664" y="2944368"/>
            <a:ext cx="1554480" cy="320040"/>
          </a:xfrm>
          <a:prstGeom prst="rect">
            <a:avLst/>
          </a:prstGeom>
          <a:noFill/>
          <a:ln/>
        </p:spPr>
        <p:txBody>
          <a:bodyPr wrap="square" lIns="0" tIns="0" rIns="0" bIns="0" rtlCol="0" anchor="ctr">
            <a:normAutofit/>
          </a:bodyPr>
          <a:lstStyle/>
          <a:p>
            <a:pPr marL="0" indent="0" algn="ctr">
              <a:buNone/>
            </a:pPr>
            <a:r>
              <a:rPr lang="en-US" sz="1600" b="1" dirty="0">
                <a:solidFill>
                  <a:srgbClr val="078897"/>
                </a:solidFill>
                <a:latin typeface="Aptos" pitchFamily="34" charset="0"/>
                <a:ea typeface="Aptos" pitchFamily="34" charset="-122"/>
                <a:cs typeface="Aptos" pitchFamily="34" charset="-120"/>
              </a:rPr>
              <a:t>Define</a:t>
            </a:r>
            <a:endParaRPr lang="en-US" sz="1600" dirty="0"/>
          </a:p>
        </p:txBody>
      </p:sp>
      <p:sp>
        <p:nvSpPr>
          <p:cNvPr id="10" name="Text 8"/>
          <p:cNvSpPr txBox="1"/>
          <p:nvPr/>
        </p:nvSpPr>
        <p:spPr>
          <a:xfrm>
            <a:off x="5129784" y="3282696"/>
            <a:ext cx="1920240" cy="594360"/>
          </a:xfrm>
          <a:prstGeom prst="rect">
            <a:avLst/>
          </a:prstGeom>
          <a:noFill/>
          <a:ln/>
        </p:spPr>
        <p:txBody>
          <a:bodyPr wrap="square" lIns="0" tIns="0" rIns="0" bIns="0" rtlCol="0" anchor="ctr">
            <a:normAutofit/>
          </a:bodyPr>
          <a:lstStyle/>
          <a:p>
            <a:pPr marL="0" indent="0" algn="ctr">
              <a:buNone/>
            </a:pPr>
            <a:r>
              <a:rPr lang="en-US" sz="1200" dirty="0">
                <a:solidFill>
                  <a:srgbClr val="102B3E"/>
                </a:solidFill>
                <a:latin typeface="Aptos" pitchFamily="34" charset="0"/>
                <a:ea typeface="Aptos" pitchFamily="34" charset="-122"/>
                <a:cs typeface="Aptos" pitchFamily="34" charset="-120"/>
              </a:rPr>
              <a:t>Problem and boundary</a:t>
            </a:r>
            <a:endParaRPr lang="en-US" sz="1200" dirty="0"/>
          </a:p>
        </p:txBody>
      </p:sp>
      <p:sp>
        <p:nvSpPr>
          <p:cNvPr id="11" name="Shape 9"/>
          <p:cNvSpPr/>
          <p:nvPr/>
        </p:nvSpPr>
        <p:spPr>
          <a:xfrm>
            <a:off x="6922984" y="2876724"/>
            <a:ext cx="107494" cy="0"/>
          </a:xfrm>
          <a:prstGeom prst="line">
            <a:avLst/>
          </a:prstGeom>
          <a:noFill/>
          <a:ln w="25400">
            <a:solidFill>
              <a:srgbClr val="C8D9DC"/>
            </a:solidFill>
            <a:prstDash val="solid"/>
            <a:tailEnd type="triangle"/>
          </a:ln>
        </p:spPr>
        <p:txBody>
          <a:bodyPr/>
          <a:lstStyle/>
          <a:p>
            <a:endParaRPr/>
          </a:p>
        </p:txBody>
      </p:sp>
      <p:sp>
        <p:nvSpPr>
          <p:cNvPr id="12" name="Shape 10"/>
          <p:cNvSpPr/>
          <p:nvPr/>
        </p:nvSpPr>
        <p:spPr>
          <a:xfrm>
            <a:off x="7136297" y="3053383"/>
            <a:ext cx="950976" cy="950976"/>
          </a:xfrm>
          <a:prstGeom prst="ellipse">
            <a:avLst/>
          </a:prstGeom>
          <a:solidFill>
            <a:srgbClr val="2477B3"/>
          </a:solidFill>
          <a:ln w="12700">
            <a:solidFill>
              <a:srgbClr val="2477B3"/>
            </a:solidFill>
            <a:prstDash val="solid"/>
          </a:ln>
        </p:spPr>
        <p:txBody>
          <a:bodyPr/>
          <a:lstStyle/>
          <a:p>
            <a:endParaRPr/>
          </a:p>
        </p:txBody>
      </p:sp>
      <p:sp>
        <p:nvSpPr>
          <p:cNvPr id="13" name="Text 11"/>
          <p:cNvSpPr txBox="1"/>
          <p:nvPr/>
        </p:nvSpPr>
        <p:spPr>
          <a:xfrm>
            <a:off x="7136297" y="3053383"/>
            <a:ext cx="950976" cy="95097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4" name="Text 12"/>
          <p:cNvSpPr txBox="1"/>
          <p:nvPr/>
        </p:nvSpPr>
        <p:spPr>
          <a:xfrm>
            <a:off x="6834545" y="4050079"/>
            <a:ext cx="1554480" cy="320040"/>
          </a:xfrm>
          <a:prstGeom prst="rect">
            <a:avLst/>
          </a:prstGeom>
          <a:noFill/>
          <a:ln/>
        </p:spPr>
        <p:txBody>
          <a:bodyPr wrap="square" lIns="0" tIns="0" rIns="0" bIns="0" rtlCol="0" anchor="ctr">
            <a:normAutofit/>
          </a:bodyPr>
          <a:lstStyle/>
          <a:p>
            <a:pPr marL="0" indent="0" algn="ctr">
              <a:buNone/>
            </a:pPr>
            <a:r>
              <a:rPr lang="en-US" sz="1600" b="1" dirty="0">
                <a:solidFill>
                  <a:srgbClr val="2477B3"/>
                </a:solidFill>
                <a:latin typeface="Aptos" pitchFamily="34" charset="0"/>
                <a:ea typeface="Aptos" pitchFamily="34" charset="-122"/>
                <a:cs typeface="Aptos" pitchFamily="34" charset="-120"/>
              </a:rPr>
              <a:t>Measure</a:t>
            </a:r>
            <a:endParaRPr lang="en-US" sz="1600" dirty="0"/>
          </a:p>
        </p:txBody>
      </p:sp>
      <p:sp>
        <p:nvSpPr>
          <p:cNvPr id="15" name="Text 13"/>
          <p:cNvSpPr txBox="1"/>
          <p:nvPr/>
        </p:nvSpPr>
        <p:spPr>
          <a:xfrm>
            <a:off x="6651665" y="4388407"/>
            <a:ext cx="1920240" cy="594360"/>
          </a:xfrm>
          <a:prstGeom prst="rect">
            <a:avLst/>
          </a:prstGeom>
          <a:noFill/>
          <a:ln/>
        </p:spPr>
        <p:txBody>
          <a:bodyPr wrap="square" lIns="0" tIns="0" rIns="0" bIns="0" rtlCol="0" anchor="ctr">
            <a:normAutofit/>
          </a:bodyPr>
          <a:lstStyle/>
          <a:p>
            <a:pPr marL="0" indent="0" algn="ctr">
              <a:buNone/>
            </a:pPr>
            <a:r>
              <a:rPr lang="en-US" sz="1200" dirty="0">
                <a:solidFill>
                  <a:srgbClr val="102B3E"/>
                </a:solidFill>
                <a:latin typeface="Aptos" pitchFamily="34" charset="0"/>
                <a:ea typeface="Aptos" pitchFamily="34" charset="-122"/>
                <a:cs typeface="Aptos" pitchFamily="34" charset="-120"/>
              </a:rPr>
              <a:t>Baseline and metric</a:t>
            </a:r>
            <a:endParaRPr lang="en-US" sz="1200" dirty="0"/>
          </a:p>
        </p:txBody>
      </p:sp>
      <p:sp>
        <p:nvSpPr>
          <p:cNvPr id="16" name="Shape 14"/>
          <p:cNvSpPr/>
          <p:nvPr/>
        </p:nvSpPr>
        <p:spPr>
          <a:xfrm>
            <a:off x="7437855" y="4461336"/>
            <a:ext cx="173929" cy="56513"/>
          </a:xfrm>
          <a:prstGeom prst="line">
            <a:avLst/>
          </a:prstGeom>
          <a:noFill/>
          <a:ln w="25400">
            <a:solidFill>
              <a:srgbClr val="C8D9DC"/>
            </a:solidFill>
            <a:prstDash val="solid"/>
            <a:tailEnd type="triangle"/>
          </a:ln>
        </p:spPr>
        <p:txBody>
          <a:bodyPr/>
          <a:lstStyle/>
          <a:p>
            <a:endParaRPr/>
          </a:p>
        </p:txBody>
      </p:sp>
      <p:sp>
        <p:nvSpPr>
          <p:cNvPr id="17" name="Shape 15"/>
          <p:cNvSpPr/>
          <p:nvPr/>
        </p:nvSpPr>
        <p:spPr>
          <a:xfrm>
            <a:off x="6554990" y="4842461"/>
            <a:ext cx="950976" cy="950976"/>
          </a:xfrm>
          <a:prstGeom prst="ellipse">
            <a:avLst/>
          </a:prstGeom>
          <a:solidFill>
            <a:srgbClr val="F4A62A"/>
          </a:solidFill>
          <a:ln w="12700">
            <a:solidFill>
              <a:srgbClr val="F4A62A"/>
            </a:solidFill>
            <a:prstDash val="solid"/>
          </a:ln>
        </p:spPr>
        <p:txBody>
          <a:bodyPr/>
          <a:lstStyle/>
          <a:p>
            <a:endParaRPr/>
          </a:p>
        </p:txBody>
      </p:sp>
      <p:sp>
        <p:nvSpPr>
          <p:cNvPr id="18" name="Text 16"/>
          <p:cNvSpPr txBox="1"/>
          <p:nvPr/>
        </p:nvSpPr>
        <p:spPr>
          <a:xfrm>
            <a:off x="6554990" y="4842461"/>
            <a:ext cx="950976" cy="95097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19" name="Text 17"/>
          <p:cNvSpPr txBox="1"/>
          <p:nvPr/>
        </p:nvSpPr>
        <p:spPr>
          <a:xfrm>
            <a:off x="6253238" y="5839157"/>
            <a:ext cx="1554480" cy="320040"/>
          </a:xfrm>
          <a:prstGeom prst="rect">
            <a:avLst/>
          </a:prstGeom>
          <a:noFill/>
          <a:ln/>
        </p:spPr>
        <p:txBody>
          <a:bodyPr wrap="square" lIns="0" tIns="0" rIns="0" bIns="0" rtlCol="0" anchor="ctr">
            <a:normAutofit/>
          </a:bodyPr>
          <a:lstStyle/>
          <a:p>
            <a:pPr marL="0" indent="0" algn="ctr">
              <a:buNone/>
            </a:pPr>
            <a:r>
              <a:rPr lang="en-US" sz="1600" b="1" dirty="0">
                <a:solidFill>
                  <a:srgbClr val="F4A62A"/>
                </a:solidFill>
                <a:latin typeface="Aptos" pitchFamily="34" charset="0"/>
                <a:ea typeface="Aptos" pitchFamily="34" charset="-122"/>
                <a:cs typeface="Aptos" pitchFamily="34" charset="-120"/>
              </a:rPr>
              <a:t>Analyse</a:t>
            </a:r>
            <a:endParaRPr lang="en-US" sz="1600" dirty="0"/>
          </a:p>
        </p:txBody>
      </p:sp>
      <p:sp>
        <p:nvSpPr>
          <p:cNvPr id="20" name="Text 18"/>
          <p:cNvSpPr txBox="1"/>
          <p:nvPr/>
        </p:nvSpPr>
        <p:spPr>
          <a:xfrm>
            <a:off x="6070358" y="6177485"/>
            <a:ext cx="1920240" cy="594360"/>
          </a:xfrm>
          <a:prstGeom prst="rect">
            <a:avLst/>
          </a:prstGeom>
          <a:noFill/>
          <a:ln/>
        </p:spPr>
        <p:txBody>
          <a:bodyPr wrap="square" lIns="0" tIns="0" rIns="0" bIns="0" rtlCol="0" anchor="ctr">
            <a:normAutofit/>
          </a:bodyPr>
          <a:lstStyle/>
          <a:p>
            <a:pPr marL="0" indent="0" algn="ctr">
              <a:buNone/>
            </a:pPr>
            <a:r>
              <a:rPr lang="en-US" sz="1200" dirty="0">
                <a:solidFill>
                  <a:srgbClr val="102B3E"/>
                </a:solidFill>
                <a:latin typeface="Aptos" pitchFamily="34" charset="0"/>
                <a:ea typeface="Aptos" pitchFamily="34" charset="-122"/>
                <a:cs typeface="Aptos" pitchFamily="34" charset="-120"/>
              </a:rPr>
              <a:t>Patterns and causes</a:t>
            </a:r>
            <a:endParaRPr lang="en-US" sz="1200" dirty="0"/>
          </a:p>
        </p:txBody>
      </p:sp>
      <p:sp>
        <p:nvSpPr>
          <p:cNvPr id="21" name="Shape 19"/>
          <p:cNvSpPr/>
          <p:nvPr/>
        </p:nvSpPr>
        <p:spPr>
          <a:xfrm>
            <a:off x="6089904" y="5440680"/>
            <a:ext cx="0" cy="182880"/>
          </a:xfrm>
          <a:prstGeom prst="line">
            <a:avLst/>
          </a:prstGeom>
          <a:noFill/>
          <a:ln w="25400">
            <a:solidFill>
              <a:srgbClr val="C8D9DC"/>
            </a:solidFill>
            <a:prstDash val="solid"/>
            <a:tailEnd type="triangle"/>
          </a:ln>
        </p:spPr>
        <p:txBody>
          <a:bodyPr/>
          <a:lstStyle/>
          <a:p>
            <a:endParaRPr/>
          </a:p>
        </p:txBody>
      </p:sp>
      <p:sp>
        <p:nvSpPr>
          <p:cNvPr id="22" name="Shape 20"/>
          <p:cNvSpPr/>
          <p:nvPr/>
        </p:nvSpPr>
        <p:spPr>
          <a:xfrm>
            <a:off x="4673842" y="4842461"/>
            <a:ext cx="950976" cy="950976"/>
          </a:xfrm>
          <a:prstGeom prst="ellipse">
            <a:avLst/>
          </a:prstGeom>
          <a:solidFill>
            <a:srgbClr val="2E8B72"/>
          </a:solidFill>
          <a:ln w="12700">
            <a:solidFill>
              <a:srgbClr val="2E8B72"/>
            </a:solidFill>
            <a:prstDash val="solid"/>
          </a:ln>
        </p:spPr>
        <p:txBody>
          <a:bodyPr/>
          <a:lstStyle/>
          <a:p>
            <a:endParaRPr/>
          </a:p>
        </p:txBody>
      </p:sp>
      <p:sp>
        <p:nvSpPr>
          <p:cNvPr id="23" name="Text 21"/>
          <p:cNvSpPr txBox="1"/>
          <p:nvPr/>
        </p:nvSpPr>
        <p:spPr>
          <a:xfrm>
            <a:off x="4673842" y="4842461"/>
            <a:ext cx="950976" cy="95097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4" name="Text 22"/>
          <p:cNvSpPr txBox="1"/>
          <p:nvPr/>
        </p:nvSpPr>
        <p:spPr>
          <a:xfrm>
            <a:off x="4372090" y="5839157"/>
            <a:ext cx="1554480" cy="320040"/>
          </a:xfrm>
          <a:prstGeom prst="rect">
            <a:avLst/>
          </a:prstGeom>
          <a:noFill/>
          <a:ln/>
        </p:spPr>
        <p:txBody>
          <a:bodyPr wrap="square" lIns="0" tIns="0" rIns="0" bIns="0" rtlCol="0" anchor="ctr">
            <a:normAutofit/>
          </a:bodyPr>
          <a:lstStyle/>
          <a:p>
            <a:pPr marL="0" indent="0" algn="ctr">
              <a:buNone/>
            </a:pPr>
            <a:r>
              <a:rPr lang="en-US" sz="1600" b="1" dirty="0">
                <a:solidFill>
                  <a:srgbClr val="2E8B72"/>
                </a:solidFill>
                <a:latin typeface="Aptos" pitchFamily="34" charset="0"/>
                <a:ea typeface="Aptos" pitchFamily="34" charset="-122"/>
                <a:cs typeface="Aptos" pitchFamily="34" charset="-120"/>
              </a:rPr>
              <a:t>Improve</a:t>
            </a:r>
            <a:endParaRPr lang="en-US" sz="1600" dirty="0"/>
          </a:p>
        </p:txBody>
      </p:sp>
      <p:sp>
        <p:nvSpPr>
          <p:cNvPr id="25" name="Text 23"/>
          <p:cNvSpPr txBox="1"/>
          <p:nvPr/>
        </p:nvSpPr>
        <p:spPr>
          <a:xfrm>
            <a:off x="4189210" y="6177485"/>
            <a:ext cx="1920240" cy="594360"/>
          </a:xfrm>
          <a:prstGeom prst="rect">
            <a:avLst/>
          </a:prstGeom>
          <a:noFill/>
          <a:ln/>
        </p:spPr>
        <p:txBody>
          <a:bodyPr wrap="square" lIns="0" tIns="0" rIns="0" bIns="0" rtlCol="0" anchor="ctr">
            <a:normAutofit/>
          </a:bodyPr>
          <a:lstStyle/>
          <a:p>
            <a:pPr marL="0" indent="0" algn="ctr">
              <a:buNone/>
            </a:pPr>
            <a:r>
              <a:rPr lang="en-US" sz="1200" dirty="0">
                <a:solidFill>
                  <a:srgbClr val="102B3E"/>
                </a:solidFill>
                <a:latin typeface="Aptos" pitchFamily="34" charset="0"/>
                <a:ea typeface="Aptos" pitchFamily="34" charset="-122"/>
                <a:cs typeface="Aptos" pitchFamily="34" charset="-120"/>
              </a:rPr>
              <a:t>Controlled change</a:t>
            </a:r>
            <a:endParaRPr lang="en-US" sz="1200" dirty="0"/>
          </a:p>
        </p:txBody>
      </p:sp>
      <p:sp>
        <p:nvSpPr>
          <p:cNvPr id="26" name="Shape 24"/>
          <p:cNvSpPr/>
          <p:nvPr/>
        </p:nvSpPr>
        <p:spPr>
          <a:xfrm>
            <a:off x="4741953" y="4461336"/>
            <a:ext cx="0" cy="56513"/>
          </a:xfrm>
          <a:prstGeom prst="line">
            <a:avLst/>
          </a:prstGeom>
          <a:noFill/>
          <a:ln w="25400">
            <a:solidFill>
              <a:srgbClr val="C8D9DC"/>
            </a:solidFill>
            <a:prstDash val="solid"/>
            <a:tailEnd type="triangle"/>
          </a:ln>
        </p:spPr>
        <p:txBody>
          <a:bodyPr/>
          <a:lstStyle/>
          <a:p>
            <a:endParaRPr/>
          </a:p>
        </p:txBody>
      </p:sp>
      <p:sp>
        <p:nvSpPr>
          <p:cNvPr id="27" name="Shape 25"/>
          <p:cNvSpPr/>
          <p:nvPr/>
        </p:nvSpPr>
        <p:spPr>
          <a:xfrm>
            <a:off x="4092535" y="3053383"/>
            <a:ext cx="950976" cy="950976"/>
          </a:xfrm>
          <a:prstGeom prst="ellipse">
            <a:avLst/>
          </a:prstGeom>
          <a:solidFill>
            <a:srgbClr val="17A9B8"/>
          </a:solidFill>
          <a:ln w="12700">
            <a:solidFill>
              <a:srgbClr val="17A9B8"/>
            </a:solidFill>
            <a:prstDash val="solid"/>
          </a:ln>
        </p:spPr>
        <p:txBody>
          <a:bodyPr/>
          <a:lstStyle/>
          <a:p>
            <a:endParaRPr/>
          </a:p>
        </p:txBody>
      </p:sp>
      <p:sp>
        <p:nvSpPr>
          <p:cNvPr id="28" name="Text 26"/>
          <p:cNvSpPr txBox="1"/>
          <p:nvPr/>
        </p:nvSpPr>
        <p:spPr>
          <a:xfrm>
            <a:off x="4092535" y="3053383"/>
            <a:ext cx="950976" cy="95097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29" name="Text 27"/>
          <p:cNvSpPr txBox="1"/>
          <p:nvPr/>
        </p:nvSpPr>
        <p:spPr>
          <a:xfrm>
            <a:off x="3790783" y="4050079"/>
            <a:ext cx="1554480" cy="320040"/>
          </a:xfrm>
          <a:prstGeom prst="rect">
            <a:avLst/>
          </a:prstGeom>
          <a:noFill/>
          <a:ln/>
        </p:spPr>
        <p:txBody>
          <a:bodyPr wrap="square" lIns="0" tIns="0" rIns="0" bIns="0" rtlCol="0" anchor="ctr">
            <a:normAutofit/>
          </a:bodyPr>
          <a:lstStyle/>
          <a:p>
            <a:pPr marL="0" indent="0" algn="ctr">
              <a:buNone/>
            </a:pPr>
            <a:r>
              <a:rPr lang="en-US" sz="1600" b="1" dirty="0">
                <a:solidFill>
                  <a:srgbClr val="17A9B8"/>
                </a:solidFill>
                <a:latin typeface="Aptos" pitchFamily="34" charset="0"/>
                <a:ea typeface="Aptos" pitchFamily="34" charset="-122"/>
                <a:cs typeface="Aptos" pitchFamily="34" charset="-120"/>
              </a:rPr>
              <a:t>Control</a:t>
            </a:r>
            <a:endParaRPr lang="en-US" sz="1600" dirty="0"/>
          </a:p>
        </p:txBody>
      </p:sp>
      <p:sp>
        <p:nvSpPr>
          <p:cNvPr id="30" name="Text 28"/>
          <p:cNvSpPr txBox="1"/>
          <p:nvPr/>
        </p:nvSpPr>
        <p:spPr>
          <a:xfrm>
            <a:off x="3607903" y="4388407"/>
            <a:ext cx="1920240" cy="594360"/>
          </a:xfrm>
          <a:prstGeom prst="rect">
            <a:avLst/>
          </a:prstGeom>
          <a:noFill/>
          <a:ln/>
        </p:spPr>
        <p:txBody>
          <a:bodyPr wrap="square" lIns="0" tIns="0" rIns="0" bIns="0" rtlCol="0" anchor="ctr">
            <a:normAutofit/>
          </a:bodyPr>
          <a:lstStyle/>
          <a:p>
            <a:pPr marL="0" indent="0" algn="ctr">
              <a:buNone/>
            </a:pPr>
            <a:r>
              <a:rPr lang="en-US" sz="1200" dirty="0">
                <a:solidFill>
                  <a:srgbClr val="102B3E"/>
                </a:solidFill>
                <a:latin typeface="Aptos" pitchFamily="34" charset="0"/>
                <a:ea typeface="Aptos" pitchFamily="34" charset="-122"/>
                <a:cs typeface="Aptos" pitchFamily="34" charset="-120"/>
              </a:rPr>
              <a:t>Sustain and respond</a:t>
            </a:r>
            <a:endParaRPr lang="en-US" sz="1200" dirty="0"/>
          </a:p>
        </p:txBody>
      </p:sp>
      <p:sp>
        <p:nvSpPr>
          <p:cNvPr id="31" name="Shape 29"/>
          <p:cNvSpPr/>
          <p:nvPr/>
        </p:nvSpPr>
        <p:spPr>
          <a:xfrm>
            <a:off x="5769864" y="3703320"/>
            <a:ext cx="640080" cy="640080"/>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5769864" y="3703320"/>
            <a:ext cx="640080" cy="640080"/>
          </a:xfrm>
          <a:prstGeom prst="rect">
            <a:avLst/>
          </a:prstGeom>
          <a:noFill/>
          <a:ln/>
        </p:spPr>
        <p:txBody>
          <a:bodyPr wrap="square" lIns="0" tIns="0" rIns="0" bIns="0" rtlCol="0" anchor="ctr">
            <a:normAutofit/>
          </a:bodyPr>
          <a:lstStyle/>
          <a:p>
            <a:pPr marL="0" indent="0" algn="ctr">
              <a:buNone/>
            </a:pPr>
            <a:endParaRPr lang="en-US" sz="1800" dirty="0"/>
          </a:p>
        </p:txBody>
      </p:sp>
      <p:sp>
        <p:nvSpPr>
          <p:cNvPr id="33" name="Text 3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4"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76</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Define · make the problem measurable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State what, where, when and impact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Problem</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Delivery-test deviations occur</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Scope</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CW-401 standardised tests</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Metric</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Deviations ÷ opportunities</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Boundary</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No cause claim yet</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77</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Measure · establish a trustworthy baseline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Confirm definitions before calculating</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Data definition</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What counts as a deviation?</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Denominator</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How many opportunities?</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Quality</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Missing, duplicate or invalid rows?</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Baseline</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Which period represents current performance?</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78</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Analyse · separate pattern from cause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tools to generate and test explanations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Pareto</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Which categories dominate?</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Fishbone</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What possible causes exist?</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5-Whys</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What causal chain should be tested?</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Evidence</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Which records or tests can confirm it?</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79</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Pareto · focus on the largest categories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Bars descend; the cumulative line shows contribution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868680" y="5577840"/>
            <a:ext cx="7406640" cy="0"/>
          </a:xfrm>
          <a:prstGeom prst="line">
            <a:avLst/>
          </a:prstGeom>
          <a:noFill/>
          <a:ln w="12700">
            <a:solidFill>
              <a:srgbClr val="536A78"/>
            </a:solidFill>
            <a:prstDash val="solid"/>
          </a:ln>
        </p:spPr>
        <p:txBody>
          <a:bodyPr/>
          <a:lstStyle/>
          <a:p>
            <a:endParaRPr lang="en-US"/>
          </a:p>
        </p:txBody>
      </p:sp>
      <p:sp>
        <p:nvSpPr>
          <p:cNvPr id="8" name="Shape 6"/>
          <p:cNvSpPr/>
          <p:nvPr/>
        </p:nvSpPr>
        <p:spPr>
          <a:xfrm>
            <a:off x="1097280" y="2331720"/>
            <a:ext cx="918423" cy="3246120"/>
          </a:xfrm>
          <a:prstGeom prst="rect">
            <a:avLst/>
          </a:prstGeom>
          <a:solidFill>
            <a:srgbClr val="078897"/>
          </a:solidFill>
          <a:ln w="12700">
            <a:solidFill>
              <a:srgbClr val="FFFFFF"/>
            </a:solidFill>
            <a:prstDash val="solid"/>
          </a:ln>
        </p:spPr>
        <p:txBody>
          <a:bodyPr/>
          <a:lstStyle/>
          <a:p>
            <a:endParaRPr lang="en-US"/>
          </a:p>
        </p:txBody>
      </p:sp>
      <p:sp>
        <p:nvSpPr>
          <p:cNvPr id="9" name="Text 7"/>
          <p:cNvSpPr txBox="1"/>
          <p:nvPr/>
        </p:nvSpPr>
        <p:spPr>
          <a:xfrm>
            <a:off x="1097280" y="2039112"/>
            <a:ext cx="918423" cy="228600"/>
          </a:xfrm>
          <a:prstGeom prst="rect">
            <a:avLst/>
          </a:prstGeom>
          <a:noFill/>
          <a:ln/>
        </p:spPr>
        <p:txBody>
          <a:bodyPr wrap="square" lIns="0" tIns="0" rIns="0" bIns="0" rtlCol="0" anchor="ctr">
            <a:normAutofit/>
          </a:bodyPr>
          <a:lstStyle/>
          <a:p>
            <a:pPr marL="0" indent="0" algn="ctr">
              <a:buNone/>
            </a:pPr>
            <a:r>
              <a:rPr lang="en-US" sz="1200" b="1" dirty="0">
                <a:solidFill>
                  <a:srgbClr val="102B3E"/>
                </a:solidFill>
                <a:latin typeface="Aptos" pitchFamily="34" charset="0"/>
                <a:ea typeface="Aptos" pitchFamily="34" charset="-122"/>
                <a:cs typeface="Aptos" pitchFamily="34" charset="-120"/>
              </a:rPr>
              <a:t>55</a:t>
            </a:r>
            <a:endParaRPr lang="en-US" sz="1200" dirty="0"/>
          </a:p>
        </p:txBody>
      </p:sp>
      <p:sp>
        <p:nvSpPr>
          <p:cNvPr id="10" name="Text 8"/>
          <p:cNvSpPr txBox="1"/>
          <p:nvPr/>
        </p:nvSpPr>
        <p:spPr>
          <a:xfrm>
            <a:off x="987552" y="5687568"/>
            <a:ext cx="1137879" cy="475488"/>
          </a:xfrm>
          <a:prstGeom prst="rect">
            <a:avLst/>
          </a:prstGeom>
          <a:noFill/>
          <a:ln/>
        </p:spPr>
        <p:txBody>
          <a:bodyPr wrap="square" lIns="0" tIns="0" rIns="0" bIns="0" rtlCol="0" anchor="ctr">
            <a:normAutofit/>
          </a:bodyPr>
          <a:lstStyle/>
          <a:p>
            <a:pPr marL="0" indent="0" algn="ctr">
              <a:buNone/>
            </a:pPr>
            <a:r>
              <a:rPr lang="en-US" sz="1100" dirty="0">
                <a:solidFill>
                  <a:srgbClr val="536A78"/>
                </a:solidFill>
                <a:latin typeface="Aptos" pitchFamily="34" charset="0"/>
                <a:ea typeface="Aptos" pitchFamily="34" charset="-122"/>
                <a:cs typeface="Aptos" pitchFamily="34" charset="-120"/>
              </a:rPr>
              <a:t>Low delivery</a:t>
            </a:r>
            <a:endParaRPr lang="en-US" sz="1100" dirty="0"/>
          </a:p>
        </p:txBody>
      </p:sp>
      <p:sp>
        <p:nvSpPr>
          <p:cNvPr id="11" name="Shape 9"/>
          <p:cNvSpPr/>
          <p:nvPr/>
        </p:nvSpPr>
        <p:spPr>
          <a:xfrm>
            <a:off x="2578608" y="4633514"/>
            <a:ext cx="918423" cy="944326"/>
          </a:xfrm>
          <a:prstGeom prst="rect">
            <a:avLst/>
          </a:prstGeom>
          <a:solidFill>
            <a:srgbClr val="078897"/>
          </a:solidFill>
          <a:ln w="12700">
            <a:solidFill>
              <a:srgbClr val="FFFFFF"/>
            </a:solidFill>
            <a:prstDash val="solid"/>
          </a:ln>
        </p:spPr>
        <p:txBody>
          <a:bodyPr/>
          <a:lstStyle/>
          <a:p>
            <a:endParaRPr lang="en-US"/>
          </a:p>
        </p:txBody>
      </p:sp>
      <p:sp>
        <p:nvSpPr>
          <p:cNvPr id="12" name="Text 10"/>
          <p:cNvSpPr txBox="1"/>
          <p:nvPr/>
        </p:nvSpPr>
        <p:spPr>
          <a:xfrm>
            <a:off x="2578608" y="4340906"/>
            <a:ext cx="918423" cy="228600"/>
          </a:xfrm>
          <a:prstGeom prst="rect">
            <a:avLst/>
          </a:prstGeom>
          <a:noFill/>
          <a:ln/>
        </p:spPr>
        <p:txBody>
          <a:bodyPr wrap="square" lIns="0" tIns="0" rIns="0" bIns="0" rtlCol="0" anchor="ctr">
            <a:normAutofit/>
          </a:bodyPr>
          <a:lstStyle/>
          <a:p>
            <a:pPr marL="0" indent="0" algn="ctr">
              <a:buNone/>
            </a:pPr>
            <a:r>
              <a:rPr lang="en-US" sz="1200" b="1" dirty="0">
                <a:solidFill>
                  <a:srgbClr val="102B3E"/>
                </a:solidFill>
                <a:latin typeface="Aptos" pitchFamily="34" charset="0"/>
                <a:ea typeface="Aptos" pitchFamily="34" charset="-122"/>
                <a:cs typeface="Aptos" pitchFamily="34" charset="-120"/>
              </a:rPr>
              <a:t>16</a:t>
            </a:r>
            <a:endParaRPr lang="en-US" sz="1200" dirty="0"/>
          </a:p>
        </p:txBody>
      </p:sp>
      <p:sp>
        <p:nvSpPr>
          <p:cNvPr id="13" name="Text 11"/>
          <p:cNvSpPr txBox="1"/>
          <p:nvPr/>
        </p:nvSpPr>
        <p:spPr>
          <a:xfrm>
            <a:off x="2468880" y="5687568"/>
            <a:ext cx="1137879" cy="475488"/>
          </a:xfrm>
          <a:prstGeom prst="rect">
            <a:avLst/>
          </a:prstGeom>
          <a:noFill/>
          <a:ln/>
        </p:spPr>
        <p:txBody>
          <a:bodyPr wrap="square" lIns="0" tIns="0" rIns="0" bIns="0" rtlCol="0" anchor="ctr">
            <a:normAutofit/>
          </a:bodyPr>
          <a:lstStyle/>
          <a:p>
            <a:pPr marL="0" indent="0" algn="ctr">
              <a:buNone/>
            </a:pPr>
            <a:r>
              <a:rPr lang="en-US" sz="1100" dirty="0">
                <a:solidFill>
                  <a:srgbClr val="536A78"/>
                </a:solidFill>
                <a:latin typeface="Aptos" pitchFamily="34" charset="0"/>
                <a:ea typeface="Aptos" pitchFamily="34" charset="-122"/>
                <a:cs typeface="Aptos" pitchFamily="34" charset="-120"/>
              </a:rPr>
              <a:t>Test validity</a:t>
            </a:r>
            <a:endParaRPr lang="en-US" sz="1100" dirty="0"/>
          </a:p>
        </p:txBody>
      </p:sp>
      <p:sp>
        <p:nvSpPr>
          <p:cNvPr id="14" name="Shape 12"/>
          <p:cNvSpPr/>
          <p:nvPr/>
        </p:nvSpPr>
        <p:spPr>
          <a:xfrm>
            <a:off x="4059936" y="4869596"/>
            <a:ext cx="918423" cy="708244"/>
          </a:xfrm>
          <a:prstGeom prst="rect">
            <a:avLst/>
          </a:prstGeom>
          <a:solidFill>
            <a:srgbClr val="C8D9DC"/>
          </a:solidFill>
          <a:ln w="12700">
            <a:solidFill>
              <a:srgbClr val="FFFFFF"/>
            </a:solidFill>
            <a:prstDash val="solid"/>
          </a:ln>
        </p:spPr>
        <p:txBody>
          <a:bodyPr/>
          <a:lstStyle/>
          <a:p>
            <a:endParaRPr lang="en-US"/>
          </a:p>
        </p:txBody>
      </p:sp>
      <p:sp>
        <p:nvSpPr>
          <p:cNvPr id="15" name="Text 13"/>
          <p:cNvSpPr txBox="1"/>
          <p:nvPr/>
        </p:nvSpPr>
        <p:spPr>
          <a:xfrm>
            <a:off x="4059936" y="4576988"/>
            <a:ext cx="918423" cy="228600"/>
          </a:xfrm>
          <a:prstGeom prst="rect">
            <a:avLst/>
          </a:prstGeom>
          <a:noFill/>
          <a:ln/>
        </p:spPr>
        <p:txBody>
          <a:bodyPr wrap="square" lIns="0" tIns="0" rIns="0" bIns="0" rtlCol="0" anchor="ctr">
            <a:normAutofit/>
          </a:bodyPr>
          <a:lstStyle/>
          <a:p>
            <a:pPr marL="0" indent="0" algn="ctr">
              <a:buNone/>
            </a:pPr>
            <a:r>
              <a:rPr lang="en-US" sz="1200" b="1" dirty="0">
                <a:solidFill>
                  <a:srgbClr val="102B3E"/>
                </a:solidFill>
                <a:latin typeface="Aptos" pitchFamily="34" charset="0"/>
                <a:ea typeface="Aptos" pitchFamily="34" charset="-122"/>
                <a:cs typeface="Aptos" pitchFamily="34" charset="-120"/>
              </a:rPr>
              <a:t>12</a:t>
            </a:r>
            <a:endParaRPr lang="en-US" sz="1200" dirty="0"/>
          </a:p>
        </p:txBody>
      </p:sp>
      <p:sp>
        <p:nvSpPr>
          <p:cNvPr id="16" name="Text 14"/>
          <p:cNvSpPr txBox="1"/>
          <p:nvPr/>
        </p:nvSpPr>
        <p:spPr>
          <a:xfrm>
            <a:off x="3950208" y="5687568"/>
            <a:ext cx="1137879" cy="475488"/>
          </a:xfrm>
          <a:prstGeom prst="rect">
            <a:avLst/>
          </a:prstGeom>
          <a:noFill/>
          <a:ln/>
        </p:spPr>
        <p:txBody>
          <a:bodyPr wrap="square" lIns="0" tIns="0" rIns="0" bIns="0" rtlCol="0" anchor="ctr">
            <a:normAutofit/>
          </a:bodyPr>
          <a:lstStyle/>
          <a:p>
            <a:pPr marL="0" indent="0" algn="ctr">
              <a:buNone/>
            </a:pPr>
            <a:r>
              <a:rPr lang="en-US" sz="1100" dirty="0">
                <a:solidFill>
                  <a:srgbClr val="536A78"/>
                </a:solidFill>
                <a:latin typeface="Aptos" pitchFamily="34" charset="0"/>
                <a:ea typeface="Aptos" pitchFamily="34" charset="-122"/>
                <a:cs typeface="Aptos" pitchFamily="34" charset="-120"/>
              </a:rPr>
              <a:t>No start</a:t>
            </a:r>
            <a:endParaRPr lang="en-US" sz="1100" dirty="0"/>
          </a:p>
        </p:txBody>
      </p:sp>
      <p:sp>
        <p:nvSpPr>
          <p:cNvPr id="17" name="Shape 15"/>
          <p:cNvSpPr/>
          <p:nvPr/>
        </p:nvSpPr>
        <p:spPr>
          <a:xfrm>
            <a:off x="5541264" y="5223718"/>
            <a:ext cx="918423" cy="354122"/>
          </a:xfrm>
          <a:prstGeom prst="rect">
            <a:avLst/>
          </a:prstGeom>
          <a:solidFill>
            <a:srgbClr val="C8D9DC"/>
          </a:solidFill>
          <a:ln w="12700">
            <a:solidFill>
              <a:srgbClr val="FFFFFF"/>
            </a:solidFill>
            <a:prstDash val="solid"/>
          </a:ln>
        </p:spPr>
        <p:txBody>
          <a:bodyPr/>
          <a:lstStyle/>
          <a:p>
            <a:endParaRPr lang="en-US"/>
          </a:p>
        </p:txBody>
      </p:sp>
      <p:sp>
        <p:nvSpPr>
          <p:cNvPr id="18" name="Text 16"/>
          <p:cNvSpPr txBox="1"/>
          <p:nvPr/>
        </p:nvSpPr>
        <p:spPr>
          <a:xfrm>
            <a:off x="5541264" y="4931110"/>
            <a:ext cx="918423" cy="228600"/>
          </a:xfrm>
          <a:prstGeom prst="rect">
            <a:avLst/>
          </a:prstGeom>
          <a:noFill/>
          <a:ln/>
        </p:spPr>
        <p:txBody>
          <a:bodyPr wrap="square" lIns="0" tIns="0" rIns="0" bIns="0" rtlCol="0" anchor="ctr">
            <a:normAutofit/>
          </a:bodyPr>
          <a:lstStyle/>
          <a:p>
            <a:pPr marL="0" indent="0" algn="ctr">
              <a:buNone/>
            </a:pPr>
            <a:r>
              <a:rPr lang="en-US" sz="1200" b="1" dirty="0">
                <a:solidFill>
                  <a:srgbClr val="102B3E"/>
                </a:solidFill>
                <a:latin typeface="Aptos" pitchFamily="34" charset="0"/>
                <a:ea typeface="Aptos" pitchFamily="34" charset="-122"/>
                <a:cs typeface="Aptos" pitchFamily="34" charset="-120"/>
              </a:rPr>
              <a:t>6</a:t>
            </a:r>
            <a:endParaRPr lang="en-US" sz="1200" dirty="0"/>
          </a:p>
        </p:txBody>
      </p:sp>
      <p:sp>
        <p:nvSpPr>
          <p:cNvPr id="19" name="Text 17"/>
          <p:cNvSpPr txBox="1"/>
          <p:nvPr/>
        </p:nvSpPr>
        <p:spPr>
          <a:xfrm>
            <a:off x="5431536" y="5687568"/>
            <a:ext cx="1137879" cy="475488"/>
          </a:xfrm>
          <a:prstGeom prst="rect">
            <a:avLst/>
          </a:prstGeom>
          <a:noFill/>
          <a:ln/>
        </p:spPr>
        <p:txBody>
          <a:bodyPr wrap="square" lIns="0" tIns="0" rIns="0" bIns="0" rtlCol="0" anchor="ctr">
            <a:normAutofit/>
          </a:bodyPr>
          <a:lstStyle/>
          <a:p>
            <a:pPr marL="0" indent="0" algn="ctr">
              <a:buNone/>
            </a:pPr>
            <a:r>
              <a:rPr lang="en-US" sz="1100" dirty="0">
                <a:solidFill>
                  <a:srgbClr val="536A78"/>
                </a:solidFill>
                <a:latin typeface="Aptos" pitchFamily="34" charset="0"/>
                <a:ea typeface="Aptos" pitchFamily="34" charset="-122"/>
                <a:cs typeface="Aptos" pitchFamily="34" charset="-120"/>
              </a:rPr>
              <a:t>Leak</a:t>
            </a:r>
            <a:endParaRPr lang="en-US" sz="1100" dirty="0"/>
          </a:p>
        </p:txBody>
      </p:sp>
      <p:sp>
        <p:nvSpPr>
          <p:cNvPr id="20" name="Shape 18"/>
          <p:cNvSpPr/>
          <p:nvPr/>
        </p:nvSpPr>
        <p:spPr>
          <a:xfrm>
            <a:off x="7022592" y="5341759"/>
            <a:ext cx="918423" cy="236081"/>
          </a:xfrm>
          <a:prstGeom prst="rect">
            <a:avLst/>
          </a:prstGeom>
          <a:solidFill>
            <a:srgbClr val="C8D9DC"/>
          </a:solidFill>
          <a:ln w="12700">
            <a:solidFill>
              <a:srgbClr val="FFFFFF"/>
            </a:solidFill>
            <a:prstDash val="solid"/>
          </a:ln>
        </p:spPr>
        <p:txBody>
          <a:bodyPr/>
          <a:lstStyle/>
          <a:p>
            <a:endParaRPr lang="en-US"/>
          </a:p>
        </p:txBody>
      </p:sp>
      <p:sp>
        <p:nvSpPr>
          <p:cNvPr id="21" name="Text 19"/>
          <p:cNvSpPr txBox="1"/>
          <p:nvPr/>
        </p:nvSpPr>
        <p:spPr>
          <a:xfrm>
            <a:off x="7022592" y="5049151"/>
            <a:ext cx="918423" cy="228600"/>
          </a:xfrm>
          <a:prstGeom prst="rect">
            <a:avLst/>
          </a:prstGeom>
          <a:noFill/>
          <a:ln/>
        </p:spPr>
        <p:txBody>
          <a:bodyPr wrap="square" lIns="0" tIns="0" rIns="0" bIns="0" rtlCol="0" anchor="ctr">
            <a:normAutofit/>
          </a:bodyPr>
          <a:lstStyle/>
          <a:p>
            <a:pPr marL="0" indent="0" algn="ctr">
              <a:buNone/>
            </a:pPr>
            <a:r>
              <a:rPr lang="en-US" sz="1200" b="1" dirty="0">
                <a:solidFill>
                  <a:srgbClr val="102B3E"/>
                </a:solidFill>
                <a:latin typeface="Aptos" pitchFamily="34" charset="0"/>
                <a:ea typeface="Aptos" pitchFamily="34" charset="-122"/>
                <a:cs typeface="Aptos" pitchFamily="34" charset="-120"/>
              </a:rPr>
              <a:t>4</a:t>
            </a:r>
            <a:endParaRPr lang="en-US" sz="1200" dirty="0"/>
          </a:p>
        </p:txBody>
      </p:sp>
      <p:sp>
        <p:nvSpPr>
          <p:cNvPr id="22" name="Text 20"/>
          <p:cNvSpPr txBox="1"/>
          <p:nvPr/>
        </p:nvSpPr>
        <p:spPr>
          <a:xfrm>
            <a:off x="6912864" y="5687568"/>
            <a:ext cx="1137879" cy="475488"/>
          </a:xfrm>
          <a:prstGeom prst="rect">
            <a:avLst/>
          </a:prstGeom>
          <a:noFill/>
          <a:ln/>
        </p:spPr>
        <p:txBody>
          <a:bodyPr wrap="square" lIns="0" tIns="0" rIns="0" bIns="0" rtlCol="0" anchor="ctr">
            <a:normAutofit/>
          </a:bodyPr>
          <a:lstStyle/>
          <a:p>
            <a:pPr marL="0" indent="0" algn="ctr">
              <a:buNone/>
            </a:pPr>
            <a:r>
              <a:rPr lang="en-US" sz="1100" dirty="0">
                <a:solidFill>
                  <a:srgbClr val="536A78"/>
                </a:solidFill>
                <a:latin typeface="Aptos" pitchFamily="34" charset="0"/>
                <a:ea typeface="Aptos" pitchFamily="34" charset="-122"/>
                <a:cs typeface="Aptos" pitchFamily="34" charset="-120"/>
              </a:rPr>
              <a:t>Other</a:t>
            </a:r>
            <a:endParaRPr lang="en-US" sz="1100" dirty="0"/>
          </a:p>
        </p:txBody>
      </p:sp>
      <p:sp>
        <p:nvSpPr>
          <p:cNvPr id="23" name="Shape 21"/>
          <p:cNvSpPr/>
          <p:nvPr/>
        </p:nvSpPr>
        <p:spPr>
          <a:xfrm>
            <a:off x="8823960" y="2331720"/>
            <a:ext cx="2514600" cy="3246120"/>
          </a:xfrm>
          <a:prstGeom prst="roundRect">
            <a:avLst>
              <a:gd name="adj" fmla="val 2909"/>
            </a:avLst>
          </a:prstGeom>
          <a:solidFill>
            <a:srgbClr val="FFF7E8"/>
          </a:solidFill>
          <a:ln w="12700">
            <a:solidFill>
              <a:srgbClr val="F2C572"/>
            </a:solidFill>
            <a:prstDash val="solid"/>
          </a:ln>
        </p:spPr>
        <p:txBody>
          <a:bodyPr/>
          <a:lstStyle/>
          <a:p>
            <a:endParaRPr lang="en-US"/>
          </a:p>
        </p:txBody>
      </p:sp>
      <p:sp>
        <p:nvSpPr>
          <p:cNvPr id="24" name="Text 22"/>
          <p:cNvSpPr txBox="1"/>
          <p:nvPr/>
        </p:nvSpPr>
        <p:spPr>
          <a:xfrm>
            <a:off x="9098280" y="2606040"/>
            <a:ext cx="1965960" cy="365760"/>
          </a:xfrm>
          <a:prstGeom prst="rect">
            <a:avLst/>
          </a:prstGeom>
          <a:noFill/>
          <a:ln/>
        </p:spPr>
        <p:txBody>
          <a:bodyPr wrap="square" lIns="0" tIns="0" rIns="0" bIns="0" rtlCol="0" anchor="ctr">
            <a:normAutofit/>
          </a:bodyPr>
          <a:lstStyle/>
          <a:p>
            <a:pPr marL="0" indent="0" algn="l">
              <a:buNone/>
            </a:pPr>
            <a:r>
              <a:rPr lang="en-US" sz="1800" b="1" dirty="0">
                <a:solidFill>
                  <a:srgbClr val="F4A62A"/>
                </a:solidFill>
                <a:latin typeface="Aptos" pitchFamily="34" charset="0"/>
                <a:ea typeface="Aptos" pitchFamily="34" charset="-122"/>
                <a:cs typeface="Aptos" pitchFamily="34" charset="-120"/>
              </a:rPr>
              <a:t>Read it correctly</a:t>
            </a:r>
            <a:endParaRPr lang="en-US" sz="1800" dirty="0"/>
          </a:p>
        </p:txBody>
      </p:sp>
      <p:sp>
        <p:nvSpPr>
          <p:cNvPr id="25" name="Text 23"/>
          <p:cNvSpPr txBox="1"/>
          <p:nvPr/>
        </p:nvSpPr>
        <p:spPr>
          <a:xfrm>
            <a:off x="9098280" y="3218688"/>
            <a:ext cx="1965960" cy="1645920"/>
          </a:xfrm>
          <a:prstGeom prst="rect">
            <a:avLst/>
          </a:prstGeom>
          <a:noFill/>
          <a:ln/>
        </p:spPr>
        <p:txBody>
          <a:bodyPr wrap="square" lIns="0" tIns="0" rIns="0" bIns="0" rtlCol="0" anchor="t">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Largest bars show where recorded problems concentrate.</a:t>
            </a:r>
            <a:endParaRPr lang="en-US" sz="1500" dirty="0"/>
          </a:p>
          <a:p>
            <a:pPr marL="0" indent="0" algn="l">
              <a:buNone/>
            </a:pPr>
            <a:endParaRPr lang="en-US" sz="1500" dirty="0"/>
          </a:p>
          <a:p>
            <a:pPr marL="0" indent="0" algn="l">
              <a:buNone/>
            </a:pPr>
            <a:r>
              <a:rPr lang="en-US" sz="1500" dirty="0">
                <a:solidFill>
                  <a:srgbClr val="102B3E"/>
                </a:solidFill>
                <a:latin typeface="Aptos" pitchFamily="34" charset="0"/>
                <a:ea typeface="Aptos" pitchFamily="34" charset="-122"/>
                <a:cs typeface="Aptos" pitchFamily="34" charset="-120"/>
              </a:rPr>
              <a:t>They do not prove root cause.</a:t>
            </a:r>
            <a:endParaRPr lang="en-US" sz="1500" dirty="0"/>
          </a:p>
        </p:txBody>
      </p:sp>
      <p:sp>
        <p:nvSpPr>
          <p:cNvPr id="26" name="Text 2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80</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Fishbone · organise possible causes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Explore broadly before choosing what to test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960120" y="4069080"/>
            <a:ext cx="8503920" cy="0"/>
          </a:xfrm>
          <a:prstGeom prst="line">
            <a:avLst/>
          </a:prstGeom>
          <a:noFill/>
          <a:ln w="38100">
            <a:solidFill>
              <a:srgbClr val="102B3E"/>
            </a:solidFill>
            <a:prstDash val="solid"/>
            <a:tailEnd type="triangle"/>
          </a:ln>
        </p:spPr>
        <p:txBody>
          <a:bodyPr/>
          <a:lstStyle/>
          <a:p>
            <a:endParaRPr lang="en-US"/>
          </a:p>
        </p:txBody>
      </p:sp>
      <p:sp>
        <p:nvSpPr>
          <p:cNvPr id="8" name="Shape 6"/>
          <p:cNvSpPr/>
          <p:nvPr/>
        </p:nvSpPr>
        <p:spPr>
          <a:xfrm flipV="1">
            <a:off x="1920240" y="2834640"/>
            <a:ext cx="1143000" cy="1234440"/>
          </a:xfrm>
          <a:prstGeom prst="line">
            <a:avLst/>
          </a:prstGeom>
          <a:noFill/>
          <a:ln w="25400">
            <a:solidFill>
              <a:srgbClr val="078897"/>
            </a:solidFill>
            <a:prstDash val="solid"/>
          </a:ln>
        </p:spPr>
        <p:txBody>
          <a:bodyPr/>
          <a:lstStyle/>
          <a:p>
            <a:endParaRPr lang="en-US"/>
          </a:p>
        </p:txBody>
      </p:sp>
      <p:sp>
        <p:nvSpPr>
          <p:cNvPr id="9" name="Text 7"/>
          <p:cNvSpPr txBox="1"/>
          <p:nvPr/>
        </p:nvSpPr>
        <p:spPr>
          <a:xfrm>
            <a:off x="1783080" y="2212848"/>
            <a:ext cx="1645920" cy="29260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Machine</a:t>
            </a:r>
            <a:endParaRPr lang="en-US" sz="1500" dirty="0"/>
          </a:p>
        </p:txBody>
      </p:sp>
      <p:sp>
        <p:nvSpPr>
          <p:cNvPr id="10" name="Text 8"/>
          <p:cNvSpPr txBox="1"/>
          <p:nvPr/>
        </p:nvSpPr>
        <p:spPr>
          <a:xfrm>
            <a:off x="1810512" y="2560320"/>
            <a:ext cx="1600200" cy="566928"/>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Pump wear</a:t>
            </a:r>
            <a:endParaRPr lang="en-US" sz="1300" dirty="0"/>
          </a:p>
          <a:p>
            <a:pPr marL="0" indent="0" algn="ctr">
              <a:buNone/>
            </a:pPr>
            <a:r>
              <a:rPr lang="en-US" sz="1300" dirty="0">
                <a:solidFill>
                  <a:srgbClr val="102B3E"/>
                </a:solidFill>
                <a:latin typeface="Aptos" pitchFamily="34" charset="0"/>
                <a:ea typeface="Aptos" pitchFamily="34" charset="-122"/>
                <a:cs typeface="Aptos" pitchFamily="34" charset="-120"/>
              </a:rPr>
              <a:t>Valve position</a:t>
            </a:r>
            <a:endParaRPr lang="en-US" sz="1300" dirty="0"/>
          </a:p>
        </p:txBody>
      </p:sp>
      <p:sp>
        <p:nvSpPr>
          <p:cNvPr id="11" name="Shape 9"/>
          <p:cNvSpPr/>
          <p:nvPr/>
        </p:nvSpPr>
        <p:spPr>
          <a:xfrm flipV="1">
            <a:off x="4206240" y="2834640"/>
            <a:ext cx="1143000" cy="1234440"/>
          </a:xfrm>
          <a:prstGeom prst="line">
            <a:avLst/>
          </a:prstGeom>
          <a:noFill/>
          <a:ln w="25400">
            <a:solidFill>
              <a:srgbClr val="078897"/>
            </a:solidFill>
            <a:prstDash val="solid"/>
          </a:ln>
        </p:spPr>
        <p:txBody>
          <a:bodyPr/>
          <a:lstStyle/>
          <a:p>
            <a:endParaRPr lang="en-US"/>
          </a:p>
        </p:txBody>
      </p:sp>
      <p:sp>
        <p:nvSpPr>
          <p:cNvPr id="12" name="Text 10"/>
          <p:cNvSpPr txBox="1"/>
          <p:nvPr/>
        </p:nvSpPr>
        <p:spPr>
          <a:xfrm>
            <a:off x="4069080" y="2212848"/>
            <a:ext cx="1645920" cy="29260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Method</a:t>
            </a:r>
            <a:endParaRPr lang="en-US" sz="1500" dirty="0"/>
          </a:p>
        </p:txBody>
      </p:sp>
      <p:sp>
        <p:nvSpPr>
          <p:cNvPr id="13" name="Text 11"/>
          <p:cNvSpPr txBox="1"/>
          <p:nvPr/>
        </p:nvSpPr>
        <p:spPr>
          <a:xfrm>
            <a:off x="4096512" y="2560320"/>
            <a:ext cx="1600200" cy="566928"/>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Test setup</a:t>
            </a:r>
            <a:endParaRPr lang="en-US" sz="1300" dirty="0"/>
          </a:p>
          <a:p>
            <a:pPr marL="0" indent="0" algn="ctr">
              <a:buNone/>
            </a:pPr>
            <a:r>
              <a:rPr lang="en-US" sz="1300" dirty="0">
                <a:solidFill>
                  <a:srgbClr val="102B3E"/>
                </a:solidFill>
                <a:latin typeface="Aptos" pitchFamily="34" charset="0"/>
                <a:ea typeface="Aptos" pitchFamily="34" charset="-122"/>
                <a:cs typeface="Aptos" pitchFamily="34" charset="-120"/>
              </a:rPr>
              <a:t>Sequence</a:t>
            </a:r>
            <a:endParaRPr lang="en-US" sz="1300" dirty="0"/>
          </a:p>
        </p:txBody>
      </p:sp>
      <p:sp>
        <p:nvSpPr>
          <p:cNvPr id="14" name="Shape 12"/>
          <p:cNvSpPr/>
          <p:nvPr/>
        </p:nvSpPr>
        <p:spPr>
          <a:xfrm flipV="1">
            <a:off x="6492240" y="2834640"/>
            <a:ext cx="1143000" cy="1234440"/>
          </a:xfrm>
          <a:prstGeom prst="line">
            <a:avLst/>
          </a:prstGeom>
          <a:noFill/>
          <a:ln w="25400">
            <a:solidFill>
              <a:srgbClr val="078897"/>
            </a:solidFill>
            <a:prstDash val="solid"/>
          </a:ln>
        </p:spPr>
        <p:txBody>
          <a:bodyPr/>
          <a:lstStyle/>
          <a:p>
            <a:endParaRPr lang="en-US"/>
          </a:p>
        </p:txBody>
      </p:sp>
      <p:sp>
        <p:nvSpPr>
          <p:cNvPr id="15" name="Text 13"/>
          <p:cNvSpPr txBox="1"/>
          <p:nvPr/>
        </p:nvSpPr>
        <p:spPr>
          <a:xfrm>
            <a:off x="6355080" y="2212848"/>
            <a:ext cx="1645920" cy="29260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Measurement</a:t>
            </a:r>
            <a:endParaRPr lang="en-US" sz="1500" dirty="0"/>
          </a:p>
        </p:txBody>
      </p:sp>
      <p:sp>
        <p:nvSpPr>
          <p:cNvPr id="16" name="Text 14"/>
          <p:cNvSpPr txBox="1"/>
          <p:nvPr/>
        </p:nvSpPr>
        <p:spPr>
          <a:xfrm>
            <a:off x="6382512" y="2560320"/>
            <a:ext cx="1600200" cy="566928"/>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Calibration</a:t>
            </a:r>
            <a:endParaRPr lang="en-US" sz="1300" dirty="0"/>
          </a:p>
          <a:p>
            <a:pPr marL="0" indent="0" algn="ctr">
              <a:buNone/>
            </a:pPr>
            <a:r>
              <a:rPr lang="en-US" sz="1300" dirty="0">
                <a:solidFill>
                  <a:srgbClr val="102B3E"/>
                </a:solidFill>
                <a:latin typeface="Aptos" pitchFamily="34" charset="0"/>
                <a:ea typeface="Aptos" pitchFamily="34" charset="-122"/>
                <a:cs typeface="Aptos" pitchFamily="34" charset="-120"/>
              </a:rPr>
              <a:t>Timing</a:t>
            </a:r>
            <a:endParaRPr lang="en-US" sz="1300" dirty="0"/>
          </a:p>
        </p:txBody>
      </p:sp>
      <p:sp>
        <p:nvSpPr>
          <p:cNvPr id="17" name="Shape 15"/>
          <p:cNvSpPr/>
          <p:nvPr/>
        </p:nvSpPr>
        <p:spPr>
          <a:xfrm>
            <a:off x="1920240" y="4069080"/>
            <a:ext cx="1143000" cy="1234440"/>
          </a:xfrm>
          <a:prstGeom prst="line">
            <a:avLst/>
          </a:prstGeom>
          <a:noFill/>
          <a:ln w="25400">
            <a:solidFill>
              <a:srgbClr val="078897"/>
            </a:solidFill>
            <a:prstDash val="solid"/>
          </a:ln>
        </p:spPr>
        <p:txBody>
          <a:bodyPr/>
          <a:lstStyle/>
          <a:p>
            <a:endParaRPr lang="en-US"/>
          </a:p>
        </p:txBody>
      </p:sp>
      <p:sp>
        <p:nvSpPr>
          <p:cNvPr id="18" name="Text 16"/>
          <p:cNvSpPr txBox="1"/>
          <p:nvPr/>
        </p:nvSpPr>
        <p:spPr>
          <a:xfrm>
            <a:off x="1783080" y="5157216"/>
            <a:ext cx="1645920" cy="29260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People</a:t>
            </a:r>
            <a:endParaRPr lang="en-US" sz="1500" dirty="0"/>
          </a:p>
        </p:txBody>
      </p:sp>
      <p:sp>
        <p:nvSpPr>
          <p:cNvPr id="19" name="Text 17"/>
          <p:cNvSpPr txBox="1"/>
          <p:nvPr/>
        </p:nvSpPr>
        <p:spPr>
          <a:xfrm>
            <a:off x="1810512" y="5468112"/>
            <a:ext cx="1600200" cy="566928"/>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Training</a:t>
            </a:r>
            <a:endParaRPr lang="en-US" sz="1300" dirty="0"/>
          </a:p>
          <a:p>
            <a:pPr marL="0" indent="0" algn="ctr">
              <a:buNone/>
            </a:pPr>
            <a:r>
              <a:rPr lang="en-US" sz="1300" dirty="0">
                <a:solidFill>
                  <a:srgbClr val="102B3E"/>
                </a:solidFill>
                <a:latin typeface="Aptos" pitchFamily="34" charset="0"/>
                <a:ea typeface="Aptos" pitchFamily="34" charset="-122"/>
                <a:cs typeface="Aptos" pitchFamily="34" charset="-120"/>
              </a:rPr>
              <a:t>Handover</a:t>
            </a:r>
            <a:endParaRPr lang="en-US" sz="1300" dirty="0"/>
          </a:p>
        </p:txBody>
      </p:sp>
      <p:sp>
        <p:nvSpPr>
          <p:cNvPr id="20" name="Shape 18"/>
          <p:cNvSpPr/>
          <p:nvPr/>
        </p:nvSpPr>
        <p:spPr>
          <a:xfrm>
            <a:off x="4206240" y="4069080"/>
            <a:ext cx="1143000" cy="1234440"/>
          </a:xfrm>
          <a:prstGeom prst="line">
            <a:avLst/>
          </a:prstGeom>
          <a:noFill/>
          <a:ln w="25400">
            <a:solidFill>
              <a:srgbClr val="078897"/>
            </a:solidFill>
            <a:prstDash val="solid"/>
          </a:ln>
        </p:spPr>
        <p:txBody>
          <a:bodyPr/>
          <a:lstStyle/>
          <a:p>
            <a:endParaRPr lang="en-US"/>
          </a:p>
        </p:txBody>
      </p:sp>
      <p:sp>
        <p:nvSpPr>
          <p:cNvPr id="21" name="Text 19"/>
          <p:cNvSpPr txBox="1"/>
          <p:nvPr/>
        </p:nvSpPr>
        <p:spPr>
          <a:xfrm>
            <a:off x="4069080" y="5157216"/>
            <a:ext cx="1645920" cy="29260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Material</a:t>
            </a:r>
            <a:endParaRPr lang="en-US" sz="1500" dirty="0"/>
          </a:p>
        </p:txBody>
      </p:sp>
      <p:sp>
        <p:nvSpPr>
          <p:cNvPr id="22" name="Text 20"/>
          <p:cNvSpPr txBox="1"/>
          <p:nvPr/>
        </p:nvSpPr>
        <p:spPr>
          <a:xfrm>
            <a:off x="4096512" y="5468112"/>
            <a:ext cx="1600200" cy="566928"/>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Fluid condition</a:t>
            </a:r>
            <a:endParaRPr lang="en-US" sz="1300" dirty="0"/>
          </a:p>
          <a:p>
            <a:pPr marL="0" indent="0" algn="ctr">
              <a:buNone/>
            </a:pPr>
            <a:r>
              <a:rPr lang="en-US" sz="1300" dirty="0">
                <a:solidFill>
                  <a:srgbClr val="102B3E"/>
                </a:solidFill>
                <a:latin typeface="Aptos" pitchFamily="34" charset="0"/>
                <a:ea typeface="Aptos" pitchFamily="34" charset="-122"/>
                <a:cs typeface="Aptos" pitchFamily="34" charset="-120"/>
              </a:rPr>
              <a:t>Contamination</a:t>
            </a:r>
            <a:endParaRPr lang="en-US" sz="1300" dirty="0"/>
          </a:p>
        </p:txBody>
      </p:sp>
      <p:sp>
        <p:nvSpPr>
          <p:cNvPr id="23" name="Shape 21"/>
          <p:cNvSpPr/>
          <p:nvPr/>
        </p:nvSpPr>
        <p:spPr>
          <a:xfrm>
            <a:off x="6492240" y="4069080"/>
            <a:ext cx="1143000" cy="1234440"/>
          </a:xfrm>
          <a:prstGeom prst="line">
            <a:avLst/>
          </a:prstGeom>
          <a:noFill/>
          <a:ln w="25400">
            <a:solidFill>
              <a:srgbClr val="078897"/>
            </a:solidFill>
            <a:prstDash val="solid"/>
          </a:ln>
        </p:spPr>
        <p:txBody>
          <a:bodyPr/>
          <a:lstStyle/>
          <a:p>
            <a:endParaRPr lang="en-US"/>
          </a:p>
        </p:txBody>
      </p:sp>
      <p:sp>
        <p:nvSpPr>
          <p:cNvPr id="24" name="Text 22"/>
          <p:cNvSpPr txBox="1"/>
          <p:nvPr/>
        </p:nvSpPr>
        <p:spPr>
          <a:xfrm>
            <a:off x="6355080" y="5157216"/>
            <a:ext cx="1645920" cy="29260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Environment</a:t>
            </a:r>
            <a:endParaRPr lang="en-US" sz="1500" dirty="0"/>
          </a:p>
        </p:txBody>
      </p:sp>
      <p:sp>
        <p:nvSpPr>
          <p:cNvPr id="25" name="Text 23"/>
          <p:cNvSpPr txBox="1"/>
          <p:nvPr/>
        </p:nvSpPr>
        <p:spPr>
          <a:xfrm>
            <a:off x="6382512" y="5468112"/>
            <a:ext cx="1600200" cy="566928"/>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Temperature</a:t>
            </a:r>
            <a:endParaRPr lang="en-US" sz="1300" dirty="0"/>
          </a:p>
          <a:p>
            <a:pPr marL="0" indent="0" algn="ctr">
              <a:buNone/>
            </a:pPr>
            <a:r>
              <a:rPr lang="en-US" sz="1300" dirty="0">
                <a:solidFill>
                  <a:srgbClr val="102B3E"/>
                </a:solidFill>
                <a:latin typeface="Aptos" pitchFamily="34" charset="0"/>
                <a:ea typeface="Aptos" pitchFamily="34" charset="-122"/>
                <a:cs typeface="Aptos" pitchFamily="34" charset="-120"/>
              </a:rPr>
              <a:t>Supply</a:t>
            </a:r>
            <a:endParaRPr lang="en-US" sz="1300" dirty="0"/>
          </a:p>
        </p:txBody>
      </p:sp>
      <p:sp>
        <p:nvSpPr>
          <p:cNvPr id="26" name="Shape 24"/>
          <p:cNvSpPr/>
          <p:nvPr/>
        </p:nvSpPr>
        <p:spPr>
          <a:xfrm>
            <a:off x="9464040" y="3401568"/>
            <a:ext cx="1828800" cy="1325880"/>
          </a:xfrm>
          <a:prstGeom prst="roundRect">
            <a:avLst>
              <a:gd name="adj" fmla="val 5517"/>
            </a:avLst>
          </a:prstGeom>
          <a:solidFill>
            <a:srgbClr val="FFF7E8"/>
          </a:solidFill>
          <a:ln w="12700">
            <a:solidFill>
              <a:srgbClr val="F2C572"/>
            </a:solidFill>
            <a:prstDash val="solid"/>
          </a:ln>
        </p:spPr>
        <p:txBody>
          <a:bodyPr/>
          <a:lstStyle/>
          <a:p>
            <a:endParaRPr lang="en-US"/>
          </a:p>
        </p:txBody>
      </p:sp>
      <p:sp>
        <p:nvSpPr>
          <p:cNvPr id="27" name="Text 25"/>
          <p:cNvSpPr txBox="1"/>
          <p:nvPr/>
        </p:nvSpPr>
        <p:spPr>
          <a:xfrm>
            <a:off x="9674352" y="3675888"/>
            <a:ext cx="1417320" cy="713232"/>
          </a:xfrm>
          <a:prstGeom prst="rect">
            <a:avLst/>
          </a:prstGeom>
          <a:noFill/>
          <a:ln/>
        </p:spPr>
        <p:txBody>
          <a:bodyPr wrap="square" lIns="0" tIns="0" rIns="0" bIns="0" rtlCol="0" anchor="ctr">
            <a:normAutofit/>
          </a:bodyPr>
          <a:lstStyle/>
          <a:p>
            <a:pPr marL="0" indent="0" algn="ctr">
              <a:buNone/>
            </a:pPr>
            <a:r>
              <a:rPr lang="en-US" sz="1800" b="1" dirty="0">
                <a:solidFill>
                  <a:srgbClr val="F4A62A"/>
                </a:solidFill>
                <a:latin typeface="Aptos" pitchFamily="34" charset="0"/>
                <a:ea typeface="Aptos" pitchFamily="34" charset="-122"/>
                <a:cs typeface="Aptos" pitchFamily="34" charset="-120"/>
              </a:rPr>
              <a:t>Low delivery</a:t>
            </a:r>
            <a:endParaRPr lang="en-US" sz="1800" dirty="0"/>
          </a:p>
        </p:txBody>
      </p:sp>
      <p:sp>
        <p:nvSpPr>
          <p:cNvPr id="28" name="Text 26"/>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9"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81</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5-Whys · build a testable causal chain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Stop when evidence is missing</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Symptom</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Low delivery</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Why 1</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Reduced outlet flow?</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Why 2</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Possible restriction?</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Why 3</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Possible filter loading?</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Test</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Inspect and compare differential pressure</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82</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Improve · test a controlled change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Select an action that addresses supported causes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Select</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Evidence-supported option</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Plan</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Owner, timing and risk</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Pilot</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Small controlled test</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Measure</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Use the same metric</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Decide</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Adopt, revise or stop</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83</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Control · sustain the gain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Turn the result into a monitoring and response plan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Metric</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Deviation rate</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Frequency</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Weekly</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Owner</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Process engineer</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Trigger</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Agreed rise or signal</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Response</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Investigate and document</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84</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Worked DMAIC comparison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Rates make unequal periods comparable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331720"/>
            <a:ext cx="2592324" cy="3337560"/>
          </a:xfrm>
          <a:prstGeom prst="roundRect">
            <a:avLst>
              <a:gd name="adj" fmla="val 2822"/>
            </a:avLst>
          </a:prstGeom>
          <a:solidFill>
            <a:srgbClr val="FFFFFF"/>
          </a:solidFill>
          <a:ln w="12700">
            <a:solidFill>
              <a:srgbClr val="C8D9DC"/>
            </a:solidFill>
            <a:prstDash val="solid"/>
          </a:ln>
        </p:spPr>
        <p:txBody>
          <a:bodyPr/>
          <a:lstStyle/>
          <a:p>
            <a:endParaRPr lang="en-US"/>
          </a:p>
        </p:txBody>
      </p:sp>
      <p:sp>
        <p:nvSpPr>
          <p:cNvPr id="8" name="Text 6"/>
          <p:cNvSpPr txBox="1"/>
          <p:nvPr/>
        </p:nvSpPr>
        <p:spPr>
          <a:xfrm>
            <a:off x="749808"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Baseline</a:t>
            </a:r>
            <a:endParaRPr lang="en-US" sz="1800" dirty="0"/>
          </a:p>
        </p:txBody>
      </p:sp>
      <p:sp>
        <p:nvSpPr>
          <p:cNvPr id="9" name="Text 7"/>
          <p:cNvSpPr txBox="1"/>
          <p:nvPr/>
        </p:nvSpPr>
        <p:spPr>
          <a:xfrm>
            <a:off x="749808"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36 ÷ 400 = 9.0%</a:t>
            </a:r>
            <a:endParaRPr lang="en-US" sz="2100" dirty="0"/>
          </a:p>
        </p:txBody>
      </p:sp>
      <p:sp>
        <p:nvSpPr>
          <p:cNvPr id="10" name="Shape 8"/>
          <p:cNvSpPr/>
          <p:nvPr/>
        </p:nvSpPr>
        <p:spPr>
          <a:xfrm>
            <a:off x="3360420" y="2331720"/>
            <a:ext cx="2592324" cy="3337560"/>
          </a:xfrm>
          <a:prstGeom prst="roundRect">
            <a:avLst>
              <a:gd name="adj" fmla="val 2822"/>
            </a:avLst>
          </a:prstGeom>
          <a:solidFill>
            <a:srgbClr val="FFFFFF"/>
          </a:solidFill>
          <a:ln w="12700">
            <a:solidFill>
              <a:srgbClr val="C8D9DC"/>
            </a:solidFill>
            <a:prstDash val="solid"/>
          </a:ln>
        </p:spPr>
        <p:txBody>
          <a:bodyPr/>
          <a:lstStyle/>
          <a:p>
            <a:endParaRPr lang="en-US"/>
          </a:p>
        </p:txBody>
      </p:sp>
      <p:sp>
        <p:nvSpPr>
          <p:cNvPr id="11" name="Text 9"/>
          <p:cNvSpPr txBox="1"/>
          <p:nvPr/>
        </p:nvSpPr>
        <p:spPr>
          <a:xfrm>
            <a:off x="3543300"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Pilot</a:t>
            </a:r>
            <a:endParaRPr lang="en-US" sz="1800" dirty="0"/>
          </a:p>
        </p:txBody>
      </p:sp>
      <p:sp>
        <p:nvSpPr>
          <p:cNvPr id="12" name="Text 10"/>
          <p:cNvSpPr txBox="1"/>
          <p:nvPr/>
        </p:nvSpPr>
        <p:spPr>
          <a:xfrm>
            <a:off x="3543300"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7 ÷ 200 = 3.5%</a:t>
            </a:r>
            <a:endParaRPr lang="en-US" sz="2100" dirty="0"/>
          </a:p>
        </p:txBody>
      </p:sp>
      <p:sp>
        <p:nvSpPr>
          <p:cNvPr id="13" name="Shape 11"/>
          <p:cNvSpPr/>
          <p:nvPr/>
        </p:nvSpPr>
        <p:spPr>
          <a:xfrm>
            <a:off x="6153912" y="2331720"/>
            <a:ext cx="2592324" cy="3337560"/>
          </a:xfrm>
          <a:prstGeom prst="roundRect">
            <a:avLst>
              <a:gd name="adj" fmla="val 2822"/>
            </a:avLst>
          </a:prstGeom>
          <a:solidFill>
            <a:srgbClr val="FFFFFF"/>
          </a:solidFill>
          <a:ln w="12700">
            <a:solidFill>
              <a:srgbClr val="C8D9DC"/>
            </a:solidFill>
            <a:prstDash val="solid"/>
          </a:ln>
        </p:spPr>
        <p:txBody>
          <a:bodyPr/>
          <a:lstStyle/>
          <a:p>
            <a:endParaRPr lang="en-US"/>
          </a:p>
        </p:txBody>
      </p:sp>
      <p:sp>
        <p:nvSpPr>
          <p:cNvPr id="14" name="Text 12"/>
          <p:cNvSpPr txBox="1"/>
          <p:nvPr/>
        </p:nvSpPr>
        <p:spPr>
          <a:xfrm>
            <a:off x="6336792"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Change</a:t>
            </a:r>
            <a:endParaRPr lang="en-US" sz="1800" dirty="0"/>
          </a:p>
        </p:txBody>
      </p:sp>
      <p:sp>
        <p:nvSpPr>
          <p:cNvPr id="15" name="Text 13"/>
          <p:cNvSpPr txBox="1"/>
          <p:nvPr/>
        </p:nvSpPr>
        <p:spPr>
          <a:xfrm>
            <a:off x="6336792"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−5.5 percentage points</a:t>
            </a:r>
            <a:endParaRPr lang="en-US" sz="2100" dirty="0"/>
          </a:p>
        </p:txBody>
      </p:sp>
      <p:sp>
        <p:nvSpPr>
          <p:cNvPr id="16" name="Shape 14"/>
          <p:cNvSpPr/>
          <p:nvPr/>
        </p:nvSpPr>
        <p:spPr>
          <a:xfrm>
            <a:off x="8947404" y="2331720"/>
            <a:ext cx="2592324" cy="3337560"/>
          </a:xfrm>
          <a:prstGeom prst="roundRect">
            <a:avLst>
              <a:gd name="adj" fmla="val 2822"/>
            </a:avLst>
          </a:prstGeom>
          <a:solidFill>
            <a:srgbClr val="E2EEF0"/>
          </a:solidFill>
          <a:ln w="12700">
            <a:solidFill>
              <a:srgbClr val="C8D9DC"/>
            </a:solidFill>
            <a:prstDash val="solid"/>
          </a:ln>
        </p:spPr>
        <p:txBody>
          <a:bodyPr/>
          <a:lstStyle/>
          <a:p>
            <a:endParaRPr lang="en-US"/>
          </a:p>
        </p:txBody>
      </p:sp>
      <p:sp>
        <p:nvSpPr>
          <p:cNvPr id="17" name="Text 15"/>
          <p:cNvSpPr txBox="1"/>
          <p:nvPr/>
        </p:nvSpPr>
        <p:spPr>
          <a:xfrm>
            <a:off x="9130284"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Boundary</a:t>
            </a:r>
            <a:endParaRPr lang="en-US" sz="1800" dirty="0"/>
          </a:p>
        </p:txBody>
      </p:sp>
      <p:sp>
        <p:nvSpPr>
          <p:cNvPr id="18" name="Text 16"/>
          <p:cNvSpPr txBox="1"/>
          <p:nvPr/>
        </p:nvSpPr>
        <p:spPr>
          <a:xfrm>
            <a:off x="9130284"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102B3E"/>
                </a:solidFill>
                <a:latin typeface="Aptos" pitchFamily="34" charset="0"/>
                <a:ea typeface="Aptos" pitchFamily="34" charset="-122"/>
                <a:cs typeface="Aptos" pitchFamily="34" charset="-120"/>
              </a:rPr>
              <a:t>Short pilot does not prove cause</a:t>
            </a:r>
            <a:endParaRPr lang="en-US" sz="2100" dirty="0"/>
          </a:p>
        </p:txBody>
      </p:sp>
      <p:sp>
        <p:nvSpPr>
          <p:cNvPr id="19" name="Text 17"/>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85</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How Copilot improves DMAIC productivity</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Draft phase summaries while preserving evidence gaps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5358384"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Copilot helps</a:t>
            </a:r>
            <a:endParaRPr lang="en-US" sz="2100" dirty="0"/>
          </a:p>
        </p:txBody>
      </p:sp>
      <p:sp>
        <p:nvSpPr>
          <p:cNvPr id="10" name="Text 8"/>
          <p:cNvSpPr txBox="1"/>
          <p:nvPr/>
        </p:nvSpPr>
        <p:spPr>
          <a:xfrm>
            <a:off x="859536"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Profile data, calculate rates, suggest charts and draft five phases.</a:t>
            </a:r>
            <a:endParaRPr lang="en-US" sz="1700" dirty="0"/>
          </a:p>
        </p:txBody>
      </p:sp>
      <p:sp>
        <p:nvSpPr>
          <p:cNvPr id="11" name="Shape 9"/>
          <p:cNvSpPr/>
          <p:nvPr/>
        </p:nvSpPr>
        <p:spPr>
          <a:xfrm>
            <a:off x="6181344"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6181344" y="2057400"/>
            <a:ext cx="5358384"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6437376"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Engineer verifies</a:t>
            </a:r>
            <a:endParaRPr lang="en-US" sz="2100" dirty="0"/>
          </a:p>
        </p:txBody>
      </p:sp>
      <p:sp>
        <p:nvSpPr>
          <p:cNvPr id="14" name="Text 12"/>
          <p:cNvSpPr txBox="1"/>
          <p:nvPr/>
        </p:nvSpPr>
        <p:spPr>
          <a:xfrm>
            <a:off x="6473952"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Metric definition, cause evidence, test design and control ownership.</a:t>
            </a:r>
            <a:endParaRPr lang="en-US" sz="1700" dirty="0"/>
          </a:p>
        </p:txBody>
      </p:sp>
      <p:sp>
        <p:nvSpPr>
          <p:cNvPr id="15" name="Text 1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86</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DMAIC prompt · facts before hypotheses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Request five phases and an explicit limitation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Act as a Six Sigma project assistant. Use only WeeklyData. Calculate Baseline and Pilot deviation rates. Create a five-row Define, Measure, Analyse, Improve, Control summary. Separate facts from hypotheses, show formulas, and state that the short pilot does not prove cause.</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Input</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WeeklyData · 6 rows</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Output</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Two rates + five-row DMAIC</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Check</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9.0% and 3.5%</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87</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3.2 · DMAIC improvement report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30 minutes · phase rates, Pareto evidence and a five-phase summary</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2743200" cy="4069080"/>
          </a:xfrm>
          <a:prstGeom prst="roundRect">
            <a:avLst/>
          </a:prstGeom>
          <a:solidFill>
            <a:srgbClr val="102B3E"/>
          </a:solidFill>
          <a:ln w="12700">
            <a:solidFill>
              <a:srgbClr val="102B3E"/>
            </a:solidFill>
            <a:prstDash val="solid"/>
          </a:ln>
        </p:spPr>
        <p:txBody>
          <a:bodyPr/>
          <a:lstStyle/>
          <a:p>
            <a:endParaRPr/>
          </a:p>
        </p:txBody>
      </p:sp>
      <p:sp>
        <p:nvSpPr>
          <p:cNvPr id="8" name="Text 6"/>
          <p:cNvSpPr txBox="1"/>
          <p:nvPr/>
        </p:nvSpPr>
        <p:spPr>
          <a:xfrm>
            <a:off x="868680" y="2395728"/>
            <a:ext cx="2148840" cy="548640"/>
          </a:xfrm>
          <a:prstGeom prst="rect">
            <a:avLst/>
          </a:prstGeom>
          <a:noFill/>
          <a:ln/>
        </p:spPr>
        <p:txBody>
          <a:bodyPr wrap="square" lIns="0" tIns="0" rIns="0" bIns="0" rtlCol="0" anchor="ctr">
            <a:normAutofit/>
          </a:bodyPr>
          <a:lstStyle/>
          <a:p>
            <a:pPr marL="0" indent="0" algn="ctr">
              <a:buNone/>
            </a:pPr>
            <a:r>
              <a:rPr lang="en-US" sz="2400" b="1" dirty="0">
                <a:solidFill>
                  <a:srgbClr val="FFFFFF"/>
                </a:solidFill>
                <a:latin typeface="Aptos" pitchFamily="34" charset="0"/>
                <a:ea typeface="Aptos" pitchFamily="34" charset="-122"/>
                <a:cs typeface="Aptos" pitchFamily="34" charset="-120"/>
              </a:rPr>
              <a:t>Lab 3.2</a:t>
            </a:r>
            <a:endParaRPr lang="en-US" sz="2400" dirty="0"/>
          </a:p>
        </p:txBody>
      </p:sp>
      <p:sp>
        <p:nvSpPr>
          <p:cNvPr id="9" name="Text 7"/>
          <p:cNvSpPr txBox="1"/>
          <p:nvPr/>
        </p:nvSpPr>
        <p:spPr>
          <a:xfrm>
            <a:off x="868680" y="3163824"/>
            <a:ext cx="2148840" cy="1143000"/>
          </a:xfrm>
          <a:prstGeom prst="rect">
            <a:avLst/>
          </a:prstGeom>
          <a:noFill/>
          <a:ln/>
        </p:spPr>
        <p:txBody>
          <a:bodyPr wrap="square" lIns="0" tIns="0" rIns="0" bIns="0" rtlCol="0" anchor="ctr">
            <a:normAutofit/>
          </a:bodyPr>
          <a:lstStyle/>
          <a:p>
            <a:pPr marL="0" indent="0" algn="ctr">
              <a:buNone/>
            </a:pPr>
            <a:r>
              <a:rPr lang="en-US" sz="1600" dirty="0">
                <a:solidFill>
                  <a:srgbClr val="FFFFFF"/>
                </a:solidFill>
                <a:latin typeface="Aptos" pitchFamily="34" charset="0"/>
                <a:ea typeface="Aptos" pitchFamily="34" charset="-122"/>
                <a:cs typeface="Aptos" pitchFamily="34" charset="-120"/>
              </a:rPr>
              <a:t>30 minutes · phase rates, Pareto evidence and a five-phase summary</a:t>
            </a:r>
            <a:endParaRPr lang="en-US" sz="1600" dirty="0"/>
          </a:p>
        </p:txBody>
      </p:sp>
      <p:sp>
        <p:nvSpPr>
          <p:cNvPr id="10" name="Text 8"/>
          <p:cNvSpPr txBox="1"/>
          <p:nvPr/>
        </p:nvSpPr>
        <p:spPr>
          <a:xfrm>
            <a:off x="868680" y="4992624"/>
            <a:ext cx="2148840" cy="274320"/>
          </a:xfrm>
          <a:prstGeom prst="rect">
            <a:avLst/>
          </a:prstGeom>
          <a:noFill/>
          <a:ln/>
        </p:spPr>
        <p:txBody>
          <a:bodyPr wrap="square" lIns="0" tIns="0" rIns="0" bIns="0" rtlCol="0" anchor="ctr">
            <a:normAutofit/>
          </a:bodyPr>
          <a:lstStyle/>
          <a:p>
            <a:pPr marL="0" indent="0" algn="ctr">
              <a:buNone/>
            </a:pPr>
            <a:r>
              <a:rPr lang="en-US" sz="1100" b="1" dirty="0">
                <a:solidFill>
                  <a:srgbClr val="17A9B8"/>
                </a:solidFill>
                <a:latin typeface="Aptos" pitchFamily="34" charset="0"/>
                <a:ea typeface="Aptos" pitchFamily="34" charset="-122"/>
                <a:cs typeface="Aptos" pitchFamily="34" charset="-120"/>
              </a:rPr>
              <a:t>ONE SMALL OUTPUT</a:t>
            </a:r>
            <a:endParaRPr lang="en-US" sz="1100" dirty="0"/>
          </a:p>
        </p:txBody>
      </p:sp>
      <p:sp>
        <p:nvSpPr>
          <p:cNvPr id="11" name="Shape 9"/>
          <p:cNvSpPr/>
          <p:nvPr/>
        </p:nvSpPr>
        <p:spPr>
          <a:xfrm>
            <a:off x="3749040" y="2103120"/>
            <a:ext cx="420624" cy="420624"/>
          </a:xfrm>
          <a:prstGeom prst="ellipse">
            <a:avLst/>
          </a:prstGeom>
          <a:solidFill>
            <a:srgbClr val="078897"/>
          </a:solidFill>
          <a:ln w="12700">
            <a:solidFill>
              <a:srgbClr val="078897"/>
            </a:solidFill>
            <a:prstDash val="solid"/>
          </a:ln>
        </p:spPr>
        <p:txBody>
          <a:bodyPr/>
          <a:lstStyle/>
          <a:p>
            <a:endParaRPr/>
          </a:p>
        </p:txBody>
      </p:sp>
      <p:sp>
        <p:nvSpPr>
          <p:cNvPr id="12" name="Text 10"/>
          <p:cNvSpPr txBox="1"/>
          <p:nvPr/>
        </p:nvSpPr>
        <p:spPr>
          <a:xfrm>
            <a:off x="3749040" y="2103120"/>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13" name="Text 11"/>
          <p:cNvSpPr txBox="1"/>
          <p:nvPr/>
        </p:nvSpPr>
        <p:spPr>
          <a:xfrm>
            <a:off x="4352544" y="1993392"/>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Open</a:t>
            </a:r>
            <a:endParaRPr lang="en-US" sz="1500" dirty="0"/>
          </a:p>
        </p:txBody>
      </p:sp>
      <p:sp>
        <p:nvSpPr>
          <p:cNvPr id="14" name="Text 12"/>
          <p:cNvSpPr txBox="1"/>
          <p:nvPr/>
        </p:nvSpPr>
        <p:spPr>
          <a:xfrm>
            <a:off x="5596128" y="1993392"/>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Lab-3.2-DMAIC-Report/Starter.xlsx</a:t>
            </a:r>
            <a:endParaRPr lang="en-US" sz="1500" dirty="0"/>
          </a:p>
        </p:txBody>
      </p:sp>
      <p:sp>
        <p:nvSpPr>
          <p:cNvPr id="15" name="Shape 13"/>
          <p:cNvSpPr/>
          <p:nvPr/>
        </p:nvSpPr>
        <p:spPr>
          <a:xfrm>
            <a:off x="3959352" y="2523744"/>
            <a:ext cx="0" cy="283464"/>
          </a:xfrm>
          <a:prstGeom prst="line">
            <a:avLst/>
          </a:prstGeom>
          <a:noFill/>
          <a:ln w="25400">
            <a:solidFill>
              <a:srgbClr val="C8D9DC"/>
            </a:solidFill>
            <a:prstDash val="solid"/>
          </a:ln>
        </p:spPr>
        <p:txBody>
          <a:bodyPr/>
          <a:lstStyle/>
          <a:p>
            <a:endParaRPr/>
          </a:p>
        </p:txBody>
      </p:sp>
      <p:sp>
        <p:nvSpPr>
          <p:cNvPr id="16" name="Shape 14"/>
          <p:cNvSpPr/>
          <p:nvPr/>
        </p:nvSpPr>
        <p:spPr>
          <a:xfrm>
            <a:off x="3749040" y="2916936"/>
            <a:ext cx="420624" cy="420624"/>
          </a:xfrm>
          <a:prstGeom prst="ellipse">
            <a:avLst/>
          </a:prstGeom>
          <a:solidFill>
            <a:srgbClr val="078897"/>
          </a:solidFill>
          <a:ln w="12700">
            <a:solidFill>
              <a:srgbClr val="078897"/>
            </a:solidFill>
            <a:prstDash val="solid"/>
          </a:ln>
        </p:spPr>
        <p:txBody>
          <a:bodyPr/>
          <a:lstStyle/>
          <a:p>
            <a:endParaRPr/>
          </a:p>
        </p:txBody>
      </p:sp>
      <p:sp>
        <p:nvSpPr>
          <p:cNvPr id="17" name="Text 15"/>
          <p:cNvSpPr txBox="1"/>
          <p:nvPr/>
        </p:nvSpPr>
        <p:spPr>
          <a:xfrm>
            <a:off x="3749040" y="2916936"/>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8" name="Text 16"/>
          <p:cNvSpPr txBox="1"/>
          <p:nvPr/>
        </p:nvSpPr>
        <p:spPr>
          <a:xfrm>
            <a:off x="4352544" y="2807208"/>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Select</a:t>
            </a:r>
            <a:endParaRPr lang="en-US" sz="1500" dirty="0"/>
          </a:p>
        </p:txBody>
      </p:sp>
      <p:sp>
        <p:nvSpPr>
          <p:cNvPr id="19" name="Text 17"/>
          <p:cNvSpPr txBox="1"/>
          <p:nvPr/>
        </p:nvSpPr>
        <p:spPr>
          <a:xfrm>
            <a:off x="5596128" y="2807208"/>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WeeklyData</a:t>
            </a:r>
            <a:endParaRPr lang="en-US" sz="1500" dirty="0"/>
          </a:p>
        </p:txBody>
      </p:sp>
      <p:sp>
        <p:nvSpPr>
          <p:cNvPr id="20" name="Shape 18"/>
          <p:cNvSpPr/>
          <p:nvPr/>
        </p:nvSpPr>
        <p:spPr>
          <a:xfrm>
            <a:off x="3959352" y="3337560"/>
            <a:ext cx="0" cy="283464"/>
          </a:xfrm>
          <a:prstGeom prst="line">
            <a:avLst/>
          </a:prstGeom>
          <a:noFill/>
          <a:ln w="25400">
            <a:solidFill>
              <a:srgbClr val="C8D9DC"/>
            </a:solidFill>
            <a:prstDash val="solid"/>
          </a:ln>
        </p:spPr>
        <p:txBody>
          <a:bodyPr/>
          <a:lstStyle/>
          <a:p>
            <a:endParaRPr/>
          </a:p>
        </p:txBody>
      </p:sp>
      <p:sp>
        <p:nvSpPr>
          <p:cNvPr id="21" name="Shape 19"/>
          <p:cNvSpPr/>
          <p:nvPr/>
        </p:nvSpPr>
        <p:spPr>
          <a:xfrm>
            <a:off x="3749040" y="3730752"/>
            <a:ext cx="420624" cy="420624"/>
          </a:xfrm>
          <a:prstGeom prst="ellipse">
            <a:avLst/>
          </a:prstGeom>
          <a:solidFill>
            <a:srgbClr val="078897"/>
          </a:solidFill>
          <a:ln w="12700">
            <a:solidFill>
              <a:srgbClr val="078897"/>
            </a:solidFill>
            <a:prstDash val="solid"/>
          </a:ln>
        </p:spPr>
        <p:txBody>
          <a:bodyPr/>
          <a:lstStyle/>
          <a:p>
            <a:endParaRPr/>
          </a:p>
        </p:txBody>
      </p:sp>
      <p:sp>
        <p:nvSpPr>
          <p:cNvPr id="22" name="Text 20"/>
          <p:cNvSpPr txBox="1"/>
          <p:nvPr/>
        </p:nvSpPr>
        <p:spPr>
          <a:xfrm>
            <a:off x="3749040" y="3730752"/>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23" name="Text 21"/>
          <p:cNvSpPr txBox="1"/>
          <p:nvPr/>
        </p:nvSpPr>
        <p:spPr>
          <a:xfrm>
            <a:off x="4352544" y="3621024"/>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Ask</a:t>
            </a:r>
            <a:endParaRPr lang="en-US" sz="1500" dirty="0"/>
          </a:p>
        </p:txBody>
      </p:sp>
      <p:sp>
        <p:nvSpPr>
          <p:cNvPr id="24" name="Text 22"/>
          <p:cNvSpPr txBox="1"/>
          <p:nvPr/>
        </p:nvSpPr>
        <p:spPr>
          <a:xfrm>
            <a:off x="5596128" y="3621024"/>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Paste the RISE + E-MAP prompt</a:t>
            </a:r>
            <a:endParaRPr lang="en-US" sz="1500" dirty="0"/>
          </a:p>
        </p:txBody>
      </p:sp>
      <p:sp>
        <p:nvSpPr>
          <p:cNvPr id="25" name="Shape 23"/>
          <p:cNvSpPr/>
          <p:nvPr/>
        </p:nvSpPr>
        <p:spPr>
          <a:xfrm>
            <a:off x="3959352" y="4151376"/>
            <a:ext cx="0" cy="283464"/>
          </a:xfrm>
          <a:prstGeom prst="line">
            <a:avLst/>
          </a:prstGeom>
          <a:noFill/>
          <a:ln w="25400">
            <a:solidFill>
              <a:srgbClr val="C8D9DC"/>
            </a:solidFill>
            <a:prstDash val="solid"/>
          </a:ln>
        </p:spPr>
        <p:txBody>
          <a:bodyPr/>
          <a:lstStyle/>
          <a:p>
            <a:endParaRPr/>
          </a:p>
        </p:txBody>
      </p:sp>
      <p:sp>
        <p:nvSpPr>
          <p:cNvPr id="26" name="Shape 24"/>
          <p:cNvSpPr/>
          <p:nvPr/>
        </p:nvSpPr>
        <p:spPr>
          <a:xfrm>
            <a:off x="3749040" y="4544568"/>
            <a:ext cx="420624" cy="420624"/>
          </a:xfrm>
          <a:prstGeom prst="ellipse">
            <a:avLst/>
          </a:prstGeom>
          <a:solidFill>
            <a:srgbClr val="078897"/>
          </a:solidFill>
          <a:ln w="12700">
            <a:solidFill>
              <a:srgbClr val="078897"/>
            </a:solidFill>
            <a:prstDash val="solid"/>
          </a:ln>
        </p:spPr>
        <p:txBody>
          <a:bodyPr/>
          <a:lstStyle/>
          <a:p>
            <a:endParaRPr/>
          </a:p>
        </p:txBody>
      </p:sp>
      <p:sp>
        <p:nvSpPr>
          <p:cNvPr id="27" name="Text 25"/>
          <p:cNvSpPr txBox="1"/>
          <p:nvPr/>
        </p:nvSpPr>
        <p:spPr>
          <a:xfrm>
            <a:off x="3749040" y="4544568"/>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8" name="Text 26"/>
          <p:cNvSpPr txBox="1"/>
          <p:nvPr/>
        </p:nvSpPr>
        <p:spPr>
          <a:xfrm>
            <a:off x="4352544" y="4434840"/>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Verify</a:t>
            </a:r>
            <a:endParaRPr lang="en-US" sz="1500" dirty="0"/>
          </a:p>
        </p:txBody>
      </p:sp>
      <p:sp>
        <p:nvSpPr>
          <p:cNvPr id="29" name="Text 27"/>
          <p:cNvSpPr txBox="1"/>
          <p:nvPr/>
        </p:nvSpPr>
        <p:spPr>
          <a:xfrm>
            <a:off x="5596128" y="4434840"/>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36/400 = 9.00%; 7/200 = 3.50%</a:t>
            </a:r>
            <a:endParaRPr lang="en-US" sz="1500" dirty="0"/>
          </a:p>
        </p:txBody>
      </p:sp>
      <p:sp>
        <p:nvSpPr>
          <p:cNvPr id="30" name="Shape 28"/>
          <p:cNvSpPr/>
          <p:nvPr/>
        </p:nvSpPr>
        <p:spPr>
          <a:xfrm>
            <a:off x="3959352" y="4965192"/>
            <a:ext cx="0" cy="283464"/>
          </a:xfrm>
          <a:prstGeom prst="line">
            <a:avLst/>
          </a:prstGeom>
          <a:noFill/>
          <a:ln w="25400">
            <a:solidFill>
              <a:srgbClr val="C8D9DC"/>
            </a:solidFill>
            <a:prstDash val="solid"/>
          </a:ln>
        </p:spPr>
        <p:txBody>
          <a:bodyPr/>
          <a:lstStyle/>
          <a:p>
            <a:endParaRPr/>
          </a:p>
        </p:txBody>
      </p:sp>
      <p:sp>
        <p:nvSpPr>
          <p:cNvPr id="31" name="Shape 29"/>
          <p:cNvSpPr/>
          <p:nvPr/>
        </p:nvSpPr>
        <p:spPr>
          <a:xfrm>
            <a:off x="3749040" y="5358384"/>
            <a:ext cx="420624" cy="420624"/>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3749040" y="5358384"/>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5</a:t>
            </a:r>
            <a:endParaRPr lang="en-US" sz="1400" dirty="0"/>
          </a:p>
        </p:txBody>
      </p:sp>
      <p:sp>
        <p:nvSpPr>
          <p:cNvPr id="33" name="Text 31"/>
          <p:cNvSpPr txBox="1"/>
          <p:nvPr/>
        </p:nvSpPr>
        <p:spPr>
          <a:xfrm>
            <a:off x="4352544" y="5248656"/>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Save</a:t>
            </a:r>
            <a:endParaRPr lang="en-US" sz="1500" dirty="0"/>
          </a:p>
        </p:txBody>
      </p:sp>
      <p:sp>
        <p:nvSpPr>
          <p:cNvPr id="34" name="Text 32"/>
          <p:cNvSpPr txBox="1"/>
          <p:nvPr/>
        </p:nvSpPr>
        <p:spPr>
          <a:xfrm>
            <a:off x="5596128" y="5248656"/>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Five phases + Pareto + next evidence check</a:t>
            </a:r>
            <a:endParaRPr lang="en-US" sz="1500" dirty="0"/>
          </a:p>
        </p:txBody>
      </p:sp>
      <p:sp>
        <p:nvSpPr>
          <p:cNvPr id="35" name="Text 3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6"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88</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SPC · what it is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Statistical Process Control monitors process behaviour over time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pic>
        <p:nvPicPr>
          <p:cNvPr id="7" name="Image 0" descr="/Users/alfredang/Documents/Supporting Document/Tertiary Infotech/Client Projects/Client WSQ Projects/Client - IES/GenAI for Engineers/assets/cw401-spc.png"/>
          <p:cNvPicPr>
            <a:picLocks noChangeAspect="1"/>
          </p:cNvPicPr>
          <p:nvPr/>
        </p:nvPicPr>
        <p:blipFill>
          <a:blip r:embed="rId3"/>
          <a:stretch>
            <a:fillRect/>
          </a:stretch>
        </p:blipFill>
        <p:spPr>
          <a:xfrm>
            <a:off x="566928" y="1993392"/>
            <a:ext cx="6419088" cy="4041648"/>
          </a:xfrm>
          <a:prstGeom prst="rect">
            <a:avLst/>
          </a:prstGeom>
        </p:spPr>
      </p:pic>
      <p:sp>
        <p:nvSpPr>
          <p:cNvPr id="8" name="Shape 5"/>
          <p:cNvSpPr/>
          <p:nvPr/>
        </p:nvSpPr>
        <p:spPr>
          <a:xfrm>
            <a:off x="566928" y="5349240"/>
            <a:ext cx="6419088" cy="685800"/>
          </a:xfrm>
          <a:prstGeom prst="rect">
            <a:avLst/>
          </a:prstGeom>
          <a:solidFill>
            <a:srgbClr val="102B3E">
              <a:alpha val="92000"/>
            </a:srgbClr>
          </a:solidFill>
          <a:ln w="12700">
            <a:solidFill>
              <a:srgbClr val="102B3E">
                <a:alpha val="0"/>
              </a:srgbClr>
            </a:solidFill>
            <a:prstDash val="solid"/>
          </a:ln>
        </p:spPr>
        <p:txBody>
          <a:bodyPr/>
          <a:lstStyle/>
          <a:p>
            <a:endParaRPr/>
          </a:p>
        </p:txBody>
      </p:sp>
      <p:sp>
        <p:nvSpPr>
          <p:cNvPr id="9" name="Text 6"/>
          <p:cNvSpPr txBox="1"/>
          <p:nvPr/>
        </p:nvSpPr>
        <p:spPr>
          <a:xfrm>
            <a:off x="804672" y="5458968"/>
            <a:ext cx="5943600" cy="438912"/>
          </a:xfrm>
          <a:prstGeom prst="rect">
            <a:avLst/>
          </a:prstGeom>
          <a:noFill/>
          <a:ln/>
        </p:spPr>
        <p:txBody>
          <a:bodyPr wrap="square" lIns="0" tIns="0" rIns="0" bIns="0" rtlCol="0" anchor="ctr">
            <a:normAutofit/>
          </a:bodyPr>
          <a:lstStyle/>
          <a:p>
            <a:pPr marL="0" indent="0" algn="l">
              <a:buNone/>
            </a:pPr>
            <a:r>
              <a:rPr lang="en-US" sz="1600" b="1" dirty="0">
                <a:solidFill>
                  <a:srgbClr val="FFFFFF"/>
                </a:solidFill>
                <a:latin typeface="Aptos" pitchFamily="34" charset="0"/>
                <a:ea typeface="Aptos" pitchFamily="34" charset="-122"/>
                <a:cs typeface="Aptos" pitchFamily="34" charset="-120"/>
              </a:rPr>
              <a:t>Statistical Process Control monitors process behaviour over time</a:t>
            </a:r>
            <a:endParaRPr lang="en-US" sz="1600" dirty="0"/>
          </a:p>
        </p:txBody>
      </p:sp>
      <p:sp>
        <p:nvSpPr>
          <p:cNvPr id="10" name="Shape 7"/>
          <p:cNvSpPr/>
          <p:nvPr/>
        </p:nvSpPr>
        <p:spPr>
          <a:xfrm>
            <a:off x="7388352" y="2103120"/>
            <a:ext cx="384048" cy="384048"/>
          </a:xfrm>
          <a:prstGeom prst="ellipse">
            <a:avLst/>
          </a:prstGeom>
          <a:solidFill>
            <a:srgbClr val="078897"/>
          </a:solidFill>
          <a:ln w="12700">
            <a:solidFill>
              <a:srgbClr val="078897"/>
            </a:solidFill>
            <a:prstDash val="solid"/>
          </a:ln>
        </p:spPr>
        <p:txBody>
          <a:bodyPr/>
          <a:lstStyle/>
          <a:p>
            <a:endParaRPr/>
          </a:p>
        </p:txBody>
      </p:sp>
      <p:sp>
        <p:nvSpPr>
          <p:cNvPr id="11" name="Text 8"/>
          <p:cNvSpPr txBox="1"/>
          <p:nvPr/>
        </p:nvSpPr>
        <p:spPr>
          <a:xfrm>
            <a:off x="7388352" y="2103120"/>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9"/>
          <p:cNvSpPr txBox="1"/>
          <p:nvPr/>
        </p:nvSpPr>
        <p:spPr>
          <a:xfrm>
            <a:off x="7909560" y="2057400"/>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Use when</a:t>
            </a:r>
            <a:endParaRPr lang="en-US" sz="1500" dirty="0"/>
          </a:p>
        </p:txBody>
      </p:sp>
      <p:sp>
        <p:nvSpPr>
          <p:cNvPr id="13" name="Text 10"/>
          <p:cNvSpPr txBox="1"/>
          <p:nvPr/>
        </p:nvSpPr>
        <p:spPr>
          <a:xfrm>
            <a:off x="7909560" y="2404872"/>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Repeated measurements exist</a:t>
            </a:r>
            <a:endParaRPr lang="en-US" sz="1400" dirty="0"/>
          </a:p>
        </p:txBody>
      </p:sp>
      <p:sp>
        <p:nvSpPr>
          <p:cNvPr id="14" name="Shape 11"/>
          <p:cNvSpPr/>
          <p:nvPr/>
        </p:nvSpPr>
        <p:spPr>
          <a:xfrm>
            <a:off x="7388352" y="3182112"/>
            <a:ext cx="384048" cy="384048"/>
          </a:xfrm>
          <a:prstGeom prst="ellipse">
            <a:avLst/>
          </a:prstGeom>
          <a:solidFill>
            <a:srgbClr val="078897"/>
          </a:solidFill>
          <a:ln w="12700">
            <a:solidFill>
              <a:srgbClr val="078897"/>
            </a:solidFill>
            <a:prstDash val="solid"/>
          </a:ln>
        </p:spPr>
        <p:txBody>
          <a:bodyPr/>
          <a:lstStyle/>
          <a:p>
            <a:endParaRPr/>
          </a:p>
        </p:txBody>
      </p:sp>
      <p:sp>
        <p:nvSpPr>
          <p:cNvPr id="15" name="Text 12"/>
          <p:cNvSpPr txBox="1"/>
          <p:nvPr/>
        </p:nvSpPr>
        <p:spPr>
          <a:xfrm>
            <a:off x="7388352" y="3182112"/>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3"/>
          <p:cNvSpPr txBox="1"/>
          <p:nvPr/>
        </p:nvSpPr>
        <p:spPr>
          <a:xfrm>
            <a:off x="7909560" y="3136392"/>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Question</a:t>
            </a:r>
            <a:endParaRPr lang="en-US" sz="1500" dirty="0"/>
          </a:p>
        </p:txBody>
      </p:sp>
      <p:sp>
        <p:nvSpPr>
          <p:cNvPr id="17" name="Text 14"/>
          <p:cNvSpPr txBox="1"/>
          <p:nvPr/>
        </p:nvSpPr>
        <p:spPr>
          <a:xfrm>
            <a:off x="7909560" y="3483864"/>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Stable pattern or unusual signal?</a:t>
            </a:r>
            <a:endParaRPr lang="en-US" sz="1400" dirty="0"/>
          </a:p>
        </p:txBody>
      </p:sp>
      <p:sp>
        <p:nvSpPr>
          <p:cNvPr id="18" name="Shape 15"/>
          <p:cNvSpPr/>
          <p:nvPr/>
        </p:nvSpPr>
        <p:spPr>
          <a:xfrm>
            <a:off x="7388352" y="4261104"/>
            <a:ext cx="384048" cy="384048"/>
          </a:xfrm>
          <a:prstGeom prst="ellipse">
            <a:avLst/>
          </a:prstGeom>
          <a:solidFill>
            <a:srgbClr val="078897"/>
          </a:solidFill>
          <a:ln w="12700">
            <a:solidFill>
              <a:srgbClr val="078897"/>
            </a:solidFill>
            <a:prstDash val="solid"/>
          </a:ln>
        </p:spPr>
        <p:txBody>
          <a:bodyPr/>
          <a:lstStyle/>
          <a:p>
            <a:endParaRPr/>
          </a:p>
        </p:txBody>
      </p:sp>
      <p:sp>
        <p:nvSpPr>
          <p:cNvPr id="19" name="Text 16"/>
          <p:cNvSpPr txBox="1"/>
          <p:nvPr/>
        </p:nvSpPr>
        <p:spPr>
          <a:xfrm>
            <a:off x="7388352" y="4261104"/>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7"/>
          <p:cNvSpPr txBox="1"/>
          <p:nvPr/>
        </p:nvSpPr>
        <p:spPr>
          <a:xfrm>
            <a:off x="7909560" y="4215384"/>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Output</a:t>
            </a:r>
            <a:endParaRPr lang="en-US" sz="1500" dirty="0"/>
          </a:p>
        </p:txBody>
      </p:sp>
      <p:sp>
        <p:nvSpPr>
          <p:cNvPr id="21" name="Text 18"/>
          <p:cNvSpPr txBox="1"/>
          <p:nvPr/>
        </p:nvSpPr>
        <p:spPr>
          <a:xfrm>
            <a:off x="7909560" y="4562856"/>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Control chart and investigation trigger</a:t>
            </a:r>
            <a:endParaRPr lang="en-US" sz="1400" dirty="0"/>
          </a:p>
        </p:txBody>
      </p:sp>
      <p:sp>
        <p:nvSpPr>
          <p:cNvPr id="22" name="Text 19"/>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89</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 control chart has four essential parts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Time order is what makes the pattern meaningful</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804672" y="5715000"/>
            <a:ext cx="7955280" cy="0"/>
          </a:xfrm>
          <a:prstGeom prst="line">
            <a:avLst/>
          </a:prstGeom>
          <a:noFill/>
          <a:ln w="12700">
            <a:solidFill>
              <a:srgbClr val="536A78"/>
            </a:solidFill>
            <a:prstDash val="solid"/>
          </a:ln>
        </p:spPr>
        <p:txBody>
          <a:bodyPr/>
          <a:lstStyle/>
          <a:p>
            <a:endParaRPr/>
          </a:p>
        </p:txBody>
      </p:sp>
      <p:sp>
        <p:nvSpPr>
          <p:cNvPr id="8" name="Shape 6"/>
          <p:cNvSpPr/>
          <p:nvPr/>
        </p:nvSpPr>
        <p:spPr>
          <a:xfrm>
            <a:off x="804672" y="2505456"/>
            <a:ext cx="7955280" cy="0"/>
          </a:xfrm>
          <a:prstGeom prst="line">
            <a:avLst/>
          </a:prstGeom>
          <a:noFill/>
          <a:ln w="19050">
            <a:solidFill>
              <a:srgbClr val="F4A62A"/>
            </a:solidFill>
            <a:prstDash val="dash"/>
          </a:ln>
        </p:spPr>
        <p:txBody>
          <a:bodyPr/>
          <a:lstStyle/>
          <a:p>
            <a:endParaRPr/>
          </a:p>
        </p:txBody>
      </p:sp>
      <p:sp>
        <p:nvSpPr>
          <p:cNvPr id="9" name="Text 7"/>
          <p:cNvSpPr txBox="1"/>
          <p:nvPr/>
        </p:nvSpPr>
        <p:spPr>
          <a:xfrm>
            <a:off x="8833104" y="2386584"/>
            <a:ext cx="502920" cy="228600"/>
          </a:xfrm>
          <a:prstGeom prst="rect">
            <a:avLst/>
          </a:prstGeom>
          <a:noFill/>
          <a:ln/>
        </p:spPr>
        <p:txBody>
          <a:bodyPr wrap="square" lIns="0" tIns="0" rIns="0" bIns="0" rtlCol="0" anchor="ctr">
            <a:normAutofit/>
          </a:bodyPr>
          <a:lstStyle/>
          <a:p>
            <a:pPr marL="0" indent="0" algn="l">
              <a:buNone/>
            </a:pPr>
            <a:r>
              <a:rPr lang="en-US" sz="1100" b="1" dirty="0">
                <a:solidFill>
                  <a:srgbClr val="F4A62A"/>
                </a:solidFill>
                <a:latin typeface="Aptos" pitchFamily="34" charset="0"/>
                <a:ea typeface="Aptos" pitchFamily="34" charset="-122"/>
                <a:cs typeface="Aptos" pitchFamily="34" charset="-120"/>
              </a:rPr>
              <a:t>UCL</a:t>
            </a:r>
            <a:endParaRPr lang="en-US" sz="1100" dirty="0"/>
          </a:p>
        </p:txBody>
      </p:sp>
      <p:sp>
        <p:nvSpPr>
          <p:cNvPr id="10" name="Shape 8"/>
          <p:cNvSpPr/>
          <p:nvPr/>
        </p:nvSpPr>
        <p:spPr>
          <a:xfrm>
            <a:off x="804672" y="3040380"/>
            <a:ext cx="7955280" cy="0"/>
          </a:xfrm>
          <a:prstGeom prst="line">
            <a:avLst/>
          </a:prstGeom>
          <a:noFill/>
          <a:ln w="19050">
            <a:solidFill>
              <a:srgbClr val="078897"/>
            </a:solidFill>
            <a:prstDash val="dash"/>
          </a:ln>
        </p:spPr>
        <p:txBody>
          <a:bodyPr/>
          <a:lstStyle/>
          <a:p>
            <a:endParaRPr/>
          </a:p>
        </p:txBody>
      </p:sp>
      <p:sp>
        <p:nvSpPr>
          <p:cNvPr id="11" name="Text 9"/>
          <p:cNvSpPr txBox="1"/>
          <p:nvPr/>
        </p:nvSpPr>
        <p:spPr>
          <a:xfrm>
            <a:off x="8833104" y="2921508"/>
            <a:ext cx="502920" cy="228600"/>
          </a:xfrm>
          <a:prstGeom prst="rect">
            <a:avLst/>
          </a:prstGeom>
          <a:noFill/>
          <a:ln/>
        </p:spPr>
        <p:txBody>
          <a:bodyPr wrap="square" lIns="0" tIns="0" rIns="0" bIns="0" rtlCol="0" anchor="ctr">
            <a:normAutofit/>
          </a:bodyPr>
          <a:lstStyle/>
          <a:p>
            <a:pPr marL="0" indent="0" algn="l">
              <a:buNone/>
            </a:pPr>
            <a:r>
              <a:rPr lang="en-US" sz="1100" b="1" dirty="0">
                <a:solidFill>
                  <a:srgbClr val="078897"/>
                </a:solidFill>
                <a:latin typeface="Aptos" pitchFamily="34" charset="0"/>
                <a:ea typeface="Aptos" pitchFamily="34" charset="-122"/>
                <a:cs typeface="Aptos" pitchFamily="34" charset="-120"/>
              </a:rPr>
              <a:t>Mean</a:t>
            </a:r>
            <a:endParaRPr lang="en-US" sz="1100" dirty="0"/>
          </a:p>
        </p:txBody>
      </p:sp>
      <p:sp>
        <p:nvSpPr>
          <p:cNvPr id="12" name="Shape 10"/>
          <p:cNvSpPr/>
          <p:nvPr/>
        </p:nvSpPr>
        <p:spPr>
          <a:xfrm>
            <a:off x="804672" y="3575304"/>
            <a:ext cx="7955280" cy="0"/>
          </a:xfrm>
          <a:prstGeom prst="line">
            <a:avLst/>
          </a:prstGeom>
          <a:noFill/>
          <a:ln w="19050">
            <a:solidFill>
              <a:srgbClr val="C94B50"/>
            </a:solidFill>
            <a:prstDash val="dash"/>
          </a:ln>
        </p:spPr>
        <p:txBody>
          <a:bodyPr/>
          <a:lstStyle/>
          <a:p>
            <a:endParaRPr/>
          </a:p>
        </p:txBody>
      </p:sp>
      <p:sp>
        <p:nvSpPr>
          <p:cNvPr id="13" name="Text 11"/>
          <p:cNvSpPr txBox="1"/>
          <p:nvPr/>
        </p:nvSpPr>
        <p:spPr>
          <a:xfrm>
            <a:off x="8833104" y="3456432"/>
            <a:ext cx="502920" cy="228600"/>
          </a:xfrm>
          <a:prstGeom prst="rect">
            <a:avLst/>
          </a:prstGeom>
          <a:noFill/>
          <a:ln/>
        </p:spPr>
        <p:txBody>
          <a:bodyPr wrap="square" lIns="0" tIns="0" rIns="0" bIns="0" rtlCol="0" anchor="ctr">
            <a:normAutofit/>
          </a:bodyPr>
          <a:lstStyle/>
          <a:p>
            <a:pPr marL="0" indent="0" algn="l">
              <a:buNone/>
            </a:pPr>
            <a:r>
              <a:rPr lang="en-US" sz="1100" b="1" dirty="0">
                <a:solidFill>
                  <a:srgbClr val="C94B50"/>
                </a:solidFill>
                <a:latin typeface="Aptos" pitchFamily="34" charset="0"/>
                <a:ea typeface="Aptos" pitchFamily="34" charset="-122"/>
                <a:cs typeface="Aptos" pitchFamily="34" charset="-120"/>
              </a:rPr>
              <a:t>LCL</a:t>
            </a:r>
            <a:endParaRPr lang="en-US" sz="1100" dirty="0"/>
          </a:p>
        </p:txBody>
      </p:sp>
      <p:sp>
        <p:nvSpPr>
          <p:cNvPr id="14" name="Shape 12"/>
          <p:cNvSpPr/>
          <p:nvPr/>
        </p:nvSpPr>
        <p:spPr>
          <a:xfrm>
            <a:off x="804672" y="3218688"/>
            <a:ext cx="723207" cy="0"/>
          </a:xfrm>
          <a:prstGeom prst="line">
            <a:avLst/>
          </a:prstGeom>
          <a:noFill/>
          <a:ln w="25400">
            <a:solidFill>
              <a:srgbClr val="2477B3"/>
            </a:solidFill>
            <a:prstDash val="solid"/>
          </a:ln>
        </p:spPr>
        <p:txBody>
          <a:bodyPr/>
          <a:lstStyle/>
          <a:p>
            <a:endParaRPr/>
          </a:p>
        </p:txBody>
      </p:sp>
      <p:sp>
        <p:nvSpPr>
          <p:cNvPr id="15" name="Shape 13"/>
          <p:cNvSpPr/>
          <p:nvPr/>
        </p:nvSpPr>
        <p:spPr>
          <a:xfrm>
            <a:off x="1527879" y="2951226"/>
            <a:ext cx="723207" cy="178308"/>
          </a:xfrm>
          <a:prstGeom prst="line">
            <a:avLst/>
          </a:prstGeom>
          <a:noFill/>
          <a:ln w="25400">
            <a:solidFill>
              <a:srgbClr val="2477B3"/>
            </a:solidFill>
            <a:prstDash val="solid"/>
          </a:ln>
        </p:spPr>
        <p:txBody>
          <a:bodyPr/>
          <a:lstStyle/>
          <a:p>
            <a:endParaRPr/>
          </a:p>
        </p:txBody>
      </p:sp>
      <p:sp>
        <p:nvSpPr>
          <p:cNvPr id="16" name="Shape 14"/>
          <p:cNvSpPr/>
          <p:nvPr/>
        </p:nvSpPr>
        <p:spPr>
          <a:xfrm>
            <a:off x="2251087" y="3129534"/>
            <a:ext cx="723207" cy="0"/>
          </a:xfrm>
          <a:prstGeom prst="line">
            <a:avLst/>
          </a:prstGeom>
          <a:noFill/>
          <a:ln w="25400">
            <a:solidFill>
              <a:srgbClr val="2477B3"/>
            </a:solidFill>
            <a:prstDash val="solid"/>
          </a:ln>
        </p:spPr>
        <p:txBody>
          <a:bodyPr/>
          <a:lstStyle/>
          <a:p>
            <a:endParaRPr/>
          </a:p>
        </p:txBody>
      </p:sp>
      <p:sp>
        <p:nvSpPr>
          <p:cNvPr id="17" name="Shape 15"/>
          <p:cNvSpPr/>
          <p:nvPr/>
        </p:nvSpPr>
        <p:spPr>
          <a:xfrm>
            <a:off x="2974294" y="2862072"/>
            <a:ext cx="723207" cy="178308"/>
          </a:xfrm>
          <a:prstGeom prst="line">
            <a:avLst/>
          </a:prstGeom>
          <a:noFill/>
          <a:ln w="25400">
            <a:solidFill>
              <a:srgbClr val="2477B3"/>
            </a:solidFill>
            <a:prstDash val="solid"/>
          </a:ln>
        </p:spPr>
        <p:txBody>
          <a:bodyPr/>
          <a:lstStyle/>
          <a:p>
            <a:endParaRPr/>
          </a:p>
        </p:txBody>
      </p:sp>
      <p:sp>
        <p:nvSpPr>
          <p:cNvPr id="18" name="Shape 16"/>
          <p:cNvSpPr/>
          <p:nvPr/>
        </p:nvSpPr>
        <p:spPr>
          <a:xfrm>
            <a:off x="3697501" y="3040380"/>
            <a:ext cx="723207" cy="267462"/>
          </a:xfrm>
          <a:prstGeom prst="line">
            <a:avLst/>
          </a:prstGeom>
          <a:noFill/>
          <a:ln w="25400">
            <a:solidFill>
              <a:srgbClr val="2477B3"/>
            </a:solidFill>
            <a:prstDash val="solid"/>
          </a:ln>
        </p:spPr>
        <p:txBody>
          <a:bodyPr/>
          <a:lstStyle/>
          <a:p>
            <a:endParaRPr/>
          </a:p>
        </p:txBody>
      </p:sp>
      <p:sp>
        <p:nvSpPr>
          <p:cNvPr id="19" name="Shape 17"/>
          <p:cNvSpPr/>
          <p:nvPr/>
        </p:nvSpPr>
        <p:spPr>
          <a:xfrm>
            <a:off x="4420708" y="3307842"/>
            <a:ext cx="723207" cy="0"/>
          </a:xfrm>
          <a:prstGeom prst="line">
            <a:avLst/>
          </a:prstGeom>
          <a:noFill/>
          <a:ln w="25400">
            <a:solidFill>
              <a:srgbClr val="2477B3"/>
            </a:solidFill>
            <a:prstDash val="solid"/>
          </a:ln>
        </p:spPr>
        <p:txBody>
          <a:bodyPr/>
          <a:lstStyle/>
          <a:p>
            <a:endParaRPr/>
          </a:p>
        </p:txBody>
      </p:sp>
      <p:sp>
        <p:nvSpPr>
          <p:cNvPr id="20" name="Shape 18"/>
          <p:cNvSpPr/>
          <p:nvPr/>
        </p:nvSpPr>
        <p:spPr>
          <a:xfrm>
            <a:off x="5143916" y="2772918"/>
            <a:ext cx="723207" cy="267462"/>
          </a:xfrm>
          <a:prstGeom prst="line">
            <a:avLst/>
          </a:prstGeom>
          <a:noFill/>
          <a:ln w="25400">
            <a:solidFill>
              <a:srgbClr val="2477B3"/>
            </a:solidFill>
            <a:prstDash val="solid"/>
          </a:ln>
        </p:spPr>
        <p:txBody>
          <a:bodyPr/>
          <a:lstStyle/>
          <a:p>
            <a:endParaRPr/>
          </a:p>
        </p:txBody>
      </p:sp>
      <p:sp>
        <p:nvSpPr>
          <p:cNvPr id="21" name="Shape 19"/>
          <p:cNvSpPr/>
          <p:nvPr/>
        </p:nvSpPr>
        <p:spPr>
          <a:xfrm>
            <a:off x="5867123" y="3040380"/>
            <a:ext cx="723207" cy="2139696"/>
          </a:xfrm>
          <a:prstGeom prst="line">
            <a:avLst/>
          </a:prstGeom>
          <a:noFill/>
          <a:ln w="25400">
            <a:solidFill>
              <a:srgbClr val="2477B3"/>
            </a:solidFill>
            <a:prstDash val="solid"/>
          </a:ln>
        </p:spPr>
        <p:txBody>
          <a:bodyPr/>
          <a:lstStyle/>
          <a:p>
            <a:endParaRPr/>
          </a:p>
        </p:txBody>
      </p:sp>
      <p:sp>
        <p:nvSpPr>
          <p:cNvPr id="22" name="Shape 20"/>
          <p:cNvSpPr/>
          <p:nvPr/>
        </p:nvSpPr>
        <p:spPr>
          <a:xfrm>
            <a:off x="6590330" y="5180076"/>
            <a:ext cx="723207" cy="178308"/>
          </a:xfrm>
          <a:prstGeom prst="line">
            <a:avLst/>
          </a:prstGeom>
          <a:noFill/>
          <a:ln w="25400">
            <a:solidFill>
              <a:srgbClr val="2477B3"/>
            </a:solidFill>
            <a:prstDash val="solid"/>
          </a:ln>
        </p:spPr>
        <p:txBody>
          <a:bodyPr/>
          <a:lstStyle/>
          <a:p>
            <a:endParaRPr/>
          </a:p>
        </p:txBody>
      </p:sp>
      <p:sp>
        <p:nvSpPr>
          <p:cNvPr id="23" name="Shape 21"/>
          <p:cNvSpPr/>
          <p:nvPr/>
        </p:nvSpPr>
        <p:spPr>
          <a:xfrm>
            <a:off x="7313537" y="5358384"/>
            <a:ext cx="723207" cy="0"/>
          </a:xfrm>
          <a:prstGeom prst="line">
            <a:avLst/>
          </a:prstGeom>
          <a:noFill/>
          <a:ln w="25400">
            <a:solidFill>
              <a:srgbClr val="2477B3"/>
            </a:solidFill>
            <a:prstDash val="solid"/>
          </a:ln>
        </p:spPr>
        <p:txBody>
          <a:bodyPr/>
          <a:lstStyle/>
          <a:p>
            <a:endParaRPr/>
          </a:p>
        </p:txBody>
      </p:sp>
      <p:sp>
        <p:nvSpPr>
          <p:cNvPr id="24" name="Shape 22"/>
          <p:cNvSpPr/>
          <p:nvPr/>
        </p:nvSpPr>
        <p:spPr>
          <a:xfrm>
            <a:off x="8036745" y="2951226"/>
            <a:ext cx="723207" cy="2318004"/>
          </a:xfrm>
          <a:prstGeom prst="line">
            <a:avLst/>
          </a:prstGeom>
          <a:noFill/>
          <a:ln w="25400">
            <a:solidFill>
              <a:srgbClr val="2477B3"/>
            </a:solidFill>
            <a:prstDash val="solid"/>
          </a:ln>
        </p:spPr>
        <p:txBody>
          <a:bodyPr/>
          <a:lstStyle/>
          <a:p>
            <a:endParaRPr/>
          </a:p>
        </p:txBody>
      </p:sp>
      <p:sp>
        <p:nvSpPr>
          <p:cNvPr id="25" name="Shape 23"/>
          <p:cNvSpPr/>
          <p:nvPr/>
        </p:nvSpPr>
        <p:spPr>
          <a:xfrm>
            <a:off x="731520" y="3145536"/>
            <a:ext cx="146304" cy="146304"/>
          </a:xfrm>
          <a:prstGeom prst="ellipse">
            <a:avLst/>
          </a:prstGeom>
          <a:solidFill>
            <a:srgbClr val="2477B3"/>
          </a:solidFill>
          <a:ln w="12700">
            <a:solidFill>
              <a:srgbClr val="2477B3"/>
            </a:solidFill>
            <a:prstDash val="solid"/>
          </a:ln>
        </p:spPr>
        <p:txBody>
          <a:bodyPr/>
          <a:lstStyle/>
          <a:p>
            <a:endParaRPr/>
          </a:p>
        </p:txBody>
      </p:sp>
      <p:sp>
        <p:nvSpPr>
          <p:cNvPr id="26" name="Text 24"/>
          <p:cNvSpPr txBox="1"/>
          <p:nvPr/>
        </p:nvSpPr>
        <p:spPr>
          <a:xfrm>
            <a:off x="640080"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T01</a:t>
            </a:r>
            <a:endParaRPr lang="en-US" sz="900" dirty="0"/>
          </a:p>
        </p:txBody>
      </p:sp>
      <p:sp>
        <p:nvSpPr>
          <p:cNvPr id="27" name="Shape 25"/>
          <p:cNvSpPr/>
          <p:nvPr/>
        </p:nvSpPr>
        <p:spPr>
          <a:xfrm>
            <a:off x="1454727" y="2878074"/>
            <a:ext cx="146304" cy="146304"/>
          </a:xfrm>
          <a:prstGeom prst="ellipse">
            <a:avLst/>
          </a:prstGeom>
          <a:solidFill>
            <a:srgbClr val="2477B3"/>
          </a:solidFill>
          <a:ln w="12700">
            <a:solidFill>
              <a:srgbClr val="2477B3"/>
            </a:solidFill>
            <a:prstDash val="solid"/>
          </a:ln>
        </p:spPr>
        <p:txBody>
          <a:bodyPr/>
          <a:lstStyle/>
          <a:p>
            <a:endParaRPr/>
          </a:p>
        </p:txBody>
      </p:sp>
      <p:sp>
        <p:nvSpPr>
          <p:cNvPr id="28" name="Text 26"/>
          <p:cNvSpPr txBox="1"/>
          <p:nvPr/>
        </p:nvSpPr>
        <p:spPr>
          <a:xfrm>
            <a:off x="1363287"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T02</a:t>
            </a:r>
            <a:endParaRPr lang="en-US" sz="900" dirty="0"/>
          </a:p>
        </p:txBody>
      </p:sp>
      <p:sp>
        <p:nvSpPr>
          <p:cNvPr id="29" name="Shape 27"/>
          <p:cNvSpPr/>
          <p:nvPr/>
        </p:nvSpPr>
        <p:spPr>
          <a:xfrm>
            <a:off x="2177935" y="3056382"/>
            <a:ext cx="146304" cy="146304"/>
          </a:xfrm>
          <a:prstGeom prst="ellipse">
            <a:avLst/>
          </a:prstGeom>
          <a:solidFill>
            <a:srgbClr val="2477B3"/>
          </a:solidFill>
          <a:ln w="12700">
            <a:solidFill>
              <a:srgbClr val="2477B3"/>
            </a:solidFill>
            <a:prstDash val="solid"/>
          </a:ln>
        </p:spPr>
        <p:txBody>
          <a:bodyPr/>
          <a:lstStyle/>
          <a:p>
            <a:endParaRPr/>
          </a:p>
        </p:txBody>
      </p:sp>
      <p:sp>
        <p:nvSpPr>
          <p:cNvPr id="30" name="Text 28"/>
          <p:cNvSpPr txBox="1"/>
          <p:nvPr/>
        </p:nvSpPr>
        <p:spPr>
          <a:xfrm>
            <a:off x="2086495"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T03</a:t>
            </a:r>
            <a:endParaRPr lang="en-US" sz="900" dirty="0"/>
          </a:p>
        </p:txBody>
      </p:sp>
      <p:sp>
        <p:nvSpPr>
          <p:cNvPr id="31" name="Shape 29"/>
          <p:cNvSpPr/>
          <p:nvPr/>
        </p:nvSpPr>
        <p:spPr>
          <a:xfrm>
            <a:off x="2901142" y="2788920"/>
            <a:ext cx="146304" cy="146304"/>
          </a:xfrm>
          <a:prstGeom prst="ellipse">
            <a:avLst/>
          </a:prstGeom>
          <a:solidFill>
            <a:srgbClr val="2477B3"/>
          </a:solidFill>
          <a:ln w="12700">
            <a:solidFill>
              <a:srgbClr val="2477B3"/>
            </a:solidFill>
            <a:prstDash val="solid"/>
          </a:ln>
        </p:spPr>
        <p:txBody>
          <a:bodyPr/>
          <a:lstStyle/>
          <a:p>
            <a:endParaRPr/>
          </a:p>
        </p:txBody>
      </p:sp>
      <p:sp>
        <p:nvSpPr>
          <p:cNvPr id="32" name="Text 30"/>
          <p:cNvSpPr txBox="1"/>
          <p:nvPr/>
        </p:nvSpPr>
        <p:spPr>
          <a:xfrm>
            <a:off x="2809702"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T04</a:t>
            </a:r>
            <a:endParaRPr lang="en-US" sz="900" dirty="0"/>
          </a:p>
        </p:txBody>
      </p:sp>
      <p:sp>
        <p:nvSpPr>
          <p:cNvPr id="33" name="Shape 31"/>
          <p:cNvSpPr/>
          <p:nvPr/>
        </p:nvSpPr>
        <p:spPr>
          <a:xfrm>
            <a:off x="3624349" y="2967228"/>
            <a:ext cx="146304" cy="146304"/>
          </a:xfrm>
          <a:prstGeom prst="ellipse">
            <a:avLst/>
          </a:prstGeom>
          <a:solidFill>
            <a:srgbClr val="2477B3"/>
          </a:solidFill>
          <a:ln w="12700">
            <a:solidFill>
              <a:srgbClr val="2477B3"/>
            </a:solidFill>
            <a:prstDash val="solid"/>
          </a:ln>
        </p:spPr>
        <p:txBody>
          <a:bodyPr/>
          <a:lstStyle/>
          <a:p>
            <a:endParaRPr/>
          </a:p>
        </p:txBody>
      </p:sp>
      <p:sp>
        <p:nvSpPr>
          <p:cNvPr id="34" name="Text 32"/>
          <p:cNvSpPr txBox="1"/>
          <p:nvPr/>
        </p:nvSpPr>
        <p:spPr>
          <a:xfrm>
            <a:off x="3532909"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T05</a:t>
            </a:r>
            <a:endParaRPr lang="en-US" sz="900" dirty="0"/>
          </a:p>
        </p:txBody>
      </p:sp>
      <p:sp>
        <p:nvSpPr>
          <p:cNvPr id="35" name="Shape 33"/>
          <p:cNvSpPr/>
          <p:nvPr/>
        </p:nvSpPr>
        <p:spPr>
          <a:xfrm>
            <a:off x="4347556" y="3234690"/>
            <a:ext cx="146304" cy="146304"/>
          </a:xfrm>
          <a:prstGeom prst="ellipse">
            <a:avLst/>
          </a:prstGeom>
          <a:solidFill>
            <a:srgbClr val="2477B3"/>
          </a:solidFill>
          <a:ln w="12700">
            <a:solidFill>
              <a:srgbClr val="2477B3"/>
            </a:solidFill>
            <a:prstDash val="solid"/>
          </a:ln>
        </p:spPr>
        <p:txBody>
          <a:bodyPr/>
          <a:lstStyle/>
          <a:p>
            <a:endParaRPr/>
          </a:p>
        </p:txBody>
      </p:sp>
      <p:sp>
        <p:nvSpPr>
          <p:cNvPr id="36" name="Text 34"/>
          <p:cNvSpPr txBox="1"/>
          <p:nvPr/>
        </p:nvSpPr>
        <p:spPr>
          <a:xfrm>
            <a:off x="4256116"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T06</a:t>
            </a:r>
            <a:endParaRPr lang="en-US" sz="900" dirty="0"/>
          </a:p>
        </p:txBody>
      </p:sp>
      <p:sp>
        <p:nvSpPr>
          <p:cNvPr id="37" name="Shape 35"/>
          <p:cNvSpPr/>
          <p:nvPr/>
        </p:nvSpPr>
        <p:spPr>
          <a:xfrm>
            <a:off x="5070764" y="2699766"/>
            <a:ext cx="146304" cy="146304"/>
          </a:xfrm>
          <a:prstGeom prst="ellipse">
            <a:avLst/>
          </a:prstGeom>
          <a:solidFill>
            <a:srgbClr val="2477B3"/>
          </a:solidFill>
          <a:ln w="12700">
            <a:solidFill>
              <a:srgbClr val="2477B3"/>
            </a:solidFill>
            <a:prstDash val="solid"/>
          </a:ln>
        </p:spPr>
        <p:txBody>
          <a:bodyPr/>
          <a:lstStyle/>
          <a:p>
            <a:endParaRPr/>
          </a:p>
        </p:txBody>
      </p:sp>
      <p:sp>
        <p:nvSpPr>
          <p:cNvPr id="38" name="Text 36"/>
          <p:cNvSpPr txBox="1"/>
          <p:nvPr/>
        </p:nvSpPr>
        <p:spPr>
          <a:xfrm>
            <a:off x="4979324"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T07</a:t>
            </a:r>
            <a:endParaRPr lang="en-US" sz="900" dirty="0"/>
          </a:p>
        </p:txBody>
      </p:sp>
      <p:sp>
        <p:nvSpPr>
          <p:cNvPr id="39" name="Shape 37"/>
          <p:cNvSpPr/>
          <p:nvPr/>
        </p:nvSpPr>
        <p:spPr>
          <a:xfrm>
            <a:off x="5793971" y="2967228"/>
            <a:ext cx="146304" cy="146304"/>
          </a:xfrm>
          <a:prstGeom prst="ellipse">
            <a:avLst/>
          </a:prstGeom>
          <a:solidFill>
            <a:srgbClr val="2477B3"/>
          </a:solidFill>
          <a:ln w="12700">
            <a:solidFill>
              <a:srgbClr val="2477B3"/>
            </a:solidFill>
            <a:prstDash val="solid"/>
          </a:ln>
        </p:spPr>
        <p:txBody>
          <a:bodyPr/>
          <a:lstStyle/>
          <a:p>
            <a:endParaRPr/>
          </a:p>
        </p:txBody>
      </p:sp>
      <p:sp>
        <p:nvSpPr>
          <p:cNvPr id="40" name="Text 38"/>
          <p:cNvSpPr txBox="1"/>
          <p:nvPr/>
        </p:nvSpPr>
        <p:spPr>
          <a:xfrm>
            <a:off x="5702531"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T08</a:t>
            </a:r>
            <a:endParaRPr lang="en-US" sz="900" dirty="0"/>
          </a:p>
        </p:txBody>
      </p:sp>
      <p:sp>
        <p:nvSpPr>
          <p:cNvPr id="41" name="Shape 39"/>
          <p:cNvSpPr/>
          <p:nvPr/>
        </p:nvSpPr>
        <p:spPr>
          <a:xfrm>
            <a:off x="6517178" y="5106924"/>
            <a:ext cx="146304" cy="146304"/>
          </a:xfrm>
          <a:prstGeom prst="ellipse">
            <a:avLst/>
          </a:prstGeom>
          <a:solidFill>
            <a:srgbClr val="C94B50"/>
          </a:solidFill>
          <a:ln w="12700">
            <a:solidFill>
              <a:srgbClr val="C94B50"/>
            </a:solidFill>
            <a:prstDash val="solid"/>
          </a:ln>
        </p:spPr>
        <p:txBody>
          <a:bodyPr/>
          <a:lstStyle/>
          <a:p>
            <a:endParaRPr/>
          </a:p>
        </p:txBody>
      </p:sp>
      <p:sp>
        <p:nvSpPr>
          <p:cNvPr id="42" name="Text 40"/>
          <p:cNvSpPr txBox="1"/>
          <p:nvPr/>
        </p:nvSpPr>
        <p:spPr>
          <a:xfrm>
            <a:off x="6425738"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T09</a:t>
            </a:r>
            <a:endParaRPr lang="en-US" sz="900" dirty="0"/>
          </a:p>
        </p:txBody>
      </p:sp>
      <p:sp>
        <p:nvSpPr>
          <p:cNvPr id="43" name="Shape 41"/>
          <p:cNvSpPr/>
          <p:nvPr/>
        </p:nvSpPr>
        <p:spPr>
          <a:xfrm>
            <a:off x="7240385" y="5285232"/>
            <a:ext cx="146304" cy="146304"/>
          </a:xfrm>
          <a:prstGeom prst="ellipse">
            <a:avLst/>
          </a:prstGeom>
          <a:solidFill>
            <a:srgbClr val="C94B50"/>
          </a:solidFill>
          <a:ln w="12700">
            <a:solidFill>
              <a:srgbClr val="C94B50"/>
            </a:solidFill>
            <a:prstDash val="solid"/>
          </a:ln>
        </p:spPr>
        <p:txBody>
          <a:bodyPr/>
          <a:lstStyle/>
          <a:p>
            <a:endParaRPr/>
          </a:p>
        </p:txBody>
      </p:sp>
      <p:sp>
        <p:nvSpPr>
          <p:cNvPr id="44" name="Text 42"/>
          <p:cNvSpPr txBox="1"/>
          <p:nvPr/>
        </p:nvSpPr>
        <p:spPr>
          <a:xfrm>
            <a:off x="7148945"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T10</a:t>
            </a:r>
            <a:endParaRPr lang="en-US" sz="900" dirty="0"/>
          </a:p>
        </p:txBody>
      </p:sp>
      <p:sp>
        <p:nvSpPr>
          <p:cNvPr id="45" name="Shape 43"/>
          <p:cNvSpPr/>
          <p:nvPr/>
        </p:nvSpPr>
        <p:spPr>
          <a:xfrm>
            <a:off x="7963593" y="2878074"/>
            <a:ext cx="146304" cy="146304"/>
          </a:xfrm>
          <a:prstGeom prst="ellipse">
            <a:avLst/>
          </a:prstGeom>
          <a:solidFill>
            <a:srgbClr val="2477B3"/>
          </a:solidFill>
          <a:ln w="12700">
            <a:solidFill>
              <a:srgbClr val="2477B3"/>
            </a:solidFill>
            <a:prstDash val="solid"/>
          </a:ln>
        </p:spPr>
        <p:txBody>
          <a:bodyPr/>
          <a:lstStyle/>
          <a:p>
            <a:endParaRPr/>
          </a:p>
        </p:txBody>
      </p:sp>
      <p:sp>
        <p:nvSpPr>
          <p:cNvPr id="46" name="Text 44"/>
          <p:cNvSpPr txBox="1"/>
          <p:nvPr/>
        </p:nvSpPr>
        <p:spPr>
          <a:xfrm>
            <a:off x="7872153"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T11</a:t>
            </a:r>
            <a:endParaRPr lang="en-US" sz="900" dirty="0"/>
          </a:p>
        </p:txBody>
      </p:sp>
      <p:sp>
        <p:nvSpPr>
          <p:cNvPr id="47" name="Shape 45"/>
          <p:cNvSpPr/>
          <p:nvPr/>
        </p:nvSpPr>
        <p:spPr>
          <a:xfrm>
            <a:off x="8686800" y="5196078"/>
            <a:ext cx="146304" cy="146304"/>
          </a:xfrm>
          <a:prstGeom prst="ellipse">
            <a:avLst/>
          </a:prstGeom>
          <a:solidFill>
            <a:srgbClr val="C94B50"/>
          </a:solidFill>
          <a:ln w="12700">
            <a:solidFill>
              <a:srgbClr val="C94B50"/>
            </a:solidFill>
            <a:prstDash val="solid"/>
          </a:ln>
        </p:spPr>
        <p:txBody>
          <a:bodyPr/>
          <a:lstStyle/>
          <a:p>
            <a:endParaRPr/>
          </a:p>
        </p:txBody>
      </p:sp>
      <p:sp>
        <p:nvSpPr>
          <p:cNvPr id="48" name="Text 46"/>
          <p:cNvSpPr txBox="1"/>
          <p:nvPr/>
        </p:nvSpPr>
        <p:spPr>
          <a:xfrm>
            <a:off x="8595360"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T12</a:t>
            </a:r>
            <a:endParaRPr lang="en-US" sz="900" dirty="0"/>
          </a:p>
        </p:txBody>
      </p:sp>
      <p:sp>
        <p:nvSpPr>
          <p:cNvPr id="49" name="Shape 47"/>
          <p:cNvSpPr/>
          <p:nvPr/>
        </p:nvSpPr>
        <p:spPr>
          <a:xfrm>
            <a:off x="9372600" y="2240280"/>
            <a:ext cx="1965960" cy="3429000"/>
          </a:xfrm>
          <a:prstGeom prst="roundRect">
            <a:avLst>
              <a:gd name="adj" fmla="val 3721"/>
            </a:avLst>
          </a:prstGeom>
          <a:solidFill>
            <a:srgbClr val="FFFFFF"/>
          </a:solidFill>
          <a:ln w="12700">
            <a:solidFill>
              <a:srgbClr val="C8D9DC"/>
            </a:solidFill>
            <a:prstDash val="solid"/>
          </a:ln>
        </p:spPr>
        <p:txBody>
          <a:bodyPr/>
          <a:lstStyle/>
          <a:p>
            <a:endParaRPr/>
          </a:p>
        </p:txBody>
      </p:sp>
      <p:sp>
        <p:nvSpPr>
          <p:cNvPr id="50" name="Text 48"/>
          <p:cNvSpPr txBox="1"/>
          <p:nvPr/>
        </p:nvSpPr>
        <p:spPr>
          <a:xfrm>
            <a:off x="9601200" y="2514600"/>
            <a:ext cx="1508760" cy="384048"/>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Read left → right</a:t>
            </a:r>
            <a:endParaRPr lang="en-US" sz="1700" dirty="0"/>
          </a:p>
        </p:txBody>
      </p:sp>
      <p:sp>
        <p:nvSpPr>
          <p:cNvPr id="51" name="Text 49"/>
          <p:cNvSpPr txBox="1"/>
          <p:nvPr/>
        </p:nvSpPr>
        <p:spPr>
          <a:xfrm>
            <a:off x="9628632" y="3108960"/>
            <a:ext cx="1444752" cy="201168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Baseline</a:t>
            </a: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T01–T08</a:t>
            </a:r>
            <a:endParaRPr lang="en-US" sz="1400" dirty="0"/>
          </a:p>
          <a:p>
            <a:pPr marL="0" indent="0" algn="ctr">
              <a:buNone/>
            </a:pP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Monitoring</a:t>
            </a: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T09–T12</a:t>
            </a:r>
            <a:endParaRPr lang="en-US" sz="1400" dirty="0"/>
          </a:p>
          <a:p>
            <a:pPr marL="0" indent="0" algn="ctr">
              <a:buNone/>
            </a:pP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Signals</a:t>
            </a: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T09, T10, T12</a:t>
            </a:r>
            <a:endParaRPr lang="en-US" sz="1400" dirty="0"/>
          </a:p>
        </p:txBody>
      </p:sp>
      <p:sp>
        <p:nvSpPr>
          <p:cNvPr id="52" name="Text 5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5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90</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Common cause and special cause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Separate routine variation from a signal worth investigating</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5358384"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Common cause</a:t>
            </a:r>
            <a:endParaRPr lang="en-US" sz="2100" dirty="0"/>
          </a:p>
        </p:txBody>
      </p:sp>
      <p:sp>
        <p:nvSpPr>
          <p:cNvPr id="10" name="Text 8"/>
          <p:cNvSpPr txBox="1"/>
          <p:nvPr/>
        </p:nvSpPr>
        <p:spPr>
          <a:xfrm>
            <a:off x="859536"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Small fluctuations produced by the current process system.</a:t>
            </a:r>
            <a:endParaRPr lang="en-US" sz="1700" dirty="0"/>
          </a:p>
        </p:txBody>
      </p:sp>
      <p:sp>
        <p:nvSpPr>
          <p:cNvPr id="11" name="Shape 9"/>
          <p:cNvSpPr/>
          <p:nvPr/>
        </p:nvSpPr>
        <p:spPr>
          <a:xfrm>
            <a:off x="6181344"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6181344" y="2057400"/>
            <a:ext cx="5358384"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6437376"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Special cause</a:t>
            </a:r>
            <a:endParaRPr lang="en-US" sz="2100" dirty="0"/>
          </a:p>
        </p:txBody>
      </p:sp>
      <p:sp>
        <p:nvSpPr>
          <p:cNvPr id="14" name="Text 12"/>
          <p:cNvSpPr txBox="1"/>
          <p:nvPr/>
        </p:nvSpPr>
        <p:spPr>
          <a:xfrm>
            <a:off x="6473952"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An unusual point or pattern indicating something changed.</a:t>
            </a:r>
            <a:endParaRPr lang="en-US" sz="1700" dirty="0"/>
          </a:p>
        </p:txBody>
      </p:sp>
      <p:sp>
        <p:nvSpPr>
          <p:cNvPr id="15" name="Text 1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91</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Read signals with agreed rules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One point beyond a limit is the simplest rule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Point beyond UCL/LCL</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Immediate investigation signal</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Long run on one side</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Possible shift</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Sustained trend</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Possible drift</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Repeating pattern</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Possible cyclic influence</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92</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Control limits are not specification limits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Behaviour and requirement answer different questions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3486912"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Control limits</a:t>
            </a:r>
            <a:endParaRPr lang="en-US" sz="2100" dirty="0"/>
          </a:p>
        </p:txBody>
      </p:sp>
      <p:sp>
        <p:nvSpPr>
          <p:cNvPr id="10" name="Text 8"/>
          <p:cNvSpPr txBox="1"/>
          <p:nvPr/>
        </p:nvSpPr>
        <p:spPr>
          <a:xfrm>
            <a:off x="859536"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Calculated from process data; show expected behaviour.</a:t>
            </a:r>
            <a:endParaRPr lang="en-US" sz="1700" dirty="0"/>
          </a:p>
        </p:txBody>
      </p:sp>
      <p:sp>
        <p:nvSpPr>
          <p:cNvPr id="11" name="Shape 9"/>
          <p:cNvSpPr/>
          <p:nvPr/>
        </p:nvSpPr>
        <p:spPr>
          <a:xfrm>
            <a:off x="4309872"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4309872" y="2057400"/>
            <a:ext cx="3486912"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4565904"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Specification limits</a:t>
            </a:r>
            <a:endParaRPr lang="en-US" sz="2100" dirty="0"/>
          </a:p>
        </p:txBody>
      </p:sp>
      <p:sp>
        <p:nvSpPr>
          <p:cNvPr id="14" name="Text 12"/>
          <p:cNvSpPr txBox="1"/>
          <p:nvPr/>
        </p:nvSpPr>
        <p:spPr>
          <a:xfrm>
            <a:off x="4602480"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Set by design, customer or regulation; show acceptable result.</a:t>
            </a:r>
            <a:endParaRPr lang="en-US" sz="1700" dirty="0"/>
          </a:p>
        </p:txBody>
      </p:sp>
      <p:sp>
        <p:nvSpPr>
          <p:cNvPr id="15" name="Shape 13"/>
          <p:cNvSpPr/>
          <p:nvPr/>
        </p:nvSpPr>
        <p:spPr>
          <a:xfrm>
            <a:off x="8052816" y="2057400"/>
            <a:ext cx="3486912" cy="3959352"/>
          </a:xfrm>
          <a:prstGeom prst="roundRect">
            <a:avLst>
              <a:gd name="adj" fmla="val 2098"/>
            </a:avLst>
          </a:prstGeom>
          <a:solidFill>
            <a:srgbClr val="E2EEF0"/>
          </a:solidFill>
          <a:ln w="12700">
            <a:solidFill>
              <a:srgbClr val="C8D9DC"/>
            </a:solidFill>
            <a:prstDash val="solid"/>
          </a:ln>
        </p:spPr>
        <p:txBody>
          <a:bodyPr/>
          <a:lstStyle/>
          <a:p>
            <a:endParaRPr lang="en-US"/>
          </a:p>
        </p:txBody>
      </p:sp>
      <p:sp>
        <p:nvSpPr>
          <p:cNvPr id="16" name="Shape 14"/>
          <p:cNvSpPr/>
          <p:nvPr/>
        </p:nvSpPr>
        <p:spPr>
          <a:xfrm>
            <a:off x="8052816" y="2057400"/>
            <a:ext cx="3486912"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8308848"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F4A62A"/>
                </a:solidFill>
                <a:latin typeface="Aptos" pitchFamily="34" charset="0"/>
                <a:ea typeface="Aptos" pitchFamily="34" charset="-122"/>
                <a:cs typeface="Aptos" pitchFamily="34" charset="-120"/>
              </a:rPr>
              <a:t>Example</a:t>
            </a:r>
            <a:endParaRPr lang="en-US" sz="2100" dirty="0"/>
          </a:p>
        </p:txBody>
      </p:sp>
      <p:sp>
        <p:nvSpPr>
          <p:cNvPr id="18" name="Text 16"/>
          <p:cNvSpPr txBox="1"/>
          <p:nvPr/>
        </p:nvSpPr>
        <p:spPr>
          <a:xfrm>
            <a:off x="8345424"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59.5 L/h meets 58.9–65.1 spec but is below the 61.4 LCL.</a:t>
            </a:r>
            <a:endParaRPr lang="en-US" sz="1700" dirty="0"/>
          </a:p>
        </p:txBody>
      </p:sp>
      <p:sp>
        <p:nvSpPr>
          <p:cNvPr id="19" name="Text 17"/>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93</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Cp and Cpk in plain terms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Capability compares stable process spread with specifications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331720"/>
            <a:ext cx="2592324" cy="3337560"/>
          </a:xfrm>
          <a:prstGeom prst="roundRect">
            <a:avLst>
              <a:gd name="adj" fmla="val 2822"/>
            </a:avLst>
          </a:prstGeom>
          <a:solidFill>
            <a:srgbClr val="FFFFFF"/>
          </a:solidFill>
          <a:ln w="12700">
            <a:solidFill>
              <a:srgbClr val="C8D9DC"/>
            </a:solidFill>
            <a:prstDash val="solid"/>
          </a:ln>
        </p:spPr>
        <p:txBody>
          <a:bodyPr/>
          <a:lstStyle/>
          <a:p>
            <a:endParaRPr lang="en-US"/>
          </a:p>
        </p:txBody>
      </p:sp>
      <p:sp>
        <p:nvSpPr>
          <p:cNvPr id="8" name="Text 6"/>
          <p:cNvSpPr txBox="1"/>
          <p:nvPr/>
        </p:nvSpPr>
        <p:spPr>
          <a:xfrm>
            <a:off x="749808"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Cp</a:t>
            </a:r>
            <a:endParaRPr lang="en-US" sz="1800" dirty="0"/>
          </a:p>
        </p:txBody>
      </p:sp>
      <p:sp>
        <p:nvSpPr>
          <p:cNvPr id="9" name="Text 7"/>
          <p:cNvSpPr txBox="1"/>
          <p:nvPr/>
        </p:nvSpPr>
        <p:spPr>
          <a:xfrm>
            <a:off x="749808"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Could the spread fit if centred?</a:t>
            </a:r>
            <a:endParaRPr lang="en-US" sz="2100" dirty="0"/>
          </a:p>
        </p:txBody>
      </p:sp>
      <p:sp>
        <p:nvSpPr>
          <p:cNvPr id="10" name="Shape 8"/>
          <p:cNvSpPr/>
          <p:nvPr/>
        </p:nvSpPr>
        <p:spPr>
          <a:xfrm>
            <a:off x="3360420" y="2331720"/>
            <a:ext cx="2592324" cy="3337560"/>
          </a:xfrm>
          <a:prstGeom prst="roundRect">
            <a:avLst>
              <a:gd name="adj" fmla="val 2822"/>
            </a:avLst>
          </a:prstGeom>
          <a:solidFill>
            <a:srgbClr val="FFFFFF"/>
          </a:solidFill>
          <a:ln w="12700">
            <a:solidFill>
              <a:srgbClr val="C8D9DC"/>
            </a:solidFill>
            <a:prstDash val="solid"/>
          </a:ln>
        </p:spPr>
        <p:txBody>
          <a:bodyPr/>
          <a:lstStyle/>
          <a:p>
            <a:endParaRPr lang="en-US"/>
          </a:p>
        </p:txBody>
      </p:sp>
      <p:sp>
        <p:nvSpPr>
          <p:cNvPr id="11" name="Text 9"/>
          <p:cNvSpPr txBox="1"/>
          <p:nvPr/>
        </p:nvSpPr>
        <p:spPr>
          <a:xfrm>
            <a:off x="3543300"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Cpk</a:t>
            </a:r>
            <a:endParaRPr lang="en-US" sz="1800" dirty="0"/>
          </a:p>
        </p:txBody>
      </p:sp>
      <p:sp>
        <p:nvSpPr>
          <p:cNvPr id="12" name="Text 10"/>
          <p:cNvSpPr txBox="1"/>
          <p:nvPr/>
        </p:nvSpPr>
        <p:spPr>
          <a:xfrm>
            <a:off x="3543300"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Does it fit where the mean actually sits?</a:t>
            </a:r>
            <a:endParaRPr lang="en-US" sz="2100" dirty="0"/>
          </a:p>
        </p:txBody>
      </p:sp>
      <p:sp>
        <p:nvSpPr>
          <p:cNvPr id="13" name="Shape 11"/>
          <p:cNvSpPr/>
          <p:nvPr/>
        </p:nvSpPr>
        <p:spPr>
          <a:xfrm>
            <a:off x="6153912" y="2331720"/>
            <a:ext cx="2592324" cy="3337560"/>
          </a:xfrm>
          <a:prstGeom prst="roundRect">
            <a:avLst>
              <a:gd name="adj" fmla="val 2822"/>
            </a:avLst>
          </a:prstGeom>
          <a:solidFill>
            <a:srgbClr val="FFFFFF"/>
          </a:solidFill>
          <a:ln w="12700">
            <a:solidFill>
              <a:srgbClr val="C8D9DC"/>
            </a:solidFill>
            <a:prstDash val="solid"/>
          </a:ln>
        </p:spPr>
        <p:txBody>
          <a:bodyPr/>
          <a:lstStyle/>
          <a:p>
            <a:endParaRPr lang="en-US"/>
          </a:p>
        </p:txBody>
      </p:sp>
      <p:sp>
        <p:nvSpPr>
          <p:cNvPr id="14" name="Text 12"/>
          <p:cNvSpPr txBox="1"/>
          <p:nvPr/>
        </p:nvSpPr>
        <p:spPr>
          <a:xfrm>
            <a:off x="6336792"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&gt; 1</a:t>
            </a:r>
            <a:endParaRPr lang="en-US" sz="1800" dirty="0"/>
          </a:p>
        </p:txBody>
      </p:sp>
      <p:sp>
        <p:nvSpPr>
          <p:cNvPr id="15" name="Text 13"/>
          <p:cNvSpPr txBox="1"/>
          <p:nvPr/>
        </p:nvSpPr>
        <p:spPr>
          <a:xfrm>
            <a:off x="6336792"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Estimated spread fits inside limits</a:t>
            </a:r>
            <a:endParaRPr lang="en-US" sz="2100" dirty="0"/>
          </a:p>
        </p:txBody>
      </p:sp>
      <p:sp>
        <p:nvSpPr>
          <p:cNvPr id="16" name="Shape 14"/>
          <p:cNvSpPr/>
          <p:nvPr/>
        </p:nvSpPr>
        <p:spPr>
          <a:xfrm>
            <a:off x="8947404" y="2331720"/>
            <a:ext cx="2592324" cy="3337560"/>
          </a:xfrm>
          <a:prstGeom prst="roundRect">
            <a:avLst>
              <a:gd name="adj" fmla="val 2822"/>
            </a:avLst>
          </a:prstGeom>
          <a:solidFill>
            <a:srgbClr val="E2EEF0"/>
          </a:solidFill>
          <a:ln w="12700">
            <a:solidFill>
              <a:srgbClr val="C8D9DC"/>
            </a:solidFill>
            <a:prstDash val="solid"/>
          </a:ln>
        </p:spPr>
        <p:txBody>
          <a:bodyPr/>
          <a:lstStyle/>
          <a:p>
            <a:endParaRPr lang="en-US"/>
          </a:p>
        </p:txBody>
      </p:sp>
      <p:sp>
        <p:nvSpPr>
          <p:cNvPr id="17" name="Text 15"/>
          <p:cNvSpPr txBox="1"/>
          <p:nvPr/>
        </p:nvSpPr>
        <p:spPr>
          <a:xfrm>
            <a:off x="9130284"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Check first</a:t>
            </a:r>
            <a:endParaRPr lang="en-US" sz="1800" dirty="0"/>
          </a:p>
        </p:txBody>
      </p:sp>
      <p:sp>
        <p:nvSpPr>
          <p:cNvPr id="18" name="Text 16"/>
          <p:cNvSpPr txBox="1"/>
          <p:nvPr/>
        </p:nvSpPr>
        <p:spPr>
          <a:xfrm>
            <a:off x="9130284"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102B3E"/>
                </a:solidFill>
                <a:latin typeface="Aptos" pitchFamily="34" charset="0"/>
                <a:ea typeface="Aptos" pitchFamily="34" charset="-122"/>
                <a:cs typeface="Aptos" pitchFamily="34" charset="-120"/>
              </a:rPr>
              <a:t>Stability, data quality and distribution</a:t>
            </a:r>
            <a:endParaRPr lang="en-US" sz="2100" dirty="0"/>
          </a:p>
        </p:txBody>
      </p:sp>
      <p:sp>
        <p:nvSpPr>
          <p:cNvPr id="19" name="Text 17"/>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94</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Worked SPC interpretation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Three low monitoring points are signals to investigate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804672" y="5715000"/>
            <a:ext cx="7955280" cy="0"/>
          </a:xfrm>
          <a:prstGeom prst="line">
            <a:avLst/>
          </a:prstGeom>
          <a:noFill/>
          <a:ln w="12700">
            <a:solidFill>
              <a:srgbClr val="536A78"/>
            </a:solidFill>
            <a:prstDash val="solid"/>
          </a:ln>
        </p:spPr>
        <p:txBody>
          <a:bodyPr/>
          <a:lstStyle/>
          <a:p>
            <a:endParaRPr/>
          </a:p>
        </p:txBody>
      </p:sp>
      <p:sp>
        <p:nvSpPr>
          <p:cNvPr id="8" name="Shape 6"/>
          <p:cNvSpPr/>
          <p:nvPr/>
        </p:nvSpPr>
        <p:spPr>
          <a:xfrm>
            <a:off x="804672" y="2505456"/>
            <a:ext cx="7955280" cy="0"/>
          </a:xfrm>
          <a:prstGeom prst="line">
            <a:avLst/>
          </a:prstGeom>
          <a:noFill/>
          <a:ln w="19050">
            <a:solidFill>
              <a:srgbClr val="F4A62A"/>
            </a:solidFill>
            <a:prstDash val="dash"/>
          </a:ln>
        </p:spPr>
        <p:txBody>
          <a:bodyPr/>
          <a:lstStyle/>
          <a:p>
            <a:endParaRPr/>
          </a:p>
        </p:txBody>
      </p:sp>
      <p:sp>
        <p:nvSpPr>
          <p:cNvPr id="9" name="Text 7"/>
          <p:cNvSpPr txBox="1"/>
          <p:nvPr/>
        </p:nvSpPr>
        <p:spPr>
          <a:xfrm>
            <a:off x="8833104" y="2386584"/>
            <a:ext cx="502920" cy="228600"/>
          </a:xfrm>
          <a:prstGeom prst="rect">
            <a:avLst/>
          </a:prstGeom>
          <a:noFill/>
          <a:ln/>
        </p:spPr>
        <p:txBody>
          <a:bodyPr wrap="square" lIns="0" tIns="0" rIns="0" bIns="0" rtlCol="0" anchor="ctr">
            <a:normAutofit/>
          </a:bodyPr>
          <a:lstStyle/>
          <a:p>
            <a:pPr marL="0" indent="0" algn="l">
              <a:buNone/>
            </a:pPr>
            <a:r>
              <a:rPr lang="en-US" sz="1100" b="1" dirty="0">
                <a:solidFill>
                  <a:srgbClr val="F4A62A"/>
                </a:solidFill>
                <a:latin typeface="Aptos" pitchFamily="34" charset="0"/>
                <a:ea typeface="Aptos" pitchFamily="34" charset="-122"/>
                <a:cs typeface="Aptos" pitchFamily="34" charset="-120"/>
              </a:rPr>
              <a:t>UCL</a:t>
            </a:r>
            <a:endParaRPr lang="en-US" sz="1100" dirty="0"/>
          </a:p>
        </p:txBody>
      </p:sp>
      <p:sp>
        <p:nvSpPr>
          <p:cNvPr id="10" name="Shape 8"/>
          <p:cNvSpPr/>
          <p:nvPr/>
        </p:nvSpPr>
        <p:spPr>
          <a:xfrm>
            <a:off x="804672" y="3040380"/>
            <a:ext cx="7955280" cy="0"/>
          </a:xfrm>
          <a:prstGeom prst="line">
            <a:avLst/>
          </a:prstGeom>
          <a:noFill/>
          <a:ln w="19050">
            <a:solidFill>
              <a:srgbClr val="078897"/>
            </a:solidFill>
            <a:prstDash val="dash"/>
          </a:ln>
        </p:spPr>
        <p:txBody>
          <a:bodyPr/>
          <a:lstStyle/>
          <a:p>
            <a:endParaRPr/>
          </a:p>
        </p:txBody>
      </p:sp>
      <p:sp>
        <p:nvSpPr>
          <p:cNvPr id="11" name="Text 9"/>
          <p:cNvSpPr txBox="1"/>
          <p:nvPr/>
        </p:nvSpPr>
        <p:spPr>
          <a:xfrm>
            <a:off x="8833104" y="2921508"/>
            <a:ext cx="502920" cy="228600"/>
          </a:xfrm>
          <a:prstGeom prst="rect">
            <a:avLst/>
          </a:prstGeom>
          <a:noFill/>
          <a:ln/>
        </p:spPr>
        <p:txBody>
          <a:bodyPr wrap="square" lIns="0" tIns="0" rIns="0" bIns="0" rtlCol="0" anchor="ctr">
            <a:normAutofit/>
          </a:bodyPr>
          <a:lstStyle/>
          <a:p>
            <a:pPr marL="0" indent="0" algn="l">
              <a:buNone/>
            </a:pPr>
            <a:r>
              <a:rPr lang="en-US" sz="1100" b="1" dirty="0">
                <a:solidFill>
                  <a:srgbClr val="078897"/>
                </a:solidFill>
                <a:latin typeface="Aptos" pitchFamily="34" charset="0"/>
                <a:ea typeface="Aptos" pitchFamily="34" charset="-122"/>
                <a:cs typeface="Aptos" pitchFamily="34" charset="-120"/>
              </a:rPr>
              <a:t>Mean</a:t>
            </a:r>
            <a:endParaRPr lang="en-US" sz="1100" dirty="0"/>
          </a:p>
        </p:txBody>
      </p:sp>
      <p:sp>
        <p:nvSpPr>
          <p:cNvPr id="12" name="Shape 10"/>
          <p:cNvSpPr/>
          <p:nvPr/>
        </p:nvSpPr>
        <p:spPr>
          <a:xfrm>
            <a:off x="804672" y="3575304"/>
            <a:ext cx="7955280" cy="0"/>
          </a:xfrm>
          <a:prstGeom prst="line">
            <a:avLst/>
          </a:prstGeom>
          <a:noFill/>
          <a:ln w="19050">
            <a:solidFill>
              <a:srgbClr val="C94B50"/>
            </a:solidFill>
            <a:prstDash val="dash"/>
          </a:ln>
        </p:spPr>
        <p:txBody>
          <a:bodyPr/>
          <a:lstStyle/>
          <a:p>
            <a:endParaRPr/>
          </a:p>
        </p:txBody>
      </p:sp>
      <p:sp>
        <p:nvSpPr>
          <p:cNvPr id="13" name="Text 11"/>
          <p:cNvSpPr txBox="1"/>
          <p:nvPr/>
        </p:nvSpPr>
        <p:spPr>
          <a:xfrm>
            <a:off x="8833104" y="3456432"/>
            <a:ext cx="502920" cy="228600"/>
          </a:xfrm>
          <a:prstGeom prst="rect">
            <a:avLst/>
          </a:prstGeom>
          <a:noFill/>
          <a:ln/>
        </p:spPr>
        <p:txBody>
          <a:bodyPr wrap="square" lIns="0" tIns="0" rIns="0" bIns="0" rtlCol="0" anchor="ctr">
            <a:normAutofit/>
          </a:bodyPr>
          <a:lstStyle/>
          <a:p>
            <a:pPr marL="0" indent="0" algn="l">
              <a:buNone/>
            </a:pPr>
            <a:r>
              <a:rPr lang="en-US" sz="1100" b="1" dirty="0">
                <a:solidFill>
                  <a:srgbClr val="C94B50"/>
                </a:solidFill>
                <a:latin typeface="Aptos" pitchFamily="34" charset="0"/>
                <a:ea typeface="Aptos" pitchFamily="34" charset="-122"/>
                <a:cs typeface="Aptos" pitchFamily="34" charset="-120"/>
              </a:rPr>
              <a:t>LCL</a:t>
            </a:r>
            <a:endParaRPr lang="en-US" sz="1100" dirty="0"/>
          </a:p>
        </p:txBody>
      </p:sp>
      <p:sp>
        <p:nvSpPr>
          <p:cNvPr id="14" name="Shape 12"/>
          <p:cNvSpPr/>
          <p:nvPr/>
        </p:nvSpPr>
        <p:spPr>
          <a:xfrm>
            <a:off x="804672" y="3218688"/>
            <a:ext cx="723207" cy="0"/>
          </a:xfrm>
          <a:prstGeom prst="line">
            <a:avLst/>
          </a:prstGeom>
          <a:noFill/>
          <a:ln w="25400">
            <a:solidFill>
              <a:srgbClr val="2477B3"/>
            </a:solidFill>
            <a:prstDash val="solid"/>
          </a:ln>
        </p:spPr>
        <p:txBody>
          <a:bodyPr/>
          <a:lstStyle/>
          <a:p>
            <a:endParaRPr/>
          </a:p>
        </p:txBody>
      </p:sp>
      <p:sp>
        <p:nvSpPr>
          <p:cNvPr id="15" name="Shape 13"/>
          <p:cNvSpPr/>
          <p:nvPr/>
        </p:nvSpPr>
        <p:spPr>
          <a:xfrm>
            <a:off x="1527879" y="2951226"/>
            <a:ext cx="723207" cy="178308"/>
          </a:xfrm>
          <a:prstGeom prst="line">
            <a:avLst/>
          </a:prstGeom>
          <a:noFill/>
          <a:ln w="25400">
            <a:solidFill>
              <a:srgbClr val="2477B3"/>
            </a:solidFill>
            <a:prstDash val="solid"/>
          </a:ln>
        </p:spPr>
        <p:txBody>
          <a:bodyPr/>
          <a:lstStyle/>
          <a:p>
            <a:endParaRPr/>
          </a:p>
        </p:txBody>
      </p:sp>
      <p:sp>
        <p:nvSpPr>
          <p:cNvPr id="16" name="Shape 14"/>
          <p:cNvSpPr/>
          <p:nvPr/>
        </p:nvSpPr>
        <p:spPr>
          <a:xfrm>
            <a:off x="2251087" y="3129534"/>
            <a:ext cx="723207" cy="0"/>
          </a:xfrm>
          <a:prstGeom prst="line">
            <a:avLst/>
          </a:prstGeom>
          <a:noFill/>
          <a:ln w="25400">
            <a:solidFill>
              <a:srgbClr val="2477B3"/>
            </a:solidFill>
            <a:prstDash val="solid"/>
          </a:ln>
        </p:spPr>
        <p:txBody>
          <a:bodyPr/>
          <a:lstStyle/>
          <a:p>
            <a:endParaRPr/>
          </a:p>
        </p:txBody>
      </p:sp>
      <p:sp>
        <p:nvSpPr>
          <p:cNvPr id="17" name="Shape 15"/>
          <p:cNvSpPr/>
          <p:nvPr/>
        </p:nvSpPr>
        <p:spPr>
          <a:xfrm>
            <a:off x="2974294" y="2862072"/>
            <a:ext cx="723207" cy="178308"/>
          </a:xfrm>
          <a:prstGeom prst="line">
            <a:avLst/>
          </a:prstGeom>
          <a:noFill/>
          <a:ln w="25400">
            <a:solidFill>
              <a:srgbClr val="2477B3"/>
            </a:solidFill>
            <a:prstDash val="solid"/>
          </a:ln>
        </p:spPr>
        <p:txBody>
          <a:bodyPr/>
          <a:lstStyle/>
          <a:p>
            <a:endParaRPr/>
          </a:p>
        </p:txBody>
      </p:sp>
      <p:sp>
        <p:nvSpPr>
          <p:cNvPr id="18" name="Shape 16"/>
          <p:cNvSpPr/>
          <p:nvPr/>
        </p:nvSpPr>
        <p:spPr>
          <a:xfrm>
            <a:off x="3697501" y="3040380"/>
            <a:ext cx="723207" cy="267462"/>
          </a:xfrm>
          <a:prstGeom prst="line">
            <a:avLst/>
          </a:prstGeom>
          <a:noFill/>
          <a:ln w="25400">
            <a:solidFill>
              <a:srgbClr val="2477B3"/>
            </a:solidFill>
            <a:prstDash val="solid"/>
          </a:ln>
        </p:spPr>
        <p:txBody>
          <a:bodyPr/>
          <a:lstStyle/>
          <a:p>
            <a:endParaRPr/>
          </a:p>
        </p:txBody>
      </p:sp>
      <p:sp>
        <p:nvSpPr>
          <p:cNvPr id="19" name="Shape 17"/>
          <p:cNvSpPr/>
          <p:nvPr/>
        </p:nvSpPr>
        <p:spPr>
          <a:xfrm>
            <a:off x="4420708" y="3307842"/>
            <a:ext cx="723207" cy="0"/>
          </a:xfrm>
          <a:prstGeom prst="line">
            <a:avLst/>
          </a:prstGeom>
          <a:noFill/>
          <a:ln w="25400">
            <a:solidFill>
              <a:srgbClr val="2477B3"/>
            </a:solidFill>
            <a:prstDash val="solid"/>
          </a:ln>
        </p:spPr>
        <p:txBody>
          <a:bodyPr/>
          <a:lstStyle/>
          <a:p>
            <a:endParaRPr/>
          </a:p>
        </p:txBody>
      </p:sp>
      <p:sp>
        <p:nvSpPr>
          <p:cNvPr id="20" name="Shape 18"/>
          <p:cNvSpPr/>
          <p:nvPr/>
        </p:nvSpPr>
        <p:spPr>
          <a:xfrm>
            <a:off x="5143916" y="2772918"/>
            <a:ext cx="723207" cy="267462"/>
          </a:xfrm>
          <a:prstGeom prst="line">
            <a:avLst/>
          </a:prstGeom>
          <a:noFill/>
          <a:ln w="25400">
            <a:solidFill>
              <a:srgbClr val="2477B3"/>
            </a:solidFill>
            <a:prstDash val="solid"/>
          </a:ln>
        </p:spPr>
        <p:txBody>
          <a:bodyPr/>
          <a:lstStyle/>
          <a:p>
            <a:endParaRPr/>
          </a:p>
        </p:txBody>
      </p:sp>
      <p:sp>
        <p:nvSpPr>
          <p:cNvPr id="21" name="Shape 19"/>
          <p:cNvSpPr/>
          <p:nvPr/>
        </p:nvSpPr>
        <p:spPr>
          <a:xfrm>
            <a:off x="5867123" y="3040380"/>
            <a:ext cx="723207" cy="2139696"/>
          </a:xfrm>
          <a:prstGeom prst="line">
            <a:avLst/>
          </a:prstGeom>
          <a:noFill/>
          <a:ln w="25400">
            <a:solidFill>
              <a:srgbClr val="2477B3"/>
            </a:solidFill>
            <a:prstDash val="solid"/>
          </a:ln>
        </p:spPr>
        <p:txBody>
          <a:bodyPr/>
          <a:lstStyle/>
          <a:p>
            <a:endParaRPr/>
          </a:p>
        </p:txBody>
      </p:sp>
      <p:sp>
        <p:nvSpPr>
          <p:cNvPr id="22" name="Shape 20"/>
          <p:cNvSpPr/>
          <p:nvPr/>
        </p:nvSpPr>
        <p:spPr>
          <a:xfrm>
            <a:off x="6590330" y="5180076"/>
            <a:ext cx="723207" cy="178308"/>
          </a:xfrm>
          <a:prstGeom prst="line">
            <a:avLst/>
          </a:prstGeom>
          <a:noFill/>
          <a:ln w="25400">
            <a:solidFill>
              <a:srgbClr val="2477B3"/>
            </a:solidFill>
            <a:prstDash val="solid"/>
          </a:ln>
        </p:spPr>
        <p:txBody>
          <a:bodyPr/>
          <a:lstStyle/>
          <a:p>
            <a:endParaRPr/>
          </a:p>
        </p:txBody>
      </p:sp>
      <p:sp>
        <p:nvSpPr>
          <p:cNvPr id="23" name="Shape 21"/>
          <p:cNvSpPr/>
          <p:nvPr/>
        </p:nvSpPr>
        <p:spPr>
          <a:xfrm>
            <a:off x="7313537" y="5358384"/>
            <a:ext cx="723207" cy="0"/>
          </a:xfrm>
          <a:prstGeom prst="line">
            <a:avLst/>
          </a:prstGeom>
          <a:noFill/>
          <a:ln w="25400">
            <a:solidFill>
              <a:srgbClr val="2477B3"/>
            </a:solidFill>
            <a:prstDash val="solid"/>
          </a:ln>
        </p:spPr>
        <p:txBody>
          <a:bodyPr/>
          <a:lstStyle/>
          <a:p>
            <a:endParaRPr/>
          </a:p>
        </p:txBody>
      </p:sp>
      <p:sp>
        <p:nvSpPr>
          <p:cNvPr id="24" name="Shape 22"/>
          <p:cNvSpPr/>
          <p:nvPr/>
        </p:nvSpPr>
        <p:spPr>
          <a:xfrm>
            <a:off x="8036745" y="2951226"/>
            <a:ext cx="723207" cy="2318004"/>
          </a:xfrm>
          <a:prstGeom prst="line">
            <a:avLst/>
          </a:prstGeom>
          <a:noFill/>
          <a:ln w="25400">
            <a:solidFill>
              <a:srgbClr val="2477B3"/>
            </a:solidFill>
            <a:prstDash val="solid"/>
          </a:ln>
        </p:spPr>
        <p:txBody>
          <a:bodyPr/>
          <a:lstStyle/>
          <a:p>
            <a:endParaRPr/>
          </a:p>
        </p:txBody>
      </p:sp>
      <p:sp>
        <p:nvSpPr>
          <p:cNvPr id="25" name="Shape 23"/>
          <p:cNvSpPr/>
          <p:nvPr/>
        </p:nvSpPr>
        <p:spPr>
          <a:xfrm>
            <a:off x="731520" y="3145536"/>
            <a:ext cx="146304" cy="146304"/>
          </a:xfrm>
          <a:prstGeom prst="ellipse">
            <a:avLst/>
          </a:prstGeom>
          <a:solidFill>
            <a:srgbClr val="2477B3"/>
          </a:solidFill>
          <a:ln w="12700">
            <a:solidFill>
              <a:srgbClr val="2477B3"/>
            </a:solidFill>
            <a:prstDash val="solid"/>
          </a:ln>
        </p:spPr>
        <p:txBody>
          <a:bodyPr/>
          <a:lstStyle/>
          <a:p>
            <a:endParaRPr/>
          </a:p>
        </p:txBody>
      </p:sp>
      <p:sp>
        <p:nvSpPr>
          <p:cNvPr id="26" name="Text 24"/>
          <p:cNvSpPr txBox="1"/>
          <p:nvPr/>
        </p:nvSpPr>
        <p:spPr>
          <a:xfrm>
            <a:off x="640080"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T01</a:t>
            </a:r>
            <a:endParaRPr lang="en-US" sz="900" dirty="0"/>
          </a:p>
        </p:txBody>
      </p:sp>
      <p:sp>
        <p:nvSpPr>
          <p:cNvPr id="27" name="Shape 25"/>
          <p:cNvSpPr/>
          <p:nvPr/>
        </p:nvSpPr>
        <p:spPr>
          <a:xfrm>
            <a:off x="1454727" y="2878074"/>
            <a:ext cx="146304" cy="146304"/>
          </a:xfrm>
          <a:prstGeom prst="ellipse">
            <a:avLst/>
          </a:prstGeom>
          <a:solidFill>
            <a:srgbClr val="2477B3"/>
          </a:solidFill>
          <a:ln w="12700">
            <a:solidFill>
              <a:srgbClr val="2477B3"/>
            </a:solidFill>
            <a:prstDash val="solid"/>
          </a:ln>
        </p:spPr>
        <p:txBody>
          <a:bodyPr/>
          <a:lstStyle/>
          <a:p>
            <a:endParaRPr/>
          </a:p>
        </p:txBody>
      </p:sp>
      <p:sp>
        <p:nvSpPr>
          <p:cNvPr id="28" name="Text 26"/>
          <p:cNvSpPr txBox="1"/>
          <p:nvPr/>
        </p:nvSpPr>
        <p:spPr>
          <a:xfrm>
            <a:off x="1363287"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T02</a:t>
            </a:r>
            <a:endParaRPr lang="en-US" sz="900" dirty="0"/>
          </a:p>
        </p:txBody>
      </p:sp>
      <p:sp>
        <p:nvSpPr>
          <p:cNvPr id="29" name="Shape 27"/>
          <p:cNvSpPr/>
          <p:nvPr/>
        </p:nvSpPr>
        <p:spPr>
          <a:xfrm>
            <a:off x="2177935" y="3056382"/>
            <a:ext cx="146304" cy="146304"/>
          </a:xfrm>
          <a:prstGeom prst="ellipse">
            <a:avLst/>
          </a:prstGeom>
          <a:solidFill>
            <a:srgbClr val="2477B3"/>
          </a:solidFill>
          <a:ln w="12700">
            <a:solidFill>
              <a:srgbClr val="2477B3"/>
            </a:solidFill>
            <a:prstDash val="solid"/>
          </a:ln>
        </p:spPr>
        <p:txBody>
          <a:bodyPr/>
          <a:lstStyle/>
          <a:p>
            <a:endParaRPr/>
          </a:p>
        </p:txBody>
      </p:sp>
      <p:sp>
        <p:nvSpPr>
          <p:cNvPr id="30" name="Text 28"/>
          <p:cNvSpPr txBox="1"/>
          <p:nvPr/>
        </p:nvSpPr>
        <p:spPr>
          <a:xfrm>
            <a:off x="2086495"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T03</a:t>
            </a:r>
            <a:endParaRPr lang="en-US" sz="900" dirty="0"/>
          </a:p>
        </p:txBody>
      </p:sp>
      <p:sp>
        <p:nvSpPr>
          <p:cNvPr id="31" name="Shape 29"/>
          <p:cNvSpPr/>
          <p:nvPr/>
        </p:nvSpPr>
        <p:spPr>
          <a:xfrm>
            <a:off x="2901142" y="2788920"/>
            <a:ext cx="146304" cy="146304"/>
          </a:xfrm>
          <a:prstGeom prst="ellipse">
            <a:avLst/>
          </a:prstGeom>
          <a:solidFill>
            <a:srgbClr val="2477B3"/>
          </a:solidFill>
          <a:ln w="12700">
            <a:solidFill>
              <a:srgbClr val="2477B3"/>
            </a:solidFill>
            <a:prstDash val="solid"/>
          </a:ln>
        </p:spPr>
        <p:txBody>
          <a:bodyPr/>
          <a:lstStyle/>
          <a:p>
            <a:endParaRPr/>
          </a:p>
        </p:txBody>
      </p:sp>
      <p:sp>
        <p:nvSpPr>
          <p:cNvPr id="32" name="Text 30"/>
          <p:cNvSpPr txBox="1"/>
          <p:nvPr/>
        </p:nvSpPr>
        <p:spPr>
          <a:xfrm>
            <a:off x="2809702"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T04</a:t>
            </a:r>
            <a:endParaRPr lang="en-US" sz="900" dirty="0"/>
          </a:p>
        </p:txBody>
      </p:sp>
      <p:sp>
        <p:nvSpPr>
          <p:cNvPr id="33" name="Shape 31"/>
          <p:cNvSpPr/>
          <p:nvPr/>
        </p:nvSpPr>
        <p:spPr>
          <a:xfrm>
            <a:off x="3624349" y="2967228"/>
            <a:ext cx="146304" cy="146304"/>
          </a:xfrm>
          <a:prstGeom prst="ellipse">
            <a:avLst/>
          </a:prstGeom>
          <a:solidFill>
            <a:srgbClr val="2477B3"/>
          </a:solidFill>
          <a:ln w="12700">
            <a:solidFill>
              <a:srgbClr val="2477B3"/>
            </a:solidFill>
            <a:prstDash val="solid"/>
          </a:ln>
        </p:spPr>
        <p:txBody>
          <a:bodyPr/>
          <a:lstStyle/>
          <a:p>
            <a:endParaRPr/>
          </a:p>
        </p:txBody>
      </p:sp>
      <p:sp>
        <p:nvSpPr>
          <p:cNvPr id="34" name="Text 32"/>
          <p:cNvSpPr txBox="1"/>
          <p:nvPr/>
        </p:nvSpPr>
        <p:spPr>
          <a:xfrm>
            <a:off x="3532909"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T05</a:t>
            </a:r>
            <a:endParaRPr lang="en-US" sz="900" dirty="0"/>
          </a:p>
        </p:txBody>
      </p:sp>
      <p:sp>
        <p:nvSpPr>
          <p:cNvPr id="35" name="Shape 33"/>
          <p:cNvSpPr/>
          <p:nvPr/>
        </p:nvSpPr>
        <p:spPr>
          <a:xfrm>
            <a:off x="4347556" y="3234690"/>
            <a:ext cx="146304" cy="146304"/>
          </a:xfrm>
          <a:prstGeom prst="ellipse">
            <a:avLst/>
          </a:prstGeom>
          <a:solidFill>
            <a:srgbClr val="2477B3"/>
          </a:solidFill>
          <a:ln w="12700">
            <a:solidFill>
              <a:srgbClr val="2477B3"/>
            </a:solidFill>
            <a:prstDash val="solid"/>
          </a:ln>
        </p:spPr>
        <p:txBody>
          <a:bodyPr/>
          <a:lstStyle/>
          <a:p>
            <a:endParaRPr/>
          </a:p>
        </p:txBody>
      </p:sp>
      <p:sp>
        <p:nvSpPr>
          <p:cNvPr id="36" name="Text 34"/>
          <p:cNvSpPr txBox="1"/>
          <p:nvPr/>
        </p:nvSpPr>
        <p:spPr>
          <a:xfrm>
            <a:off x="4256116"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T06</a:t>
            </a:r>
            <a:endParaRPr lang="en-US" sz="900" dirty="0"/>
          </a:p>
        </p:txBody>
      </p:sp>
      <p:sp>
        <p:nvSpPr>
          <p:cNvPr id="37" name="Shape 35"/>
          <p:cNvSpPr/>
          <p:nvPr/>
        </p:nvSpPr>
        <p:spPr>
          <a:xfrm>
            <a:off x="5070764" y="2699766"/>
            <a:ext cx="146304" cy="146304"/>
          </a:xfrm>
          <a:prstGeom prst="ellipse">
            <a:avLst/>
          </a:prstGeom>
          <a:solidFill>
            <a:srgbClr val="2477B3"/>
          </a:solidFill>
          <a:ln w="12700">
            <a:solidFill>
              <a:srgbClr val="2477B3"/>
            </a:solidFill>
            <a:prstDash val="solid"/>
          </a:ln>
        </p:spPr>
        <p:txBody>
          <a:bodyPr/>
          <a:lstStyle/>
          <a:p>
            <a:endParaRPr/>
          </a:p>
        </p:txBody>
      </p:sp>
      <p:sp>
        <p:nvSpPr>
          <p:cNvPr id="38" name="Text 36"/>
          <p:cNvSpPr txBox="1"/>
          <p:nvPr/>
        </p:nvSpPr>
        <p:spPr>
          <a:xfrm>
            <a:off x="4979324"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T07</a:t>
            </a:r>
            <a:endParaRPr lang="en-US" sz="900" dirty="0"/>
          </a:p>
        </p:txBody>
      </p:sp>
      <p:sp>
        <p:nvSpPr>
          <p:cNvPr id="39" name="Shape 37"/>
          <p:cNvSpPr/>
          <p:nvPr/>
        </p:nvSpPr>
        <p:spPr>
          <a:xfrm>
            <a:off x="5793971" y="2967228"/>
            <a:ext cx="146304" cy="146304"/>
          </a:xfrm>
          <a:prstGeom prst="ellipse">
            <a:avLst/>
          </a:prstGeom>
          <a:solidFill>
            <a:srgbClr val="2477B3"/>
          </a:solidFill>
          <a:ln w="12700">
            <a:solidFill>
              <a:srgbClr val="2477B3"/>
            </a:solidFill>
            <a:prstDash val="solid"/>
          </a:ln>
        </p:spPr>
        <p:txBody>
          <a:bodyPr/>
          <a:lstStyle/>
          <a:p>
            <a:endParaRPr/>
          </a:p>
        </p:txBody>
      </p:sp>
      <p:sp>
        <p:nvSpPr>
          <p:cNvPr id="40" name="Text 38"/>
          <p:cNvSpPr txBox="1"/>
          <p:nvPr/>
        </p:nvSpPr>
        <p:spPr>
          <a:xfrm>
            <a:off x="5702531"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T08</a:t>
            </a:r>
            <a:endParaRPr lang="en-US" sz="900" dirty="0"/>
          </a:p>
        </p:txBody>
      </p:sp>
      <p:sp>
        <p:nvSpPr>
          <p:cNvPr id="41" name="Shape 39"/>
          <p:cNvSpPr/>
          <p:nvPr/>
        </p:nvSpPr>
        <p:spPr>
          <a:xfrm>
            <a:off x="6517178" y="5106924"/>
            <a:ext cx="146304" cy="146304"/>
          </a:xfrm>
          <a:prstGeom prst="ellipse">
            <a:avLst/>
          </a:prstGeom>
          <a:solidFill>
            <a:srgbClr val="C94B50"/>
          </a:solidFill>
          <a:ln w="12700">
            <a:solidFill>
              <a:srgbClr val="C94B50"/>
            </a:solidFill>
            <a:prstDash val="solid"/>
          </a:ln>
        </p:spPr>
        <p:txBody>
          <a:bodyPr/>
          <a:lstStyle/>
          <a:p>
            <a:endParaRPr/>
          </a:p>
        </p:txBody>
      </p:sp>
      <p:sp>
        <p:nvSpPr>
          <p:cNvPr id="42" name="Text 40"/>
          <p:cNvSpPr txBox="1"/>
          <p:nvPr/>
        </p:nvSpPr>
        <p:spPr>
          <a:xfrm>
            <a:off x="6425738"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T09</a:t>
            </a:r>
            <a:endParaRPr lang="en-US" sz="900" dirty="0"/>
          </a:p>
        </p:txBody>
      </p:sp>
      <p:sp>
        <p:nvSpPr>
          <p:cNvPr id="43" name="Shape 41"/>
          <p:cNvSpPr/>
          <p:nvPr/>
        </p:nvSpPr>
        <p:spPr>
          <a:xfrm>
            <a:off x="7240385" y="5285232"/>
            <a:ext cx="146304" cy="146304"/>
          </a:xfrm>
          <a:prstGeom prst="ellipse">
            <a:avLst/>
          </a:prstGeom>
          <a:solidFill>
            <a:srgbClr val="C94B50"/>
          </a:solidFill>
          <a:ln w="12700">
            <a:solidFill>
              <a:srgbClr val="C94B50"/>
            </a:solidFill>
            <a:prstDash val="solid"/>
          </a:ln>
        </p:spPr>
        <p:txBody>
          <a:bodyPr/>
          <a:lstStyle/>
          <a:p>
            <a:endParaRPr/>
          </a:p>
        </p:txBody>
      </p:sp>
      <p:sp>
        <p:nvSpPr>
          <p:cNvPr id="44" name="Text 42"/>
          <p:cNvSpPr txBox="1"/>
          <p:nvPr/>
        </p:nvSpPr>
        <p:spPr>
          <a:xfrm>
            <a:off x="7148945"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T10</a:t>
            </a:r>
            <a:endParaRPr lang="en-US" sz="900" dirty="0"/>
          </a:p>
        </p:txBody>
      </p:sp>
      <p:sp>
        <p:nvSpPr>
          <p:cNvPr id="45" name="Shape 43"/>
          <p:cNvSpPr/>
          <p:nvPr/>
        </p:nvSpPr>
        <p:spPr>
          <a:xfrm>
            <a:off x="7963593" y="2878074"/>
            <a:ext cx="146304" cy="146304"/>
          </a:xfrm>
          <a:prstGeom prst="ellipse">
            <a:avLst/>
          </a:prstGeom>
          <a:solidFill>
            <a:srgbClr val="2477B3"/>
          </a:solidFill>
          <a:ln w="12700">
            <a:solidFill>
              <a:srgbClr val="2477B3"/>
            </a:solidFill>
            <a:prstDash val="solid"/>
          </a:ln>
        </p:spPr>
        <p:txBody>
          <a:bodyPr/>
          <a:lstStyle/>
          <a:p>
            <a:endParaRPr/>
          </a:p>
        </p:txBody>
      </p:sp>
      <p:sp>
        <p:nvSpPr>
          <p:cNvPr id="46" name="Text 44"/>
          <p:cNvSpPr txBox="1"/>
          <p:nvPr/>
        </p:nvSpPr>
        <p:spPr>
          <a:xfrm>
            <a:off x="7872153"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T11</a:t>
            </a:r>
            <a:endParaRPr lang="en-US" sz="900" dirty="0"/>
          </a:p>
        </p:txBody>
      </p:sp>
      <p:sp>
        <p:nvSpPr>
          <p:cNvPr id="47" name="Shape 45"/>
          <p:cNvSpPr/>
          <p:nvPr/>
        </p:nvSpPr>
        <p:spPr>
          <a:xfrm>
            <a:off x="8686800" y="5196078"/>
            <a:ext cx="146304" cy="146304"/>
          </a:xfrm>
          <a:prstGeom prst="ellipse">
            <a:avLst/>
          </a:prstGeom>
          <a:solidFill>
            <a:srgbClr val="C94B50"/>
          </a:solidFill>
          <a:ln w="12700">
            <a:solidFill>
              <a:srgbClr val="C94B50"/>
            </a:solidFill>
            <a:prstDash val="solid"/>
          </a:ln>
        </p:spPr>
        <p:txBody>
          <a:bodyPr/>
          <a:lstStyle/>
          <a:p>
            <a:endParaRPr/>
          </a:p>
        </p:txBody>
      </p:sp>
      <p:sp>
        <p:nvSpPr>
          <p:cNvPr id="48" name="Text 46"/>
          <p:cNvSpPr txBox="1"/>
          <p:nvPr/>
        </p:nvSpPr>
        <p:spPr>
          <a:xfrm>
            <a:off x="8595360"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T12</a:t>
            </a:r>
            <a:endParaRPr lang="en-US" sz="900" dirty="0"/>
          </a:p>
        </p:txBody>
      </p:sp>
      <p:sp>
        <p:nvSpPr>
          <p:cNvPr id="49" name="Shape 47"/>
          <p:cNvSpPr/>
          <p:nvPr/>
        </p:nvSpPr>
        <p:spPr>
          <a:xfrm>
            <a:off x="9372600" y="2240280"/>
            <a:ext cx="1965960" cy="3429000"/>
          </a:xfrm>
          <a:prstGeom prst="roundRect">
            <a:avLst>
              <a:gd name="adj" fmla="val 3721"/>
            </a:avLst>
          </a:prstGeom>
          <a:solidFill>
            <a:srgbClr val="FFFFFF"/>
          </a:solidFill>
          <a:ln w="12700">
            <a:solidFill>
              <a:srgbClr val="C8D9DC"/>
            </a:solidFill>
            <a:prstDash val="solid"/>
          </a:ln>
        </p:spPr>
        <p:txBody>
          <a:bodyPr/>
          <a:lstStyle/>
          <a:p>
            <a:endParaRPr/>
          </a:p>
        </p:txBody>
      </p:sp>
      <p:sp>
        <p:nvSpPr>
          <p:cNvPr id="50" name="Text 48"/>
          <p:cNvSpPr txBox="1"/>
          <p:nvPr/>
        </p:nvSpPr>
        <p:spPr>
          <a:xfrm>
            <a:off x="9601200" y="2514600"/>
            <a:ext cx="1508760" cy="384048"/>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Read left → right</a:t>
            </a:r>
            <a:endParaRPr lang="en-US" sz="1700" dirty="0"/>
          </a:p>
        </p:txBody>
      </p:sp>
      <p:sp>
        <p:nvSpPr>
          <p:cNvPr id="51" name="Text 49"/>
          <p:cNvSpPr txBox="1"/>
          <p:nvPr/>
        </p:nvSpPr>
        <p:spPr>
          <a:xfrm>
            <a:off x="9628632" y="3108960"/>
            <a:ext cx="1444752" cy="201168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Baseline</a:t>
            </a: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T01–T08</a:t>
            </a:r>
            <a:endParaRPr lang="en-US" sz="1400" dirty="0"/>
          </a:p>
          <a:p>
            <a:pPr marL="0" indent="0" algn="ctr">
              <a:buNone/>
            </a:pP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Monitoring</a:t>
            </a: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T09–T12</a:t>
            </a:r>
            <a:endParaRPr lang="en-US" sz="1400" dirty="0"/>
          </a:p>
          <a:p>
            <a:pPr marL="0" indent="0" algn="ctr">
              <a:buNone/>
            </a:pP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Signals</a:t>
            </a: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T09, T10, T12</a:t>
            </a:r>
            <a:endParaRPr lang="en-US" sz="1400" dirty="0"/>
          </a:p>
        </p:txBody>
      </p:sp>
      <p:sp>
        <p:nvSpPr>
          <p:cNvPr id="52" name="Text 5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5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95</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How Copilot improves SPC productivity</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Speed up formulas, flags and chart preparation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5358384"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Copilot helps</a:t>
            </a:r>
            <a:endParaRPr lang="en-US" sz="2100" dirty="0"/>
          </a:p>
        </p:txBody>
      </p:sp>
      <p:sp>
        <p:nvSpPr>
          <p:cNvPr id="10" name="Text 8"/>
          <p:cNvSpPr txBox="1"/>
          <p:nvPr/>
        </p:nvSpPr>
        <p:spPr>
          <a:xfrm>
            <a:off x="859536"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Calculate limits, create helper columns, flag rows and draft interpretation.</a:t>
            </a:r>
            <a:endParaRPr lang="en-US" sz="1700" dirty="0"/>
          </a:p>
        </p:txBody>
      </p:sp>
      <p:sp>
        <p:nvSpPr>
          <p:cNvPr id="11" name="Shape 9"/>
          <p:cNvSpPr/>
          <p:nvPr/>
        </p:nvSpPr>
        <p:spPr>
          <a:xfrm>
            <a:off x="6181344"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6181344" y="2057400"/>
            <a:ext cx="5358384"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6437376"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Engineer verifies</a:t>
            </a:r>
            <a:endParaRPr lang="en-US" sz="2100" dirty="0"/>
          </a:p>
        </p:txBody>
      </p:sp>
      <p:sp>
        <p:nvSpPr>
          <p:cNvPr id="14" name="Text 12"/>
          <p:cNvSpPr txBox="1"/>
          <p:nvPr/>
        </p:nvSpPr>
        <p:spPr>
          <a:xfrm>
            <a:off x="6473952"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Baseline choice, formulas, signals, specification and process context.</a:t>
            </a:r>
            <a:endParaRPr lang="en-US" sz="1700" dirty="0"/>
          </a:p>
        </p:txBody>
      </p:sp>
      <p:sp>
        <p:nvSpPr>
          <p:cNvPr id="15" name="Text 1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96</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SPC prompt · make the baseline explicit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State the calculation, chart and evidence boundary</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500" dirty="0">
                <a:solidFill>
                  <a:srgbClr val="FFFFFF"/>
                </a:solidFill>
                <a:latin typeface="Aptos" pitchFamily="34" charset="0"/>
                <a:ea typeface="Aptos" pitchFamily="34" charset="-122"/>
                <a:cs typeface="Aptos" pitchFamily="34" charset="-120"/>
              </a:rPr>
              <a:t>Act as an engineering data assistant. Use only PumpReadings. From the eight Baseline rows, calculate the mean, sample standard deviation, UCL and LCL. Flag T09–T12, create a line chart with fixed limits, show formulas, and give a three-sentence interpretation. Do not claim a root cause or safety conclusion.</a:t>
            </a:r>
            <a:endParaRPr lang="en-US" sz="15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Input</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PumpReadings · 12 rows</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Output</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Limits, flags and chart</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Check</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T10 against LCL</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97</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3</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3.3 · SPC control chart and capability</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30 minutes · Xbar-R chart from a frozen baseline, then Cp and Cpk</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2743200" cy="4069080"/>
          </a:xfrm>
          <a:prstGeom prst="roundRect">
            <a:avLst/>
          </a:prstGeom>
          <a:solidFill>
            <a:srgbClr val="102B3E"/>
          </a:solidFill>
          <a:ln w="12700">
            <a:solidFill>
              <a:srgbClr val="102B3E"/>
            </a:solidFill>
            <a:prstDash val="solid"/>
          </a:ln>
        </p:spPr>
        <p:txBody>
          <a:bodyPr/>
          <a:lstStyle/>
          <a:p>
            <a:endParaRPr/>
          </a:p>
        </p:txBody>
      </p:sp>
      <p:sp>
        <p:nvSpPr>
          <p:cNvPr id="8" name="Text 6"/>
          <p:cNvSpPr txBox="1"/>
          <p:nvPr/>
        </p:nvSpPr>
        <p:spPr>
          <a:xfrm>
            <a:off x="868680" y="2395728"/>
            <a:ext cx="2148840" cy="548640"/>
          </a:xfrm>
          <a:prstGeom prst="rect">
            <a:avLst/>
          </a:prstGeom>
          <a:noFill/>
          <a:ln/>
        </p:spPr>
        <p:txBody>
          <a:bodyPr wrap="square" lIns="0" tIns="0" rIns="0" bIns="0" rtlCol="0" anchor="ctr">
            <a:normAutofit/>
          </a:bodyPr>
          <a:lstStyle/>
          <a:p>
            <a:pPr marL="0" indent="0" algn="ctr">
              <a:buNone/>
            </a:pPr>
            <a:r>
              <a:rPr lang="en-US" sz="2400" b="1" dirty="0">
                <a:solidFill>
                  <a:srgbClr val="FFFFFF"/>
                </a:solidFill>
                <a:latin typeface="Aptos" pitchFamily="34" charset="0"/>
                <a:ea typeface="Aptos" pitchFamily="34" charset="-122"/>
                <a:cs typeface="Aptos" pitchFamily="34" charset="-120"/>
              </a:rPr>
              <a:t>Lab 3.3</a:t>
            </a:r>
            <a:endParaRPr lang="en-US" sz="2400" dirty="0"/>
          </a:p>
        </p:txBody>
      </p:sp>
      <p:sp>
        <p:nvSpPr>
          <p:cNvPr id="9" name="Text 7"/>
          <p:cNvSpPr txBox="1"/>
          <p:nvPr/>
        </p:nvSpPr>
        <p:spPr>
          <a:xfrm>
            <a:off x="868680" y="3163824"/>
            <a:ext cx="2148840" cy="1143000"/>
          </a:xfrm>
          <a:prstGeom prst="rect">
            <a:avLst/>
          </a:prstGeom>
          <a:noFill/>
          <a:ln/>
        </p:spPr>
        <p:txBody>
          <a:bodyPr wrap="square" lIns="0" tIns="0" rIns="0" bIns="0" rtlCol="0" anchor="ctr">
            <a:normAutofit/>
          </a:bodyPr>
          <a:lstStyle/>
          <a:p>
            <a:pPr marL="0" indent="0" algn="ctr">
              <a:buNone/>
            </a:pPr>
            <a:r>
              <a:rPr lang="en-US" sz="1600" dirty="0">
                <a:solidFill>
                  <a:srgbClr val="FFFFFF"/>
                </a:solidFill>
                <a:latin typeface="Aptos" pitchFamily="34" charset="0"/>
                <a:ea typeface="Aptos" pitchFamily="34" charset="-122"/>
                <a:cs typeface="Aptos" pitchFamily="34" charset="-120"/>
              </a:rPr>
              <a:t>30 minutes · Xbar-R chart from a frozen baseline, then Cp and Cpk</a:t>
            </a:r>
            <a:endParaRPr lang="en-US" sz="1600" dirty="0"/>
          </a:p>
        </p:txBody>
      </p:sp>
      <p:sp>
        <p:nvSpPr>
          <p:cNvPr id="10" name="Text 8"/>
          <p:cNvSpPr txBox="1"/>
          <p:nvPr/>
        </p:nvSpPr>
        <p:spPr>
          <a:xfrm>
            <a:off x="868680" y="4992624"/>
            <a:ext cx="2148840" cy="274320"/>
          </a:xfrm>
          <a:prstGeom prst="rect">
            <a:avLst/>
          </a:prstGeom>
          <a:noFill/>
          <a:ln/>
        </p:spPr>
        <p:txBody>
          <a:bodyPr wrap="square" lIns="0" tIns="0" rIns="0" bIns="0" rtlCol="0" anchor="ctr">
            <a:normAutofit/>
          </a:bodyPr>
          <a:lstStyle/>
          <a:p>
            <a:pPr marL="0" indent="0" algn="ctr">
              <a:buNone/>
            </a:pPr>
            <a:r>
              <a:rPr lang="en-US" sz="1100" b="1" dirty="0">
                <a:solidFill>
                  <a:srgbClr val="17A9B8"/>
                </a:solidFill>
                <a:latin typeface="Aptos" pitchFamily="34" charset="0"/>
                <a:ea typeface="Aptos" pitchFamily="34" charset="-122"/>
                <a:cs typeface="Aptos" pitchFamily="34" charset="-120"/>
              </a:rPr>
              <a:t>ONE SMALL OUTPUT</a:t>
            </a:r>
            <a:endParaRPr lang="en-US" sz="1100" dirty="0"/>
          </a:p>
        </p:txBody>
      </p:sp>
      <p:sp>
        <p:nvSpPr>
          <p:cNvPr id="11" name="Shape 9"/>
          <p:cNvSpPr/>
          <p:nvPr/>
        </p:nvSpPr>
        <p:spPr>
          <a:xfrm>
            <a:off x="3749040" y="2103120"/>
            <a:ext cx="420624" cy="420624"/>
          </a:xfrm>
          <a:prstGeom prst="ellipse">
            <a:avLst/>
          </a:prstGeom>
          <a:solidFill>
            <a:srgbClr val="078897"/>
          </a:solidFill>
          <a:ln w="12700">
            <a:solidFill>
              <a:srgbClr val="078897"/>
            </a:solidFill>
            <a:prstDash val="solid"/>
          </a:ln>
        </p:spPr>
        <p:txBody>
          <a:bodyPr/>
          <a:lstStyle/>
          <a:p>
            <a:endParaRPr/>
          </a:p>
        </p:txBody>
      </p:sp>
      <p:sp>
        <p:nvSpPr>
          <p:cNvPr id="12" name="Text 10"/>
          <p:cNvSpPr txBox="1"/>
          <p:nvPr/>
        </p:nvSpPr>
        <p:spPr>
          <a:xfrm>
            <a:off x="3749040" y="2103120"/>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13" name="Text 11"/>
          <p:cNvSpPr txBox="1"/>
          <p:nvPr/>
        </p:nvSpPr>
        <p:spPr>
          <a:xfrm>
            <a:off x="4352544" y="1993392"/>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Open</a:t>
            </a:r>
            <a:endParaRPr lang="en-US" sz="1500" dirty="0"/>
          </a:p>
        </p:txBody>
      </p:sp>
      <p:sp>
        <p:nvSpPr>
          <p:cNvPr id="14" name="Text 12"/>
          <p:cNvSpPr txBox="1"/>
          <p:nvPr/>
        </p:nvSpPr>
        <p:spPr>
          <a:xfrm>
            <a:off x="5596128" y="1993392"/>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Lab-3.3-SPC-Control-Chart/Starter.xlsx</a:t>
            </a:r>
            <a:endParaRPr lang="en-US" sz="1500" dirty="0"/>
          </a:p>
        </p:txBody>
      </p:sp>
      <p:sp>
        <p:nvSpPr>
          <p:cNvPr id="15" name="Shape 13"/>
          <p:cNvSpPr/>
          <p:nvPr/>
        </p:nvSpPr>
        <p:spPr>
          <a:xfrm>
            <a:off x="3959352" y="2523744"/>
            <a:ext cx="0" cy="283464"/>
          </a:xfrm>
          <a:prstGeom prst="line">
            <a:avLst/>
          </a:prstGeom>
          <a:noFill/>
          <a:ln w="25400">
            <a:solidFill>
              <a:srgbClr val="C8D9DC"/>
            </a:solidFill>
            <a:prstDash val="solid"/>
          </a:ln>
        </p:spPr>
        <p:txBody>
          <a:bodyPr/>
          <a:lstStyle/>
          <a:p>
            <a:endParaRPr/>
          </a:p>
        </p:txBody>
      </p:sp>
      <p:sp>
        <p:nvSpPr>
          <p:cNvPr id="16" name="Shape 14"/>
          <p:cNvSpPr/>
          <p:nvPr/>
        </p:nvSpPr>
        <p:spPr>
          <a:xfrm>
            <a:off x="3749040" y="2916936"/>
            <a:ext cx="420624" cy="420624"/>
          </a:xfrm>
          <a:prstGeom prst="ellipse">
            <a:avLst/>
          </a:prstGeom>
          <a:solidFill>
            <a:srgbClr val="078897"/>
          </a:solidFill>
          <a:ln w="12700">
            <a:solidFill>
              <a:srgbClr val="078897"/>
            </a:solidFill>
            <a:prstDash val="solid"/>
          </a:ln>
        </p:spPr>
        <p:txBody>
          <a:bodyPr/>
          <a:lstStyle/>
          <a:p>
            <a:endParaRPr/>
          </a:p>
        </p:txBody>
      </p:sp>
      <p:sp>
        <p:nvSpPr>
          <p:cNvPr id="17" name="Text 15"/>
          <p:cNvSpPr txBox="1"/>
          <p:nvPr/>
        </p:nvSpPr>
        <p:spPr>
          <a:xfrm>
            <a:off x="3749040" y="2916936"/>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8" name="Text 16"/>
          <p:cNvSpPr txBox="1"/>
          <p:nvPr/>
        </p:nvSpPr>
        <p:spPr>
          <a:xfrm>
            <a:off x="4352544" y="2807208"/>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Select</a:t>
            </a:r>
            <a:endParaRPr lang="en-US" sz="1500" dirty="0"/>
          </a:p>
        </p:txBody>
      </p:sp>
      <p:sp>
        <p:nvSpPr>
          <p:cNvPr id="19" name="Text 17"/>
          <p:cNvSpPr txBox="1"/>
          <p:nvPr/>
        </p:nvSpPr>
        <p:spPr>
          <a:xfrm>
            <a:off x="5596128" y="2807208"/>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SPCData  ·  n = 4</a:t>
            </a:r>
            <a:endParaRPr lang="en-US" sz="1500" dirty="0"/>
          </a:p>
        </p:txBody>
      </p:sp>
      <p:sp>
        <p:nvSpPr>
          <p:cNvPr id="20" name="Shape 18"/>
          <p:cNvSpPr/>
          <p:nvPr/>
        </p:nvSpPr>
        <p:spPr>
          <a:xfrm>
            <a:off x="3959352" y="3337560"/>
            <a:ext cx="0" cy="283464"/>
          </a:xfrm>
          <a:prstGeom prst="line">
            <a:avLst/>
          </a:prstGeom>
          <a:noFill/>
          <a:ln w="25400">
            <a:solidFill>
              <a:srgbClr val="C8D9DC"/>
            </a:solidFill>
            <a:prstDash val="solid"/>
          </a:ln>
        </p:spPr>
        <p:txBody>
          <a:bodyPr/>
          <a:lstStyle/>
          <a:p>
            <a:endParaRPr/>
          </a:p>
        </p:txBody>
      </p:sp>
      <p:sp>
        <p:nvSpPr>
          <p:cNvPr id="21" name="Shape 19"/>
          <p:cNvSpPr/>
          <p:nvPr/>
        </p:nvSpPr>
        <p:spPr>
          <a:xfrm>
            <a:off x="3749040" y="3730752"/>
            <a:ext cx="420624" cy="420624"/>
          </a:xfrm>
          <a:prstGeom prst="ellipse">
            <a:avLst/>
          </a:prstGeom>
          <a:solidFill>
            <a:srgbClr val="078897"/>
          </a:solidFill>
          <a:ln w="12700">
            <a:solidFill>
              <a:srgbClr val="078897"/>
            </a:solidFill>
            <a:prstDash val="solid"/>
          </a:ln>
        </p:spPr>
        <p:txBody>
          <a:bodyPr/>
          <a:lstStyle/>
          <a:p>
            <a:endParaRPr/>
          </a:p>
        </p:txBody>
      </p:sp>
      <p:sp>
        <p:nvSpPr>
          <p:cNvPr id="22" name="Text 20"/>
          <p:cNvSpPr txBox="1"/>
          <p:nvPr/>
        </p:nvSpPr>
        <p:spPr>
          <a:xfrm>
            <a:off x="3749040" y="3730752"/>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23" name="Text 21"/>
          <p:cNvSpPr txBox="1"/>
          <p:nvPr/>
        </p:nvSpPr>
        <p:spPr>
          <a:xfrm>
            <a:off x="4352544" y="3621024"/>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Ask</a:t>
            </a:r>
            <a:endParaRPr lang="en-US" sz="1500" dirty="0"/>
          </a:p>
        </p:txBody>
      </p:sp>
      <p:sp>
        <p:nvSpPr>
          <p:cNvPr id="24" name="Text 22"/>
          <p:cNvSpPr txBox="1"/>
          <p:nvPr/>
        </p:nvSpPr>
        <p:spPr>
          <a:xfrm>
            <a:off x="5596128" y="3621024"/>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Limits from subgroups 1-12 only, then freeze</a:t>
            </a:r>
            <a:endParaRPr lang="en-US" sz="1500" dirty="0"/>
          </a:p>
        </p:txBody>
      </p:sp>
      <p:sp>
        <p:nvSpPr>
          <p:cNvPr id="25" name="Shape 23"/>
          <p:cNvSpPr/>
          <p:nvPr/>
        </p:nvSpPr>
        <p:spPr>
          <a:xfrm>
            <a:off x="3959352" y="4151376"/>
            <a:ext cx="0" cy="283464"/>
          </a:xfrm>
          <a:prstGeom prst="line">
            <a:avLst/>
          </a:prstGeom>
          <a:noFill/>
          <a:ln w="25400">
            <a:solidFill>
              <a:srgbClr val="C8D9DC"/>
            </a:solidFill>
            <a:prstDash val="solid"/>
          </a:ln>
        </p:spPr>
        <p:txBody>
          <a:bodyPr/>
          <a:lstStyle/>
          <a:p>
            <a:endParaRPr/>
          </a:p>
        </p:txBody>
      </p:sp>
      <p:sp>
        <p:nvSpPr>
          <p:cNvPr id="26" name="Shape 24"/>
          <p:cNvSpPr/>
          <p:nvPr/>
        </p:nvSpPr>
        <p:spPr>
          <a:xfrm>
            <a:off x="3749040" y="4544568"/>
            <a:ext cx="420624" cy="420624"/>
          </a:xfrm>
          <a:prstGeom prst="ellipse">
            <a:avLst/>
          </a:prstGeom>
          <a:solidFill>
            <a:srgbClr val="078897"/>
          </a:solidFill>
          <a:ln w="12700">
            <a:solidFill>
              <a:srgbClr val="078897"/>
            </a:solidFill>
            <a:prstDash val="solid"/>
          </a:ln>
        </p:spPr>
        <p:txBody>
          <a:bodyPr/>
          <a:lstStyle/>
          <a:p>
            <a:endParaRPr/>
          </a:p>
        </p:txBody>
      </p:sp>
      <p:sp>
        <p:nvSpPr>
          <p:cNvPr id="27" name="Text 25"/>
          <p:cNvSpPr txBox="1"/>
          <p:nvPr/>
        </p:nvSpPr>
        <p:spPr>
          <a:xfrm>
            <a:off x="3749040" y="4544568"/>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8" name="Text 26"/>
          <p:cNvSpPr txBox="1"/>
          <p:nvPr/>
        </p:nvSpPr>
        <p:spPr>
          <a:xfrm>
            <a:off x="4352544" y="4434840"/>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Verify</a:t>
            </a:r>
            <a:endParaRPr lang="en-US" sz="1500" dirty="0"/>
          </a:p>
        </p:txBody>
      </p:sp>
      <p:sp>
        <p:nvSpPr>
          <p:cNvPr id="29" name="Text 27"/>
          <p:cNvSpPr txBox="1"/>
          <p:nvPr/>
        </p:nvSpPr>
        <p:spPr>
          <a:xfrm>
            <a:off x="5596128" y="4434840"/>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Subgroup 13 Xbar = 61.275 &lt; LCL 61.547</a:t>
            </a:r>
            <a:endParaRPr lang="en-US" sz="1500" dirty="0"/>
          </a:p>
        </p:txBody>
      </p:sp>
      <p:sp>
        <p:nvSpPr>
          <p:cNvPr id="30" name="Shape 28"/>
          <p:cNvSpPr/>
          <p:nvPr/>
        </p:nvSpPr>
        <p:spPr>
          <a:xfrm>
            <a:off x="3959352" y="4965192"/>
            <a:ext cx="0" cy="283464"/>
          </a:xfrm>
          <a:prstGeom prst="line">
            <a:avLst/>
          </a:prstGeom>
          <a:noFill/>
          <a:ln w="25400">
            <a:solidFill>
              <a:srgbClr val="C8D9DC"/>
            </a:solidFill>
            <a:prstDash val="solid"/>
          </a:ln>
        </p:spPr>
        <p:txBody>
          <a:bodyPr/>
          <a:lstStyle/>
          <a:p>
            <a:endParaRPr/>
          </a:p>
        </p:txBody>
      </p:sp>
      <p:sp>
        <p:nvSpPr>
          <p:cNvPr id="31" name="Shape 29"/>
          <p:cNvSpPr/>
          <p:nvPr/>
        </p:nvSpPr>
        <p:spPr>
          <a:xfrm>
            <a:off x="3749040" y="5358384"/>
            <a:ext cx="420624" cy="420624"/>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3749040" y="5358384"/>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5</a:t>
            </a:r>
            <a:endParaRPr lang="en-US" sz="1400" dirty="0"/>
          </a:p>
        </p:txBody>
      </p:sp>
      <p:sp>
        <p:nvSpPr>
          <p:cNvPr id="33" name="Text 31"/>
          <p:cNvSpPr txBox="1"/>
          <p:nvPr/>
        </p:nvSpPr>
        <p:spPr>
          <a:xfrm>
            <a:off x="4352544" y="5248656"/>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Read</a:t>
            </a:r>
            <a:endParaRPr lang="en-US" sz="1500" dirty="0"/>
          </a:p>
        </p:txBody>
      </p:sp>
      <p:sp>
        <p:nvSpPr>
          <p:cNvPr id="34" name="Text 32"/>
          <p:cNvSpPr txBox="1"/>
          <p:nvPr/>
        </p:nvSpPr>
        <p:spPr>
          <a:xfrm>
            <a:off x="5596128" y="5248656"/>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Cp &gt;&gt; Cpk means off centre, not incapable</a:t>
            </a:r>
            <a:endParaRPr lang="en-US" sz="1500" dirty="0"/>
          </a:p>
        </p:txBody>
      </p:sp>
      <p:sp>
        <p:nvSpPr>
          <p:cNvPr id="35" name="Text 3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6"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98</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5">
    <p:bg>
      <p:bgPr>
        <a:solidFill>
          <a:srgbClr val="102B3E"/>
        </a:solidFill>
        <a:effectLst/>
      </p:bgPr>
    </p:bg>
    <p:spTree>
      <p:nvGrpSpPr>
        <p:cNvPr id="1" name=""/>
        <p:cNvGrpSpPr/>
        <p:nvPr/>
      </p:nvGrpSpPr>
      <p:grpSpPr>
        <a:xfrm>
          <a:off x="0" y="0"/>
          <a:ext cx="0" cy="0"/>
          <a:chOff x="0" y="0"/>
          <a:chExt cx="0" cy="0"/>
        </a:xfrm>
      </p:grpSpPr>
      <p:pic>
        <p:nvPicPr>
          <p:cNvPr id="2" name="Image 0" descr="/Users/alfredang/Documents/Supporting Document/Tertiary Infotech/Client Projects/Client WSQ Projects/Client - IES/GenAI for Engineers/assets/module-4-agents.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5166360" cy="6858000"/>
          </a:xfrm>
          <a:prstGeom prst="rect">
            <a:avLst/>
          </a:prstGeom>
          <a:solidFill>
            <a:srgbClr val="102B3E">
              <a:alpha val="95000"/>
            </a:srgbClr>
          </a:solidFill>
          <a:ln w="12700">
            <a:solidFill>
              <a:srgbClr val="102B3E">
                <a:alpha val="0"/>
              </a:srgbClr>
            </a:solidFill>
            <a:prstDash val="solid"/>
          </a:ln>
        </p:spPr>
        <p:txBody>
          <a:bodyPr/>
          <a:lstStyle/>
          <a:p>
            <a:endParaRPr lang="en-US"/>
          </a:p>
        </p:txBody>
      </p:sp>
      <p:sp>
        <p:nvSpPr>
          <p:cNvPr id="4" name="Text 1"/>
          <p:cNvSpPr txBox="1"/>
          <p:nvPr/>
        </p:nvSpPr>
        <p:spPr>
          <a:xfrm>
            <a:off x="640080" y="502920"/>
            <a:ext cx="640080" cy="274320"/>
          </a:xfrm>
          <a:prstGeom prst="rect">
            <a:avLst/>
          </a:prstGeom>
          <a:noFill/>
          <a:ln/>
        </p:spPr>
        <p:txBody>
          <a:bodyPr wrap="square" lIns="0" tIns="0" rIns="0" bIns="0" rtlCol="0" anchor="ctr">
            <a:normAutofit/>
          </a:bodyPr>
          <a:lstStyle/>
          <a:p>
            <a:pPr marL="0" indent="0" algn="l">
              <a:buNone/>
            </a:pPr>
            <a:r>
              <a:rPr lang="en-US" sz="1700" b="1" dirty="0">
                <a:solidFill>
                  <a:srgbClr val="17A9B8"/>
                </a:solidFill>
                <a:latin typeface="Aptos" pitchFamily="34" charset="0"/>
                <a:ea typeface="Aptos" pitchFamily="34" charset="-122"/>
                <a:cs typeface="Aptos" pitchFamily="34" charset="-120"/>
              </a:rPr>
              <a:t>IES</a:t>
            </a:r>
            <a:endParaRPr lang="en-US" sz="1700" dirty="0"/>
          </a:p>
        </p:txBody>
      </p:sp>
      <p:sp>
        <p:nvSpPr>
          <p:cNvPr id="5" name="Text 2"/>
          <p:cNvSpPr txBox="1"/>
          <p:nvPr/>
        </p:nvSpPr>
        <p:spPr>
          <a:xfrm>
            <a:off x="658368" y="1554480"/>
            <a:ext cx="3291840" cy="320040"/>
          </a:xfrm>
          <a:prstGeom prst="rect">
            <a:avLst/>
          </a:prstGeom>
          <a:noFill/>
          <a:ln/>
        </p:spPr>
        <p:txBody>
          <a:bodyPr wrap="square" lIns="0" tIns="0" rIns="0" bIns="0" rtlCol="0" anchor="ctr">
            <a:normAutofit/>
          </a:bodyPr>
          <a:lstStyle/>
          <a:p>
            <a:pPr marL="0" indent="0" algn="l">
              <a:buNone/>
            </a:pPr>
            <a:r>
              <a:rPr lang="en-US" sz="1400" b="1" dirty="0">
                <a:solidFill>
                  <a:srgbClr val="17A9B8"/>
                </a:solidFill>
                <a:latin typeface="Aptos" pitchFamily="34" charset="0"/>
                <a:ea typeface="Aptos" pitchFamily="34" charset="-122"/>
                <a:cs typeface="Aptos" pitchFamily="34" charset="-120"/>
              </a:rPr>
              <a:t>MODULE 4</a:t>
            </a:r>
            <a:endParaRPr lang="en-US" sz="1400" dirty="0"/>
          </a:p>
        </p:txBody>
      </p:sp>
      <p:sp>
        <p:nvSpPr>
          <p:cNvPr id="6" name="Text 3"/>
          <p:cNvSpPr txBox="1"/>
          <p:nvPr/>
        </p:nvSpPr>
        <p:spPr>
          <a:xfrm>
            <a:off x="658368" y="1993392"/>
            <a:ext cx="4069080" cy="1463040"/>
          </a:xfrm>
          <a:prstGeom prst="rect">
            <a:avLst/>
          </a:prstGeom>
          <a:noFill/>
          <a:ln/>
        </p:spPr>
        <p:txBody>
          <a:bodyPr wrap="square" lIns="0" tIns="0" rIns="0" bIns="0" rtlCol="0" anchor="ctr">
            <a:normAutofit/>
          </a:bodyPr>
          <a:lstStyle/>
          <a:p>
            <a:pPr marL="0" indent="0" algn="l">
              <a:buNone/>
            </a:pPr>
            <a:r>
              <a:rPr lang="en-US" sz="3200" b="1" dirty="0">
                <a:solidFill>
                  <a:srgbClr val="FFFFFF"/>
                </a:solidFill>
                <a:latin typeface="Aptos" pitchFamily="34" charset="0"/>
                <a:ea typeface="Aptos" pitchFamily="34" charset="-122"/>
                <a:cs typeface="Aptos" pitchFamily="34" charset="-120"/>
              </a:rPr>
              <a:t>Copilot Agents &amp; Microsoft 365 Reasoning Agents</a:t>
            </a:r>
            <a:endParaRPr lang="en-US" sz="3200" dirty="0"/>
          </a:p>
        </p:txBody>
      </p:sp>
      <p:sp>
        <p:nvSpPr>
          <p:cNvPr id="7" name="Text 4"/>
          <p:cNvSpPr txBox="1"/>
          <p:nvPr/>
        </p:nvSpPr>
        <p:spPr>
          <a:xfrm>
            <a:off x="658368" y="3840480"/>
            <a:ext cx="3977640" cy="96012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Automate a controlled multi-step workflow</a:t>
            </a:r>
            <a:endParaRPr lang="en-US" sz="1700" dirty="0"/>
          </a:p>
        </p:txBody>
      </p:sp>
      <p:sp>
        <p:nvSpPr>
          <p:cNvPr id="8" name="Shape 5"/>
          <p:cNvSpPr/>
          <p:nvPr/>
        </p:nvSpPr>
        <p:spPr>
          <a:xfrm>
            <a:off x="658368" y="5102352"/>
            <a:ext cx="1234440" cy="0"/>
          </a:xfrm>
          <a:prstGeom prst="line">
            <a:avLst/>
          </a:prstGeom>
          <a:noFill/>
          <a:ln w="50800">
            <a:solidFill>
              <a:srgbClr val="17A9B8"/>
            </a:solidFill>
            <a:prstDash val="solid"/>
          </a:ln>
        </p:spPr>
        <p:txBody>
          <a:bodyPr/>
          <a:lstStyle/>
          <a:p>
            <a:endParaRPr lang="en-US"/>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99</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Module 4 learning outcomes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By the end of this module, participants can: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640080" y="2011680"/>
            <a:ext cx="502920" cy="502920"/>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640080" y="20116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9" name="Shape 7"/>
          <p:cNvSpPr/>
          <p:nvPr/>
        </p:nvSpPr>
        <p:spPr>
          <a:xfrm>
            <a:off x="1371600" y="19385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1627632" y="20482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Explain</a:t>
            </a:r>
            <a:endParaRPr lang="en-US" sz="1700" dirty="0"/>
          </a:p>
        </p:txBody>
      </p:sp>
      <p:sp>
        <p:nvSpPr>
          <p:cNvPr id="11" name="Text 9"/>
          <p:cNvSpPr txBox="1"/>
          <p:nvPr/>
        </p:nvSpPr>
        <p:spPr>
          <a:xfrm>
            <a:off x="3246120" y="20482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Recognise when a reusable agent is justified.</a:t>
            </a:r>
            <a:endParaRPr lang="en-US" sz="1600" dirty="0"/>
          </a:p>
        </p:txBody>
      </p:sp>
      <p:sp>
        <p:nvSpPr>
          <p:cNvPr id="12" name="Shape 10"/>
          <p:cNvSpPr/>
          <p:nvPr/>
        </p:nvSpPr>
        <p:spPr>
          <a:xfrm>
            <a:off x="640080" y="3097530"/>
            <a:ext cx="502920" cy="502920"/>
          </a:xfrm>
          <a:prstGeom prst="ellipse">
            <a:avLst/>
          </a:prstGeom>
          <a:solidFill>
            <a:srgbClr val="078897"/>
          </a:solidFill>
          <a:ln w="12700">
            <a:solidFill>
              <a:srgbClr val="078897"/>
            </a:solidFill>
            <a:prstDash val="solid"/>
          </a:ln>
        </p:spPr>
        <p:txBody>
          <a:bodyPr/>
          <a:lstStyle/>
          <a:p>
            <a:endParaRPr/>
          </a:p>
        </p:txBody>
      </p:sp>
      <p:sp>
        <p:nvSpPr>
          <p:cNvPr id="13" name="Text 11"/>
          <p:cNvSpPr txBox="1"/>
          <p:nvPr/>
        </p:nvSpPr>
        <p:spPr>
          <a:xfrm>
            <a:off x="640080" y="30975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4" name="Shape 12"/>
          <p:cNvSpPr/>
          <p:nvPr/>
        </p:nvSpPr>
        <p:spPr>
          <a:xfrm>
            <a:off x="1371600" y="302437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5" name="Text 13"/>
          <p:cNvSpPr txBox="1"/>
          <p:nvPr/>
        </p:nvSpPr>
        <p:spPr>
          <a:xfrm>
            <a:off x="1627632" y="31341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Build</a:t>
            </a:r>
            <a:endParaRPr lang="en-US" sz="1700" dirty="0"/>
          </a:p>
        </p:txBody>
      </p:sp>
      <p:sp>
        <p:nvSpPr>
          <p:cNvPr id="16" name="Text 14"/>
          <p:cNvSpPr txBox="1"/>
          <p:nvPr/>
        </p:nvSpPr>
        <p:spPr>
          <a:xfrm>
            <a:off x="3246120" y="31341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Configure instructions and knowledge for an FMEA Assistant.</a:t>
            </a:r>
            <a:endParaRPr lang="en-US" sz="1600" dirty="0"/>
          </a:p>
        </p:txBody>
      </p:sp>
      <p:sp>
        <p:nvSpPr>
          <p:cNvPr id="17" name="Shape 15"/>
          <p:cNvSpPr/>
          <p:nvPr/>
        </p:nvSpPr>
        <p:spPr>
          <a:xfrm>
            <a:off x="640080" y="4183380"/>
            <a:ext cx="502920" cy="502920"/>
          </a:xfrm>
          <a:prstGeom prst="ellipse">
            <a:avLst/>
          </a:prstGeom>
          <a:solidFill>
            <a:srgbClr val="078897"/>
          </a:solidFill>
          <a:ln w="12700">
            <a:solidFill>
              <a:srgbClr val="078897"/>
            </a:solidFill>
            <a:prstDash val="solid"/>
          </a:ln>
        </p:spPr>
        <p:txBody>
          <a:bodyPr/>
          <a:lstStyle/>
          <a:p>
            <a:endParaRPr/>
          </a:p>
        </p:txBody>
      </p:sp>
      <p:sp>
        <p:nvSpPr>
          <p:cNvPr id="18" name="Text 16"/>
          <p:cNvSpPr txBox="1"/>
          <p:nvPr/>
        </p:nvSpPr>
        <p:spPr>
          <a:xfrm>
            <a:off x="640080" y="41833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19" name="Shape 17"/>
          <p:cNvSpPr/>
          <p:nvPr/>
        </p:nvSpPr>
        <p:spPr>
          <a:xfrm>
            <a:off x="1371600" y="41102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20" name="Text 18"/>
          <p:cNvSpPr txBox="1"/>
          <p:nvPr/>
        </p:nvSpPr>
        <p:spPr>
          <a:xfrm>
            <a:off x="1627632" y="42199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Test</a:t>
            </a:r>
            <a:endParaRPr lang="en-US" sz="1700" dirty="0"/>
          </a:p>
        </p:txBody>
      </p:sp>
      <p:sp>
        <p:nvSpPr>
          <p:cNvPr id="21" name="Text 19"/>
          <p:cNvSpPr txBox="1"/>
          <p:nvPr/>
        </p:nvSpPr>
        <p:spPr>
          <a:xfrm>
            <a:off x="3246120" y="42199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Run complete and missing-data cases.</a:t>
            </a:r>
            <a:endParaRPr lang="en-US" sz="1600" dirty="0"/>
          </a:p>
        </p:txBody>
      </p:sp>
      <p:sp>
        <p:nvSpPr>
          <p:cNvPr id="22" name="Shape 20"/>
          <p:cNvSpPr/>
          <p:nvPr/>
        </p:nvSpPr>
        <p:spPr>
          <a:xfrm>
            <a:off x="640080" y="5269230"/>
            <a:ext cx="502920" cy="502920"/>
          </a:xfrm>
          <a:prstGeom prst="ellipse">
            <a:avLst/>
          </a:prstGeom>
          <a:solidFill>
            <a:srgbClr val="078897"/>
          </a:solidFill>
          <a:ln w="12700">
            <a:solidFill>
              <a:srgbClr val="078897"/>
            </a:solidFill>
            <a:prstDash val="solid"/>
          </a:ln>
        </p:spPr>
        <p:txBody>
          <a:bodyPr/>
          <a:lstStyle/>
          <a:p>
            <a:endParaRPr/>
          </a:p>
        </p:txBody>
      </p:sp>
      <p:sp>
        <p:nvSpPr>
          <p:cNvPr id="23" name="Text 21"/>
          <p:cNvSpPr txBox="1"/>
          <p:nvPr/>
        </p:nvSpPr>
        <p:spPr>
          <a:xfrm>
            <a:off x="640080" y="52692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4" name="Shape 22"/>
          <p:cNvSpPr/>
          <p:nvPr/>
        </p:nvSpPr>
        <p:spPr>
          <a:xfrm>
            <a:off x="1371600" y="5196078"/>
            <a:ext cx="10058400" cy="966978"/>
          </a:xfrm>
          <a:prstGeom prst="roundRect">
            <a:avLst>
              <a:gd name="adj" fmla="val 7565"/>
            </a:avLst>
          </a:prstGeom>
          <a:solidFill>
            <a:srgbClr val="FFFFFF"/>
          </a:solidFill>
          <a:ln w="12700">
            <a:solidFill>
              <a:srgbClr val="C8D9DC"/>
            </a:solidFill>
            <a:prstDash val="solid"/>
          </a:ln>
        </p:spPr>
        <p:txBody>
          <a:bodyPr/>
          <a:lstStyle/>
          <a:p>
            <a:endParaRPr lang="en-US"/>
          </a:p>
        </p:txBody>
      </p:sp>
      <p:sp>
        <p:nvSpPr>
          <p:cNvPr id="25" name="Text 23"/>
          <p:cNvSpPr txBox="1"/>
          <p:nvPr/>
        </p:nvSpPr>
        <p:spPr>
          <a:xfrm>
            <a:off x="1627632" y="53058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Apply</a:t>
            </a:r>
            <a:endParaRPr lang="en-US" sz="1700" dirty="0"/>
          </a:p>
        </p:txBody>
      </p:sp>
      <p:sp>
        <p:nvSpPr>
          <p:cNvPr id="26" name="Text 24"/>
          <p:cNvSpPr txBox="1"/>
          <p:nvPr/>
        </p:nvSpPr>
        <p:spPr>
          <a:xfrm>
            <a:off x="3246120" y="53058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Use Researcher and Analyst with independent checks.</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100</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An agent packages a repeatable job</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Instructions + knowledge + tools + conversation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Instructions</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Role, steps and limits</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Knowledge</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Templates and references</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Actions</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Work the agent can perform</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Tests</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Expected behaviours and failures</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101</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Build an agent when the task repeats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a simple decision test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Repeatable?</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Same inputs and output structure</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Bounded?</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Clear evidence and limits</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Checkable?</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Acceptance tests exist</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Governed?</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Audience and permissions known</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102</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Agent workflow · FMEA to report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Six controlled steps with a human gate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105662"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10566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1699260" cy="2926080"/>
          </a:xfrm>
          <a:prstGeom prst="roundRect">
            <a:avLst>
              <a:gd name="adj" fmla="val 430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424940" cy="47548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Collect</a:t>
            </a:r>
            <a:endParaRPr lang="en-US" sz="1500" dirty="0"/>
          </a:p>
        </p:txBody>
      </p:sp>
      <p:sp>
        <p:nvSpPr>
          <p:cNvPr id="11" name="Text 9"/>
          <p:cNvSpPr txBox="1"/>
          <p:nvPr/>
        </p:nvSpPr>
        <p:spPr>
          <a:xfrm>
            <a:off x="731520" y="3767328"/>
            <a:ext cx="1370076" cy="1353312"/>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FMEA fields</a:t>
            </a:r>
            <a:endParaRPr lang="en-US" sz="1300" dirty="0"/>
          </a:p>
        </p:txBody>
      </p:sp>
      <p:sp>
        <p:nvSpPr>
          <p:cNvPr id="12" name="Shape 10"/>
          <p:cNvSpPr/>
          <p:nvPr/>
        </p:nvSpPr>
        <p:spPr>
          <a:xfrm>
            <a:off x="2284476"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2960370"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2960370"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421636" y="2743200"/>
            <a:ext cx="1699260" cy="2926080"/>
          </a:xfrm>
          <a:prstGeom prst="roundRect">
            <a:avLst>
              <a:gd name="adj" fmla="val 430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558796" y="3063240"/>
            <a:ext cx="1424940" cy="47548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Validate</a:t>
            </a:r>
            <a:endParaRPr lang="en-US" sz="1500" dirty="0"/>
          </a:p>
        </p:txBody>
      </p:sp>
      <p:sp>
        <p:nvSpPr>
          <p:cNvPr id="17" name="Text 15"/>
          <p:cNvSpPr txBox="1"/>
          <p:nvPr/>
        </p:nvSpPr>
        <p:spPr>
          <a:xfrm>
            <a:off x="2586228" y="3767328"/>
            <a:ext cx="1370076" cy="1353312"/>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Required values</a:t>
            </a:r>
            <a:endParaRPr lang="en-US" sz="1300" dirty="0"/>
          </a:p>
        </p:txBody>
      </p:sp>
      <p:sp>
        <p:nvSpPr>
          <p:cNvPr id="18" name="Shape 16"/>
          <p:cNvSpPr/>
          <p:nvPr/>
        </p:nvSpPr>
        <p:spPr>
          <a:xfrm>
            <a:off x="4139184"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4815078"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4815078"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4276344" y="2743200"/>
            <a:ext cx="1699260" cy="2926080"/>
          </a:xfrm>
          <a:prstGeom prst="roundRect">
            <a:avLst>
              <a:gd name="adj" fmla="val 430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4413504" y="3063240"/>
            <a:ext cx="1424940" cy="47548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Calculate</a:t>
            </a:r>
            <a:endParaRPr lang="en-US" sz="1500" dirty="0"/>
          </a:p>
        </p:txBody>
      </p:sp>
      <p:sp>
        <p:nvSpPr>
          <p:cNvPr id="23" name="Text 21"/>
          <p:cNvSpPr txBox="1"/>
          <p:nvPr/>
        </p:nvSpPr>
        <p:spPr>
          <a:xfrm>
            <a:off x="4440936" y="3767328"/>
            <a:ext cx="1370076" cy="1353312"/>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RPN + severity gate</a:t>
            </a:r>
            <a:endParaRPr lang="en-US" sz="1300" dirty="0"/>
          </a:p>
        </p:txBody>
      </p:sp>
      <p:sp>
        <p:nvSpPr>
          <p:cNvPr id="24" name="Shape 22"/>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6669786"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6669786"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6131052" y="2743200"/>
            <a:ext cx="1699260" cy="2926080"/>
          </a:xfrm>
          <a:prstGeom prst="roundRect">
            <a:avLst>
              <a:gd name="adj" fmla="val 4305"/>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6268212" y="3063240"/>
            <a:ext cx="1424940" cy="47548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Retrieve</a:t>
            </a:r>
            <a:endParaRPr lang="en-US" sz="1500" dirty="0"/>
          </a:p>
        </p:txBody>
      </p:sp>
      <p:sp>
        <p:nvSpPr>
          <p:cNvPr id="29" name="Text 27"/>
          <p:cNvSpPr txBox="1"/>
          <p:nvPr/>
        </p:nvSpPr>
        <p:spPr>
          <a:xfrm>
            <a:off x="6295644" y="3767328"/>
            <a:ext cx="1370076" cy="1353312"/>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Template and rules</a:t>
            </a:r>
            <a:endParaRPr lang="en-US" sz="1300" dirty="0"/>
          </a:p>
        </p:txBody>
      </p:sp>
      <p:sp>
        <p:nvSpPr>
          <p:cNvPr id="30" name="Shape 28"/>
          <p:cNvSpPr/>
          <p:nvPr/>
        </p:nvSpPr>
        <p:spPr>
          <a:xfrm>
            <a:off x="7848600"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8524494" y="2029968"/>
            <a:ext cx="621792" cy="621792"/>
          </a:xfrm>
          <a:prstGeom prst="ellipse">
            <a:avLst/>
          </a:prstGeom>
          <a:solidFill>
            <a:srgbClr val="078897"/>
          </a:solidFill>
          <a:ln w="12700">
            <a:solidFill>
              <a:srgbClr val="078897"/>
            </a:solidFill>
            <a:prstDash val="solid"/>
          </a:ln>
        </p:spPr>
        <p:txBody>
          <a:bodyPr/>
          <a:lstStyle/>
          <a:p>
            <a:endParaRPr/>
          </a:p>
        </p:txBody>
      </p:sp>
      <p:sp>
        <p:nvSpPr>
          <p:cNvPr id="32" name="Text 30"/>
          <p:cNvSpPr txBox="1"/>
          <p:nvPr/>
        </p:nvSpPr>
        <p:spPr>
          <a:xfrm>
            <a:off x="8524494"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7985760" y="2743200"/>
            <a:ext cx="1699260" cy="2926080"/>
          </a:xfrm>
          <a:prstGeom prst="roundRect">
            <a:avLst>
              <a:gd name="adj" fmla="val 4305"/>
            </a:avLst>
          </a:prstGeom>
          <a:solidFill>
            <a:srgbClr val="FFFFFF"/>
          </a:solidFill>
          <a:ln w="12700">
            <a:solidFill>
              <a:srgbClr val="C8D9DC"/>
            </a:solidFill>
            <a:prstDash val="solid"/>
          </a:ln>
        </p:spPr>
        <p:txBody>
          <a:bodyPr/>
          <a:lstStyle/>
          <a:p>
            <a:endParaRPr/>
          </a:p>
        </p:txBody>
      </p:sp>
      <p:sp>
        <p:nvSpPr>
          <p:cNvPr id="34" name="Text 32"/>
          <p:cNvSpPr txBox="1"/>
          <p:nvPr/>
        </p:nvSpPr>
        <p:spPr>
          <a:xfrm>
            <a:off x="8122920" y="3063240"/>
            <a:ext cx="1424940" cy="47548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Approve</a:t>
            </a:r>
            <a:endParaRPr lang="en-US" sz="1500" dirty="0"/>
          </a:p>
        </p:txBody>
      </p:sp>
      <p:sp>
        <p:nvSpPr>
          <p:cNvPr id="35" name="Text 33"/>
          <p:cNvSpPr txBox="1"/>
          <p:nvPr/>
        </p:nvSpPr>
        <p:spPr>
          <a:xfrm>
            <a:off x="8150352" y="3767328"/>
            <a:ext cx="1370076" cy="1353312"/>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Engineer review</a:t>
            </a:r>
            <a:endParaRPr lang="en-US" sz="1300" dirty="0"/>
          </a:p>
        </p:txBody>
      </p:sp>
      <p:sp>
        <p:nvSpPr>
          <p:cNvPr id="36" name="Shape 34"/>
          <p:cNvSpPr/>
          <p:nvPr/>
        </p:nvSpPr>
        <p:spPr>
          <a:xfrm>
            <a:off x="9703308" y="4142232"/>
            <a:ext cx="118872" cy="0"/>
          </a:xfrm>
          <a:prstGeom prst="line">
            <a:avLst/>
          </a:prstGeom>
          <a:noFill/>
          <a:ln w="25400">
            <a:solidFill>
              <a:srgbClr val="078897"/>
            </a:solidFill>
            <a:prstDash val="solid"/>
            <a:tailEnd type="triangle"/>
          </a:ln>
        </p:spPr>
        <p:txBody>
          <a:bodyPr/>
          <a:lstStyle/>
          <a:p>
            <a:endParaRPr/>
          </a:p>
        </p:txBody>
      </p:sp>
      <p:sp>
        <p:nvSpPr>
          <p:cNvPr id="37" name="Shape 35"/>
          <p:cNvSpPr/>
          <p:nvPr/>
        </p:nvSpPr>
        <p:spPr>
          <a:xfrm>
            <a:off x="10379202" y="2029968"/>
            <a:ext cx="621792" cy="621792"/>
          </a:xfrm>
          <a:prstGeom prst="ellipse">
            <a:avLst/>
          </a:prstGeom>
          <a:solidFill>
            <a:srgbClr val="102B3E"/>
          </a:solidFill>
          <a:ln w="12700">
            <a:solidFill>
              <a:srgbClr val="102B3E"/>
            </a:solidFill>
            <a:prstDash val="solid"/>
          </a:ln>
        </p:spPr>
        <p:txBody>
          <a:bodyPr/>
          <a:lstStyle/>
          <a:p>
            <a:endParaRPr/>
          </a:p>
        </p:txBody>
      </p:sp>
      <p:sp>
        <p:nvSpPr>
          <p:cNvPr id="38" name="Text 36"/>
          <p:cNvSpPr txBox="1"/>
          <p:nvPr/>
        </p:nvSpPr>
        <p:spPr>
          <a:xfrm>
            <a:off x="1037920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6</a:t>
            </a:r>
            <a:endParaRPr lang="en-US" sz="2000" dirty="0"/>
          </a:p>
        </p:txBody>
      </p:sp>
      <p:sp>
        <p:nvSpPr>
          <p:cNvPr id="39" name="Shape 37"/>
          <p:cNvSpPr/>
          <p:nvPr/>
        </p:nvSpPr>
        <p:spPr>
          <a:xfrm>
            <a:off x="9840468" y="2743200"/>
            <a:ext cx="1699260" cy="2926080"/>
          </a:xfrm>
          <a:prstGeom prst="roundRect">
            <a:avLst>
              <a:gd name="adj" fmla="val 4305"/>
            </a:avLst>
          </a:prstGeom>
          <a:solidFill>
            <a:srgbClr val="E2EEF0"/>
          </a:solidFill>
          <a:ln w="12700">
            <a:solidFill>
              <a:srgbClr val="C8D9DC"/>
            </a:solidFill>
            <a:prstDash val="solid"/>
          </a:ln>
        </p:spPr>
        <p:txBody>
          <a:bodyPr/>
          <a:lstStyle/>
          <a:p>
            <a:endParaRPr lang="en-US"/>
          </a:p>
        </p:txBody>
      </p:sp>
      <p:sp>
        <p:nvSpPr>
          <p:cNvPr id="40" name="Text 38"/>
          <p:cNvSpPr txBox="1"/>
          <p:nvPr/>
        </p:nvSpPr>
        <p:spPr>
          <a:xfrm>
            <a:off x="9977628" y="3063240"/>
            <a:ext cx="1424940" cy="47548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Draft</a:t>
            </a:r>
            <a:endParaRPr lang="en-US" sz="1500" dirty="0"/>
          </a:p>
        </p:txBody>
      </p:sp>
      <p:sp>
        <p:nvSpPr>
          <p:cNvPr id="41" name="Text 39"/>
          <p:cNvSpPr txBox="1"/>
          <p:nvPr/>
        </p:nvSpPr>
        <p:spPr>
          <a:xfrm>
            <a:off x="10005060" y="3767328"/>
            <a:ext cx="1370076" cy="1353312"/>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Report + audit note</a:t>
            </a:r>
            <a:endParaRPr lang="en-US" sz="1300" dirty="0"/>
          </a:p>
        </p:txBody>
      </p:sp>
      <p:sp>
        <p:nvSpPr>
          <p:cNvPr id="42" name="Text 4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4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103</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Step 1 · collect only required fields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 small input contract exposes missing information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Identity</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Failure-mode ID</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Scenario</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Mode, effect, possible cause</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Control</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Current prevention/detection</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Ratings</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 O and D</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104</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Step 2 · validate before calculating</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The agent should stop when critical data is missing</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All S/O/D present</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Continue to calculation</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Detection missing</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Ask for value and scoring basis</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Source unclear</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Request revision or record</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Conflicting values</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Show conflict; do not choose silently</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105</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Step 3 · calculate visibly</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Show source values and arithmetic</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331720"/>
            <a:ext cx="3523488" cy="3337560"/>
          </a:xfrm>
          <a:prstGeom prst="roundRect">
            <a:avLst>
              <a:gd name="adj" fmla="val 2192"/>
            </a:avLst>
          </a:prstGeom>
          <a:solidFill>
            <a:srgbClr val="FFFFFF"/>
          </a:solidFill>
          <a:ln w="12700">
            <a:solidFill>
              <a:srgbClr val="C8D9DC"/>
            </a:solidFill>
            <a:prstDash val="solid"/>
          </a:ln>
        </p:spPr>
        <p:txBody>
          <a:bodyPr/>
          <a:lstStyle/>
          <a:p>
            <a:endParaRPr lang="en-US"/>
          </a:p>
        </p:txBody>
      </p:sp>
      <p:sp>
        <p:nvSpPr>
          <p:cNvPr id="8" name="Text 6"/>
          <p:cNvSpPr txBox="1"/>
          <p:nvPr/>
        </p:nvSpPr>
        <p:spPr>
          <a:xfrm>
            <a:off x="749808" y="2651760"/>
            <a:ext cx="3157728"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Inputs</a:t>
            </a:r>
            <a:endParaRPr lang="en-US" sz="1800" dirty="0"/>
          </a:p>
        </p:txBody>
      </p:sp>
      <p:sp>
        <p:nvSpPr>
          <p:cNvPr id="9" name="Text 7"/>
          <p:cNvSpPr txBox="1"/>
          <p:nvPr/>
        </p:nvSpPr>
        <p:spPr>
          <a:xfrm>
            <a:off x="749808" y="3493008"/>
            <a:ext cx="3157728" cy="1051560"/>
          </a:xfrm>
          <a:prstGeom prst="rect">
            <a:avLst/>
          </a:prstGeom>
          <a:noFill/>
          <a:ln/>
        </p:spPr>
        <p:txBody>
          <a:bodyPr wrap="square" lIns="0" tIns="0" rIns="0" bIns="0" rtlCol="0" anchor="ctr">
            <a:normAutofit/>
          </a:bodyPr>
          <a:lstStyle/>
          <a:p>
            <a:pPr marL="0" indent="0" algn="ctr">
              <a:buNone/>
            </a:pPr>
            <a:r>
              <a:rPr lang="en-US" sz="2600" b="1" dirty="0">
                <a:solidFill>
                  <a:srgbClr val="2477B3"/>
                </a:solidFill>
                <a:latin typeface="Aptos" pitchFamily="34" charset="0"/>
                <a:ea typeface="Aptos" pitchFamily="34" charset="-122"/>
                <a:cs typeface="Aptos" pitchFamily="34" charset="-120"/>
              </a:rPr>
              <a:t>S = 7 · O = 5 · D = 4</a:t>
            </a:r>
            <a:endParaRPr lang="en-US" sz="2600" dirty="0"/>
          </a:p>
        </p:txBody>
      </p:sp>
      <p:sp>
        <p:nvSpPr>
          <p:cNvPr id="10" name="Shape 8"/>
          <p:cNvSpPr/>
          <p:nvPr/>
        </p:nvSpPr>
        <p:spPr>
          <a:xfrm>
            <a:off x="4291584" y="2331720"/>
            <a:ext cx="3523488" cy="3337560"/>
          </a:xfrm>
          <a:prstGeom prst="roundRect">
            <a:avLst>
              <a:gd name="adj" fmla="val 2192"/>
            </a:avLst>
          </a:prstGeom>
          <a:solidFill>
            <a:srgbClr val="FFFFFF"/>
          </a:solidFill>
          <a:ln w="12700">
            <a:solidFill>
              <a:srgbClr val="C8D9DC"/>
            </a:solidFill>
            <a:prstDash val="solid"/>
          </a:ln>
        </p:spPr>
        <p:txBody>
          <a:bodyPr/>
          <a:lstStyle/>
          <a:p>
            <a:endParaRPr lang="en-US"/>
          </a:p>
        </p:txBody>
      </p:sp>
      <p:sp>
        <p:nvSpPr>
          <p:cNvPr id="11" name="Text 9"/>
          <p:cNvSpPr txBox="1"/>
          <p:nvPr/>
        </p:nvSpPr>
        <p:spPr>
          <a:xfrm>
            <a:off x="4474464" y="2651760"/>
            <a:ext cx="3157728"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Formula</a:t>
            </a:r>
            <a:endParaRPr lang="en-US" sz="1800" dirty="0"/>
          </a:p>
        </p:txBody>
      </p:sp>
      <p:sp>
        <p:nvSpPr>
          <p:cNvPr id="12" name="Text 10"/>
          <p:cNvSpPr txBox="1"/>
          <p:nvPr/>
        </p:nvSpPr>
        <p:spPr>
          <a:xfrm>
            <a:off x="4474464" y="3493008"/>
            <a:ext cx="3157728" cy="1051560"/>
          </a:xfrm>
          <a:prstGeom prst="rect">
            <a:avLst/>
          </a:prstGeom>
          <a:noFill/>
          <a:ln/>
        </p:spPr>
        <p:txBody>
          <a:bodyPr wrap="square" lIns="0" tIns="0" rIns="0" bIns="0" rtlCol="0" anchor="ctr">
            <a:normAutofit/>
          </a:bodyPr>
          <a:lstStyle/>
          <a:p>
            <a:pPr marL="0" indent="0" algn="ctr">
              <a:buNone/>
            </a:pPr>
            <a:r>
              <a:rPr lang="en-US" sz="2600" b="1" dirty="0">
                <a:solidFill>
                  <a:srgbClr val="2477B3"/>
                </a:solidFill>
                <a:latin typeface="Aptos" pitchFamily="34" charset="0"/>
                <a:ea typeface="Aptos" pitchFamily="34" charset="-122"/>
                <a:cs typeface="Aptos" pitchFamily="34" charset="-120"/>
              </a:rPr>
              <a:t>7 × 5 × 4</a:t>
            </a:r>
            <a:endParaRPr lang="en-US" sz="2600" dirty="0"/>
          </a:p>
        </p:txBody>
      </p:sp>
      <p:sp>
        <p:nvSpPr>
          <p:cNvPr id="13" name="Shape 11"/>
          <p:cNvSpPr/>
          <p:nvPr/>
        </p:nvSpPr>
        <p:spPr>
          <a:xfrm>
            <a:off x="8016240" y="2331720"/>
            <a:ext cx="3523488" cy="3337560"/>
          </a:xfrm>
          <a:prstGeom prst="roundRect">
            <a:avLst>
              <a:gd name="adj" fmla="val 2192"/>
            </a:avLst>
          </a:prstGeom>
          <a:solidFill>
            <a:srgbClr val="E2EEF0"/>
          </a:solidFill>
          <a:ln w="12700">
            <a:solidFill>
              <a:srgbClr val="C8D9DC"/>
            </a:solidFill>
            <a:prstDash val="solid"/>
          </a:ln>
        </p:spPr>
        <p:txBody>
          <a:bodyPr/>
          <a:lstStyle/>
          <a:p>
            <a:endParaRPr lang="en-US"/>
          </a:p>
        </p:txBody>
      </p:sp>
      <p:sp>
        <p:nvSpPr>
          <p:cNvPr id="14" name="Text 12"/>
          <p:cNvSpPr txBox="1"/>
          <p:nvPr/>
        </p:nvSpPr>
        <p:spPr>
          <a:xfrm>
            <a:off x="8199120" y="2651760"/>
            <a:ext cx="3157728"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Result</a:t>
            </a:r>
            <a:endParaRPr lang="en-US" sz="1800" dirty="0"/>
          </a:p>
        </p:txBody>
      </p:sp>
      <p:sp>
        <p:nvSpPr>
          <p:cNvPr id="15" name="Text 13"/>
          <p:cNvSpPr txBox="1"/>
          <p:nvPr/>
        </p:nvSpPr>
        <p:spPr>
          <a:xfrm>
            <a:off x="8199120" y="3493008"/>
            <a:ext cx="3157728" cy="1051560"/>
          </a:xfrm>
          <a:prstGeom prst="rect">
            <a:avLst/>
          </a:prstGeom>
          <a:noFill/>
          <a:ln/>
        </p:spPr>
        <p:txBody>
          <a:bodyPr wrap="square" lIns="0" tIns="0" rIns="0" bIns="0" rtlCol="0" anchor="ctr">
            <a:normAutofit/>
          </a:bodyPr>
          <a:lstStyle/>
          <a:p>
            <a:pPr marL="0" indent="0" algn="ctr">
              <a:buNone/>
            </a:pPr>
            <a:r>
              <a:rPr lang="en-US" sz="2600" b="1" dirty="0">
                <a:solidFill>
                  <a:srgbClr val="102B3E"/>
                </a:solidFill>
                <a:latin typeface="Aptos" pitchFamily="34" charset="0"/>
                <a:ea typeface="Aptos" pitchFamily="34" charset="-122"/>
                <a:cs typeface="Aptos" pitchFamily="34" charset="-120"/>
              </a:rPr>
              <a:t>RPN = 140</a:t>
            </a:r>
            <a:endParaRPr lang="en-US" sz="2600" dirty="0"/>
          </a:p>
        </p:txBody>
      </p:sp>
      <p:sp>
        <p:nvSpPr>
          <p:cNvPr id="16" name="Text 1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106</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Step 4 · retrieve the right template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Ground the output format on a controlled source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Knowledge</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FMEA report template</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Version</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Confirm revision</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Mandatory</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Evidence gap, action, owner, status</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Prohibited</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No invented approval</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107</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Step 5 · place a human approval gate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No report is released before engineering review</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Agent output</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Draft only</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Engineer review</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Logic, ratings and evidence</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Approver</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Named competent role</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Decision</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Approve, revise or reject</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108</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Step 6 · create a traceable report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Return the work needed for review and audit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Input record</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Source fields</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Calculation</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RPN and gate</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Draft action</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Owner and due date</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Limitations</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Missing evidence</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Audit note</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Prompt, source and reviewer</a:t>
            </a:r>
            <a:endParaRPr lang="en-US" sz="1400" dirty="0"/>
          </a:p>
        </p:txBody>
      </p:sp>
      <p:sp>
        <p:nvSpPr>
          <p:cNvPr id="32" name="Text 3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109</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Open the agent builder</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Create or inspect the IES Pump FMEA Assistant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pic>
        <p:nvPicPr>
          <p:cNvPr id="7" name="Image 0" descr="/Users/alfredang/Documents/Supporting Document/Tertiary Infotech/Client Projects/Client WSQ Projects/Client - IES/GenAI for Engineers/assets/copilot365-home.png"/>
          <p:cNvPicPr>
            <a:picLocks noChangeAspect="1"/>
          </p:cNvPicPr>
          <p:nvPr/>
        </p:nvPicPr>
        <p:blipFill>
          <a:blip r:embed="rId3"/>
          <a:stretch>
            <a:fillRect/>
          </a:stretch>
        </p:blipFill>
        <p:spPr>
          <a:xfrm>
            <a:off x="566928" y="1993392"/>
            <a:ext cx="6419088" cy="4041648"/>
          </a:xfrm>
          <a:prstGeom prst="rect">
            <a:avLst/>
          </a:prstGeom>
        </p:spPr>
      </p:pic>
      <p:sp>
        <p:nvSpPr>
          <p:cNvPr id="8" name="Shape 5"/>
          <p:cNvSpPr/>
          <p:nvPr/>
        </p:nvSpPr>
        <p:spPr>
          <a:xfrm>
            <a:off x="566928" y="5349240"/>
            <a:ext cx="6419088" cy="685800"/>
          </a:xfrm>
          <a:prstGeom prst="rect">
            <a:avLst/>
          </a:prstGeom>
          <a:solidFill>
            <a:srgbClr val="102B3E">
              <a:alpha val="92000"/>
            </a:srgbClr>
          </a:solidFill>
          <a:ln w="12700">
            <a:solidFill>
              <a:srgbClr val="102B3E">
                <a:alpha val="0"/>
              </a:srgbClr>
            </a:solidFill>
            <a:prstDash val="solid"/>
          </a:ln>
        </p:spPr>
        <p:txBody>
          <a:bodyPr/>
          <a:lstStyle/>
          <a:p>
            <a:endParaRPr/>
          </a:p>
        </p:txBody>
      </p:sp>
      <p:sp>
        <p:nvSpPr>
          <p:cNvPr id="9" name="Text 6"/>
          <p:cNvSpPr txBox="1"/>
          <p:nvPr/>
        </p:nvSpPr>
        <p:spPr>
          <a:xfrm>
            <a:off x="804672" y="5458968"/>
            <a:ext cx="5943600" cy="438912"/>
          </a:xfrm>
          <a:prstGeom prst="rect">
            <a:avLst/>
          </a:prstGeom>
          <a:noFill/>
          <a:ln/>
        </p:spPr>
        <p:txBody>
          <a:bodyPr wrap="square" lIns="0" tIns="0" rIns="0" bIns="0" rtlCol="0" anchor="ctr">
            <a:normAutofit/>
          </a:bodyPr>
          <a:lstStyle/>
          <a:p>
            <a:pPr marL="0" indent="0" algn="l">
              <a:buNone/>
            </a:pPr>
            <a:r>
              <a:rPr lang="en-US" sz="1600" b="1" dirty="0">
                <a:solidFill>
                  <a:srgbClr val="FFFFFF"/>
                </a:solidFill>
                <a:latin typeface="Aptos" pitchFamily="34" charset="0"/>
                <a:ea typeface="Aptos" pitchFamily="34" charset="-122"/>
                <a:cs typeface="Aptos" pitchFamily="34" charset="-120"/>
              </a:rPr>
              <a:t>Create or inspect the IES Pump FMEA Assistant</a:t>
            </a:r>
            <a:endParaRPr lang="en-US" sz="1600" dirty="0"/>
          </a:p>
        </p:txBody>
      </p:sp>
      <p:sp>
        <p:nvSpPr>
          <p:cNvPr id="10" name="Shape 7"/>
          <p:cNvSpPr/>
          <p:nvPr/>
        </p:nvSpPr>
        <p:spPr>
          <a:xfrm>
            <a:off x="7388352" y="2103120"/>
            <a:ext cx="384048" cy="384048"/>
          </a:xfrm>
          <a:prstGeom prst="ellipse">
            <a:avLst/>
          </a:prstGeom>
          <a:solidFill>
            <a:srgbClr val="078897"/>
          </a:solidFill>
          <a:ln w="12700">
            <a:solidFill>
              <a:srgbClr val="078897"/>
            </a:solidFill>
            <a:prstDash val="solid"/>
          </a:ln>
        </p:spPr>
        <p:txBody>
          <a:bodyPr/>
          <a:lstStyle/>
          <a:p>
            <a:endParaRPr/>
          </a:p>
        </p:txBody>
      </p:sp>
      <p:sp>
        <p:nvSpPr>
          <p:cNvPr id="11" name="Text 8"/>
          <p:cNvSpPr txBox="1"/>
          <p:nvPr/>
        </p:nvSpPr>
        <p:spPr>
          <a:xfrm>
            <a:off x="7388352" y="2103120"/>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9"/>
          <p:cNvSpPr txBox="1"/>
          <p:nvPr/>
        </p:nvSpPr>
        <p:spPr>
          <a:xfrm>
            <a:off x="7909560" y="2057400"/>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Navigate</a:t>
            </a:r>
            <a:endParaRPr lang="en-US" sz="1500" dirty="0"/>
          </a:p>
        </p:txBody>
      </p:sp>
      <p:sp>
        <p:nvSpPr>
          <p:cNvPr id="13" name="Text 10"/>
          <p:cNvSpPr txBox="1"/>
          <p:nvPr/>
        </p:nvSpPr>
        <p:spPr>
          <a:xfrm>
            <a:off x="7909560" y="2404872"/>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Microsoft 365 Copilot → Agents</a:t>
            </a:r>
            <a:endParaRPr lang="en-US" sz="1400" dirty="0"/>
          </a:p>
        </p:txBody>
      </p:sp>
      <p:sp>
        <p:nvSpPr>
          <p:cNvPr id="14" name="Shape 11"/>
          <p:cNvSpPr/>
          <p:nvPr/>
        </p:nvSpPr>
        <p:spPr>
          <a:xfrm>
            <a:off x="7388352" y="3182112"/>
            <a:ext cx="384048" cy="384048"/>
          </a:xfrm>
          <a:prstGeom prst="ellipse">
            <a:avLst/>
          </a:prstGeom>
          <a:solidFill>
            <a:srgbClr val="078897"/>
          </a:solidFill>
          <a:ln w="12700">
            <a:solidFill>
              <a:srgbClr val="078897"/>
            </a:solidFill>
            <a:prstDash val="solid"/>
          </a:ln>
        </p:spPr>
        <p:txBody>
          <a:bodyPr/>
          <a:lstStyle/>
          <a:p>
            <a:endParaRPr/>
          </a:p>
        </p:txBody>
      </p:sp>
      <p:sp>
        <p:nvSpPr>
          <p:cNvPr id="15" name="Text 12"/>
          <p:cNvSpPr txBox="1"/>
          <p:nvPr/>
        </p:nvSpPr>
        <p:spPr>
          <a:xfrm>
            <a:off x="7388352" y="3182112"/>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3"/>
          <p:cNvSpPr txBox="1"/>
          <p:nvPr/>
        </p:nvSpPr>
        <p:spPr>
          <a:xfrm>
            <a:off x="7909560" y="3136392"/>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Create</a:t>
            </a:r>
            <a:endParaRPr lang="en-US" sz="1500" dirty="0"/>
          </a:p>
        </p:txBody>
      </p:sp>
      <p:sp>
        <p:nvSpPr>
          <p:cNvPr id="17" name="Text 14"/>
          <p:cNvSpPr txBox="1"/>
          <p:nvPr/>
        </p:nvSpPr>
        <p:spPr>
          <a:xfrm>
            <a:off x="7909560" y="3483864"/>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New agent or Copilot Studio</a:t>
            </a:r>
            <a:endParaRPr lang="en-US" sz="1400" dirty="0"/>
          </a:p>
        </p:txBody>
      </p:sp>
      <p:sp>
        <p:nvSpPr>
          <p:cNvPr id="18" name="Shape 15"/>
          <p:cNvSpPr/>
          <p:nvPr/>
        </p:nvSpPr>
        <p:spPr>
          <a:xfrm>
            <a:off x="7388352" y="4261104"/>
            <a:ext cx="384048" cy="384048"/>
          </a:xfrm>
          <a:prstGeom prst="ellipse">
            <a:avLst/>
          </a:prstGeom>
          <a:solidFill>
            <a:srgbClr val="078897"/>
          </a:solidFill>
          <a:ln w="12700">
            <a:solidFill>
              <a:srgbClr val="078897"/>
            </a:solidFill>
            <a:prstDash val="solid"/>
          </a:ln>
        </p:spPr>
        <p:txBody>
          <a:bodyPr/>
          <a:lstStyle/>
          <a:p>
            <a:endParaRPr/>
          </a:p>
        </p:txBody>
      </p:sp>
      <p:sp>
        <p:nvSpPr>
          <p:cNvPr id="19" name="Text 16"/>
          <p:cNvSpPr txBox="1"/>
          <p:nvPr/>
        </p:nvSpPr>
        <p:spPr>
          <a:xfrm>
            <a:off x="7388352" y="4261104"/>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7"/>
          <p:cNvSpPr txBox="1"/>
          <p:nvPr/>
        </p:nvSpPr>
        <p:spPr>
          <a:xfrm>
            <a:off x="7909560" y="4215384"/>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Scope</a:t>
            </a:r>
            <a:endParaRPr lang="en-US" sz="1500" dirty="0"/>
          </a:p>
        </p:txBody>
      </p:sp>
      <p:sp>
        <p:nvSpPr>
          <p:cNvPr id="21" name="Text 18"/>
          <p:cNvSpPr txBox="1"/>
          <p:nvPr/>
        </p:nvSpPr>
        <p:spPr>
          <a:xfrm>
            <a:off x="7909560" y="4562856"/>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Training account and approved sources</a:t>
            </a:r>
            <a:endParaRPr lang="en-US" sz="1400" dirty="0"/>
          </a:p>
        </p:txBody>
      </p:sp>
      <p:sp>
        <p:nvSpPr>
          <p:cNvPr id="22" name="Text 19"/>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110</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Write narrow agent instructions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Describe the task, sequence and stop conditions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For each failure-mode record: validate required fields; stop and ask when S, O or D is missing; calculate RPN from supplied ratings; apply the Severity 9 review gate; request engineering review; then draft the report from the attached template. Preserve sources and unknowns.</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Role</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FMEA workflow assistant</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Steps</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Collect → validate → calculate → gate → report</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Boundary</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No ratings, causes or approval invented</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111</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Attach controlled knowledge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the supplied template and rating reference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FMEA template</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Required columns and report structure</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Rating guide</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Meaning of S/O/D scales</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Test cases</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Complete and incomplete records</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Boundary</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Synthetic training sources only</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112</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Topics and actions extend an agent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Add only what the workflow needs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3486912"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Topic</a:t>
            </a:r>
            <a:endParaRPr lang="en-US" sz="2100" dirty="0"/>
          </a:p>
        </p:txBody>
      </p:sp>
      <p:sp>
        <p:nvSpPr>
          <p:cNvPr id="10" name="Text 8"/>
          <p:cNvSpPr txBox="1"/>
          <p:nvPr/>
        </p:nvSpPr>
        <p:spPr>
          <a:xfrm>
            <a:off x="859536"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Recognises a user intent and guides dialogue.</a:t>
            </a:r>
            <a:endParaRPr lang="en-US" sz="1700" dirty="0"/>
          </a:p>
        </p:txBody>
      </p:sp>
      <p:sp>
        <p:nvSpPr>
          <p:cNvPr id="11" name="Shape 9"/>
          <p:cNvSpPr/>
          <p:nvPr/>
        </p:nvSpPr>
        <p:spPr>
          <a:xfrm>
            <a:off x="4309872"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4309872" y="2057400"/>
            <a:ext cx="3486912"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4565904"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Action</a:t>
            </a:r>
            <a:endParaRPr lang="en-US" sz="2100" dirty="0"/>
          </a:p>
        </p:txBody>
      </p:sp>
      <p:sp>
        <p:nvSpPr>
          <p:cNvPr id="14" name="Text 12"/>
          <p:cNvSpPr txBox="1"/>
          <p:nvPr/>
        </p:nvSpPr>
        <p:spPr>
          <a:xfrm>
            <a:off x="4602480"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Calls a connected tool or flow.</a:t>
            </a:r>
            <a:endParaRPr lang="en-US" sz="1700" dirty="0"/>
          </a:p>
        </p:txBody>
      </p:sp>
      <p:sp>
        <p:nvSpPr>
          <p:cNvPr id="15" name="Shape 13"/>
          <p:cNvSpPr/>
          <p:nvPr/>
        </p:nvSpPr>
        <p:spPr>
          <a:xfrm>
            <a:off x="8052816" y="2057400"/>
            <a:ext cx="3486912" cy="3959352"/>
          </a:xfrm>
          <a:prstGeom prst="roundRect">
            <a:avLst>
              <a:gd name="adj" fmla="val 2098"/>
            </a:avLst>
          </a:prstGeom>
          <a:solidFill>
            <a:srgbClr val="E2EEF0"/>
          </a:solidFill>
          <a:ln w="12700">
            <a:solidFill>
              <a:srgbClr val="C8D9DC"/>
            </a:solidFill>
            <a:prstDash val="solid"/>
          </a:ln>
        </p:spPr>
        <p:txBody>
          <a:bodyPr/>
          <a:lstStyle/>
          <a:p>
            <a:endParaRPr lang="en-US"/>
          </a:p>
        </p:txBody>
      </p:sp>
      <p:sp>
        <p:nvSpPr>
          <p:cNvPr id="16" name="Shape 14"/>
          <p:cNvSpPr/>
          <p:nvPr/>
        </p:nvSpPr>
        <p:spPr>
          <a:xfrm>
            <a:off x="8052816" y="2057400"/>
            <a:ext cx="3486912"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8308848"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F4A62A"/>
                </a:solidFill>
                <a:latin typeface="Aptos" pitchFamily="34" charset="0"/>
                <a:ea typeface="Aptos" pitchFamily="34" charset="-122"/>
                <a:cs typeface="Aptos" pitchFamily="34" charset="-120"/>
              </a:rPr>
              <a:t>For this course</a:t>
            </a:r>
            <a:endParaRPr lang="en-US" sz="2100" dirty="0"/>
          </a:p>
        </p:txBody>
      </p:sp>
      <p:sp>
        <p:nvSpPr>
          <p:cNvPr id="18" name="Text 16"/>
          <p:cNvSpPr txBox="1"/>
          <p:nvPr/>
        </p:nvSpPr>
        <p:spPr>
          <a:xfrm>
            <a:off x="8345424"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The core agent can remain instruction-and-knowledge based.</a:t>
            </a:r>
            <a:endParaRPr lang="en-US" sz="1700" dirty="0"/>
          </a:p>
        </p:txBody>
      </p:sp>
      <p:sp>
        <p:nvSpPr>
          <p:cNvPr id="19" name="Text 17"/>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113</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Test before sharing</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expected outputs and expected refusals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Complete FM01</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RPN 140; asks for evidence and review</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Missing Detection</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Stops and asks for D</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High severity FM04</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Flags Severity 9 despite RPN 90</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Unsafe request</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Refuses to approve the design</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114</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Publish and share within a boundary</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Deployment includes audience and permissions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Preview</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Run test cases</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Publish</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Save approved version</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Share</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Named training audience</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Monitor</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Review feedback and errors</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Update</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Retest after changes</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115</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4.1 · Build an FMEA Assistant agent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Create, test and refine one workflow</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2743200" cy="4069080"/>
          </a:xfrm>
          <a:prstGeom prst="roundRect">
            <a:avLst/>
          </a:prstGeom>
          <a:solidFill>
            <a:srgbClr val="102B3E"/>
          </a:solidFill>
          <a:ln w="12700">
            <a:solidFill>
              <a:srgbClr val="102B3E"/>
            </a:solidFill>
            <a:prstDash val="solid"/>
          </a:ln>
        </p:spPr>
        <p:txBody>
          <a:bodyPr/>
          <a:lstStyle/>
          <a:p>
            <a:endParaRPr/>
          </a:p>
        </p:txBody>
      </p:sp>
      <p:sp>
        <p:nvSpPr>
          <p:cNvPr id="8" name="Text 6"/>
          <p:cNvSpPr txBox="1"/>
          <p:nvPr/>
        </p:nvSpPr>
        <p:spPr>
          <a:xfrm>
            <a:off x="868680" y="2395728"/>
            <a:ext cx="2148840" cy="548640"/>
          </a:xfrm>
          <a:prstGeom prst="rect">
            <a:avLst/>
          </a:prstGeom>
          <a:noFill/>
          <a:ln/>
        </p:spPr>
        <p:txBody>
          <a:bodyPr wrap="square" lIns="0" tIns="0" rIns="0" bIns="0" rtlCol="0" anchor="ctr">
            <a:normAutofit/>
          </a:bodyPr>
          <a:lstStyle/>
          <a:p>
            <a:pPr marL="0" indent="0" algn="ctr">
              <a:buNone/>
            </a:pPr>
            <a:r>
              <a:rPr lang="en-US" sz="2400" b="1" dirty="0">
                <a:solidFill>
                  <a:srgbClr val="FFFFFF"/>
                </a:solidFill>
                <a:latin typeface="Aptos" pitchFamily="34" charset="0"/>
                <a:ea typeface="Aptos" pitchFamily="34" charset="-122"/>
                <a:cs typeface="Aptos" pitchFamily="34" charset="-120"/>
              </a:rPr>
              <a:t>Lab 4.1</a:t>
            </a:r>
            <a:endParaRPr lang="en-US" sz="2400" dirty="0"/>
          </a:p>
        </p:txBody>
      </p:sp>
      <p:sp>
        <p:nvSpPr>
          <p:cNvPr id="9" name="Text 7"/>
          <p:cNvSpPr txBox="1"/>
          <p:nvPr/>
        </p:nvSpPr>
        <p:spPr>
          <a:xfrm>
            <a:off x="868680" y="3163824"/>
            <a:ext cx="2148840" cy="1143000"/>
          </a:xfrm>
          <a:prstGeom prst="rect">
            <a:avLst/>
          </a:prstGeom>
          <a:noFill/>
          <a:ln/>
        </p:spPr>
        <p:txBody>
          <a:bodyPr wrap="square" lIns="0" tIns="0" rIns="0" bIns="0" rtlCol="0" anchor="ctr">
            <a:normAutofit/>
          </a:bodyPr>
          <a:lstStyle/>
          <a:p>
            <a:pPr marL="0" indent="0" algn="ctr">
              <a:buNone/>
            </a:pPr>
            <a:r>
              <a:rPr lang="en-US" sz="1600" dirty="0">
                <a:solidFill>
                  <a:srgbClr val="FFFFFF"/>
                </a:solidFill>
                <a:latin typeface="Aptos" pitchFamily="34" charset="0"/>
                <a:ea typeface="Aptos" pitchFamily="34" charset="-122"/>
                <a:cs typeface="Aptos" pitchFamily="34" charset="-120"/>
              </a:rPr>
              <a:t>Create, test and refine one workflow</a:t>
            </a:r>
            <a:endParaRPr lang="en-US" sz="1600" dirty="0"/>
          </a:p>
        </p:txBody>
      </p:sp>
      <p:sp>
        <p:nvSpPr>
          <p:cNvPr id="10" name="Text 8"/>
          <p:cNvSpPr txBox="1"/>
          <p:nvPr/>
        </p:nvSpPr>
        <p:spPr>
          <a:xfrm>
            <a:off x="868680" y="4992624"/>
            <a:ext cx="2148840" cy="274320"/>
          </a:xfrm>
          <a:prstGeom prst="rect">
            <a:avLst/>
          </a:prstGeom>
          <a:noFill/>
          <a:ln/>
        </p:spPr>
        <p:txBody>
          <a:bodyPr wrap="square" lIns="0" tIns="0" rIns="0" bIns="0" rtlCol="0" anchor="ctr">
            <a:normAutofit/>
          </a:bodyPr>
          <a:lstStyle/>
          <a:p>
            <a:pPr marL="0" indent="0" algn="ctr">
              <a:buNone/>
            </a:pPr>
            <a:r>
              <a:rPr lang="en-US" sz="1100" b="1" dirty="0">
                <a:solidFill>
                  <a:srgbClr val="17A9B8"/>
                </a:solidFill>
                <a:latin typeface="Aptos" pitchFamily="34" charset="0"/>
                <a:ea typeface="Aptos" pitchFamily="34" charset="-122"/>
                <a:cs typeface="Aptos" pitchFamily="34" charset="-120"/>
              </a:rPr>
              <a:t>ONE SMALL OUTPUT</a:t>
            </a:r>
            <a:endParaRPr lang="en-US" sz="1100" dirty="0"/>
          </a:p>
        </p:txBody>
      </p:sp>
      <p:sp>
        <p:nvSpPr>
          <p:cNvPr id="11" name="Shape 9"/>
          <p:cNvSpPr/>
          <p:nvPr/>
        </p:nvSpPr>
        <p:spPr>
          <a:xfrm>
            <a:off x="3749040" y="2103120"/>
            <a:ext cx="420624" cy="420624"/>
          </a:xfrm>
          <a:prstGeom prst="ellipse">
            <a:avLst/>
          </a:prstGeom>
          <a:solidFill>
            <a:srgbClr val="078897"/>
          </a:solidFill>
          <a:ln w="12700">
            <a:solidFill>
              <a:srgbClr val="078897"/>
            </a:solidFill>
            <a:prstDash val="solid"/>
          </a:ln>
        </p:spPr>
        <p:txBody>
          <a:bodyPr/>
          <a:lstStyle/>
          <a:p>
            <a:endParaRPr/>
          </a:p>
        </p:txBody>
      </p:sp>
      <p:sp>
        <p:nvSpPr>
          <p:cNvPr id="12" name="Text 10"/>
          <p:cNvSpPr txBox="1"/>
          <p:nvPr/>
        </p:nvSpPr>
        <p:spPr>
          <a:xfrm>
            <a:off x="3749040" y="2103120"/>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13" name="Text 11"/>
          <p:cNvSpPr txBox="1"/>
          <p:nvPr/>
        </p:nvSpPr>
        <p:spPr>
          <a:xfrm>
            <a:off x="4352544" y="1993392"/>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Build</a:t>
            </a:r>
            <a:endParaRPr lang="en-US" sz="1500" dirty="0"/>
          </a:p>
        </p:txBody>
      </p:sp>
      <p:sp>
        <p:nvSpPr>
          <p:cNvPr id="14" name="Text 12"/>
          <p:cNvSpPr txBox="1"/>
          <p:nvPr/>
        </p:nvSpPr>
        <p:spPr>
          <a:xfrm>
            <a:off x="5596128" y="1993392"/>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Instructions + template</a:t>
            </a:r>
            <a:endParaRPr lang="en-US" sz="1500" dirty="0"/>
          </a:p>
        </p:txBody>
      </p:sp>
      <p:sp>
        <p:nvSpPr>
          <p:cNvPr id="15" name="Shape 13"/>
          <p:cNvSpPr/>
          <p:nvPr/>
        </p:nvSpPr>
        <p:spPr>
          <a:xfrm>
            <a:off x="3959352" y="2523744"/>
            <a:ext cx="0" cy="283464"/>
          </a:xfrm>
          <a:prstGeom prst="line">
            <a:avLst/>
          </a:prstGeom>
          <a:noFill/>
          <a:ln w="25400">
            <a:solidFill>
              <a:srgbClr val="C8D9DC"/>
            </a:solidFill>
            <a:prstDash val="solid"/>
          </a:ln>
        </p:spPr>
        <p:txBody>
          <a:bodyPr/>
          <a:lstStyle/>
          <a:p>
            <a:endParaRPr/>
          </a:p>
        </p:txBody>
      </p:sp>
      <p:sp>
        <p:nvSpPr>
          <p:cNvPr id="16" name="Shape 14"/>
          <p:cNvSpPr/>
          <p:nvPr/>
        </p:nvSpPr>
        <p:spPr>
          <a:xfrm>
            <a:off x="3749040" y="2916936"/>
            <a:ext cx="420624" cy="420624"/>
          </a:xfrm>
          <a:prstGeom prst="ellipse">
            <a:avLst/>
          </a:prstGeom>
          <a:solidFill>
            <a:srgbClr val="078897"/>
          </a:solidFill>
          <a:ln w="12700">
            <a:solidFill>
              <a:srgbClr val="078897"/>
            </a:solidFill>
            <a:prstDash val="solid"/>
          </a:ln>
        </p:spPr>
        <p:txBody>
          <a:bodyPr/>
          <a:lstStyle/>
          <a:p>
            <a:endParaRPr/>
          </a:p>
        </p:txBody>
      </p:sp>
      <p:sp>
        <p:nvSpPr>
          <p:cNvPr id="17" name="Text 15"/>
          <p:cNvSpPr txBox="1"/>
          <p:nvPr/>
        </p:nvSpPr>
        <p:spPr>
          <a:xfrm>
            <a:off x="3749040" y="2916936"/>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8" name="Text 16"/>
          <p:cNvSpPr txBox="1"/>
          <p:nvPr/>
        </p:nvSpPr>
        <p:spPr>
          <a:xfrm>
            <a:off x="4352544" y="2807208"/>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Test 1</a:t>
            </a:r>
            <a:endParaRPr lang="en-US" sz="1500" dirty="0"/>
          </a:p>
        </p:txBody>
      </p:sp>
      <p:sp>
        <p:nvSpPr>
          <p:cNvPr id="19" name="Text 17"/>
          <p:cNvSpPr txBox="1"/>
          <p:nvPr/>
        </p:nvSpPr>
        <p:spPr>
          <a:xfrm>
            <a:off x="5596128" y="2807208"/>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FM01 complete row</a:t>
            </a:r>
            <a:endParaRPr lang="en-US" sz="1500" dirty="0"/>
          </a:p>
        </p:txBody>
      </p:sp>
      <p:sp>
        <p:nvSpPr>
          <p:cNvPr id="20" name="Shape 18"/>
          <p:cNvSpPr/>
          <p:nvPr/>
        </p:nvSpPr>
        <p:spPr>
          <a:xfrm>
            <a:off x="3959352" y="3337560"/>
            <a:ext cx="0" cy="283464"/>
          </a:xfrm>
          <a:prstGeom prst="line">
            <a:avLst/>
          </a:prstGeom>
          <a:noFill/>
          <a:ln w="25400">
            <a:solidFill>
              <a:srgbClr val="C8D9DC"/>
            </a:solidFill>
            <a:prstDash val="solid"/>
          </a:ln>
        </p:spPr>
        <p:txBody>
          <a:bodyPr/>
          <a:lstStyle/>
          <a:p>
            <a:endParaRPr/>
          </a:p>
        </p:txBody>
      </p:sp>
      <p:sp>
        <p:nvSpPr>
          <p:cNvPr id="21" name="Shape 19"/>
          <p:cNvSpPr/>
          <p:nvPr/>
        </p:nvSpPr>
        <p:spPr>
          <a:xfrm>
            <a:off x="3749040" y="3730752"/>
            <a:ext cx="420624" cy="420624"/>
          </a:xfrm>
          <a:prstGeom prst="ellipse">
            <a:avLst/>
          </a:prstGeom>
          <a:solidFill>
            <a:srgbClr val="078897"/>
          </a:solidFill>
          <a:ln w="12700">
            <a:solidFill>
              <a:srgbClr val="078897"/>
            </a:solidFill>
            <a:prstDash val="solid"/>
          </a:ln>
        </p:spPr>
        <p:txBody>
          <a:bodyPr/>
          <a:lstStyle/>
          <a:p>
            <a:endParaRPr/>
          </a:p>
        </p:txBody>
      </p:sp>
      <p:sp>
        <p:nvSpPr>
          <p:cNvPr id="22" name="Text 20"/>
          <p:cNvSpPr txBox="1"/>
          <p:nvPr/>
        </p:nvSpPr>
        <p:spPr>
          <a:xfrm>
            <a:off x="3749040" y="3730752"/>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23" name="Text 21"/>
          <p:cNvSpPr txBox="1"/>
          <p:nvPr/>
        </p:nvSpPr>
        <p:spPr>
          <a:xfrm>
            <a:off x="4352544" y="3621024"/>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Test 2</a:t>
            </a:r>
            <a:endParaRPr lang="en-US" sz="1500" dirty="0"/>
          </a:p>
        </p:txBody>
      </p:sp>
      <p:sp>
        <p:nvSpPr>
          <p:cNvPr id="24" name="Text 22"/>
          <p:cNvSpPr txBox="1"/>
          <p:nvPr/>
        </p:nvSpPr>
        <p:spPr>
          <a:xfrm>
            <a:off x="5596128" y="3621024"/>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Missing Detection</a:t>
            </a:r>
            <a:endParaRPr lang="en-US" sz="1500" dirty="0"/>
          </a:p>
        </p:txBody>
      </p:sp>
      <p:sp>
        <p:nvSpPr>
          <p:cNvPr id="25" name="Shape 23"/>
          <p:cNvSpPr/>
          <p:nvPr/>
        </p:nvSpPr>
        <p:spPr>
          <a:xfrm>
            <a:off x="3959352" y="4151376"/>
            <a:ext cx="0" cy="283464"/>
          </a:xfrm>
          <a:prstGeom prst="line">
            <a:avLst/>
          </a:prstGeom>
          <a:noFill/>
          <a:ln w="25400">
            <a:solidFill>
              <a:srgbClr val="C8D9DC"/>
            </a:solidFill>
            <a:prstDash val="solid"/>
          </a:ln>
        </p:spPr>
        <p:txBody>
          <a:bodyPr/>
          <a:lstStyle/>
          <a:p>
            <a:endParaRPr/>
          </a:p>
        </p:txBody>
      </p:sp>
      <p:sp>
        <p:nvSpPr>
          <p:cNvPr id="26" name="Shape 24"/>
          <p:cNvSpPr/>
          <p:nvPr/>
        </p:nvSpPr>
        <p:spPr>
          <a:xfrm>
            <a:off x="3749040" y="4544568"/>
            <a:ext cx="420624" cy="420624"/>
          </a:xfrm>
          <a:prstGeom prst="ellipse">
            <a:avLst/>
          </a:prstGeom>
          <a:solidFill>
            <a:srgbClr val="078897"/>
          </a:solidFill>
          <a:ln w="12700">
            <a:solidFill>
              <a:srgbClr val="078897"/>
            </a:solidFill>
            <a:prstDash val="solid"/>
          </a:ln>
        </p:spPr>
        <p:txBody>
          <a:bodyPr/>
          <a:lstStyle/>
          <a:p>
            <a:endParaRPr/>
          </a:p>
        </p:txBody>
      </p:sp>
      <p:sp>
        <p:nvSpPr>
          <p:cNvPr id="27" name="Text 25"/>
          <p:cNvSpPr txBox="1"/>
          <p:nvPr/>
        </p:nvSpPr>
        <p:spPr>
          <a:xfrm>
            <a:off x="3749040" y="4544568"/>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8" name="Text 26"/>
          <p:cNvSpPr txBox="1"/>
          <p:nvPr/>
        </p:nvSpPr>
        <p:spPr>
          <a:xfrm>
            <a:off x="4352544" y="4434840"/>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Refine</a:t>
            </a:r>
            <a:endParaRPr lang="en-US" sz="1500" dirty="0"/>
          </a:p>
        </p:txBody>
      </p:sp>
      <p:sp>
        <p:nvSpPr>
          <p:cNvPr id="29" name="Text 27"/>
          <p:cNvSpPr txBox="1"/>
          <p:nvPr/>
        </p:nvSpPr>
        <p:spPr>
          <a:xfrm>
            <a:off x="5596128" y="4434840"/>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One instruction</a:t>
            </a:r>
            <a:endParaRPr lang="en-US" sz="1500" dirty="0"/>
          </a:p>
        </p:txBody>
      </p:sp>
      <p:sp>
        <p:nvSpPr>
          <p:cNvPr id="30" name="Shape 28"/>
          <p:cNvSpPr/>
          <p:nvPr/>
        </p:nvSpPr>
        <p:spPr>
          <a:xfrm>
            <a:off x="3959352" y="4965192"/>
            <a:ext cx="0" cy="283464"/>
          </a:xfrm>
          <a:prstGeom prst="line">
            <a:avLst/>
          </a:prstGeom>
          <a:noFill/>
          <a:ln w="25400">
            <a:solidFill>
              <a:srgbClr val="C8D9DC"/>
            </a:solidFill>
            <a:prstDash val="solid"/>
          </a:ln>
        </p:spPr>
        <p:txBody>
          <a:bodyPr/>
          <a:lstStyle/>
          <a:p>
            <a:endParaRPr/>
          </a:p>
        </p:txBody>
      </p:sp>
      <p:sp>
        <p:nvSpPr>
          <p:cNvPr id="31" name="Shape 29"/>
          <p:cNvSpPr/>
          <p:nvPr/>
        </p:nvSpPr>
        <p:spPr>
          <a:xfrm>
            <a:off x="3749040" y="5358384"/>
            <a:ext cx="420624" cy="420624"/>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3749040" y="5358384"/>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5</a:t>
            </a:r>
            <a:endParaRPr lang="en-US" sz="1400" dirty="0"/>
          </a:p>
        </p:txBody>
      </p:sp>
      <p:sp>
        <p:nvSpPr>
          <p:cNvPr id="33" name="Text 31"/>
          <p:cNvSpPr txBox="1"/>
          <p:nvPr/>
        </p:nvSpPr>
        <p:spPr>
          <a:xfrm>
            <a:off x="4352544" y="5248656"/>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Evidence</a:t>
            </a:r>
            <a:endParaRPr lang="en-US" sz="1500" dirty="0"/>
          </a:p>
        </p:txBody>
      </p:sp>
      <p:sp>
        <p:nvSpPr>
          <p:cNvPr id="34" name="Text 32"/>
          <p:cNvSpPr txBox="1"/>
          <p:nvPr/>
        </p:nvSpPr>
        <p:spPr>
          <a:xfrm>
            <a:off x="5596128" y="5248656"/>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Screenshot or copied result</a:t>
            </a:r>
            <a:endParaRPr lang="en-US" sz="1500" dirty="0"/>
          </a:p>
        </p:txBody>
      </p:sp>
      <p:sp>
        <p:nvSpPr>
          <p:cNvPr id="35" name="Text 3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6"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116</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Complete-row test · expected behaviour</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The agent calculates and preserves ownership</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Input</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FM01 · S7 O5 D4</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Expected</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RPN 140</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Must include</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Evidence gap + review gate</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Must not</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Approve or alter ratings</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117</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Missing-data test · expected behaviour</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 safe workflow stops before calculation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Input</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FM01 without Detection</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Expected</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Ask for Detection and basis</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Must not</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Guess a value or calculate RPN</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Pass</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Unknown remains visible</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118</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4.2 · Build a Report Writer agent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Reuse a controlled report structure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Input</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Checked FMEA or progress notes</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Knowledge</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Report template</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Draft</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Mandatory sections and tone</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Gate</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Human review before release</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119</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4.3 · Minutes to action tracker to progress report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Link outputs without losing ownership</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Minutes</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Draft decisions/actions</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Review</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Meeting owner confirms</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Tracker</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Owner and due date</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Agent</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Draft progress report</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Approve</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Project lead releases</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120</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Agent handoff contract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Define exactly what moves to the next step</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Payload</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Checked action table</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Required fields</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Action, owner, date, status</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Provenance</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Meeting and reviewer</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Failure rule</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Stop on missing owner or date</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121</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Researcher and Analyst are reasoning agents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Choose based on the evidence task</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5358384"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Researcher</a:t>
            </a:r>
            <a:endParaRPr lang="en-US" sz="2100" dirty="0"/>
          </a:p>
        </p:txBody>
      </p:sp>
      <p:sp>
        <p:nvSpPr>
          <p:cNvPr id="10" name="Text 8"/>
          <p:cNvSpPr txBox="1"/>
          <p:nvPr/>
        </p:nvSpPr>
        <p:spPr>
          <a:xfrm>
            <a:off x="859536"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Multi-source standards and technology comparison with citations.</a:t>
            </a:r>
            <a:endParaRPr lang="en-US" sz="1700" dirty="0"/>
          </a:p>
        </p:txBody>
      </p:sp>
      <p:sp>
        <p:nvSpPr>
          <p:cNvPr id="11" name="Shape 9"/>
          <p:cNvSpPr/>
          <p:nvPr/>
        </p:nvSpPr>
        <p:spPr>
          <a:xfrm>
            <a:off x="6181344"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6181344" y="2057400"/>
            <a:ext cx="5358384"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6437376"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Analyst</a:t>
            </a:r>
            <a:endParaRPr lang="en-US" sz="2100" dirty="0"/>
          </a:p>
        </p:txBody>
      </p:sp>
      <p:sp>
        <p:nvSpPr>
          <p:cNvPr id="14" name="Text 12"/>
          <p:cNvSpPr txBox="1"/>
          <p:nvPr/>
        </p:nvSpPr>
        <p:spPr>
          <a:xfrm>
            <a:off x="6473952"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File-based calculations, patterns and data visualisation.</a:t>
            </a:r>
            <a:endParaRPr lang="en-US" sz="1700" dirty="0"/>
          </a:p>
        </p:txBody>
      </p:sp>
      <p:sp>
        <p:nvSpPr>
          <p:cNvPr id="15" name="Text 1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122</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4.4 · Researcher and Analyst agents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Scope, research, inspect citations, decide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Question</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Define comparison and criteria</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Sources</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Provided + approved public sources</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Report</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Cited findings</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Open</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Check one passage</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Conclude</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State evidence limits</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123</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Researcher prompt · technical comparison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Require citation-level traceability</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Act as an engineering research assistant. Compare the supplied recording requirements with current approved guidance. Separate supplied facts from external findings. Cite each claim, quote no more than one short supporting phrase, and list unresolved differences for engineering review.</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Input</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TR-401 extract + approved sources</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Output</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Criteria table + citations</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Check</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Open one cited passage</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124</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Analyst workflow</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Attach the workbook, calculate, visualise and check</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Attach</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Lab-02-DMAIC/Starter.xlsx</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Audit</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Rows, phases and missing values</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Calculate</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Rates and change</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Visualise</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Phase comparison</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Verify</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Reproduce four values</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125</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Analyst prompt · compare baseline and pilot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Ask for formulas, limitation and next evidence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500" dirty="0">
                <a:solidFill>
                  <a:srgbClr val="FFFFFF"/>
                </a:solidFill>
                <a:latin typeface="Aptos" pitchFamily="34" charset="0"/>
                <a:ea typeface="Aptos" pitchFamily="34" charset="-122"/>
                <a:cs typeface="Aptos" pitchFamily="34" charset="-120"/>
              </a:rPr>
              <a:t>Use only the six rows in WeeklyData. Check row count, phases and missing values. Calculate Baseline and Pilot rates, percentage-point change and relative reduction. Create a comparison chart, show formulas, state one limitation and one next evidence check. Do not claim cause or sustained improvement.</a:t>
            </a:r>
            <a:endParaRPr lang="en-US" sz="15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Expected</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9.0% · 3.5%</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Change</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−5.5 pp · 61.1% reduction</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Boundary</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No causal claim</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126</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Independent check · Analyst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Four numbers must agree before interpretation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331720"/>
            <a:ext cx="2592324" cy="3337560"/>
          </a:xfrm>
          <a:prstGeom prst="roundRect">
            <a:avLst>
              <a:gd name="adj" fmla="val 2822"/>
            </a:avLst>
          </a:prstGeom>
          <a:solidFill>
            <a:srgbClr val="FFFFFF"/>
          </a:solidFill>
          <a:ln w="12700">
            <a:solidFill>
              <a:srgbClr val="C8D9DC"/>
            </a:solidFill>
            <a:prstDash val="solid"/>
          </a:ln>
        </p:spPr>
        <p:txBody>
          <a:bodyPr/>
          <a:lstStyle/>
          <a:p>
            <a:endParaRPr lang="en-US"/>
          </a:p>
        </p:txBody>
      </p:sp>
      <p:sp>
        <p:nvSpPr>
          <p:cNvPr id="8" name="Text 6"/>
          <p:cNvSpPr txBox="1"/>
          <p:nvPr/>
        </p:nvSpPr>
        <p:spPr>
          <a:xfrm>
            <a:off x="749808"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Baseline</a:t>
            </a:r>
            <a:endParaRPr lang="en-US" sz="1800" dirty="0"/>
          </a:p>
        </p:txBody>
      </p:sp>
      <p:sp>
        <p:nvSpPr>
          <p:cNvPr id="9" name="Text 7"/>
          <p:cNvSpPr txBox="1"/>
          <p:nvPr/>
        </p:nvSpPr>
        <p:spPr>
          <a:xfrm>
            <a:off x="749808"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36/400 = 9.0%</a:t>
            </a:r>
            <a:endParaRPr lang="en-US" sz="2100" dirty="0"/>
          </a:p>
        </p:txBody>
      </p:sp>
      <p:sp>
        <p:nvSpPr>
          <p:cNvPr id="10" name="Shape 8"/>
          <p:cNvSpPr/>
          <p:nvPr/>
        </p:nvSpPr>
        <p:spPr>
          <a:xfrm>
            <a:off x="3360420" y="2331720"/>
            <a:ext cx="2592324" cy="3337560"/>
          </a:xfrm>
          <a:prstGeom prst="roundRect">
            <a:avLst>
              <a:gd name="adj" fmla="val 2822"/>
            </a:avLst>
          </a:prstGeom>
          <a:solidFill>
            <a:srgbClr val="FFFFFF"/>
          </a:solidFill>
          <a:ln w="12700">
            <a:solidFill>
              <a:srgbClr val="C8D9DC"/>
            </a:solidFill>
            <a:prstDash val="solid"/>
          </a:ln>
        </p:spPr>
        <p:txBody>
          <a:bodyPr/>
          <a:lstStyle/>
          <a:p>
            <a:endParaRPr lang="en-US"/>
          </a:p>
        </p:txBody>
      </p:sp>
      <p:sp>
        <p:nvSpPr>
          <p:cNvPr id="11" name="Text 9"/>
          <p:cNvSpPr txBox="1"/>
          <p:nvPr/>
        </p:nvSpPr>
        <p:spPr>
          <a:xfrm>
            <a:off x="3543300"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Pilot</a:t>
            </a:r>
            <a:endParaRPr lang="en-US" sz="1800" dirty="0"/>
          </a:p>
        </p:txBody>
      </p:sp>
      <p:sp>
        <p:nvSpPr>
          <p:cNvPr id="12" name="Text 10"/>
          <p:cNvSpPr txBox="1"/>
          <p:nvPr/>
        </p:nvSpPr>
        <p:spPr>
          <a:xfrm>
            <a:off x="3543300"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7/200 = 3.5%</a:t>
            </a:r>
            <a:endParaRPr lang="en-US" sz="2100" dirty="0"/>
          </a:p>
        </p:txBody>
      </p:sp>
      <p:sp>
        <p:nvSpPr>
          <p:cNvPr id="13" name="Shape 11"/>
          <p:cNvSpPr/>
          <p:nvPr/>
        </p:nvSpPr>
        <p:spPr>
          <a:xfrm>
            <a:off x="6153912" y="2331720"/>
            <a:ext cx="2592324" cy="3337560"/>
          </a:xfrm>
          <a:prstGeom prst="roundRect">
            <a:avLst>
              <a:gd name="adj" fmla="val 2822"/>
            </a:avLst>
          </a:prstGeom>
          <a:solidFill>
            <a:srgbClr val="FFFFFF"/>
          </a:solidFill>
          <a:ln w="12700">
            <a:solidFill>
              <a:srgbClr val="C8D9DC"/>
            </a:solidFill>
            <a:prstDash val="solid"/>
          </a:ln>
        </p:spPr>
        <p:txBody>
          <a:bodyPr/>
          <a:lstStyle/>
          <a:p>
            <a:endParaRPr lang="en-US"/>
          </a:p>
        </p:txBody>
      </p:sp>
      <p:sp>
        <p:nvSpPr>
          <p:cNvPr id="14" name="Text 12"/>
          <p:cNvSpPr txBox="1"/>
          <p:nvPr/>
        </p:nvSpPr>
        <p:spPr>
          <a:xfrm>
            <a:off x="6336792"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Change</a:t>
            </a:r>
            <a:endParaRPr lang="en-US" sz="1800" dirty="0"/>
          </a:p>
        </p:txBody>
      </p:sp>
      <p:sp>
        <p:nvSpPr>
          <p:cNvPr id="15" name="Text 13"/>
          <p:cNvSpPr txBox="1"/>
          <p:nvPr/>
        </p:nvSpPr>
        <p:spPr>
          <a:xfrm>
            <a:off x="6336792"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3.5% − 9.0% = −5.5 pp</a:t>
            </a:r>
            <a:endParaRPr lang="en-US" sz="2100" dirty="0"/>
          </a:p>
        </p:txBody>
      </p:sp>
      <p:sp>
        <p:nvSpPr>
          <p:cNvPr id="16" name="Shape 14"/>
          <p:cNvSpPr/>
          <p:nvPr/>
        </p:nvSpPr>
        <p:spPr>
          <a:xfrm>
            <a:off x="8947404" y="2331720"/>
            <a:ext cx="2592324" cy="3337560"/>
          </a:xfrm>
          <a:prstGeom prst="roundRect">
            <a:avLst>
              <a:gd name="adj" fmla="val 2822"/>
            </a:avLst>
          </a:prstGeom>
          <a:solidFill>
            <a:srgbClr val="E2EEF0"/>
          </a:solidFill>
          <a:ln w="12700">
            <a:solidFill>
              <a:srgbClr val="C8D9DC"/>
            </a:solidFill>
            <a:prstDash val="solid"/>
          </a:ln>
        </p:spPr>
        <p:txBody>
          <a:bodyPr/>
          <a:lstStyle/>
          <a:p>
            <a:endParaRPr lang="en-US"/>
          </a:p>
        </p:txBody>
      </p:sp>
      <p:sp>
        <p:nvSpPr>
          <p:cNvPr id="17" name="Text 15"/>
          <p:cNvSpPr txBox="1"/>
          <p:nvPr/>
        </p:nvSpPr>
        <p:spPr>
          <a:xfrm>
            <a:off x="9130284"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Relative reduction</a:t>
            </a:r>
            <a:endParaRPr lang="en-US" sz="1800" dirty="0"/>
          </a:p>
        </p:txBody>
      </p:sp>
      <p:sp>
        <p:nvSpPr>
          <p:cNvPr id="18" name="Text 16"/>
          <p:cNvSpPr txBox="1"/>
          <p:nvPr/>
        </p:nvSpPr>
        <p:spPr>
          <a:xfrm>
            <a:off x="9130284"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102B3E"/>
                </a:solidFill>
                <a:latin typeface="Aptos" pitchFamily="34" charset="0"/>
                <a:ea typeface="Aptos" pitchFamily="34" charset="-122"/>
                <a:cs typeface="Aptos" pitchFamily="34" charset="-120"/>
              </a:rPr>
              <a:t>5.5/9.0 = 61.1%</a:t>
            </a:r>
            <a:endParaRPr lang="en-US" sz="2100" dirty="0"/>
          </a:p>
        </p:txBody>
      </p:sp>
      <p:sp>
        <p:nvSpPr>
          <p:cNvPr id="19" name="Text 17"/>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127</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4</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Module 4 recap</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Reusable workflow + tests + human gate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Agent</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Repeat a bounded task</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Researcher</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Cited research</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Analyst</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Checked data analysis</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Engineer</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Owns evidence and release</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128</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25">
    <p:bg>
      <p:bgPr>
        <a:solidFill>
          <a:srgbClr val="102B3E"/>
        </a:solidFill>
        <a:effectLst/>
      </p:bgPr>
    </p:bg>
    <p:spTree>
      <p:nvGrpSpPr>
        <p:cNvPr id="1" name=""/>
        <p:cNvGrpSpPr/>
        <p:nvPr/>
      </p:nvGrpSpPr>
      <p:grpSpPr>
        <a:xfrm>
          <a:off x="0" y="0"/>
          <a:ext cx="0" cy="0"/>
          <a:chOff x="0" y="0"/>
          <a:chExt cx="0" cy="0"/>
        </a:xfrm>
      </p:grpSpPr>
      <p:pic>
        <p:nvPicPr>
          <p:cNvPr id="2" name="Image 0" descr="/Users/alfredang/Documents/Supporting Document/Tertiary Infotech/Client Projects/Client WSQ Projects/Client - IES/GenAI for Engineers/assets/module-5-sharepoint.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5166360" cy="6858000"/>
          </a:xfrm>
          <a:prstGeom prst="rect">
            <a:avLst/>
          </a:prstGeom>
          <a:solidFill>
            <a:srgbClr val="102B3E">
              <a:alpha val="95000"/>
            </a:srgbClr>
          </a:solidFill>
          <a:ln w="12700">
            <a:solidFill>
              <a:srgbClr val="102B3E">
                <a:alpha val="0"/>
              </a:srgbClr>
            </a:solidFill>
            <a:prstDash val="solid"/>
          </a:ln>
        </p:spPr>
        <p:txBody>
          <a:bodyPr/>
          <a:lstStyle/>
          <a:p>
            <a:endParaRPr lang="en-US"/>
          </a:p>
        </p:txBody>
      </p:sp>
      <p:sp>
        <p:nvSpPr>
          <p:cNvPr id="4" name="Text 1"/>
          <p:cNvSpPr txBox="1"/>
          <p:nvPr/>
        </p:nvSpPr>
        <p:spPr>
          <a:xfrm>
            <a:off x="640080" y="502920"/>
            <a:ext cx="640080" cy="274320"/>
          </a:xfrm>
          <a:prstGeom prst="rect">
            <a:avLst/>
          </a:prstGeom>
          <a:noFill/>
          <a:ln/>
        </p:spPr>
        <p:txBody>
          <a:bodyPr wrap="square" lIns="0" tIns="0" rIns="0" bIns="0" rtlCol="0" anchor="ctr">
            <a:normAutofit/>
          </a:bodyPr>
          <a:lstStyle/>
          <a:p>
            <a:pPr marL="0" indent="0" algn="l">
              <a:buNone/>
            </a:pPr>
            <a:r>
              <a:rPr lang="en-US" sz="1700" b="1" dirty="0">
                <a:solidFill>
                  <a:srgbClr val="17A9B8"/>
                </a:solidFill>
                <a:latin typeface="Aptos" pitchFamily="34" charset="0"/>
                <a:ea typeface="Aptos" pitchFamily="34" charset="-122"/>
                <a:cs typeface="Aptos" pitchFamily="34" charset="-120"/>
              </a:rPr>
              <a:t>IES</a:t>
            </a:r>
            <a:endParaRPr lang="en-US" sz="1700" dirty="0"/>
          </a:p>
        </p:txBody>
      </p:sp>
      <p:sp>
        <p:nvSpPr>
          <p:cNvPr id="5" name="Text 2"/>
          <p:cNvSpPr txBox="1"/>
          <p:nvPr/>
        </p:nvSpPr>
        <p:spPr>
          <a:xfrm>
            <a:off x="658368" y="1554480"/>
            <a:ext cx="3291840" cy="320040"/>
          </a:xfrm>
          <a:prstGeom prst="rect">
            <a:avLst/>
          </a:prstGeom>
          <a:noFill/>
          <a:ln/>
        </p:spPr>
        <p:txBody>
          <a:bodyPr wrap="square" lIns="0" tIns="0" rIns="0" bIns="0" rtlCol="0" anchor="ctr">
            <a:normAutofit/>
          </a:bodyPr>
          <a:lstStyle/>
          <a:p>
            <a:pPr marL="0" indent="0" algn="l">
              <a:buNone/>
            </a:pPr>
            <a:r>
              <a:rPr lang="en-US" sz="1400" b="1" dirty="0">
                <a:solidFill>
                  <a:srgbClr val="17A9B8"/>
                </a:solidFill>
                <a:latin typeface="Aptos" pitchFamily="34" charset="0"/>
                <a:ea typeface="Aptos" pitchFamily="34" charset="-122"/>
                <a:cs typeface="Aptos" pitchFamily="34" charset="-120"/>
              </a:rPr>
              <a:t>MODULE 5</a:t>
            </a:r>
            <a:endParaRPr lang="en-US" sz="1400" dirty="0"/>
          </a:p>
        </p:txBody>
      </p:sp>
      <p:sp>
        <p:nvSpPr>
          <p:cNvPr id="6" name="Text 3"/>
          <p:cNvSpPr txBox="1"/>
          <p:nvPr/>
        </p:nvSpPr>
        <p:spPr>
          <a:xfrm>
            <a:off x="658368" y="1993392"/>
            <a:ext cx="4069080" cy="1463040"/>
          </a:xfrm>
          <a:prstGeom prst="rect">
            <a:avLst/>
          </a:prstGeom>
          <a:noFill/>
          <a:ln/>
        </p:spPr>
        <p:txBody>
          <a:bodyPr wrap="square" lIns="0" tIns="0" rIns="0" bIns="0" rtlCol="0" anchor="ctr">
            <a:normAutofit/>
          </a:bodyPr>
          <a:lstStyle/>
          <a:p>
            <a:pPr marL="0" indent="0" algn="l">
              <a:buNone/>
            </a:pPr>
            <a:r>
              <a:rPr lang="en-US" sz="3200" b="1" dirty="0">
                <a:solidFill>
                  <a:srgbClr val="FFFFFF"/>
                </a:solidFill>
                <a:latin typeface="Aptos" pitchFamily="34" charset="0"/>
                <a:ea typeface="Aptos" pitchFamily="34" charset="-122"/>
                <a:cs typeface="Aptos" pitchFamily="34" charset="-120"/>
              </a:rPr>
              <a:t>SharePoint Integration with Copilot</a:t>
            </a:r>
            <a:endParaRPr lang="en-US" sz="3200" dirty="0"/>
          </a:p>
        </p:txBody>
      </p:sp>
      <p:sp>
        <p:nvSpPr>
          <p:cNvPr id="7" name="Text 4"/>
          <p:cNvSpPr txBox="1"/>
          <p:nvPr/>
        </p:nvSpPr>
        <p:spPr>
          <a:xfrm>
            <a:off x="658368" y="3840480"/>
            <a:ext cx="3977640" cy="96012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Create a grounded engineering knowledge base with cited answers</a:t>
            </a:r>
            <a:endParaRPr lang="en-US" sz="1700" dirty="0"/>
          </a:p>
        </p:txBody>
      </p:sp>
      <p:sp>
        <p:nvSpPr>
          <p:cNvPr id="8" name="Shape 5"/>
          <p:cNvSpPr/>
          <p:nvPr/>
        </p:nvSpPr>
        <p:spPr>
          <a:xfrm>
            <a:off x="658368" y="5102352"/>
            <a:ext cx="1234440" cy="0"/>
          </a:xfrm>
          <a:prstGeom prst="line">
            <a:avLst/>
          </a:prstGeom>
          <a:noFill/>
          <a:ln w="50800">
            <a:solidFill>
              <a:srgbClr val="17A9B8"/>
            </a:solidFill>
            <a:prstDash val="solid"/>
          </a:ln>
        </p:spPr>
        <p:txBody>
          <a:bodyPr/>
          <a:lstStyle/>
          <a:p>
            <a:endParaRPr lang="en-US"/>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129</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Module 5 learning outcomes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By the end of this module, participants can: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640080" y="2011680"/>
            <a:ext cx="502920" cy="502920"/>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640080" y="20116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9" name="Shape 7"/>
          <p:cNvSpPr/>
          <p:nvPr/>
        </p:nvSpPr>
        <p:spPr>
          <a:xfrm>
            <a:off x="1371600" y="19385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1627632" y="20482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Create</a:t>
            </a:r>
            <a:endParaRPr lang="en-US" sz="1700" dirty="0"/>
          </a:p>
        </p:txBody>
      </p:sp>
      <p:sp>
        <p:nvSpPr>
          <p:cNvPr id="11" name="Text 9"/>
          <p:cNvSpPr txBox="1"/>
          <p:nvPr/>
        </p:nvSpPr>
        <p:spPr>
          <a:xfrm>
            <a:off x="3246120" y="20482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Organise a private engineering knowledge library.</a:t>
            </a:r>
            <a:endParaRPr lang="en-US" sz="1600" dirty="0"/>
          </a:p>
        </p:txBody>
      </p:sp>
      <p:sp>
        <p:nvSpPr>
          <p:cNvPr id="12" name="Shape 10"/>
          <p:cNvSpPr/>
          <p:nvPr/>
        </p:nvSpPr>
        <p:spPr>
          <a:xfrm>
            <a:off x="640080" y="3097530"/>
            <a:ext cx="502920" cy="502920"/>
          </a:xfrm>
          <a:prstGeom prst="ellipse">
            <a:avLst/>
          </a:prstGeom>
          <a:solidFill>
            <a:srgbClr val="078897"/>
          </a:solidFill>
          <a:ln w="12700">
            <a:solidFill>
              <a:srgbClr val="078897"/>
            </a:solidFill>
            <a:prstDash val="solid"/>
          </a:ln>
        </p:spPr>
        <p:txBody>
          <a:bodyPr/>
          <a:lstStyle/>
          <a:p>
            <a:endParaRPr/>
          </a:p>
        </p:txBody>
      </p:sp>
      <p:sp>
        <p:nvSpPr>
          <p:cNvPr id="13" name="Text 11"/>
          <p:cNvSpPr txBox="1"/>
          <p:nvPr/>
        </p:nvSpPr>
        <p:spPr>
          <a:xfrm>
            <a:off x="640080" y="30975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4" name="Shape 12"/>
          <p:cNvSpPr/>
          <p:nvPr/>
        </p:nvSpPr>
        <p:spPr>
          <a:xfrm>
            <a:off x="1371600" y="302437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5" name="Text 13"/>
          <p:cNvSpPr txBox="1"/>
          <p:nvPr/>
        </p:nvSpPr>
        <p:spPr>
          <a:xfrm>
            <a:off x="1627632" y="31341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Ground</a:t>
            </a:r>
            <a:endParaRPr lang="en-US" sz="1700" dirty="0"/>
          </a:p>
        </p:txBody>
      </p:sp>
      <p:sp>
        <p:nvSpPr>
          <p:cNvPr id="16" name="Text 14"/>
          <p:cNvSpPr txBox="1"/>
          <p:nvPr/>
        </p:nvSpPr>
        <p:spPr>
          <a:xfrm>
            <a:off x="3246120" y="31341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Scope an agent to the approved folder.</a:t>
            </a:r>
            <a:endParaRPr lang="en-US" sz="1600" dirty="0"/>
          </a:p>
        </p:txBody>
      </p:sp>
      <p:sp>
        <p:nvSpPr>
          <p:cNvPr id="17" name="Shape 15"/>
          <p:cNvSpPr/>
          <p:nvPr/>
        </p:nvSpPr>
        <p:spPr>
          <a:xfrm>
            <a:off x="640080" y="4183380"/>
            <a:ext cx="502920" cy="502920"/>
          </a:xfrm>
          <a:prstGeom prst="ellipse">
            <a:avLst/>
          </a:prstGeom>
          <a:solidFill>
            <a:srgbClr val="078897"/>
          </a:solidFill>
          <a:ln w="12700">
            <a:solidFill>
              <a:srgbClr val="078897"/>
            </a:solidFill>
            <a:prstDash val="solid"/>
          </a:ln>
        </p:spPr>
        <p:txBody>
          <a:bodyPr/>
          <a:lstStyle/>
          <a:p>
            <a:endParaRPr/>
          </a:p>
        </p:txBody>
      </p:sp>
      <p:sp>
        <p:nvSpPr>
          <p:cNvPr id="18" name="Text 16"/>
          <p:cNvSpPr txBox="1"/>
          <p:nvPr/>
        </p:nvSpPr>
        <p:spPr>
          <a:xfrm>
            <a:off x="640080" y="41833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19" name="Shape 17"/>
          <p:cNvSpPr/>
          <p:nvPr/>
        </p:nvSpPr>
        <p:spPr>
          <a:xfrm>
            <a:off x="1371600" y="41102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20" name="Text 18"/>
          <p:cNvSpPr txBox="1"/>
          <p:nvPr/>
        </p:nvSpPr>
        <p:spPr>
          <a:xfrm>
            <a:off x="1627632" y="42199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Test</a:t>
            </a:r>
            <a:endParaRPr lang="en-US" sz="1700" dirty="0"/>
          </a:p>
        </p:txBody>
      </p:sp>
      <p:sp>
        <p:nvSpPr>
          <p:cNvPr id="21" name="Text 19"/>
          <p:cNvSpPr txBox="1"/>
          <p:nvPr/>
        </p:nvSpPr>
        <p:spPr>
          <a:xfrm>
            <a:off x="3246120" y="42199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Verify supported and missing-evidence answers.</a:t>
            </a:r>
            <a:endParaRPr lang="en-US" sz="1600" dirty="0"/>
          </a:p>
        </p:txBody>
      </p:sp>
      <p:sp>
        <p:nvSpPr>
          <p:cNvPr id="22" name="Shape 20"/>
          <p:cNvSpPr/>
          <p:nvPr/>
        </p:nvSpPr>
        <p:spPr>
          <a:xfrm>
            <a:off x="640080" y="5269230"/>
            <a:ext cx="502920" cy="502920"/>
          </a:xfrm>
          <a:prstGeom prst="ellipse">
            <a:avLst/>
          </a:prstGeom>
          <a:solidFill>
            <a:srgbClr val="078897"/>
          </a:solidFill>
          <a:ln w="12700">
            <a:solidFill>
              <a:srgbClr val="078897"/>
            </a:solidFill>
            <a:prstDash val="solid"/>
          </a:ln>
        </p:spPr>
        <p:txBody>
          <a:bodyPr/>
          <a:lstStyle/>
          <a:p>
            <a:endParaRPr/>
          </a:p>
        </p:txBody>
      </p:sp>
      <p:sp>
        <p:nvSpPr>
          <p:cNvPr id="23" name="Text 21"/>
          <p:cNvSpPr txBox="1"/>
          <p:nvPr/>
        </p:nvSpPr>
        <p:spPr>
          <a:xfrm>
            <a:off x="640080" y="52692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4" name="Shape 22"/>
          <p:cNvSpPr/>
          <p:nvPr/>
        </p:nvSpPr>
        <p:spPr>
          <a:xfrm>
            <a:off x="1371600" y="5196078"/>
            <a:ext cx="10058400" cy="966978"/>
          </a:xfrm>
          <a:prstGeom prst="roundRect">
            <a:avLst>
              <a:gd name="adj" fmla="val 7565"/>
            </a:avLst>
          </a:prstGeom>
          <a:solidFill>
            <a:srgbClr val="FFFFFF"/>
          </a:solidFill>
          <a:ln w="12700">
            <a:solidFill>
              <a:srgbClr val="C8D9DC"/>
            </a:solidFill>
            <a:prstDash val="solid"/>
          </a:ln>
        </p:spPr>
        <p:txBody>
          <a:bodyPr/>
          <a:lstStyle/>
          <a:p>
            <a:endParaRPr lang="en-US"/>
          </a:p>
        </p:txBody>
      </p:sp>
      <p:sp>
        <p:nvSpPr>
          <p:cNvPr id="25" name="Text 23"/>
          <p:cNvSpPr txBox="1"/>
          <p:nvPr/>
        </p:nvSpPr>
        <p:spPr>
          <a:xfrm>
            <a:off x="1627632" y="53058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Integrate</a:t>
            </a:r>
            <a:endParaRPr lang="en-US" sz="1700" dirty="0"/>
          </a:p>
        </p:txBody>
      </p:sp>
      <p:sp>
        <p:nvSpPr>
          <p:cNvPr id="26" name="Text 24"/>
          <p:cNvSpPr txBox="1"/>
          <p:nvPr/>
        </p:nvSpPr>
        <p:spPr>
          <a:xfrm>
            <a:off x="3246120" y="53058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Use cited knowledge in a controlled document workflow.</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130</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Grounding connects the answer to selected sources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The agent retrieves relevant passages before drafting</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Question</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Engineering query</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Retrieve</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Search approved scope</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Generate</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Draft from retrieved context</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Cite</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Link supporting source</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Verify</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Open passage and compare</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131</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The prepared private site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a simple folder that learners can inspect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pic>
        <p:nvPicPr>
          <p:cNvPr id="7" name="Image 0" descr="/Users/alfredang/Documents/Supporting Document/Tertiary Infotech/Client Projects/Client WSQ Projects/Client - IES/GenAI for Engineers/assets/module-5-sharepoint.png"/>
          <p:cNvPicPr>
            <a:picLocks noChangeAspect="1"/>
          </p:cNvPicPr>
          <p:nvPr/>
        </p:nvPicPr>
        <p:blipFill>
          <a:blip r:embed="rId3"/>
          <a:stretch>
            <a:fillRect/>
          </a:stretch>
        </p:blipFill>
        <p:spPr>
          <a:xfrm>
            <a:off x="566928" y="1993392"/>
            <a:ext cx="6419088" cy="4041648"/>
          </a:xfrm>
          <a:prstGeom prst="rect">
            <a:avLst/>
          </a:prstGeom>
        </p:spPr>
      </p:pic>
      <p:sp>
        <p:nvSpPr>
          <p:cNvPr id="8" name="Shape 5"/>
          <p:cNvSpPr/>
          <p:nvPr/>
        </p:nvSpPr>
        <p:spPr>
          <a:xfrm>
            <a:off x="566928" y="5349240"/>
            <a:ext cx="6419088" cy="685800"/>
          </a:xfrm>
          <a:prstGeom prst="rect">
            <a:avLst/>
          </a:prstGeom>
          <a:solidFill>
            <a:srgbClr val="102B3E">
              <a:alpha val="92000"/>
            </a:srgbClr>
          </a:solidFill>
          <a:ln w="12700">
            <a:solidFill>
              <a:srgbClr val="102B3E">
                <a:alpha val="0"/>
              </a:srgbClr>
            </a:solidFill>
            <a:prstDash val="solid"/>
          </a:ln>
        </p:spPr>
        <p:txBody>
          <a:bodyPr/>
          <a:lstStyle/>
          <a:p>
            <a:endParaRPr/>
          </a:p>
        </p:txBody>
      </p:sp>
      <p:sp>
        <p:nvSpPr>
          <p:cNvPr id="9" name="Text 6"/>
          <p:cNvSpPr txBox="1"/>
          <p:nvPr/>
        </p:nvSpPr>
        <p:spPr>
          <a:xfrm>
            <a:off x="804672" y="5458968"/>
            <a:ext cx="5943600" cy="438912"/>
          </a:xfrm>
          <a:prstGeom prst="rect">
            <a:avLst/>
          </a:prstGeom>
          <a:noFill/>
          <a:ln/>
        </p:spPr>
        <p:txBody>
          <a:bodyPr wrap="square" lIns="0" tIns="0" rIns="0" bIns="0" rtlCol="0" anchor="ctr">
            <a:normAutofit/>
          </a:bodyPr>
          <a:lstStyle/>
          <a:p>
            <a:pPr marL="0" indent="0" algn="l">
              <a:buNone/>
            </a:pPr>
            <a:r>
              <a:rPr lang="en-US" sz="1600" b="1" dirty="0">
                <a:solidFill>
                  <a:srgbClr val="FFFFFF"/>
                </a:solidFill>
                <a:latin typeface="Aptos" pitchFamily="34" charset="0"/>
                <a:ea typeface="Aptos" pitchFamily="34" charset="-122"/>
                <a:cs typeface="Aptos" pitchFamily="34" charset="-120"/>
              </a:rPr>
              <a:t>Use a simple folder that learners can inspect</a:t>
            </a:r>
            <a:endParaRPr lang="en-US" sz="1600" dirty="0"/>
          </a:p>
        </p:txBody>
      </p:sp>
      <p:sp>
        <p:nvSpPr>
          <p:cNvPr id="10" name="Shape 7"/>
          <p:cNvSpPr/>
          <p:nvPr/>
        </p:nvSpPr>
        <p:spPr>
          <a:xfrm>
            <a:off x="7388352" y="2103120"/>
            <a:ext cx="384048" cy="384048"/>
          </a:xfrm>
          <a:prstGeom prst="ellipse">
            <a:avLst/>
          </a:prstGeom>
          <a:solidFill>
            <a:srgbClr val="078897"/>
          </a:solidFill>
          <a:ln w="12700">
            <a:solidFill>
              <a:srgbClr val="078897"/>
            </a:solidFill>
            <a:prstDash val="solid"/>
          </a:ln>
        </p:spPr>
        <p:txBody>
          <a:bodyPr/>
          <a:lstStyle/>
          <a:p>
            <a:endParaRPr/>
          </a:p>
        </p:txBody>
      </p:sp>
      <p:sp>
        <p:nvSpPr>
          <p:cNvPr id="11" name="Text 8"/>
          <p:cNvSpPr txBox="1"/>
          <p:nvPr/>
        </p:nvSpPr>
        <p:spPr>
          <a:xfrm>
            <a:off x="7388352" y="2103120"/>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9"/>
          <p:cNvSpPr txBox="1"/>
          <p:nvPr/>
        </p:nvSpPr>
        <p:spPr>
          <a:xfrm>
            <a:off x="7909560" y="2057400"/>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Site</a:t>
            </a:r>
            <a:endParaRPr lang="en-US" sz="1500" dirty="0"/>
          </a:p>
        </p:txBody>
      </p:sp>
      <p:sp>
        <p:nvSpPr>
          <p:cNvPr id="13" name="Text 10"/>
          <p:cNvSpPr txBox="1"/>
          <p:nvPr/>
        </p:nvSpPr>
        <p:spPr>
          <a:xfrm>
            <a:off x="7909560" y="2404872"/>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IES GenAI for Engineers</a:t>
            </a:r>
            <a:endParaRPr lang="en-US" sz="1400" dirty="0"/>
          </a:p>
        </p:txBody>
      </p:sp>
      <p:sp>
        <p:nvSpPr>
          <p:cNvPr id="14" name="Shape 11"/>
          <p:cNvSpPr/>
          <p:nvPr/>
        </p:nvSpPr>
        <p:spPr>
          <a:xfrm>
            <a:off x="7388352" y="3182112"/>
            <a:ext cx="384048" cy="384048"/>
          </a:xfrm>
          <a:prstGeom prst="ellipse">
            <a:avLst/>
          </a:prstGeom>
          <a:solidFill>
            <a:srgbClr val="078897"/>
          </a:solidFill>
          <a:ln w="12700">
            <a:solidFill>
              <a:srgbClr val="078897"/>
            </a:solidFill>
            <a:prstDash val="solid"/>
          </a:ln>
        </p:spPr>
        <p:txBody>
          <a:bodyPr/>
          <a:lstStyle/>
          <a:p>
            <a:endParaRPr/>
          </a:p>
        </p:txBody>
      </p:sp>
      <p:sp>
        <p:nvSpPr>
          <p:cNvPr id="15" name="Text 12"/>
          <p:cNvSpPr txBox="1"/>
          <p:nvPr/>
        </p:nvSpPr>
        <p:spPr>
          <a:xfrm>
            <a:off x="7388352" y="3182112"/>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3"/>
          <p:cNvSpPr txBox="1"/>
          <p:nvPr/>
        </p:nvSpPr>
        <p:spPr>
          <a:xfrm>
            <a:off x="7909560" y="3136392"/>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Library</a:t>
            </a:r>
            <a:endParaRPr lang="en-US" sz="1500" dirty="0"/>
          </a:p>
        </p:txBody>
      </p:sp>
      <p:sp>
        <p:nvSpPr>
          <p:cNvPr id="17" name="Text 14"/>
          <p:cNvSpPr txBox="1"/>
          <p:nvPr/>
        </p:nvSpPr>
        <p:spPr>
          <a:xfrm>
            <a:off x="7909560" y="3483864"/>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Documents</a:t>
            </a:r>
            <a:endParaRPr lang="en-US" sz="1400" dirty="0"/>
          </a:p>
        </p:txBody>
      </p:sp>
      <p:sp>
        <p:nvSpPr>
          <p:cNvPr id="18" name="Shape 15"/>
          <p:cNvSpPr/>
          <p:nvPr/>
        </p:nvSpPr>
        <p:spPr>
          <a:xfrm>
            <a:off x="7388352" y="4261104"/>
            <a:ext cx="384048" cy="384048"/>
          </a:xfrm>
          <a:prstGeom prst="ellipse">
            <a:avLst/>
          </a:prstGeom>
          <a:solidFill>
            <a:srgbClr val="078897"/>
          </a:solidFill>
          <a:ln w="12700">
            <a:solidFill>
              <a:srgbClr val="078897"/>
            </a:solidFill>
            <a:prstDash val="solid"/>
          </a:ln>
        </p:spPr>
        <p:txBody>
          <a:bodyPr/>
          <a:lstStyle/>
          <a:p>
            <a:endParaRPr/>
          </a:p>
        </p:txBody>
      </p:sp>
      <p:sp>
        <p:nvSpPr>
          <p:cNvPr id="19" name="Text 16"/>
          <p:cNvSpPr txBox="1"/>
          <p:nvPr/>
        </p:nvSpPr>
        <p:spPr>
          <a:xfrm>
            <a:off x="7388352" y="4261104"/>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7"/>
          <p:cNvSpPr txBox="1"/>
          <p:nvPr/>
        </p:nvSpPr>
        <p:spPr>
          <a:xfrm>
            <a:off x="7909560" y="4215384"/>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Folder</a:t>
            </a:r>
            <a:endParaRPr lang="en-US" sz="1500" dirty="0"/>
          </a:p>
        </p:txBody>
      </p:sp>
      <p:sp>
        <p:nvSpPr>
          <p:cNvPr id="21" name="Text 18"/>
          <p:cNvSpPr txBox="1"/>
          <p:nvPr/>
        </p:nvSpPr>
        <p:spPr>
          <a:xfrm>
            <a:off x="7909560" y="4562856"/>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Engineering Knowledge Base</a:t>
            </a:r>
            <a:endParaRPr lang="en-US" sz="1400" dirty="0"/>
          </a:p>
        </p:txBody>
      </p:sp>
      <p:sp>
        <p:nvSpPr>
          <p:cNvPr id="22" name="Shape 19"/>
          <p:cNvSpPr/>
          <p:nvPr/>
        </p:nvSpPr>
        <p:spPr>
          <a:xfrm>
            <a:off x="7388352" y="5340096"/>
            <a:ext cx="384048" cy="384048"/>
          </a:xfrm>
          <a:prstGeom prst="ellipse">
            <a:avLst/>
          </a:prstGeom>
          <a:solidFill>
            <a:srgbClr val="078897"/>
          </a:solidFill>
          <a:ln w="12700">
            <a:solidFill>
              <a:srgbClr val="078897"/>
            </a:solidFill>
            <a:prstDash val="solid"/>
          </a:ln>
        </p:spPr>
        <p:txBody>
          <a:bodyPr/>
          <a:lstStyle/>
          <a:p>
            <a:endParaRPr/>
          </a:p>
        </p:txBody>
      </p:sp>
      <p:sp>
        <p:nvSpPr>
          <p:cNvPr id="23" name="Text 20"/>
          <p:cNvSpPr txBox="1"/>
          <p:nvPr/>
        </p:nvSpPr>
        <p:spPr>
          <a:xfrm>
            <a:off x="7388352" y="5340096"/>
            <a:ext cx="384048" cy="38404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4" name="Text 21"/>
          <p:cNvSpPr txBox="1"/>
          <p:nvPr/>
        </p:nvSpPr>
        <p:spPr>
          <a:xfrm>
            <a:off x="7909560" y="5294376"/>
            <a:ext cx="356616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Agent</a:t>
            </a:r>
            <a:endParaRPr lang="en-US" sz="1500" dirty="0"/>
          </a:p>
        </p:txBody>
      </p:sp>
      <p:sp>
        <p:nvSpPr>
          <p:cNvPr id="25" name="Text 22"/>
          <p:cNvSpPr txBox="1"/>
          <p:nvPr/>
        </p:nvSpPr>
        <p:spPr>
          <a:xfrm>
            <a:off x="7909560" y="5641848"/>
            <a:ext cx="3566160" cy="56692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IES Engineering Knowledge Assistant</a:t>
            </a:r>
            <a:endParaRPr lang="en-US" sz="1400" dirty="0"/>
          </a:p>
        </p:txBody>
      </p:sp>
      <p:sp>
        <p:nvSpPr>
          <p:cNvPr id="26" name="Text 2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132</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Create the knowledge-base structure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 narrow information architecture improves retrieval</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Site</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Private membership</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Library</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Documents</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Folder</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Engineering Knowledge Base</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Sources</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TR-401 + three workbooks</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Agent</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Folder-scoped</a:t>
            </a:r>
            <a:endParaRPr lang="en-US" sz="1400" dirty="0"/>
          </a:p>
        </p:txBody>
      </p:sp>
      <p:sp>
        <p:nvSpPr>
          <p:cNvPr id="32" name="Text 3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133</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Use metadata that engineers understand</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Retrieval quality starts with document hygiene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Title</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Clear subject</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Document type</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Standard, report, manual</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Revision</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Approved version</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Discipline</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Mechanical, electrical, process</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Status</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Draft or approved</a:t>
            </a:r>
            <a:endParaRPr lang="en-US" sz="1400" dirty="0"/>
          </a:p>
        </p:txBody>
      </p:sp>
      <p:sp>
        <p:nvSpPr>
          <p:cNvPr id="32" name="Text 3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134</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Permissions define what the agent can retrieve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The agent should respect the user’s existing access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Site owners</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Manage structure and membership</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Members</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Contribute approved content</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Visitors</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Read authorised material</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Agent user</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Sees only accessible sources</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135</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Create or inspect the SharePoint site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the prepared IES environment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Open</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SharePoint home</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Create</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Private team site</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Name</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IES GenAI for Engineers</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Check</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Owners and members</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Record</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Site URL and scope</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136</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Populate one controlled folder</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Four synthetic sources make testing predictable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TR-401 PDF</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Recording fields</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FMEA workbook</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Failure modes and RPN</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DMAIC workbook</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Baseline and pilot</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SPC workbook</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Readings and chart</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137</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5.1 · Create a SharePoint engineering knowledge agent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Scope the assistant to the folder</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Select folder</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Engineering Knowledge Base</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Create agent</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Name and purpose</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Instructions</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Use sources; cite; preserve unknowns</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Test</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Supported + unsupported questions</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Share</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Approved audience</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138</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Agent instruction · evidence first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Require citations and honest missing evidence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Use only the Engineering Knowledge Base folder. Cite every factual claim with the source filename. Separate what the source states from engineering interpretation. If the answer is absent or conflicting, say so and name the document needed. Do not approve designs or infer missing limits.</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Use</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Only selected SharePoint sources</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Return</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Answer + source + limitation</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Refuse</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Do not invent missing limits</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139</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Test 1 · supported fact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The answer should cite the exact source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Question</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Which fields must TR-401 record?</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Expected</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Test ID, timestamp, volume, duration</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Citation</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TR-401 revision 1 · clause 1</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Check</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Open the passage</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140</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Test 2 · missing evidence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 trustworthy agent preserves the unknown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Question</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What is the approved delivery limit?</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Expected</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Not specified in TR-401</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Must not</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Invent 62 L/h or the fictional test range</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Next</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Request approved design requirement</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141</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Test 3 · cross-file comparison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The agent can compare purpose without merging evidence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FMEA</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Potential failures and ratings</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DMAIC</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Improvement rates and phases</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SPC</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Time-ordered readings and signals</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Check</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Citation to each workbook used</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142</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Verify a citation in four steps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 citation is useful only when the passage supports the claim</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Open</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Follow the citation</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Locate</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Find the exact row or clause</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Compare</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Claim, units and revision</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Record</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Pass, correction or unknown</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143</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Integrate knowledge into the FMEA Agent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Pass a checked excerpt, not an unchecked answer</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SharePoint agent</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Retrieves cited clause</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Engineer</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Opens and approves excerpt</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FMEA Agent</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Uses approved excerpt as context</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Report</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Shows source and reviewer</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144</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5.2 · Chain SharePoint knowledge into the document agent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Question → citation → checked context → document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Ask</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Find relevant requirement</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Open</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Verify passage</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Approve</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Engineer selects context</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Generate</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FMEA/report draft</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Sign off</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Review and retain trace</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145</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SharePoint governance checklist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Grounding quality depends on source governance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Permission</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Least privilege</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Revision</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Current approved source</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Scope</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No unrelated files</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Sensitivity</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Correct classification/label</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Lifecycle</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Owner and review date</a:t>
            </a:r>
            <a:endParaRPr lang="en-US" sz="1400" dirty="0"/>
          </a:p>
        </p:txBody>
      </p:sp>
      <p:sp>
        <p:nvSpPr>
          <p:cNvPr id="32" name="Text 3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146</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5</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Module 5 recap</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Ground narrowly, cite visibly, verify directly</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Organise</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Controlled folder</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Scope</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Folder-based agent</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Test</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Supported + missing evidence</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Integrate</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Checked handoff</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147</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4">
    <p:bg>
      <p:bgPr>
        <a:solidFill>
          <a:srgbClr val="102B3E"/>
        </a:solidFill>
        <a:effectLst/>
      </p:bgPr>
    </p:bg>
    <p:spTree>
      <p:nvGrpSpPr>
        <p:cNvPr id="1" name=""/>
        <p:cNvGrpSpPr/>
        <p:nvPr/>
      </p:nvGrpSpPr>
      <p:grpSpPr>
        <a:xfrm>
          <a:off x="0" y="0"/>
          <a:ext cx="0" cy="0"/>
          <a:chOff x="0" y="0"/>
          <a:chExt cx="0" cy="0"/>
        </a:xfrm>
      </p:grpSpPr>
      <p:pic>
        <p:nvPicPr>
          <p:cNvPr id="2" name="Image 0" descr="/Users/alfredang/Documents/Supporting Document/Tertiary Infotech/Client Projects/Client WSQ Projects/Client - IES/GenAI for Engineers/assets/module-6-security.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5166360" cy="6858000"/>
          </a:xfrm>
          <a:prstGeom prst="rect">
            <a:avLst/>
          </a:prstGeom>
          <a:solidFill>
            <a:srgbClr val="102B3E">
              <a:alpha val="95000"/>
            </a:srgbClr>
          </a:solidFill>
          <a:ln w="12700">
            <a:solidFill>
              <a:srgbClr val="102B3E">
                <a:alpha val="0"/>
              </a:srgbClr>
            </a:solidFill>
            <a:prstDash val="solid"/>
          </a:ln>
        </p:spPr>
        <p:txBody>
          <a:bodyPr/>
          <a:lstStyle/>
          <a:p>
            <a:endParaRPr lang="en-US"/>
          </a:p>
        </p:txBody>
      </p:sp>
      <p:sp>
        <p:nvSpPr>
          <p:cNvPr id="4" name="Text 1"/>
          <p:cNvSpPr txBox="1"/>
          <p:nvPr/>
        </p:nvSpPr>
        <p:spPr>
          <a:xfrm>
            <a:off x="640080" y="502920"/>
            <a:ext cx="640080" cy="274320"/>
          </a:xfrm>
          <a:prstGeom prst="rect">
            <a:avLst/>
          </a:prstGeom>
          <a:noFill/>
          <a:ln/>
        </p:spPr>
        <p:txBody>
          <a:bodyPr wrap="square" lIns="0" tIns="0" rIns="0" bIns="0" rtlCol="0" anchor="ctr">
            <a:normAutofit/>
          </a:bodyPr>
          <a:lstStyle/>
          <a:p>
            <a:pPr marL="0" indent="0" algn="l">
              <a:buNone/>
            </a:pPr>
            <a:r>
              <a:rPr lang="en-US" sz="1700" b="1" dirty="0">
                <a:solidFill>
                  <a:srgbClr val="17A9B8"/>
                </a:solidFill>
                <a:latin typeface="Aptos" pitchFamily="34" charset="0"/>
                <a:ea typeface="Aptos" pitchFamily="34" charset="-122"/>
                <a:cs typeface="Aptos" pitchFamily="34" charset="-120"/>
              </a:rPr>
              <a:t>IES</a:t>
            </a:r>
            <a:endParaRPr lang="en-US" sz="1700" dirty="0"/>
          </a:p>
        </p:txBody>
      </p:sp>
      <p:sp>
        <p:nvSpPr>
          <p:cNvPr id="5" name="Text 2"/>
          <p:cNvSpPr txBox="1"/>
          <p:nvPr/>
        </p:nvSpPr>
        <p:spPr>
          <a:xfrm>
            <a:off x="658368" y="1554480"/>
            <a:ext cx="3291840" cy="320040"/>
          </a:xfrm>
          <a:prstGeom prst="rect">
            <a:avLst/>
          </a:prstGeom>
          <a:noFill/>
          <a:ln/>
        </p:spPr>
        <p:txBody>
          <a:bodyPr wrap="square" lIns="0" tIns="0" rIns="0" bIns="0" rtlCol="0" anchor="ctr">
            <a:normAutofit/>
          </a:bodyPr>
          <a:lstStyle/>
          <a:p>
            <a:pPr marL="0" indent="0" algn="l">
              <a:buNone/>
            </a:pPr>
            <a:r>
              <a:rPr lang="en-US" sz="1400" b="1" dirty="0">
                <a:solidFill>
                  <a:srgbClr val="17A9B8"/>
                </a:solidFill>
                <a:latin typeface="Aptos" pitchFamily="34" charset="0"/>
                <a:ea typeface="Aptos" pitchFamily="34" charset="-122"/>
                <a:cs typeface="Aptos" pitchFamily="34" charset="-120"/>
              </a:rPr>
              <a:t>MODULE 6</a:t>
            </a:r>
            <a:endParaRPr lang="en-US" sz="1400" dirty="0"/>
          </a:p>
        </p:txBody>
      </p:sp>
      <p:sp>
        <p:nvSpPr>
          <p:cNvPr id="6" name="Text 3"/>
          <p:cNvSpPr txBox="1"/>
          <p:nvPr/>
        </p:nvSpPr>
        <p:spPr>
          <a:xfrm>
            <a:off x="658368" y="1993392"/>
            <a:ext cx="4069080" cy="1463040"/>
          </a:xfrm>
          <a:prstGeom prst="rect">
            <a:avLst/>
          </a:prstGeom>
          <a:noFill/>
          <a:ln/>
        </p:spPr>
        <p:txBody>
          <a:bodyPr wrap="square" lIns="0" tIns="0" rIns="0" bIns="0" rtlCol="0" anchor="ctr">
            <a:normAutofit/>
          </a:bodyPr>
          <a:lstStyle/>
          <a:p>
            <a:pPr marL="0" indent="0" algn="l">
              <a:buNone/>
            </a:pPr>
            <a:r>
              <a:rPr lang="en-US" sz="3200" b="1" dirty="0">
                <a:solidFill>
                  <a:srgbClr val="FFFFFF"/>
                </a:solidFill>
                <a:latin typeface="Aptos" pitchFamily="34" charset="0"/>
                <a:ea typeface="Aptos" pitchFamily="34" charset="-122"/>
                <a:cs typeface="Aptos" pitchFamily="34" charset="-120"/>
              </a:rPr>
              <a:t>AI Security &amp; Engineering AI Toolkit</a:t>
            </a:r>
            <a:endParaRPr lang="en-US" sz="3200" dirty="0"/>
          </a:p>
        </p:txBody>
      </p:sp>
      <p:sp>
        <p:nvSpPr>
          <p:cNvPr id="7" name="Text 4"/>
          <p:cNvSpPr txBox="1"/>
          <p:nvPr/>
        </p:nvSpPr>
        <p:spPr>
          <a:xfrm>
            <a:off x="658368" y="3840480"/>
            <a:ext cx="3977640" cy="96012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Apply seven controls before sharing an AI-assisted output</a:t>
            </a:r>
            <a:endParaRPr lang="en-US" sz="1700" dirty="0"/>
          </a:p>
        </p:txBody>
      </p:sp>
      <p:sp>
        <p:nvSpPr>
          <p:cNvPr id="8" name="Shape 5"/>
          <p:cNvSpPr/>
          <p:nvPr/>
        </p:nvSpPr>
        <p:spPr>
          <a:xfrm>
            <a:off x="658368" y="5102352"/>
            <a:ext cx="1234440" cy="0"/>
          </a:xfrm>
          <a:prstGeom prst="line">
            <a:avLst/>
          </a:prstGeom>
          <a:noFill/>
          <a:ln w="50800">
            <a:solidFill>
              <a:srgbClr val="17A9B8"/>
            </a:solidFill>
            <a:prstDash val="solid"/>
          </a:ln>
        </p:spPr>
        <p:txBody>
          <a:bodyPr/>
          <a:lstStyle/>
          <a:p>
            <a:endParaRPr lang="en-US"/>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148</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6</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Module 6 learning outcomes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By the end of this module, participants can: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640080" y="2011680"/>
            <a:ext cx="502920" cy="502920"/>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640080" y="20116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9" name="Shape 7"/>
          <p:cNvSpPr/>
          <p:nvPr/>
        </p:nvSpPr>
        <p:spPr>
          <a:xfrm>
            <a:off x="1371600" y="19385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1627632" y="20482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Apply</a:t>
            </a:r>
            <a:endParaRPr lang="en-US" sz="1700" dirty="0"/>
          </a:p>
        </p:txBody>
      </p:sp>
      <p:sp>
        <p:nvSpPr>
          <p:cNvPr id="11" name="Text 9"/>
          <p:cNvSpPr txBox="1"/>
          <p:nvPr/>
        </p:nvSpPr>
        <p:spPr>
          <a:xfrm>
            <a:off x="3246120" y="20482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Complete all seven security steps on the grounded answer.</a:t>
            </a:r>
            <a:endParaRPr lang="en-US" sz="1600" dirty="0"/>
          </a:p>
        </p:txBody>
      </p:sp>
      <p:sp>
        <p:nvSpPr>
          <p:cNvPr id="12" name="Shape 10"/>
          <p:cNvSpPr/>
          <p:nvPr/>
        </p:nvSpPr>
        <p:spPr>
          <a:xfrm>
            <a:off x="640080" y="3097530"/>
            <a:ext cx="502920" cy="502920"/>
          </a:xfrm>
          <a:prstGeom prst="ellipse">
            <a:avLst/>
          </a:prstGeom>
          <a:solidFill>
            <a:srgbClr val="078897"/>
          </a:solidFill>
          <a:ln w="12700">
            <a:solidFill>
              <a:srgbClr val="078897"/>
            </a:solidFill>
            <a:prstDash val="solid"/>
          </a:ln>
        </p:spPr>
        <p:txBody>
          <a:bodyPr/>
          <a:lstStyle/>
          <a:p>
            <a:endParaRPr/>
          </a:p>
        </p:txBody>
      </p:sp>
      <p:sp>
        <p:nvSpPr>
          <p:cNvPr id="13" name="Text 11"/>
          <p:cNvSpPr txBox="1"/>
          <p:nvPr/>
        </p:nvSpPr>
        <p:spPr>
          <a:xfrm>
            <a:off x="640080" y="30975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4" name="Shape 12"/>
          <p:cNvSpPr/>
          <p:nvPr/>
        </p:nvSpPr>
        <p:spPr>
          <a:xfrm>
            <a:off x="1371600" y="302437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15" name="Text 13"/>
          <p:cNvSpPr txBox="1"/>
          <p:nvPr/>
        </p:nvSpPr>
        <p:spPr>
          <a:xfrm>
            <a:off x="1627632" y="31341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Decide</a:t>
            </a:r>
            <a:endParaRPr lang="en-US" sz="1700" dirty="0"/>
          </a:p>
        </p:txBody>
      </p:sp>
      <p:sp>
        <p:nvSpPr>
          <p:cNvPr id="16" name="Text 14"/>
          <p:cNvSpPr txBox="1"/>
          <p:nvPr/>
        </p:nvSpPr>
        <p:spPr>
          <a:xfrm>
            <a:off x="3246120" y="31341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Approve, revise or reject release.</a:t>
            </a:r>
            <a:endParaRPr lang="en-US" sz="1600" dirty="0"/>
          </a:p>
        </p:txBody>
      </p:sp>
      <p:sp>
        <p:nvSpPr>
          <p:cNvPr id="17" name="Shape 15"/>
          <p:cNvSpPr/>
          <p:nvPr/>
        </p:nvSpPr>
        <p:spPr>
          <a:xfrm>
            <a:off x="640080" y="4183380"/>
            <a:ext cx="502920" cy="502920"/>
          </a:xfrm>
          <a:prstGeom prst="ellipse">
            <a:avLst/>
          </a:prstGeom>
          <a:solidFill>
            <a:srgbClr val="078897"/>
          </a:solidFill>
          <a:ln w="12700">
            <a:solidFill>
              <a:srgbClr val="078897"/>
            </a:solidFill>
            <a:prstDash val="solid"/>
          </a:ln>
        </p:spPr>
        <p:txBody>
          <a:bodyPr/>
          <a:lstStyle/>
          <a:p>
            <a:endParaRPr/>
          </a:p>
        </p:txBody>
      </p:sp>
      <p:sp>
        <p:nvSpPr>
          <p:cNvPr id="18" name="Text 16"/>
          <p:cNvSpPr txBox="1"/>
          <p:nvPr/>
        </p:nvSpPr>
        <p:spPr>
          <a:xfrm>
            <a:off x="640080" y="41833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19" name="Shape 17"/>
          <p:cNvSpPr/>
          <p:nvPr/>
        </p:nvSpPr>
        <p:spPr>
          <a:xfrm>
            <a:off x="1371600" y="4110228"/>
            <a:ext cx="10058400" cy="966978"/>
          </a:xfrm>
          <a:prstGeom prst="roundRect">
            <a:avLst>
              <a:gd name="adj" fmla="val 7565"/>
            </a:avLst>
          </a:prstGeom>
          <a:solidFill>
            <a:srgbClr val="FFFFFF"/>
          </a:solidFill>
          <a:ln w="12700">
            <a:solidFill>
              <a:srgbClr val="C8D9DC"/>
            </a:solidFill>
            <a:prstDash val="solid"/>
          </a:ln>
        </p:spPr>
        <p:txBody>
          <a:bodyPr/>
          <a:lstStyle/>
          <a:p>
            <a:endParaRPr/>
          </a:p>
        </p:txBody>
      </p:sp>
      <p:sp>
        <p:nvSpPr>
          <p:cNvPr id="20" name="Text 18"/>
          <p:cNvSpPr txBox="1"/>
          <p:nvPr/>
        </p:nvSpPr>
        <p:spPr>
          <a:xfrm>
            <a:off x="1627632" y="421995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Respond</a:t>
            </a:r>
            <a:endParaRPr lang="en-US" sz="1700" dirty="0"/>
          </a:p>
        </p:txBody>
      </p:sp>
      <p:sp>
        <p:nvSpPr>
          <p:cNvPr id="21" name="Text 19"/>
          <p:cNvSpPr txBox="1"/>
          <p:nvPr/>
        </p:nvSpPr>
        <p:spPr>
          <a:xfrm>
            <a:off x="3246120" y="421995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Recognise prompt injection and follow incident response.</a:t>
            </a:r>
            <a:endParaRPr lang="en-US" sz="1600" dirty="0"/>
          </a:p>
        </p:txBody>
      </p:sp>
      <p:sp>
        <p:nvSpPr>
          <p:cNvPr id="22" name="Shape 20"/>
          <p:cNvSpPr/>
          <p:nvPr/>
        </p:nvSpPr>
        <p:spPr>
          <a:xfrm>
            <a:off x="640080" y="5269230"/>
            <a:ext cx="502920" cy="502920"/>
          </a:xfrm>
          <a:prstGeom prst="ellipse">
            <a:avLst/>
          </a:prstGeom>
          <a:solidFill>
            <a:srgbClr val="078897"/>
          </a:solidFill>
          <a:ln w="12700">
            <a:solidFill>
              <a:srgbClr val="078897"/>
            </a:solidFill>
            <a:prstDash val="solid"/>
          </a:ln>
        </p:spPr>
        <p:txBody>
          <a:bodyPr/>
          <a:lstStyle/>
          <a:p>
            <a:endParaRPr/>
          </a:p>
        </p:txBody>
      </p:sp>
      <p:sp>
        <p:nvSpPr>
          <p:cNvPr id="23" name="Text 21"/>
          <p:cNvSpPr txBox="1"/>
          <p:nvPr/>
        </p:nvSpPr>
        <p:spPr>
          <a:xfrm>
            <a:off x="640080" y="526923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4" name="Shape 22"/>
          <p:cNvSpPr/>
          <p:nvPr/>
        </p:nvSpPr>
        <p:spPr>
          <a:xfrm>
            <a:off x="1371600" y="5196078"/>
            <a:ext cx="10058400" cy="966978"/>
          </a:xfrm>
          <a:prstGeom prst="roundRect">
            <a:avLst>
              <a:gd name="adj" fmla="val 7565"/>
            </a:avLst>
          </a:prstGeom>
          <a:solidFill>
            <a:srgbClr val="FFFFFF"/>
          </a:solidFill>
          <a:ln w="12700">
            <a:solidFill>
              <a:srgbClr val="C8D9DC"/>
            </a:solidFill>
            <a:prstDash val="solid"/>
          </a:ln>
        </p:spPr>
        <p:txBody>
          <a:bodyPr/>
          <a:lstStyle/>
          <a:p>
            <a:endParaRPr lang="en-US"/>
          </a:p>
        </p:txBody>
      </p:sp>
      <p:sp>
        <p:nvSpPr>
          <p:cNvPr id="25" name="Text 23"/>
          <p:cNvSpPr txBox="1"/>
          <p:nvPr/>
        </p:nvSpPr>
        <p:spPr>
          <a:xfrm>
            <a:off x="1627632" y="5305806"/>
            <a:ext cx="1828800" cy="747522"/>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Reuse</a:t>
            </a:r>
            <a:endParaRPr lang="en-US" sz="1700" dirty="0"/>
          </a:p>
        </p:txBody>
      </p:sp>
      <p:sp>
        <p:nvSpPr>
          <p:cNvPr id="26" name="Text 24"/>
          <p:cNvSpPr txBox="1"/>
          <p:nvPr/>
        </p:nvSpPr>
        <p:spPr>
          <a:xfrm>
            <a:off x="3246120" y="5305806"/>
            <a:ext cx="7818120" cy="747522"/>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Save a secure prompt and workflow checklist.</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149</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6</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The 7-Step AI Security Framework</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Security follows the data from input to release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1</a:t>
            </a:r>
            <a:endParaRPr lang="en-US" sz="1600" dirty="0"/>
          </a:p>
        </p:txBody>
      </p:sp>
      <p:sp>
        <p:nvSpPr>
          <p:cNvPr id="11" name="Text 9"/>
          <p:cNvSpPr txBox="1"/>
          <p:nvPr/>
        </p:nvSpPr>
        <p:spPr>
          <a:xfrm>
            <a:off x="786384" y="2743200"/>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Classify data</a:t>
            </a:r>
            <a:endParaRPr lang="en-US" sz="1400" dirty="0"/>
          </a:p>
        </p:txBody>
      </p:sp>
      <p:sp>
        <p:nvSpPr>
          <p:cNvPr id="12" name="Shape 10"/>
          <p:cNvSpPr/>
          <p:nvPr/>
        </p:nvSpPr>
        <p:spPr>
          <a:xfrm>
            <a:off x="4315968" y="2029968"/>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2</a:t>
            </a:r>
            <a:endParaRPr lang="en-US" sz="1600" dirty="0"/>
          </a:p>
        </p:txBody>
      </p:sp>
      <p:sp>
        <p:nvSpPr>
          <p:cNvPr id="16" name="Text 14"/>
          <p:cNvSpPr txBox="1"/>
          <p:nvPr/>
        </p:nvSpPr>
        <p:spPr>
          <a:xfrm>
            <a:off x="4535424" y="2743200"/>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Control access</a:t>
            </a:r>
            <a:endParaRPr lang="en-US" sz="1400" dirty="0"/>
          </a:p>
        </p:txBody>
      </p:sp>
      <p:sp>
        <p:nvSpPr>
          <p:cNvPr id="17" name="Shape 15"/>
          <p:cNvSpPr/>
          <p:nvPr/>
        </p:nvSpPr>
        <p:spPr>
          <a:xfrm>
            <a:off x="8065008" y="2029968"/>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3</a:t>
            </a:r>
            <a:endParaRPr lang="en-US" sz="1600" dirty="0"/>
          </a:p>
        </p:txBody>
      </p:sp>
      <p:sp>
        <p:nvSpPr>
          <p:cNvPr id="21" name="Text 19"/>
          <p:cNvSpPr txBox="1"/>
          <p:nvPr/>
        </p:nvSpPr>
        <p:spPr>
          <a:xfrm>
            <a:off x="8284464" y="2743200"/>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Prompt securely</a:t>
            </a:r>
            <a:endParaRPr lang="en-US" sz="1400" dirty="0"/>
          </a:p>
        </p:txBody>
      </p:sp>
      <p:sp>
        <p:nvSpPr>
          <p:cNvPr id="22" name="Shape 20"/>
          <p:cNvSpPr/>
          <p:nvPr/>
        </p:nvSpPr>
        <p:spPr>
          <a:xfrm>
            <a:off x="566928" y="3459480"/>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3633216"/>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3633216"/>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3624072"/>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4</a:t>
            </a:r>
            <a:endParaRPr lang="en-US" sz="1600" dirty="0"/>
          </a:p>
        </p:txBody>
      </p:sp>
      <p:sp>
        <p:nvSpPr>
          <p:cNvPr id="26" name="Text 24"/>
          <p:cNvSpPr txBox="1"/>
          <p:nvPr/>
        </p:nvSpPr>
        <p:spPr>
          <a:xfrm>
            <a:off x="786384" y="4172712"/>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Verify output</a:t>
            </a:r>
            <a:endParaRPr lang="en-US" sz="1400" dirty="0"/>
          </a:p>
        </p:txBody>
      </p:sp>
      <p:sp>
        <p:nvSpPr>
          <p:cNvPr id="27" name="Shape 25"/>
          <p:cNvSpPr/>
          <p:nvPr/>
        </p:nvSpPr>
        <p:spPr>
          <a:xfrm>
            <a:off x="4315968" y="3459480"/>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3633216"/>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3633216"/>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3624072"/>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5</a:t>
            </a:r>
            <a:endParaRPr lang="en-US" sz="1600" dirty="0"/>
          </a:p>
        </p:txBody>
      </p:sp>
      <p:sp>
        <p:nvSpPr>
          <p:cNvPr id="31" name="Text 29"/>
          <p:cNvSpPr txBox="1"/>
          <p:nvPr/>
        </p:nvSpPr>
        <p:spPr>
          <a:xfrm>
            <a:off x="4535424" y="4172712"/>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Human sign-off</a:t>
            </a:r>
            <a:endParaRPr lang="en-US" sz="1400" dirty="0"/>
          </a:p>
        </p:txBody>
      </p:sp>
      <p:sp>
        <p:nvSpPr>
          <p:cNvPr id="32" name="Shape 30"/>
          <p:cNvSpPr/>
          <p:nvPr/>
        </p:nvSpPr>
        <p:spPr>
          <a:xfrm>
            <a:off x="8065008" y="3459480"/>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33" name="Shape 31"/>
          <p:cNvSpPr/>
          <p:nvPr/>
        </p:nvSpPr>
        <p:spPr>
          <a:xfrm>
            <a:off x="8247888" y="3633216"/>
            <a:ext cx="411480" cy="411480"/>
          </a:xfrm>
          <a:prstGeom prst="ellipse">
            <a:avLst/>
          </a:prstGeom>
          <a:solidFill>
            <a:srgbClr val="C94B50"/>
          </a:solidFill>
          <a:ln w="12700">
            <a:solidFill>
              <a:srgbClr val="C94B50"/>
            </a:solidFill>
            <a:prstDash val="solid"/>
          </a:ln>
        </p:spPr>
        <p:txBody>
          <a:bodyPr/>
          <a:lstStyle/>
          <a:p>
            <a:endParaRPr/>
          </a:p>
        </p:txBody>
      </p:sp>
      <p:sp>
        <p:nvSpPr>
          <p:cNvPr id="34" name="Text 32"/>
          <p:cNvSpPr txBox="1"/>
          <p:nvPr/>
        </p:nvSpPr>
        <p:spPr>
          <a:xfrm>
            <a:off x="8247888" y="3633216"/>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6</a:t>
            </a:r>
            <a:endParaRPr lang="en-US" sz="1500" dirty="0"/>
          </a:p>
        </p:txBody>
      </p:sp>
      <p:sp>
        <p:nvSpPr>
          <p:cNvPr id="35" name="Text 33"/>
          <p:cNvSpPr txBox="1"/>
          <p:nvPr/>
        </p:nvSpPr>
        <p:spPr>
          <a:xfrm>
            <a:off x="8778240" y="3624072"/>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6</a:t>
            </a:r>
            <a:endParaRPr lang="en-US" sz="1600" dirty="0"/>
          </a:p>
        </p:txBody>
      </p:sp>
      <p:sp>
        <p:nvSpPr>
          <p:cNvPr id="36" name="Text 34"/>
          <p:cNvSpPr txBox="1"/>
          <p:nvPr/>
        </p:nvSpPr>
        <p:spPr>
          <a:xfrm>
            <a:off x="8284464" y="4172712"/>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Retain trace</a:t>
            </a:r>
            <a:endParaRPr lang="en-US" sz="1400" dirty="0"/>
          </a:p>
        </p:txBody>
      </p:sp>
      <p:sp>
        <p:nvSpPr>
          <p:cNvPr id="37" name="Shape 35"/>
          <p:cNvSpPr/>
          <p:nvPr/>
        </p:nvSpPr>
        <p:spPr>
          <a:xfrm>
            <a:off x="566928" y="4888992"/>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38" name="Shape 36"/>
          <p:cNvSpPr/>
          <p:nvPr/>
        </p:nvSpPr>
        <p:spPr>
          <a:xfrm>
            <a:off x="749808" y="5062728"/>
            <a:ext cx="411480" cy="411480"/>
          </a:xfrm>
          <a:prstGeom prst="ellipse">
            <a:avLst/>
          </a:prstGeom>
          <a:solidFill>
            <a:srgbClr val="078897"/>
          </a:solidFill>
          <a:ln w="12700">
            <a:solidFill>
              <a:srgbClr val="078897"/>
            </a:solidFill>
            <a:prstDash val="solid"/>
          </a:ln>
        </p:spPr>
        <p:txBody>
          <a:bodyPr/>
          <a:lstStyle/>
          <a:p>
            <a:endParaRPr/>
          </a:p>
        </p:txBody>
      </p:sp>
      <p:sp>
        <p:nvSpPr>
          <p:cNvPr id="39" name="Text 37"/>
          <p:cNvSpPr txBox="1"/>
          <p:nvPr/>
        </p:nvSpPr>
        <p:spPr>
          <a:xfrm>
            <a:off x="749808" y="5062728"/>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7</a:t>
            </a:r>
            <a:endParaRPr lang="en-US" sz="1500" dirty="0"/>
          </a:p>
        </p:txBody>
      </p:sp>
      <p:sp>
        <p:nvSpPr>
          <p:cNvPr id="40" name="Text 38"/>
          <p:cNvSpPr txBox="1"/>
          <p:nvPr/>
        </p:nvSpPr>
        <p:spPr>
          <a:xfrm>
            <a:off x="1280160" y="5053584"/>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7</a:t>
            </a:r>
            <a:endParaRPr lang="en-US" sz="1600" dirty="0"/>
          </a:p>
        </p:txBody>
      </p:sp>
      <p:sp>
        <p:nvSpPr>
          <p:cNvPr id="41" name="Text 39"/>
          <p:cNvSpPr txBox="1"/>
          <p:nvPr/>
        </p:nvSpPr>
        <p:spPr>
          <a:xfrm>
            <a:off x="786384" y="5602224"/>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Respond to incidents</a:t>
            </a:r>
            <a:endParaRPr lang="en-US" sz="1400" dirty="0"/>
          </a:p>
        </p:txBody>
      </p:sp>
      <p:sp>
        <p:nvSpPr>
          <p:cNvPr id="42" name="Text 4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4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150</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6</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Step 1 · classify the data</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Decide what may enter the AI workflow</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Public</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Approved for public release</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Internal</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Routine organisational use</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Confidential</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Need-to-know business data</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Restricted</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Highly sensitive or regulated</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151</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6</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Step 2 · govern access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Confirm source, user and agent boundaries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569339"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569339"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Source</a:t>
            </a:r>
            <a:endParaRPr lang="en-US" sz="1800" dirty="0"/>
          </a:p>
        </p:txBody>
      </p:sp>
      <p:sp>
        <p:nvSpPr>
          <p:cNvPr id="11" name="Text 9"/>
          <p:cNvSpPr txBox="1"/>
          <p:nvPr/>
        </p:nvSpPr>
        <p:spPr>
          <a:xfrm>
            <a:off x="731520"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Correct folder and revision</a:t>
            </a:r>
            <a:endParaRPr lang="en-US" sz="1500" dirty="0"/>
          </a:p>
        </p:txBody>
      </p:sp>
      <p:sp>
        <p:nvSpPr>
          <p:cNvPr id="12" name="Shape 10"/>
          <p:cNvSpPr/>
          <p:nvPr/>
        </p:nvSpPr>
        <p:spPr>
          <a:xfrm>
            <a:off x="3211830"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4351401"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435140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3348990"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3486150"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User</a:t>
            </a:r>
            <a:endParaRPr lang="en-US" sz="1800" dirty="0"/>
          </a:p>
        </p:txBody>
      </p:sp>
      <p:sp>
        <p:nvSpPr>
          <p:cNvPr id="17" name="Text 15"/>
          <p:cNvSpPr txBox="1"/>
          <p:nvPr/>
        </p:nvSpPr>
        <p:spPr>
          <a:xfrm>
            <a:off x="3513582"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Authorised account</a:t>
            </a:r>
            <a:endParaRPr lang="en-US" sz="1500" dirty="0"/>
          </a:p>
        </p:txBody>
      </p:sp>
      <p:sp>
        <p:nvSpPr>
          <p:cNvPr id="18" name="Shape 16"/>
          <p:cNvSpPr/>
          <p:nvPr/>
        </p:nvSpPr>
        <p:spPr>
          <a:xfrm>
            <a:off x="5993892"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7133463"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713346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6131052" y="2743200"/>
            <a:ext cx="2626614" cy="2926080"/>
          </a:xfrm>
          <a:prstGeom prst="roundRect">
            <a:avLst>
              <a:gd name="adj" fmla="val 2785"/>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6268212"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Agent</a:t>
            </a:r>
            <a:endParaRPr lang="en-US" sz="1800" dirty="0"/>
          </a:p>
        </p:txBody>
      </p:sp>
      <p:sp>
        <p:nvSpPr>
          <p:cNvPr id="23" name="Text 21"/>
          <p:cNvSpPr txBox="1"/>
          <p:nvPr/>
        </p:nvSpPr>
        <p:spPr>
          <a:xfrm>
            <a:off x="6295644"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No broader knowledge scope</a:t>
            </a:r>
            <a:endParaRPr lang="en-US" sz="1500" dirty="0"/>
          </a:p>
        </p:txBody>
      </p:sp>
      <p:sp>
        <p:nvSpPr>
          <p:cNvPr id="24" name="Shape 22"/>
          <p:cNvSpPr/>
          <p:nvPr/>
        </p:nvSpPr>
        <p:spPr>
          <a:xfrm>
            <a:off x="8775954"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9915525" y="2029968"/>
            <a:ext cx="621792" cy="621792"/>
          </a:xfrm>
          <a:prstGeom prst="ellipse">
            <a:avLst/>
          </a:prstGeom>
          <a:solidFill>
            <a:srgbClr val="102B3E"/>
          </a:solidFill>
          <a:ln w="12700">
            <a:solidFill>
              <a:srgbClr val="102B3E"/>
            </a:solidFill>
            <a:prstDash val="solid"/>
          </a:ln>
        </p:spPr>
        <p:txBody>
          <a:bodyPr/>
          <a:lstStyle/>
          <a:p>
            <a:endParaRPr/>
          </a:p>
        </p:txBody>
      </p:sp>
      <p:sp>
        <p:nvSpPr>
          <p:cNvPr id="26" name="Text 24"/>
          <p:cNvSpPr txBox="1"/>
          <p:nvPr/>
        </p:nvSpPr>
        <p:spPr>
          <a:xfrm>
            <a:off x="9915525"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8913114" y="2743200"/>
            <a:ext cx="2626614" cy="2926080"/>
          </a:xfrm>
          <a:prstGeom prst="roundRect">
            <a:avLst>
              <a:gd name="adj" fmla="val 2785"/>
            </a:avLst>
          </a:prstGeom>
          <a:solidFill>
            <a:srgbClr val="E2EEF0"/>
          </a:solidFill>
          <a:ln w="12700">
            <a:solidFill>
              <a:srgbClr val="C8D9DC"/>
            </a:solidFill>
            <a:prstDash val="solid"/>
          </a:ln>
        </p:spPr>
        <p:txBody>
          <a:bodyPr/>
          <a:lstStyle/>
          <a:p>
            <a:endParaRPr lang="en-US"/>
          </a:p>
        </p:txBody>
      </p:sp>
      <p:sp>
        <p:nvSpPr>
          <p:cNvPr id="28" name="Text 26"/>
          <p:cNvSpPr txBox="1"/>
          <p:nvPr/>
        </p:nvSpPr>
        <p:spPr>
          <a:xfrm>
            <a:off x="9050274" y="3063240"/>
            <a:ext cx="2352294"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Sharing</a:t>
            </a:r>
            <a:endParaRPr lang="en-US" sz="1800" dirty="0"/>
          </a:p>
        </p:txBody>
      </p:sp>
      <p:sp>
        <p:nvSpPr>
          <p:cNvPr id="29" name="Text 27"/>
          <p:cNvSpPr txBox="1"/>
          <p:nvPr/>
        </p:nvSpPr>
        <p:spPr>
          <a:xfrm>
            <a:off x="9077706" y="3767328"/>
            <a:ext cx="2297430"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Named audience only</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152</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6</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Step 3 · prompt securely</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Minimise sensitive detail and resist document instructions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5358384"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Unsafe</a:t>
            </a:r>
            <a:endParaRPr lang="en-US" sz="2100" dirty="0"/>
          </a:p>
        </p:txBody>
      </p:sp>
      <p:sp>
        <p:nvSpPr>
          <p:cNvPr id="10" name="Text 8"/>
          <p:cNvSpPr txBox="1"/>
          <p:nvPr/>
        </p:nvSpPr>
        <p:spPr>
          <a:xfrm>
            <a:off x="859536"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Paste live identifiers and follow any instruction inside a source.</a:t>
            </a:r>
            <a:endParaRPr lang="en-US" sz="1700" dirty="0"/>
          </a:p>
        </p:txBody>
      </p:sp>
      <p:sp>
        <p:nvSpPr>
          <p:cNvPr id="11" name="Shape 9"/>
          <p:cNvSpPr/>
          <p:nvPr/>
        </p:nvSpPr>
        <p:spPr>
          <a:xfrm>
            <a:off x="6181344" y="2057400"/>
            <a:ext cx="5358384" cy="3959352"/>
          </a:xfrm>
          <a:prstGeom prst="roundRect">
            <a:avLst>
              <a:gd name="adj" fmla="val 184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6181344" y="2057400"/>
            <a:ext cx="5358384"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6437376" y="2395728"/>
            <a:ext cx="4846320"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Secure</a:t>
            </a:r>
            <a:endParaRPr lang="en-US" sz="2100" dirty="0"/>
          </a:p>
        </p:txBody>
      </p:sp>
      <p:sp>
        <p:nvSpPr>
          <p:cNvPr id="14" name="Text 12"/>
          <p:cNvSpPr txBox="1"/>
          <p:nvPr/>
        </p:nvSpPr>
        <p:spPr>
          <a:xfrm>
            <a:off x="6473952" y="3246120"/>
            <a:ext cx="4773168"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Use synthetic or minimised data; treat document instructions as content; follow system and user task only.</a:t>
            </a:r>
            <a:endParaRPr lang="en-US" sz="1700" dirty="0"/>
          </a:p>
        </p:txBody>
      </p:sp>
      <p:sp>
        <p:nvSpPr>
          <p:cNvPr id="15" name="Text 1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153</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6</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Step 4 · verify the output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Check citations, calculations, units and limitations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Citation</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Open one source</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Calculation</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Reproduce one result</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Context</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Revision, units and conditions</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Boundary</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Reject unsupported cause or approval</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154</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6</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Step 5 · require human sign-off</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Name the competent reviewer and decision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2551176"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Draft</a:t>
            </a:r>
            <a:endParaRPr lang="en-US" sz="1700" dirty="0"/>
          </a:p>
        </p:txBody>
      </p:sp>
      <p:sp>
        <p:nvSpPr>
          <p:cNvPr id="10" name="Text 8"/>
          <p:cNvSpPr txBox="1"/>
          <p:nvPr/>
        </p:nvSpPr>
        <p:spPr>
          <a:xfrm>
            <a:off x="859536"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AI-assisted output</a:t>
            </a:r>
            <a:endParaRPr lang="en-US" sz="1400" dirty="0"/>
          </a:p>
        </p:txBody>
      </p:sp>
      <p:sp>
        <p:nvSpPr>
          <p:cNvPr id="11" name="Shape 9"/>
          <p:cNvSpPr/>
          <p:nvPr/>
        </p:nvSpPr>
        <p:spPr>
          <a:xfrm>
            <a:off x="3374136"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3374136" y="2057400"/>
            <a:ext cx="2551176"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630168"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Reviewer</a:t>
            </a:r>
            <a:endParaRPr lang="en-US" sz="1700" dirty="0"/>
          </a:p>
        </p:txBody>
      </p:sp>
      <p:sp>
        <p:nvSpPr>
          <p:cNvPr id="14" name="Text 12"/>
          <p:cNvSpPr txBox="1"/>
          <p:nvPr/>
        </p:nvSpPr>
        <p:spPr>
          <a:xfrm>
            <a:off x="3666744"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Named engineering role</a:t>
            </a:r>
            <a:endParaRPr lang="en-US" sz="1400" dirty="0"/>
          </a:p>
        </p:txBody>
      </p:sp>
      <p:sp>
        <p:nvSpPr>
          <p:cNvPr id="15" name="Shape 13"/>
          <p:cNvSpPr/>
          <p:nvPr/>
        </p:nvSpPr>
        <p:spPr>
          <a:xfrm>
            <a:off x="6181344"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6181344" y="2057400"/>
            <a:ext cx="2551176"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6437376"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Decision</a:t>
            </a:r>
            <a:endParaRPr lang="en-US" sz="1700" dirty="0"/>
          </a:p>
        </p:txBody>
      </p:sp>
      <p:sp>
        <p:nvSpPr>
          <p:cNvPr id="18" name="Text 16"/>
          <p:cNvSpPr txBox="1"/>
          <p:nvPr/>
        </p:nvSpPr>
        <p:spPr>
          <a:xfrm>
            <a:off x="6473952"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Approve, revise or reject</a:t>
            </a:r>
            <a:endParaRPr lang="en-US" sz="1400" dirty="0"/>
          </a:p>
        </p:txBody>
      </p:sp>
      <p:sp>
        <p:nvSpPr>
          <p:cNvPr id="19" name="Shape 17"/>
          <p:cNvSpPr/>
          <p:nvPr/>
        </p:nvSpPr>
        <p:spPr>
          <a:xfrm>
            <a:off x="8988552" y="2057400"/>
            <a:ext cx="2551176" cy="3959352"/>
          </a:xfrm>
          <a:prstGeom prst="roundRect">
            <a:avLst>
              <a:gd name="adj" fmla="val 2867"/>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8988552" y="2057400"/>
            <a:ext cx="2551176"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9244584" y="2395728"/>
            <a:ext cx="2039112"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Record</a:t>
            </a:r>
            <a:endParaRPr lang="en-US" sz="1700" dirty="0"/>
          </a:p>
        </p:txBody>
      </p:sp>
      <p:sp>
        <p:nvSpPr>
          <p:cNvPr id="22" name="Text 20"/>
          <p:cNvSpPr txBox="1"/>
          <p:nvPr/>
        </p:nvSpPr>
        <p:spPr>
          <a:xfrm>
            <a:off x="9281160" y="3246120"/>
            <a:ext cx="1965960"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Date, basis and conditions</a:t>
            </a:r>
            <a:endParaRPr lang="en-US" sz="1400" dirty="0"/>
          </a:p>
        </p:txBody>
      </p:sp>
      <p:sp>
        <p:nvSpPr>
          <p:cNvPr id="23" name="Text 2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155</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6</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Step 6 · retain traceability</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Keep enough evidence to reproduce the result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Prompt</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Final version</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Sources</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Files and revisions</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Output</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Checked draft</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Corrections</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What changed</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Approval</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Reviewer and date</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156</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6</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Step 7 · recognise and respond</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Stop, contain, report and learn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Detect</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Injection, leakage or harmful output</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Stop</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Do not share or continue</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Contain</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Revoke access or isolate source</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Report</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Use incident channel</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Improve</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Correct control and retest</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157</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6</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6.1 · Apply the 7-Step AI Security Framework</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Complete one evidence row for every step</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2743200" cy="4069080"/>
          </a:xfrm>
          <a:prstGeom prst="roundRect">
            <a:avLst/>
          </a:prstGeom>
          <a:solidFill>
            <a:srgbClr val="102B3E"/>
          </a:solidFill>
          <a:ln w="12700">
            <a:solidFill>
              <a:srgbClr val="102B3E"/>
            </a:solidFill>
            <a:prstDash val="solid"/>
          </a:ln>
        </p:spPr>
        <p:txBody>
          <a:bodyPr/>
          <a:lstStyle/>
          <a:p>
            <a:endParaRPr/>
          </a:p>
        </p:txBody>
      </p:sp>
      <p:sp>
        <p:nvSpPr>
          <p:cNvPr id="8" name="Text 6"/>
          <p:cNvSpPr txBox="1"/>
          <p:nvPr/>
        </p:nvSpPr>
        <p:spPr>
          <a:xfrm>
            <a:off x="868680" y="2395728"/>
            <a:ext cx="2148840" cy="548640"/>
          </a:xfrm>
          <a:prstGeom prst="rect">
            <a:avLst/>
          </a:prstGeom>
          <a:noFill/>
          <a:ln/>
        </p:spPr>
        <p:txBody>
          <a:bodyPr wrap="square" lIns="0" tIns="0" rIns="0" bIns="0" rtlCol="0" anchor="ctr">
            <a:normAutofit/>
          </a:bodyPr>
          <a:lstStyle/>
          <a:p>
            <a:pPr marL="0" indent="0" algn="ctr">
              <a:buNone/>
            </a:pPr>
            <a:r>
              <a:rPr lang="en-US" sz="2400" b="1" dirty="0">
                <a:solidFill>
                  <a:srgbClr val="FFFFFF"/>
                </a:solidFill>
                <a:latin typeface="Aptos" pitchFamily="34" charset="0"/>
                <a:ea typeface="Aptos" pitchFamily="34" charset="-122"/>
                <a:cs typeface="Aptos" pitchFamily="34" charset="-120"/>
              </a:rPr>
              <a:t>Lab 6.1</a:t>
            </a:r>
            <a:endParaRPr lang="en-US" sz="2400" dirty="0"/>
          </a:p>
        </p:txBody>
      </p:sp>
      <p:sp>
        <p:nvSpPr>
          <p:cNvPr id="9" name="Text 7"/>
          <p:cNvSpPr txBox="1"/>
          <p:nvPr/>
        </p:nvSpPr>
        <p:spPr>
          <a:xfrm>
            <a:off x="868680" y="3163824"/>
            <a:ext cx="2148840" cy="1143000"/>
          </a:xfrm>
          <a:prstGeom prst="rect">
            <a:avLst/>
          </a:prstGeom>
          <a:noFill/>
          <a:ln/>
        </p:spPr>
        <p:txBody>
          <a:bodyPr wrap="square" lIns="0" tIns="0" rIns="0" bIns="0" rtlCol="0" anchor="ctr">
            <a:normAutofit/>
          </a:bodyPr>
          <a:lstStyle/>
          <a:p>
            <a:pPr marL="0" indent="0" algn="ctr">
              <a:buNone/>
            </a:pPr>
            <a:r>
              <a:rPr lang="en-US" sz="1600" dirty="0">
                <a:solidFill>
                  <a:srgbClr val="FFFFFF"/>
                </a:solidFill>
                <a:latin typeface="Aptos" pitchFamily="34" charset="0"/>
                <a:ea typeface="Aptos" pitchFamily="34" charset="-122"/>
                <a:cs typeface="Aptos" pitchFamily="34" charset="-120"/>
              </a:rPr>
              <a:t>Complete one evidence row for every step</a:t>
            </a:r>
            <a:endParaRPr lang="en-US" sz="1600" dirty="0"/>
          </a:p>
        </p:txBody>
      </p:sp>
      <p:sp>
        <p:nvSpPr>
          <p:cNvPr id="10" name="Text 8"/>
          <p:cNvSpPr txBox="1"/>
          <p:nvPr/>
        </p:nvSpPr>
        <p:spPr>
          <a:xfrm>
            <a:off x="868680" y="4992624"/>
            <a:ext cx="2148840" cy="274320"/>
          </a:xfrm>
          <a:prstGeom prst="rect">
            <a:avLst/>
          </a:prstGeom>
          <a:noFill/>
          <a:ln/>
        </p:spPr>
        <p:txBody>
          <a:bodyPr wrap="square" lIns="0" tIns="0" rIns="0" bIns="0" rtlCol="0" anchor="ctr">
            <a:normAutofit/>
          </a:bodyPr>
          <a:lstStyle/>
          <a:p>
            <a:pPr marL="0" indent="0" algn="ctr">
              <a:buNone/>
            </a:pPr>
            <a:r>
              <a:rPr lang="en-US" sz="1100" b="1" dirty="0">
                <a:solidFill>
                  <a:srgbClr val="17A9B8"/>
                </a:solidFill>
                <a:latin typeface="Aptos" pitchFamily="34" charset="0"/>
                <a:ea typeface="Aptos" pitchFamily="34" charset="-122"/>
                <a:cs typeface="Aptos" pitchFamily="34" charset="-120"/>
              </a:rPr>
              <a:t>ONE SMALL OUTPUT</a:t>
            </a:r>
            <a:endParaRPr lang="en-US" sz="1100" dirty="0"/>
          </a:p>
        </p:txBody>
      </p:sp>
      <p:sp>
        <p:nvSpPr>
          <p:cNvPr id="11" name="Shape 9"/>
          <p:cNvSpPr/>
          <p:nvPr/>
        </p:nvSpPr>
        <p:spPr>
          <a:xfrm>
            <a:off x="3749040" y="2103120"/>
            <a:ext cx="420624" cy="420624"/>
          </a:xfrm>
          <a:prstGeom prst="ellipse">
            <a:avLst/>
          </a:prstGeom>
          <a:solidFill>
            <a:srgbClr val="078897"/>
          </a:solidFill>
          <a:ln w="12700">
            <a:solidFill>
              <a:srgbClr val="078897"/>
            </a:solidFill>
            <a:prstDash val="solid"/>
          </a:ln>
        </p:spPr>
        <p:txBody>
          <a:bodyPr/>
          <a:lstStyle/>
          <a:p>
            <a:endParaRPr/>
          </a:p>
        </p:txBody>
      </p:sp>
      <p:sp>
        <p:nvSpPr>
          <p:cNvPr id="12" name="Text 10"/>
          <p:cNvSpPr txBox="1"/>
          <p:nvPr/>
        </p:nvSpPr>
        <p:spPr>
          <a:xfrm>
            <a:off x="3749040" y="2103120"/>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13" name="Text 11"/>
          <p:cNvSpPr txBox="1"/>
          <p:nvPr/>
        </p:nvSpPr>
        <p:spPr>
          <a:xfrm>
            <a:off x="4352544" y="1993392"/>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Case</a:t>
            </a:r>
            <a:endParaRPr lang="en-US" sz="1500" dirty="0"/>
          </a:p>
        </p:txBody>
      </p:sp>
      <p:sp>
        <p:nvSpPr>
          <p:cNvPr id="14" name="Text 12"/>
          <p:cNvSpPr txBox="1"/>
          <p:nvPr/>
        </p:nvSpPr>
        <p:spPr>
          <a:xfrm>
            <a:off x="5596128" y="1993392"/>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SharePoint-agent comparison</a:t>
            </a:r>
            <a:endParaRPr lang="en-US" sz="1500" dirty="0"/>
          </a:p>
        </p:txBody>
      </p:sp>
      <p:sp>
        <p:nvSpPr>
          <p:cNvPr id="15" name="Shape 13"/>
          <p:cNvSpPr/>
          <p:nvPr/>
        </p:nvSpPr>
        <p:spPr>
          <a:xfrm>
            <a:off x="3959352" y="2523744"/>
            <a:ext cx="0" cy="283464"/>
          </a:xfrm>
          <a:prstGeom prst="line">
            <a:avLst/>
          </a:prstGeom>
          <a:noFill/>
          <a:ln w="25400">
            <a:solidFill>
              <a:srgbClr val="C8D9DC"/>
            </a:solidFill>
            <a:prstDash val="solid"/>
          </a:ln>
        </p:spPr>
        <p:txBody>
          <a:bodyPr/>
          <a:lstStyle/>
          <a:p>
            <a:endParaRPr/>
          </a:p>
        </p:txBody>
      </p:sp>
      <p:sp>
        <p:nvSpPr>
          <p:cNvPr id="16" name="Shape 14"/>
          <p:cNvSpPr/>
          <p:nvPr/>
        </p:nvSpPr>
        <p:spPr>
          <a:xfrm>
            <a:off x="3749040" y="2916936"/>
            <a:ext cx="420624" cy="420624"/>
          </a:xfrm>
          <a:prstGeom prst="ellipse">
            <a:avLst/>
          </a:prstGeom>
          <a:solidFill>
            <a:srgbClr val="078897"/>
          </a:solidFill>
          <a:ln w="12700">
            <a:solidFill>
              <a:srgbClr val="078897"/>
            </a:solidFill>
            <a:prstDash val="solid"/>
          </a:ln>
        </p:spPr>
        <p:txBody>
          <a:bodyPr/>
          <a:lstStyle/>
          <a:p>
            <a:endParaRPr/>
          </a:p>
        </p:txBody>
      </p:sp>
      <p:sp>
        <p:nvSpPr>
          <p:cNvPr id="17" name="Text 15"/>
          <p:cNvSpPr txBox="1"/>
          <p:nvPr/>
        </p:nvSpPr>
        <p:spPr>
          <a:xfrm>
            <a:off x="3749040" y="2916936"/>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8" name="Text 16"/>
          <p:cNvSpPr txBox="1"/>
          <p:nvPr/>
        </p:nvSpPr>
        <p:spPr>
          <a:xfrm>
            <a:off x="4352544" y="2807208"/>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Evidence</a:t>
            </a:r>
            <a:endParaRPr lang="en-US" sz="1500" dirty="0"/>
          </a:p>
        </p:txBody>
      </p:sp>
      <p:sp>
        <p:nvSpPr>
          <p:cNvPr id="19" name="Text 17"/>
          <p:cNvSpPr txBox="1"/>
          <p:nvPr/>
        </p:nvSpPr>
        <p:spPr>
          <a:xfrm>
            <a:off x="5596128" y="2807208"/>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Citation + workbook calculation</a:t>
            </a:r>
            <a:endParaRPr lang="en-US" sz="1500" dirty="0"/>
          </a:p>
        </p:txBody>
      </p:sp>
      <p:sp>
        <p:nvSpPr>
          <p:cNvPr id="20" name="Shape 18"/>
          <p:cNvSpPr/>
          <p:nvPr/>
        </p:nvSpPr>
        <p:spPr>
          <a:xfrm>
            <a:off x="3959352" y="3337560"/>
            <a:ext cx="0" cy="283464"/>
          </a:xfrm>
          <a:prstGeom prst="line">
            <a:avLst/>
          </a:prstGeom>
          <a:noFill/>
          <a:ln w="25400">
            <a:solidFill>
              <a:srgbClr val="C8D9DC"/>
            </a:solidFill>
            <a:prstDash val="solid"/>
          </a:ln>
        </p:spPr>
        <p:txBody>
          <a:bodyPr/>
          <a:lstStyle/>
          <a:p>
            <a:endParaRPr/>
          </a:p>
        </p:txBody>
      </p:sp>
      <p:sp>
        <p:nvSpPr>
          <p:cNvPr id="21" name="Shape 19"/>
          <p:cNvSpPr/>
          <p:nvPr/>
        </p:nvSpPr>
        <p:spPr>
          <a:xfrm>
            <a:off x="3749040" y="3730752"/>
            <a:ext cx="420624" cy="420624"/>
          </a:xfrm>
          <a:prstGeom prst="ellipse">
            <a:avLst/>
          </a:prstGeom>
          <a:solidFill>
            <a:srgbClr val="078897"/>
          </a:solidFill>
          <a:ln w="12700">
            <a:solidFill>
              <a:srgbClr val="078897"/>
            </a:solidFill>
            <a:prstDash val="solid"/>
          </a:ln>
        </p:spPr>
        <p:txBody>
          <a:bodyPr/>
          <a:lstStyle/>
          <a:p>
            <a:endParaRPr/>
          </a:p>
        </p:txBody>
      </p:sp>
      <p:sp>
        <p:nvSpPr>
          <p:cNvPr id="22" name="Text 20"/>
          <p:cNvSpPr txBox="1"/>
          <p:nvPr/>
        </p:nvSpPr>
        <p:spPr>
          <a:xfrm>
            <a:off x="3749040" y="3730752"/>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23" name="Text 21"/>
          <p:cNvSpPr txBox="1"/>
          <p:nvPr/>
        </p:nvSpPr>
        <p:spPr>
          <a:xfrm>
            <a:off x="4352544" y="3621024"/>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Decision</a:t>
            </a:r>
            <a:endParaRPr lang="en-US" sz="1500" dirty="0"/>
          </a:p>
        </p:txBody>
      </p:sp>
      <p:sp>
        <p:nvSpPr>
          <p:cNvPr id="24" name="Text 22"/>
          <p:cNvSpPr txBox="1"/>
          <p:nvPr/>
        </p:nvSpPr>
        <p:spPr>
          <a:xfrm>
            <a:off x="5596128" y="3621024"/>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Approve / revise / reject</a:t>
            </a:r>
            <a:endParaRPr lang="en-US" sz="1500" dirty="0"/>
          </a:p>
        </p:txBody>
      </p:sp>
      <p:sp>
        <p:nvSpPr>
          <p:cNvPr id="25" name="Shape 23"/>
          <p:cNvSpPr/>
          <p:nvPr/>
        </p:nvSpPr>
        <p:spPr>
          <a:xfrm>
            <a:off x="3959352" y="4151376"/>
            <a:ext cx="0" cy="283464"/>
          </a:xfrm>
          <a:prstGeom prst="line">
            <a:avLst/>
          </a:prstGeom>
          <a:noFill/>
          <a:ln w="25400">
            <a:solidFill>
              <a:srgbClr val="C8D9DC"/>
            </a:solidFill>
            <a:prstDash val="solid"/>
          </a:ln>
        </p:spPr>
        <p:txBody>
          <a:bodyPr/>
          <a:lstStyle/>
          <a:p>
            <a:endParaRPr/>
          </a:p>
        </p:txBody>
      </p:sp>
      <p:sp>
        <p:nvSpPr>
          <p:cNvPr id="26" name="Shape 24"/>
          <p:cNvSpPr/>
          <p:nvPr/>
        </p:nvSpPr>
        <p:spPr>
          <a:xfrm>
            <a:off x="3749040" y="4544568"/>
            <a:ext cx="420624" cy="420624"/>
          </a:xfrm>
          <a:prstGeom prst="ellipse">
            <a:avLst/>
          </a:prstGeom>
          <a:solidFill>
            <a:srgbClr val="078897"/>
          </a:solidFill>
          <a:ln w="12700">
            <a:solidFill>
              <a:srgbClr val="078897"/>
            </a:solidFill>
            <a:prstDash val="solid"/>
          </a:ln>
        </p:spPr>
        <p:txBody>
          <a:bodyPr/>
          <a:lstStyle/>
          <a:p>
            <a:endParaRPr/>
          </a:p>
        </p:txBody>
      </p:sp>
      <p:sp>
        <p:nvSpPr>
          <p:cNvPr id="27" name="Text 25"/>
          <p:cNvSpPr txBox="1"/>
          <p:nvPr/>
        </p:nvSpPr>
        <p:spPr>
          <a:xfrm>
            <a:off x="3749040" y="4544568"/>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8" name="Text 26"/>
          <p:cNvSpPr txBox="1"/>
          <p:nvPr/>
        </p:nvSpPr>
        <p:spPr>
          <a:xfrm>
            <a:off x="4352544" y="4434840"/>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Trigger</a:t>
            </a:r>
            <a:endParaRPr lang="en-US" sz="1500" dirty="0"/>
          </a:p>
        </p:txBody>
      </p:sp>
      <p:sp>
        <p:nvSpPr>
          <p:cNvPr id="29" name="Text 27"/>
          <p:cNvSpPr txBox="1"/>
          <p:nvPr/>
        </p:nvSpPr>
        <p:spPr>
          <a:xfrm>
            <a:off x="5596128" y="4434840"/>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Embedded prompt-injection instruction</a:t>
            </a:r>
            <a:endParaRPr lang="en-US" sz="1500" dirty="0"/>
          </a:p>
        </p:txBody>
      </p:sp>
      <p:sp>
        <p:nvSpPr>
          <p:cNvPr id="30" name="Shape 28"/>
          <p:cNvSpPr/>
          <p:nvPr/>
        </p:nvSpPr>
        <p:spPr>
          <a:xfrm>
            <a:off x="3959352" y="4965192"/>
            <a:ext cx="0" cy="283464"/>
          </a:xfrm>
          <a:prstGeom prst="line">
            <a:avLst/>
          </a:prstGeom>
          <a:noFill/>
          <a:ln w="25400">
            <a:solidFill>
              <a:srgbClr val="C8D9DC"/>
            </a:solidFill>
            <a:prstDash val="solid"/>
          </a:ln>
        </p:spPr>
        <p:txBody>
          <a:bodyPr/>
          <a:lstStyle/>
          <a:p>
            <a:endParaRPr/>
          </a:p>
        </p:txBody>
      </p:sp>
      <p:sp>
        <p:nvSpPr>
          <p:cNvPr id="31" name="Shape 29"/>
          <p:cNvSpPr/>
          <p:nvPr/>
        </p:nvSpPr>
        <p:spPr>
          <a:xfrm>
            <a:off x="3749040" y="5358384"/>
            <a:ext cx="420624" cy="420624"/>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3749040" y="5358384"/>
            <a:ext cx="420624" cy="42062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5</a:t>
            </a:r>
            <a:endParaRPr lang="en-US" sz="1400" dirty="0"/>
          </a:p>
        </p:txBody>
      </p:sp>
      <p:sp>
        <p:nvSpPr>
          <p:cNvPr id="33" name="Text 31"/>
          <p:cNvSpPr txBox="1"/>
          <p:nvPr/>
        </p:nvSpPr>
        <p:spPr>
          <a:xfrm>
            <a:off x="4352544" y="5248656"/>
            <a:ext cx="1143000" cy="310896"/>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Output</a:t>
            </a:r>
            <a:endParaRPr lang="en-US" sz="1500" dirty="0"/>
          </a:p>
        </p:txBody>
      </p:sp>
      <p:sp>
        <p:nvSpPr>
          <p:cNvPr id="34" name="Text 32"/>
          <p:cNvSpPr txBox="1"/>
          <p:nvPr/>
        </p:nvSpPr>
        <p:spPr>
          <a:xfrm>
            <a:off x="5596128" y="5248656"/>
            <a:ext cx="5650992" cy="493776"/>
          </a:xfrm>
          <a:prstGeom prst="rect">
            <a:avLst/>
          </a:prstGeom>
          <a:noFill/>
          <a:ln/>
        </p:spPr>
        <p:txBody>
          <a:bodyPr wrap="square" lIns="0" tIns="0" rIns="0" bIns="0" rtlCol="0" anchor="ctr">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Completed security log</a:t>
            </a:r>
            <a:endParaRPr lang="en-US" sz="1500" dirty="0"/>
          </a:p>
        </p:txBody>
      </p:sp>
      <p:sp>
        <p:nvSpPr>
          <p:cNvPr id="35" name="Text 33"/>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6"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158</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6</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Release decision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Security review must end with a clear disposition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3486912"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078897"/>
                </a:solidFill>
                <a:latin typeface="Aptos" pitchFamily="34" charset="0"/>
                <a:ea typeface="Aptos" pitchFamily="34" charset="-122"/>
                <a:cs typeface="Aptos" pitchFamily="34" charset="-120"/>
              </a:rPr>
              <a:t>All checks pass</a:t>
            </a:r>
            <a:endParaRPr lang="en-US" sz="2100" dirty="0"/>
          </a:p>
        </p:txBody>
      </p:sp>
      <p:sp>
        <p:nvSpPr>
          <p:cNvPr id="10" name="Text 8"/>
          <p:cNvSpPr txBox="1"/>
          <p:nvPr/>
        </p:nvSpPr>
        <p:spPr>
          <a:xfrm>
            <a:off x="859536"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Approve for named audience</a:t>
            </a:r>
            <a:endParaRPr lang="en-US" sz="1700" dirty="0"/>
          </a:p>
        </p:txBody>
      </p:sp>
      <p:sp>
        <p:nvSpPr>
          <p:cNvPr id="11" name="Shape 9"/>
          <p:cNvSpPr/>
          <p:nvPr/>
        </p:nvSpPr>
        <p:spPr>
          <a:xfrm>
            <a:off x="4309872" y="2057400"/>
            <a:ext cx="3486912" cy="3959352"/>
          </a:xfrm>
          <a:prstGeom prst="roundRect">
            <a:avLst>
              <a:gd name="adj" fmla="val 2098"/>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4309872" y="2057400"/>
            <a:ext cx="3486912"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4565904"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Correctable gap</a:t>
            </a:r>
            <a:endParaRPr lang="en-US" sz="2100" dirty="0"/>
          </a:p>
        </p:txBody>
      </p:sp>
      <p:sp>
        <p:nvSpPr>
          <p:cNvPr id="14" name="Text 12"/>
          <p:cNvSpPr txBox="1"/>
          <p:nvPr/>
        </p:nvSpPr>
        <p:spPr>
          <a:xfrm>
            <a:off x="4602480"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Revise and recheck</a:t>
            </a:r>
            <a:endParaRPr lang="en-US" sz="1700" dirty="0"/>
          </a:p>
        </p:txBody>
      </p:sp>
      <p:sp>
        <p:nvSpPr>
          <p:cNvPr id="15" name="Shape 13"/>
          <p:cNvSpPr/>
          <p:nvPr/>
        </p:nvSpPr>
        <p:spPr>
          <a:xfrm>
            <a:off x="8052816" y="2057400"/>
            <a:ext cx="3486912" cy="3959352"/>
          </a:xfrm>
          <a:prstGeom prst="roundRect">
            <a:avLst>
              <a:gd name="adj" fmla="val 2098"/>
            </a:avLst>
          </a:prstGeom>
          <a:solidFill>
            <a:srgbClr val="E2EEF0"/>
          </a:solidFill>
          <a:ln w="12700">
            <a:solidFill>
              <a:srgbClr val="C8D9DC"/>
            </a:solidFill>
            <a:prstDash val="solid"/>
          </a:ln>
        </p:spPr>
        <p:txBody>
          <a:bodyPr/>
          <a:lstStyle/>
          <a:p>
            <a:endParaRPr lang="en-US"/>
          </a:p>
        </p:txBody>
      </p:sp>
      <p:sp>
        <p:nvSpPr>
          <p:cNvPr id="16" name="Shape 14"/>
          <p:cNvSpPr/>
          <p:nvPr/>
        </p:nvSpPr>
        <p:spPr>
          <a:xfrm>
            <a:off x="8052816" y="2057400"/>
            <a:ext cx="3486912"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8308848" y="2395728"/>
            <a:ext cx="2974848" cy="502920"/>
          </a:xfrm>
          <a:prstGeom prst="rect">
            <a:avLst/>
          </a:prstGeom>
          <a:noFill/>
          <a:ln/>
        </p:spPr>
        <p:txBody>
          <a:bodyPr wrap="square" lIns="0" tIns="0" rIns="0" bIns="0" rtlCol="0" anchor="ctr">
            <a:normAutofit/>
          </a:bodyPr>
          <a:lstStyle/>
          <a:p>
            <a:pPr marL="0" indent="0" algn="ctr">
              <a:buNone/>
            </a:pPr>
            <a:r>
              <a:rPr lang="en-US" sz="2100" b="1" dirty="0">
                <a:solidFill>
                  <a:srgbClr val="F4A62A"/>
                </a:solidFill>
                <a:latin typeface="Aptos" pitchFamily="34" charset="0"/>
                <a:ea typeface="Aptos" pitchFamily="34" charset="-122"/>
                <a:cs typeface="Aptos" pitchFamily="34" charset="-120"/>
              </a:rPr>
              <a:t>Material uncertainty or exposure</a:t>
            </a:r>
            <a:endParaRPr lang="en-US" sz="2100" dirty="0"/>
          </a:p>
        </p:txBody>
      </p:sp>
      <p:sp>
        <p:nvSpPr>
          <p:cNvPr id="18" name="Text 16"/>
          <p:cNvSpPr txBox="1"/>
          <p:nvPr/>
        </p:nvSpPr>
        <p:spPr>
          <a:xfrm>
            <a:off x="8345424" y="3246120"/>
            <a:ext cx="2901696" cy="2148840"/>
          </a:xfrm>
          <a:prstGeom prst="rect">
            <a:avLst/>
          </a:prstGeom>
          <a:noFill/>
          <a:ln/>
        </p:spPr>
        <p:txBody>
          <a:bodyPr wrap="square" lIns="0" tIns="0" rIns="0" bIns="0" rtlCol="0" anchor="ctr">
            <a:normAutofit/>
          </a:bodyPr>
          <a:lstStyle/>
          <a:p>
            <a:pPr marL="0" indent="0" algn="ctr">
              <a:buNone/>
            </a:pPr>
            <a:r>
              <a:rPr lang="en-US" sz="1700" dirty="0">
                <a:solidFill>
                  <a:srgbClr val="102B3E"/>
                </a:solidFill>
                <a:latin typeface="Aptos" pitchFamily="34" charset="0"/>
                <a:ea typeface="Aptos" pitchFamily="34" charset="-122"/>
                <a:cs typeface="Aptos" pitchFamily="34" charset="-120"/>
              </a:rPr>
              <a:t>Reject and escalate</a:t>
            </a:r>
            <a:endParaRPr lang="en-US" sz="1700" dirty="0"/>
          </a:p>
        </p:txBody>
      </p:sp>
      <p:sp>
        <p:nvSpPr>
          <p:cNvPr id="19" name="Text 17"/>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159</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6</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Module 6 recap</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Protect input, verify output, approve and retain evidence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Before AI</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Classify + access</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During AI</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Secure prompt</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After AI</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Verify + sign off</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Always</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Trace + respond</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160</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CLOSING</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Course summary</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Copilot saves time when the engineering controls stay visible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Understand</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FMEA → DMAIC → SPC</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Prompt</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RISE + E-MAP</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Automate</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Copilot apps + agents</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Ground</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SharePoint + citations</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Secure</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Seven-step review</a:t>
            </a:r>
            <a:endParaRPr lang="en-US" sz="1400" dirty="0"/>
          </a:p>
        </p:txBody>
      </p:sp>
      <p:sp>
        <p:nvSpPr>
          <p:cNvPr id="32" name="Text 3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3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161</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CLOSING</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Learning outcome check</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Match each outcome to one piece of evidence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640080" y="2011680"/>
            <a:ext cx="502920" cy="502920"/>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640080" y="2011680"/>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9" name="Shape 7"/>
          <p:cNvSpPr/>
          <p:nvPr/>
        </p:nvSpPr>
        <p:spPr>
          <a:xfrm>
            <a:off x="1371600" y="1938528"/>
            <a:ext cx="10058400" cy="501614"/>
          </a:xfrm>
          <a:prstGeom prst="roundRect">
            <a:avLst>
              <a:gd name="adj" fmla="val 14583"/>
            </a:avLst>
          </a:prstGeom>
          <a:solidFill>
            <a:srgbClr val="FFFFFF"/>
          </a:solidFill>
          <a:ln w="12700">
            <a:solidFill>
              <a:srgbClr val="C8D9DC"/>
            </a:solidFill>
            <a:prstDash val="solid"/>
          </a:ln>
        </p:spPr>
        <p:txBody>
          <a:bodyPr/>
          <a:lstStyle/>
          <a:p>
            <a:endParaRPr/>
          </a:p>
        </p:txBody>
      </p:sp>
      <p:sp>
        <p:nvSpPr>
          <p:cNvPr id="10" name="Text 8"/>
          <p:cNvSpPr txBox="1"/>
          <p:nvPr/>
        </p:nvSpPr>
        <p:spPr>
          <a:xfrm>
            <a:off x="1627632" y="2048256"/>
            <a:ext cx="1828800" cy="282158"/>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LO1</a:t>
            </a:r>
            <a:endParaRPr lang="en-US" sz="1700" dirty="0"/>
          </a:p>
        </p:txBody>
      </p:sp>
      <p:sp>
        <p:nvSpPr>
          <p:cNvPr id="11" name="Text 9"/>
          <p:cNvSpPr txBox="1"/>
          <p:nvPr/>
        </p:nvSpPr>
        <p:spPr>
          <a:xfrm>
            <a:off x="3246120" y="2048256"/>
            <a:ext cx="7818120" cy="282158"/>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Explain three methods</a:t>
            </a:r>
            <a:endParaRPr lang="en-US" sz="1600" dirty="0"/>
          </a:p>
        </p:txBody>
      </p:sp>
      <p:sp>
        <p:nvSpPr>
          <p:cNvPr id="12" name="Shape 10"/>
          <p:cNvSpPr/>
          <p:nvPr/>
        </p:nvSpPr>
        <p:spPr>
          <a:xfrm>
            <a:off x="640080" y="2632166"/>
            <a:ext cx="502920" cy="502920"/>
          </a:xfrm>
          <a:prstGeom prst="ellipse">
            <a:avLst/>
          </a:prstGeom>
          <a:solidFill>
            <a:srgbClr val="078897"/>
          </a:solidFill>
          <a:ln w="12700">
            <a:solidFill>
              <a:srgbClr val="078897"/>
            </a:solidFill>
            <a:prstDash val="solid"/>
          </a:ln>
        </p:spPr>
        <p:txBody>
          <a:bodyPr/>
          <a:lstStyle/>
          <a:p>
            <a:endParaRPr/>
          </a:p>
        </p:txBody>
      </p:sp>
      <p:sp>
        <p:nvSpPr>
          <p:cNvPr id="13" name="Text 11"/>
          <p:cNvSpPr txBox="1"/>
          <p:nvPr/>
        </p:nvSpPr>
        <p:spPr>
          <a:xfrm>
            <a:off x="640080" y="2632166"/>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4" name="Shape 12"/>
          <p:cNvSpPr/>
          <p:nvPr/>
        </p:nvSpPr>
        <p:spPr>
          <a:xfrm>
            <a:off x="1371600" y="2559014"/>
            <a:ext cx="10058400" cy="501614"/>
          </a:xfrm>
          <a:prstGeom prst="roundRect">
            <a:avLst>
              <a:gd name="adj" fmla="val 14583"/>
            </a:avLst>
          </a:prstGeom>
          <a:solidFill>
            <a:srgbClr val="FFFFFF"/>
          </a:solidFill>
          <a:ln w="12700">
            <a:solidFill>
              <a:srgbClr val="C8D9DC"/>
            </a:solidFill>
            <a:prstDash val="solid"/>
          </a:ln>
        </p:spPr>
        <p:txBody>
          <a:bodyPr/>
          <a:lstStyle/>
          <a:p>
            <a:endParaRPr/>
          </a:p>
        </p:txBody>
      </p:sp>
      <p:sp>
        <p:nvSpPr>
          <p:cNvPr id="15" name="Text 13"/>
          <p:cNvSpPr txBox="1"/>
          <p:nvPr/>
        </p:nvSpPr>
        <p:spPr>
          <a:xfrm>
            <a:off x="1627632" y="2668742"/>
            <a:ext cx="1828800" cy="282158"/>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LO2</a:t>
            </a:r>
            <a:endParaRPr lang="en-US" sz="1700" dirty="0"/>
          </a:p>
        </p:txBody>
      </p:sp>
      <p:sp>
        <p:nvSpPr>
          <p:cNvPr id="16" name="Text 14"/>
          <p:cNvSpPr txBox="1"/>
          <p:nvPr/>
        </p:nvSpPr>
        <p:spPr>
          <a:xfrm>
            <a:off x="3246120" y="2668742"/>
            <a:ext cx="7818120" cy="282158"/>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Create checked documents and analyses</a:t>
            </a:r>
            <a:endParaRPr lang="en-US" sz="1600" dirty="0"/>
          </a:p>
        </p:txBody>
      </p:sp>
      <p:sp>
        <p:nvSpPr>
          <p:cNvPr id="17" name="Shape 15"/>
          <p:cNvSpPr/>
          <p:nvPr/>
        </p:nvSpPr>
        <p:spPr>
          <a:xfrm>
            <a:off x="640080" y="3252651"/>
            <a:ext cx="502920" cy="502920"/>
          </a:xfrm>
          <a:prstGeom prst="ellipse">
            <a:avLst/>
          </a:prstGeom>
          <a:solidFill>
            <a:srgbClr val="078897"/>
          </a:solidFill>
          <a:ln w="12700">
            <a:solidFill>
              <a:srgbClr val="078897"/>
            </a:solidFill>
            <a:prstDash val="solid"/>
          </a:ln>
        </p:spPr>
        <p:txBody>
          <a:bodyPr/>
          <a:lstStyle/>
          <a:p>
            <a:endParaRPr/>
          </a:p>
        </p:txBody>
      </p:sp>
      <p:sp>
        <p:nvSpPr>
          <p:cNvPr id="18" name="Text 16"/>
          <p:cNvSpPr txBox="1"/>
          <p:nvPr/>
        </p:nvSpPr>
        <p:spPr>
          <a:xfrm>
            <a:off x="640080" y="3252651"/>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19" name="Shape 17"/>
          <p:cNvSpPr/>
          <p:nvPr/>
        </p:nvSpPr>
        <p:spPr>
          <a:xfrm>
            <a:off x="1371600" y="3179499"/>
            <a:ext cx="10058400" cy="501614"/>
          </a:xfrm>
          <a:prstGeom prst="roundRect">
            <a:avLst>
              <a:gd name="adj" fmla="val 14583"/>
            </a:avLst>
          </a:prstGeom>
          <a:solidFill>
            <a:srgbClr val="FFFFFF"/>
          </a:solidFill>
          <a:ln w="12700">
            <a:solidFill>
              <a:srgbClr val="C8D9DC"/>
            </a:solidFill>
            <a:prstDash val="solid"/>
          </a:ln>
        </p:spPr>
        <p:txBody>
          <a:bodyPr/>
          <a:lstStyle/>
          <a:p>
            <a:endParaRPr/>
          </a:p>
        </p:txBody>
      </p:sp>
      <p:sp>
        <p:nvSpPr>
          <p:cNvPr id="20" name="Text 18"/>
          <p:cNvSpPr txBox="1"/>
          <p:nvPr/>
        </p:nvSpPr>
        <p:spPr>
          <a:xfrm>
            <a:off x="1627632" y="3289227"/>
            <a:ext cx="1828800" cy="282158"/>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LO3</a:t>
            </a:r>
            <a:endParaRPr lang="en-US" sz="1700" dirty="0"/>
          </a:p>
        </p:txBody>
      </p:sp>
      <p:sp>
        <p:nvSpPr>
          <p:cNvPr id="21" name="Text 19"/>
          <p:cNvSpPr txBox="1"/>
          <p:nvPr/>
        </p:nvSpPr>
        <p:spPr>
          <a:xfrm>
            <a:off x="3246120" y="3289227"/>
            <a:ext cx="7818120" cy="282158"/>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Use structured prompts</a:t>
            </a:r>
            <a:endParaRPr lang="en-US" sz="1600" dirty="0"/>
          </a:p>
        </p:txBody>
      </p:sp>
      <p:sp>
        <p:nvSpPr>
          <p:cNvPr id="22" name="Shape 20"/>
          <p:cNvSpPr/>
          <p:nvPr/>
        </p:nvSpPr>
        <p:spPr>
          <a:xfrm>
            <a:off x="640080" y="3873137"/>
            <a:ext cx="502920" cy="502920"/>
          </a:xfrm>
          <a:prstGeom prst="ellipse">
            <a:avLst/>
          </a:prstGeom>
          <a:solidFill>
            <a:srgbClr val="078897"/>
          </a:solidFill>
          <a:ln w="12700">
            <a:solidFill>
              <a:srgbClr val="078897"/>
            </a:solidFill>
            <a:prstDash val="solid"/>
          </a:ln>
        </p:spPr>
        <p:txBody>
          <a:bodyPr/>
          <a:lstStyle/>
          <a:p>
            <a:endParaRPr/>
          </a:p>
        </p:txBody>
      </p:sp>
      <p:sp>
        <p:nvSpPr>
          <p:cNvPr id="23" name="Text 21"/>
          <p:cNvSpPr txBox="1"/>
          <p:nvPr/>
        </p:nvSpPr>
        <p:spPr>
          <a:xfrm>
            <a:off x="640080" y="3873137"/>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4" name="Shape 22"/>
          <p:cNvSpPr/>
          <p:nvPr/>
        </p:nvSpPr>
        <p:spPr>
          <a:xfrm>
            <a:off x="1371600" y="3799985"/>
            <a:ext cx="10058400" cy="501614"/>
          </a:xfrm>
          <a:prstGeom prst="roundRect">
            <a:avLst>
              <a:gd name="adj" fmla="val 14583"/>
            </a:avLst>
          </a:prstGeom>
          <a:solidFill>
            <a:srgbClr val="FFFFFF"/>
          </a:solidFill>
          <a:ln w="12700">
            <a:solidFill>
              <a:srgbClr val="C8D9DC"/>
            </a:solidFill>
            <a:prstDash val="solid"/>
          </a:ln>
        </p:spPr>
        <p:txBody>
          <a:bodyPr/>
          <a:lstStyle/>
          <a:p>
            <a:endParaRPr/>
          </a:p>
        </p:txBody>
      </p:sp>
      <p:sp>
        <p:nvSpPr>
          <p:cNvPr id="25" name="Text 23"/>
          <p:cNvSpPr txBox="1"/>
          <p:nvPr/>
        </p:nvSpPr>
        <p:spPr>
          <a:xfrm>
            <a:off x="1627632" y="3909713"/>
            <a:ext cx="1828800" cy="282158"/>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LO4</a:t>
            </a:r>
            <a:endParaRPr lang="en-US" sz="1700" dirty="0"/>
          </a:p>
        </p:txBody>
      </p:sp>
      <p:sp>
        <p:nvSpPr>
          <p:cNvPr id="26" name="Text 24"/>
          <p:cNvSpPr txBox="1"/>
          <p:nvPr/>
        </p:nvSpPr>
        <p:spPr>
          <a:xfrm>
            <a:off x="3246120" y="3909713"/>
            <a:ext cx="7818120" cy="282158"/>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Test a multi-step agent</a:t>
            </a:r>
            <a:endParaRPr lang="en-US" sz="1600" dirty="0"/>
          </a:p>
        </p:txBody>
      </p:sp>
      <p:sp>
        <p:nvSpPr>
          <p:cNvPr id="27" name="Shape 25"/>
          <p:cNvSpPr/>
          <p:nvPr/>
        </p:nvSpPr>
        <p:spPr>
          <a:xfrm>
            <a:off x="640080" y="4493623"/>
            <a:ext cx="502920" cy="502920"/>
          </a:xfrm>
          <a:prstGeom prst="ellipse">
            <a:avLst/>
          </a:prstGeom>
          <a:solidFill>
            <a:srgbClr val="078897"/>
          </a:solidFill>
          <a:ln w="12700">
            <a:solidFill>
              <a:srgbClr val="078897"/>
            </a:solidFill>
            <a:prstDash val="solid"/>
          </a:ln>
        </p:spPr>
        <p:txBody>
          <a:bodyPr/>
          <a:lstStyle/>
          <a:p>
            <a:endParaRPr/>
          </a:p>
        </p:txBody>
      </p:sp>
      <p:sp>
        <p:nvSpPr>
          <p:cNvPr id="28" name="Text 26"/>
          <p:cNvSpPr txBox="1"/>
          <p:nvPr/>
        </p:nvSpPr>
        <p:spPr>
          <a:xfrm>
            <a:off x="640080" y="4493623"/>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5</a:t>
            </a:r>
            <a:endParaRPr lang="en-US" sz="1400" dirty="0"/>
          </a:p>
        </p:txBody>
      </p:sp>
      <p:sp>
        <p:nvSpPr>
          <p:cNvPr id="29" name="Shape 27"/>
          <p:cNvSpPr/>
          <p:nvPr/>
        </p:nvSpPr>
        <p:spPr>
          <a:xfrm>
            <a:off x="1371600" y="4420471"/>
            <a:ext cx="10058400" cy="501614"/>
          </a:xfrm>
          <a:prstGeom prst="roundRect">
            <a:avLst>
              <a:gd name="adj" fmla="val 14583"/>
            </a:avLst>
          </a:prstGeom>
          <a:solidFill>
            <a:srgbClr val="FFFFFF"/>
          </a:solidFill>
          <a:ln w="12700">
            <a:solidFill>
              <a:srgbClr val="C8D9DC"/>
            </a:solidFill>
            <a:prstDash val="solid"/>
          </a:ln>
        </p:spPr>
        <p:txBody>
          <a:bodyPr/>
          <a:lstStyle/>
          <a:p>
            <a:endParaRPr/>
          </a:p>
        </p:txBody>
      </p:sp>
      <p:sp>
        <p:nvSpPr>
          <p:cNvPr id="30" name="Text 28"/>
          <p:cNvSpPr txBox="1"/>
          <p:nvPr/>
        </p:nvSpPr>
        <p:spPr>
          <a:xfrm>
            <a:off x="1627632" y="4530199"/>
            <a:ext cx="1828800" cy="282158"/>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LO5</a:t>
            </a:r>
            <a:endParaRPr lang="en-US" sz="1700" dirty="0"/>
          </a:p>
        </p:txBody>
      </p:sp>
      <p:sp>
        <p:nvSpPr>
          <p:cNvPr id="31" name="Text 29"/>
          <p:cNvSpPr txBox="1"/>
          <p:nvPr/>
        </p:nvSpPr>
        <p:spPr>
          <a:xfrm>
            <a:off x="3246120" y="4530199"/>
            <a:ext cx="7818120" cy="282158"/>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Verify Researcher/Analyst</a:t>
            </a:r>
            <a:endParaRPr lang="en-US" sz="1600" dirty="0"/>
          </a:p>
        </p:txBody>
      </p:sp>
      <p:sp>
        <p:nvSpPr>
          <p:cNvPr id="32" name="Shape 30"/>
          <p:cNvSpPr/>
          <p:nvPr/>
        </p:nvSpPr>
        <p:spPr>
          <a:xfrm>
            <a:off x="640080" y="5114109"/>
            <a:ext cx="502920" cy="502920"/>
          </a:xfrm>
          <a:prstGeom prst="ellipse">
            <a:avLst/>
          </a:prstGeom>
          <a:solidFill>
            <a:srgbClr val="078897"/>
          </a:solidFill>
          <a:ln w="12700">
            <a:solidFill>
              <a:srgbClr val="078897"/>
            </a:solidFill>
            <a:prstDash val="solid"/>
          </a:ln>
        </p:spPr>
        <p:txBody>
          <a:bodyPr/>
          <a:lstStyle/>
          <a:p>
            <a:endParaRPr/>
          </a:p>
        </p:txBody>
      </p:sp>
      <p:sp>
        <p:nvSpPr>
          <p:cNvPr id="33" name="Text 31"/>
          <p:cNvSpPr txBox="1"/>
          <p:nvPr/>
        </p:nvSpPr>
        <p:spPr>
          <a:xfrm>
            <a:off x="640080" y="5114109"/>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6</a:t>
            </a:r>
            <a:endParaRPr lang="en-US" sz="1400" dirty="0"/>
          </a:p>
        </p:txBody>
      </p:sp>
      <p:sp>
        <p:nvSpPr>
          <p:cNvPr id="34" name="Shape 32"/>
          <p:cNvSpPr/>
          <p:nvPr/>
        </p:nvSpPr>
        <p:spPr>
          <a:xfrm>
            <a:off x="1371600" y="5040957"/>
            <a:ext cx="10058400" cy="501614"/>
          </a:xfrm>
          <a:prstGeom prst="roundRect">
            <a:avLst>
              <a:gd name="adj" fmla="val 14583"/>
            </a:avLst>
          </a:prstGeom>
          <a:solidFill>
            <a:srgbClr val="FFFFFF"/>
          </a:solidFill>
          <a:ln w="12700">
            <a:solidFill>
              <a:srgbClr val="C8D9DC"/>
            </a:solidFill>
            <a:prstDash val="solid"/>
          </a:ln>
        </p:spPr>
        <p:txBody>
          <a:bodyPr/>
          <a:lstStyle/>
          <a:p>
            <a:endParaRPr/>
          </a:p>
        </p:txBody>
      </p:sp>
      <p:sp>
        <p:nvSpPr>
          <p:cNvPr id="35" name="Text 33"/>
          <p:cNvSpPr txBox="1"/>
          <p:nvPr/>
        </p:nvSpPr>
        <p:spPr>
          <a:xfrm>
            <a:off x="1627632" y="5150685"/>
            <a:ext cx="1828800" cy="282158"/>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LO6</a:t>
            </a:r>
            <a:endParaRPr lang="en-US" sz="1700" dirty="0"/>
          </a:p>
        </p:txBody>
      </p:sp>
      <p:sp>
        <p:nvSpPr>
          <p:cNvPr id="36" name="Text 34"/>
          <p:cNvSpPr txBox="1"/>
          <p:nvPr/>
        </p:nvSpPr>
        <p:spPr>
          <a:xfrm>
            <a:off x="3246120" y="5150685"/>
            <a:ext cx="7818120" cy="282158"/>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Ground and cite</a:t>
            </a:r>
            <a:endParaRPr lang="en-US" sz="1600" dirty="0"/>
          </a:p>
        </p:txBody>
      </p:sp>
      <p:sp>
        <p:nvSpPr>
          <p:cNvPr id="37" name="Shape 35"/>
          <p:cNvSpPr/>
          <p:nvPr/>
        </p:nvSpPr>
        <p:spPr>
          <a:xfrm>
            <a:off x="640080" y="5734594"/>
            <a:ext cx="502920" cy="502920"/>
          </a:xfrm>
          <a:prstGeom prst="ellipse">
            <a:avLst/>
          </a:prstGeom>
          <a:solidFill>
            <a:srgbClr val="078897"/>
          </a:solidFill>
          <a:ln w="12700">
            <a:solidFill>
              <a:srgbClr val="078897"/>
            </a:solidFill>
            <a:prstDash val="solid"/>
          </a:ln>
        </p:spPr>
        <p:txBody>
          <a:bodyPr/>
          <a:lstStyle/>
          <a:p>
            <a:endParaRPr/>
          </a:p>
        </p:txBody>
      </p:sp>
      <p:sp>
        <p:nvSpPr>
          <p:cNvPr id="38" name="Text 36"/>
          <p:cNvSpPr txBox="1"/>
          <p:nvPr/>
        </p:nvSpPr>
        <p:spPr>
          <a:xfrm>
            <a:off x="640080" y="5734594"/>
            <a:ext cx="502920" cy="50292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7</a:t>
            </a:r>
            <a:endParaRPr lang="en-US" sz="1400" dirty="0"/>
          </a:p>
        </p:txBody>
      </p:sp>
      <p:sp>
        <p:nvSpPr>
          <p:cNvPr id="39" name="Shape 37"/>
          <p:cNvSpPr/>
          <p:nvPr/>
        </p:nvSpPr>
        <p:spPr>
          <a:xfrm>
            <a:off x="1371600" y="5661442"/>
            <a:ext cx="10058400" cy="501614"/>
          </a:xfrm>
          <a:prstGeom prst="roundRect">
            <a:avLst>
              <a:gd name="adj" fmla="val 14583"/>
            </a:avLst>
          </a:prstGeom>
          <a:solidFill>
            <a:srgbClr val="FFFFFF"/>
          </a:solidFill>
          <a:ln w="12700">
            <a:solidFill>
              <a:srgbClr val="C8D9DC"/>
            </a:solidFill>
            <a:prstDash val="solid"/>
          </a:ln>
        </p:spPr>
        <p:txBody>
          <a:bodyPr/>
          <a:lstStyle/>
          <a:p>
            <a:endParaRPr lang="en-US"/>
          </a:p>
        </p:txBody>
      </p:sp>
      <p:sp>
        <p:nvSpPr>
          <p:cNvPr id="40" name="Text 38"/>
          <p:cNvSpPr txBox="1"/>
          <p:nvPr/>
        </p:nvSpPr>
        <p:spPr>
          <a:xfrm>
            <a:off x="1627632" y="5771170"/>
            <a:ext cx="1828800" cy="282158"/>
          </a:xfrm>
          <a:prstGeom prst="rect">
            <a:avLst/>
          </a:prstGeom>
          <a:noFill/>
          <a:ln/>
        </p:spPr>
        <p:txBody>
          <a:bodyPr wrap="square" lIns="0" tIns="0" rIns="0" bIns="0" rtlCol="0" anchor="ctr">
            <a:normAutofit/>
          </a:bodyPr>
          <a:lstStyle/>
          <a:p>
            <a:pPr marL="0" indent="0" algn="l">
              <a:buNone/>
            </a:pPr>
            <a:r>
              <a:rPr lang="en-US" sz="1700" b="1" dirty="0">
                <a:solidFill>
                  <a:srgbClr val="078897"/>
                </a:solidFill>
                <a:latin typeface="Aptos" pitchFamily="34" charset="0"/>
                <a:ea typeface="Aptos" pitchFamily="34" charset="-122"/>
                <a:cs typeface="Aptos" pitchFamily="34" charset="-120"/>
              </a:rPr>
              <a:t>LO7</a:t>
            </a:r>
            <a:endParaRPr lang="en-US" sz="1700" dirty="0"/>
          </a:p>
        </p:txBody>
      </p:sp>
      <p:sp>
        <p:nvSpPr>
          <p:cNvPr id="41" name="Text 39"/>
          <p:cNvSpPr txBox="1"/>
          <p:nvPr/>
        </p:nvSpPr>
        <p:spPr>
          <a:xfrm>
            <a:off x="3246120" y="5771170"/>
            <a:ext cx="7818120" cy="282158"/>
          </a:xfrm>
          <a:prstGeom prst="rect">
            <a:avLst/>
          </a:prstGeom>
          <a:noFill/>
          <a:ln/>
        </p:spPr>
        <p:txBody>
          <a:bodyPr wrap="square" lIns="0" tIns="0" rIns="0" bIns="0" rtlCol="0" anchor="ctr">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Complete security review</a:t>
            </a:r>
            <a:endParaRPr lang="en-US" sz="1600" dirty="0"/>
          </a:p>
        </p:txBody>
      </p:sp>
      <p:sp>
        <p:nvSpPr>
          <p:cNvPr id="42" name="Text 4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4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162</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CLOSING</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Where productivity improves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The largest gains come from repeatable preparation work</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057400"/>
            <a:ext cx="1989734" cy="3959352"/>
          </a:xfrm>
          <a:prstGeom prst="roundRect">
            <a:avLst>
              <a:gd name="adj" fmla="val 3676"/>
            </a:avLst>
          </a:prstGeom>
          <a:solidFill>
            <a:srgbClr val="FFFFFF"/>
          </a:solidFill>
          <a:ln w="12700">
            <a:solidFill>
              <a:srgbClr val="C8D9DC"/>
            </a:solidFill>
            <a:prstDash val="solid"/>
          </a:ln>
        </p:spPr>
        <p:txBody>
          <a:bodyPr/>
          <a:lstStyle/>
          <a:p>
            <a:endParaRPr lang="en-US"/>
          </a:p>
        </p:txBody>
      </p:sp>
      <p:sp>
        <p:nvSpPr>
          <p:cNvPr id="8" name="Shape 6"/>
          <p:cNvSpPr/>
          <p:nvPr/>
        </p:nvSpPr>
        <p:spPr>
          <a:xfrm>
            <a:off x="566928" y="2057400"/>
            <a:ext cx="1989734" cy="109728"/>
          </a:xfrm>
          <a:prstGeom prst="rect">
            <a:avLst/>
          </a:prstGeom>
          <a:solidFill>
            <a:srgbClr val="078897"/>
          </a:solidFill>
          <a:ln w="12700">
            <a:solidFill>
              <a:srgbClr val="078897"/>
            </a:solidFill>
            <a:prstDash val="solid"/>
          </a:ln>
        </p:spPr>
        <p:txBody>
          <a:bodyPr/>
          <a:lstStyle/>
          <a:p>
            <a:endParaRPr lang="en-US"/>
          </a:p>
        </p:txBody>
      </p:sp>
      <p:sp>
        <p:nvSpPr>
          <p:cNvPr id="9" name="Text 7"/>
          <p:cNvSpPr txBox="1"/>
          <p:nvPr/>
        </p:nvSpPr>
        <p:spPr>
          <a:xfrm>
            <a:off x="822960" y="2395728"/>
            <a:ext cx="1477670"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Documents</a:t>
            </a:r>
            <a:endParaRPr lang="en-US" sz="1700" dirty="0"/>
          </a:p>
        </p:txBody>
      </p:sp>
      <p:sp>
        <p:nvSpPr>
          <p:cNvPr id="10" name="Text 8"/>
          <p:cNvSpPr txBox="1"/>
          <p:nvPr/>
        </p:nvSpPr>
        <p:spPr>
          <a:xfrm>
            <a:off x="859536" y="3246120"/>
            <a:ext cx="1404518"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Faster first drafts</a:t>
            </a:r>
            <a:endParaRPr lang="en-US" sz="1400" dirty="0"/>
          </a:p>
        </p:txBody>
      </p:sp>
      <p:sp>
        <p:nvSpPr>
          <p:cNvPr id="11" name="Shape 9"/>
          <p:cNvSpPr/>
          <p:nvPr/>
        </p:nvSpPr>
        <p:spPr>
          <a:xfrm>
            <a:off x="2812694" y="2057400"/>
            <a:ext cx="1989734" cy="3959352"/>
          </a:xfrm>
          <a:prstGeom prst="roundRect">
            <a:avLst>
              <a:gd name="adj" fmla="val 3676"/>
            </a:avLst>
          </a:prstGeom>
          <a:solidFill>
            <a:srgbClr val="FFFFFF"/>
          </a:solidFill>
          <a:ln w="12700">
            <a:solidFill>
              <a:srgbClr val="C8D9DC"/>
            </a:solidFill>
            <a:prstDash val="solid"/>
          </a:ln>
        </p:spPr>
        <p:txBody>
          <a:bodyPr/>
          <a:lstStyle/>
          <a:p>
            <a:endParaRPr lang="en-US"/>
          </a:p>
        </p:txBody>
      </p:sp>
      <p:sp>
        <p:nvSpPr>
          <p:cNvPr id="12" name="Shape 10"/>
          <p:cNvSpPr/>
          <p:nvPr/>
        </p:nvSpPr>
        <p:spPr>
          <a:xfrm>
            <a:off x="2812694" y="2057400"/>
            <a:ext cx="1989734" cy="109728"/>
          </a:xfrm>
          <a:prstGeom prst="rect">
            <a:avLst/>
          </a:prstGeom>
          <a:solidFill>
            <a:srgbClr val="2477B3"/>
          </a:solidFill>
          <a:ln w="12700">
            <a:solidFill>
              <a:srgbClr val="2477B3"/>
            </a:solidFill>
            <a:prstDash val="solid"/>
          </a:ln>
        </p:spPr>
        <p:txBody>
          <a:bodyPr/>
          <a:lstStyle/>
          <a:p>
            <a:endParaRPr lang="en-US"/>
          </a:p>
        </p:txBody>
      </p:sp>
      <p:sp>
        <p:nvSpPr>
          <p:cNvPr id="13" name="Text 11"/>
          <p:cNvSpPr txBox="1"/>
          <p:nvPr/>
        </p:nvSpPr>
        <p:spPr>
          <a:xfrm>
            <a:off x="3068726" y="2395728"/>
            <a:ext cx="1477670" cy="502920"/>
          </a:xfrm>
          <a:prstGeom prst="rect">
            <a:avLst/>
          </a:prstGeom>
          <a:noFill/>
          <a:ln/>
        </p:spPr>
        <p:txBody>
          <a:bodyPr wrap="square" lIns="0" tIns="0" rIns="0" bIns="0" rtlCol="0" anchor="ctr">
            <a:normAutofit/>
          </a:bodyPr>
          <a:lstStyle/>
          <a:p>
            <a:pPr marL="0" indent="0" algn="ctr">
              <a:buNone/>
            </a:pPr>
            <a:r>
              <a:rPr lang="en-US" sz="1700" b="1" dirty="0">
                <a:solidFill>
                  <a:srgbClr val="2477B3"/>
                </a:solidFill>
                <a:latin typeface="Aptos" pitchFamily="34" charset="0"/>
                <a:ea typeface="Aptos" pitchFamily="34" charset="-122"/>
                <a:cs typeface="Aptos" pitchFamily="34" charset="-120"/>
              </a:rPr>
              <a:t>Data</a:t>
            </a:r>
            <a:endParaRPr lang="en-US" sz="1700" dirty="0"/>
          </a:p>
        </p:txBody>
      </p:sp>
      <p:sp>
        <p:nvSpPr>
          <p:cNvPr id="14" name="Text 12"/>
          <p:cNvSpPr txBox="1"/>
          <p:nvPr/>
        </p:nvSpPr>
        <p:spPr>
          <a:xfrm>
            <a:off x="3105302" y="3246120"/>
            <a:ext cx="1404518"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Faster formulas and charts</a:t>
            </a:r>
            <a:endParaRPr lang="en-US" sz="1400" dirty="0"/>
          </a:p>
        </p:txBody>
      </p:sp>
      <p:sp>
        <p:nvSpPr>
          <p:cNvPr id="15" name="Shape 13"/>
          <p:cNvSpPr/>
          <p:nvPr/>
        </p:nvSpPr>
        <p:spPr>
          <a:xfrm>
            <a:off x="5058461" y="2057400"/>
            <a:ext cx="1989734" cy="3959352"/>
          </a:xfrm>
          <a:prstGeom prst="roundRect">
            <a:avLst>
              <a:gd name="adj" fmla="val 3676"/>
            </a:avLst>
          </a:prstGeom>
          <a:solidFill>
            <a:srgbClr val="FFFFFF"/>
          </a:solidFill>
          <a:ln w="12700">
            <a:solidFill>
              <a:srgbClr val="C8D9DC"/>
            </a:solidFill>
            <a:prstDash val="solid"/>
          </a:ln>
        </p:spPr>
        <p:txBody>
          <a:bodyPr/>
          <a:lstStyle/>
          <a:p>
            <a:endParaRPr lang="en-US"/>
          </a:p>
        </p:txBody>
      </p:sp>
      <p:sp>
        <p:nvSpPr>
          <p:cNvPr id="16" name="Shape 14"/>
          <p:cNvSpPr/>
          <p:nvPr/>
        </p:nvSpPr>
        <p:spPr>
          <a:xfrm>
            <a:off x="5058461" y="2057400"/>
            <a:ext cx="1989734" cy="109728"/>
          </a:xfrm>
          <a:prstGeom prst="rect">
            <a:avLst/>
          </a:prstGeom>
          <a:solidFill>
            <a:srgbClr val="F4A62A"/>
          </a:solidFill>
          <a:ln w="12700">
            <a:solidFill>
              <a:srgbClr val="F4A62A"/>
            </a:solidFill>
            <a:prstDash val="solid"/>
          </a:ln>
        </p:spPr>
        <p:txBody>
          <a:bodyPr/>
          <a:lstStyle/>
          <a:p>
            <a:endParaRPr lang="en-US"/>
          </a:p>
        </p:txBody>
      </p:sp>
      <p:sp>
        <p:nvSpPr>
          <p:cNvPr id="17" name="Text 15"/>
          <p:cNvSpPr txBox="1"/>
          <p:nvPr/>
        </p:nvSpPr>
        <p:spPr>
          <a:xfrm>
            <a:off x="5314493" y="2395728"/>
            <a:ext cx="1477670" cy="502920"/>
          </a:xfrm>
          <a:prstGeom prst="rect">
            <a:avLst/>
          </a:prstGeom>
          <a:noFill/>
          <a:ln/>
        </p:spPr>
        <p:txBody>
          <a:bodyPr wrap="square" lIns="0" tIns="0" rIns="0" bIns="0" rtlCol="0" anchor="ctr">
            <a:normAutofit/>
          </a:bodyPr>
          <a:lstStyle/>
          <a:p>
            <a:pPr marL="0" indent="0" algn="ctr">
              <a:buNone/>
            </a:pPr>
            <a:r>
              <a:rPr lang="en-US" sz="1700" b="1" dirty="0">
                <a:solidFill>
                  <a:srgbClr val="F4A62A"/>
                </a:solidFill>
                <a:latin typeface="Aptos" pitchFamily="34" charset="0"/>
                <a:ea typeface="Aptos" pitchFamily="34" charset="-122"/>
                <a:cs typeface="Aptos" pitchFamily="34" charset="-120"/>
              </a:rPr>
              <a:t>Research</a:t>
            </a:r>
            <a:endParaRPr lang="en-US" sz="1700" dirty="0"/>
          </a:p>
        </p:txBody>
      </p:sp>
      <p:sp>
        <p:nvSpPr>
          <p:cNvPr id="18" name="Text 16"/>
          <p:cNvSpPr txBox="1"/>
          <p:nvPr/>
        </p:nvSpPr>
        <p:spPr>
          <a:xfrm>
            <a:off x="5351069" y="3246120"/>
            <a:ext cx="1404518"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Faster evidence comparison</a:t>
            </a:r>
            <a:endParaRPr lang="en-US" sz="1400" dirty="0"/>
          </a:p>
        </p:txBody>
      </p:sp>
      <p:sp>
        <p:nvSpPr>
          <p:cNvPr id="19" name="Shape 17"/>
          <p:cNvSpPr/>
          <p:nvPr/>
        </p:nvSpPr>
        <p:spPr>
          <a:xfrm>
            <a:off x="7304227" y="2057400"/>
            <a:ext cx="1989734" cy="3959352"/>
          </a:xfrm>
          <a:prstGeom prst="roundRect">
            <a:avLst>
              <a:gd name="adj" fmla="val 3676"/>
            </a:avLst>
          </a:prstGeom>
          <a:solidFill>
            <a:srgbClr val="FFFFFF"/>
          </a:solidFill>
          <a:ln w="12700">
            <a:solidFill>
              <a:srgbClr val="C8D9DC"/>
            </a:solidFill>
            <a:prstDash val="solid"/>
          </a:ln>
        </p:spPr>
        <p:txBody>
          <a:bodyPr/>
          <a:lstStyle/>
          <a:p>
            <a:endParaRPr lang="en-US"/>
          </a:p>
        </p:txBody>
      </p:sp>
      <p:sp>
        <p:nvSpPr>
          <p:cNvPr id="20" name="Shape 18"/>
          <p:cNvSpPr/>
          <p:nvPr/>
        </p:nvSpPr>
        <p:spPr>
          <a:xfrm>
            <a:off x="7304227" y="2057400"/>
            <a:ext cx="1989734" cy="109728"/>
          </a:xfrm>
          <a:prstGeom prst="rect">
            <a:avLst/>
          </a:prstGeom>
          <a:solidFill>
            <a:srgbClr val="2E8B72"/>
          </a:solidFill>
          <a:ln w="12700">
            <a:solidFill>
              <a:srgbClr val="2E8B72"/>
            </a:solidFill>
            <a:prstDash val="solid"/>
          </a:ln>
        </p:spPr>
        <p:txBody>
          <a:bodyPr/>
          <a:lstStyle/>
          <a:p>
            <a:endParaRPr lang="en-US"/>
          </a:p>
        </p:txBody>
      </p:sp>
      <p:sp>
        <p:nvSpPr>
          <p:cNvPr id="21" name="Text 19"/>
          <p:cNvSpPr txBox="1"/>
          <p:nvPr/>
        </p:nvSpPr>
        <p:spPr>
          <a:xfrm>
            <a:off x="7560259" y="2395728"/>
            <a:ext cx="1477670" cy="502920"/>
          </a:xfrm>
          <a:prstGeom prst="rect">
            <a:avLst/>
          </a:prstGeom>
          <a:noFill/>
          <a:ln/>
        </p:spPr>
        <p:txBody>
          <a:bodyPr wrap="square" lIns="0" tIns="0" rIns="0" bIns="0" rtlCol="0" anchor="ctr">
            <a:normAutofit/>
          </a:bodyPr>
          <a:lstStyle/>
          <a:p>
            <a:pPr marL="0" indent="0" algn="ctr">
              <a:buNone/>
            </a:pPr>
            <a:r>
              <a:rPr lang="en-US" sz="1700" b="1" dirty="0">
                <a:solidFill>
                  <a:srgbClr val="2E8B72"/>
                </a:solidFill>
                <a:latin typeface="Aptos" pitchFamily="34" charset="0"/>
                <a:ea typeface="Aptos" pitchFamily="34" charset="-122"/>
                <a:cs typeface="Aptos" pitchFamily="34" charset="-120"/>
              </a:rPr>
              <a:t>Reuse</a:t>
            </a:r>
            <a:endParaRPr lang="en-US" sz="1700" dirty="0"/>
          </a:p>
        </p:txBody>
      </p:sp>
      <p:sp>
        <p:nvSpPr>
          <p:cNvPr id="22" name="Text 20"/>
          <p:cNvSpPr txBox="1"/>
          <p:nvPr/>
        </p:nvSpPr>
        <p:spPr>
          <a:xfrm>
            <a:off x="7596835" y="3246120"/>
            <a:ext cx="1404518"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Faster recurring workflows</a:t>
            </a:r>
            <a:endParaRPr lang="en-US" sz="1400" dirty="0"/>
          </a:p>
        </p:txBody>
      </p:sp>
      <p:sp>
        <p:nvSpPr>
          <p:cNvPr id="23" name="Shape 21"/>
          <p:cNvSpPr/>
          <p:nvPr/>
        </p:nvSpPr>
        <p:spPr>
          <a:xfrm>
            <a:off x="9549994" y="2057400"/>
            <a:ext cx="1989734" cy="3959352"/>
          </a:xfrm>
          <a:prstGeom prst="roundRect">
            <a:avLst>
              <a:gd name="adj" fmla="val 3676"/>
            </a:avLst>
          </a:prstGeom>
          <a:solidFill>
            <a:srgbClr val="FFFFFF"/>
          </a:solidFill>
          <a:ln w="12700">
            <a:solidFill>
              <a:srgbClr val="C8D9DC"/>
            </a:solidFill>
            <a:prstDash val="solid"/>
          </a:ln>
        </p:spPr>
        <p:txBody>
          <a:bodyPr/>
          <a:lstStyle/>
          <a:p>
            <a:endParaRPr lang="en-US"/>
          </a:p>
        </p:txBody>
      </p:sp>
      <p:sp>
        <p:nvSpPr>
          <p:cNvPr id="24" name="Shape 22"/>
          <p:cNvSpPr/>
          <p:nvPr/>
        </p:nvSpPr>
        <p:spPr>
          <a:xfrm>
            <a:off x="9549994" y="2057400"/>
            <a:ext cx="1989734" cy="109728"/>
          </a:xfrm>
          <a:prstGeom prst="rect">
            <a:avLst/>
          </a:prstGeom>
          <a:solidFill>
            <a:srgbClr val="078897"/>
          </a:solidFill>
          <a:ln w="12700">
            <a:solidFill>
              <a:srgbClr val="078897"/>
            </a:solidFill>
            <a:prstDash val="solid"/>
          </a:ln>
        </p:spPr>
        <p:txBody>
          <a:bodyPr/>
          <a:lstStyle/>
          <a:p>
            <a:endParaRPr lang="en-US"/>
          </a:p>
        </p:txBody>
      </p:sp>
      <p:sp>
        <p:nvSpPr>
          <p:cNvPr id="25" name="Text 23"/>
          <p:cNvSpPr txBox="1"/>
          <p:nvPr/>
        </p:nvSpPr>
        <p:spPr>
          <a:xfrm>
            <a:off x="9806026" y="2395728"/>
            <a:ext cx="1477670" cy="502920"/>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Review</a:t>
            </a:r>
            <a:endParaRPr lang="en-US" sz="1700" dirty="0"/>
          </a:p>
        </p:txBody>
      </p:sp>
      <p:sp>
        <p:nvSpPr>
          <p:cNvPr id="26" name="Text 24"/>
          <p:cNvSpPr txBox="1"/>
          <p:nvPr/>
        </p:nvSpPr>
        <p:spPr>
          <a:xfrm>
            <a:off x="9842602" y="3246120"/>
            <a:ext cx="1404518" cy="214884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More consistent checks</a:t>
            </a:r>
            <a:endParaRPr lang="en-US" sz="14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163</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CLOSING</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6.2 · Consolidate the AI Engineering Toolkit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Keep only assets you can explain and verify</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Prompts</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RISE + E-MAP patterns</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Methods</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FMEA/DMAIC/SPC quick references</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Agents</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Instructions + test cases</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Security</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Seven-step checklist</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Next action</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One workflow to trial</a:t>
            </a:r>
            <a:endParaRPr lang="en-US" sz="1400" dirty="0"/>
          </a:p>
        </p:txBody>
      </p:sp>
      <p:sp>
        <p:nvSpPr>
          <p:cNvPr id="32" name="Text 3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3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164</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CLOSING</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Commit one next action</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Choose a small workflow with a clear owner and acceptance test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Workflow</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What repeats?</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Evidence</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Which sources?</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Output</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What deliverable?</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Check</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How will success be verified?</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Owner</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Who approves release?</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165</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2">
    <p:bg>
      <p:bgPr>
        <a:solidFill>
          <a:srgbClr val="102B3E"/>
        </a:solidFill>
        <a:effectLst/>
      </p:bgPr>
    </p:bg>
    <p:spTree>
      <p:nvGrpSpPr>
        <p:cNvPr id="1" name=""/>
        <p:cNvGrpSpPr/>
        <p:nvPr/>
      </p:nvGrpSpPr>
      <p:grpSpPr>
        <a:xfrm>
          <a:off x="0" y="0"/>
          <a:ext cx="0" cy="0"/>
          <a:chOff x="0" y="0"/>
          <a:chExt cx="0" cy="0"/>
        </a:xfrm>
      </p:grpSpPr>
      <p:pic>
        <p:nvPicPr>
          <p:cNvPr id="2" name="Image 0" descr="/Users/alfredang/Documents/Supporting Document/Tertiary Infotech/Client Projects/Client WSQ Projects/Client - IES/GenAI for Engineers/assets/pump-station.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5166360" cy="6858000"/>
          </a:xfrm>
          <a:prstGeom prst="rect">
            <a:avLst/>
          </a:prstGeom>
          <a:solidFill>
            <a:srgbClr val="102B3E">
              <a:alpha val="95000"/>
            </a:srgbClr>
          </a:solidFill>
          <a:ln w="12700">
            <a:solidFill>
              <a:srgbClr val="102B3E">
                <a:alpha val="0"/>
              </a:srgbClr>
            </a:solidFill>
            <a:prstDash val="solid"/>
          </a:ln>
        </p:spPr>
        <p:txBody>
          <a:bodyPr/>
          <a:lstStyle/>
          <a:p>
            <a:endParaRPr lang="en-US"/>
          </a:p>
        </p:txBody>
      </p:sp>
      <p:sp>
        <p:nvSpPr>
          <p:cNvPr id="4" name="Text 1"/>
          <p:cNvSpPr txBox="1"/>
          <p:nvPr/>
        </p:nvSpPr>
        <p:spPr>
          <a:xfrm>
            <a:off x="640080" y="502920"/>
            <a:ext cx="640080" cy="274320"/>
          </a:xfrm>
          <a:prstGeom prst="rect">
            <a:avLst/>
          </a:prstGeom>
          <a:noFill/>
          <a:ln/>
        </p:spPr>
        <p:txBody>
          <a:bodyPr wrap="square" lIns="0" tIns="0" rIns="0" bIns="0" rtlCol="0" anchor="ctr">
            <a:normAutofit/>
          </a:bodyPr>
          <a:lstStyle/>
          <a:p>
            <a:pPr marL="0" indent="0" algn="l">
              <a:buNone/>
            </a:pPr>
            <a:r>
              <a:rPr lang="en-US" sz="1700" b="1" dirty="0">
                <a:solidFill>
                  <a:srgbClr val="17A9B8"/>
                </a:solidFill>
                <a:latin typeface="Aptos" pitchFamily="34" charset="0"/>
                <a:ea typeface="Aptos" pitchFamily="34" charset="-122"/>
                <a:cs typeface="Aptos" pitchFamily="34" charset="-120"/>
              </a:rPr>
              <a:t>IES</a:t>
            </a:r>
            <a:endParaRPr lang="en-US" sz="1700" dirty="0"/>
          </a:p>
        </p:txBody>
      </p:sp>
      <p:sp>
        <p:nvSpPr>
          <p:cNvPr id="5" name="Text 2"/>
          <p:cNvSpPr txBox="1"/>
          <p:nvPr/>
        </p:nvSpPr>
        <p:spPr>
          <a:xfrm>
            <a:off x="658368" y="1554480"/>
            <a:ext cx="3291840" cy="320040"/>
          </a:xfrm>
          <a:prstGeom prst="rect">
            <a:avLst/>
          </a:prstGeom>
          <a:noFill/>
          <a:ln/>
        </p:spPr>
        <p:txBody>
          <a:bodyPr wrap="square" lIns="0" tIns="0" rIns="0" bIns="0" rtlCol="0" anchor="ctr">
            <a:normAutofit/>
          </a:bodyPr>
          <a:lstStyle/>
          <a:p>
            <a:pPr marL="0" indent="0" algn="l">
              <a:buNone/>
            </a:pPr>
            <a:r>
              <a:rPr lang="en-US" sz="1400" b="1" dirty="0">
                <a:solidFill>
                  <a:srgbClr val="17A9B8"/>
                </a:solidFill>
                <a:latin typeface="Aptos" pitchFamily="34" charset="0"/>
                <a:ea typeface="Aptos" pitchFamily="34" charset="-122"/>
                <a:cs typeface="Aptos" pitchFamily="34" charset="-120"/>
              </a:rPr>
              <a:t>MODULE Closing</a:t>
            </a:r>
            <a:endParaRPr lang="en-US" sz="1400" dirty="0"/>
          </a:p>
        </p:txBody>
      </p:sp>
      <p:sp>
        <p:nvSpPr>
          <p:cNvPr id="6" name="Text 3"/>
          <p:cNvSpPr txBox="1"/>
          <p:nvPr/>
        </p:nvSpPr>
        <p:spPr>
          <a:xfrm>
            <a:off x="658368" y="1993392"/>
            <a:ext cx="4069080" cy="1463040"/>
          </a:xfrm>
          <a:prstGeom prst="rect">
            <a:avLst/>
          </a:prstGeom>
          <a:noFill/>
          <a:ln/>
        </p:spPr>
        <p:txBody>
          <a:bodyPr wrap="square" lIns="0" tIns="0" rIns="0" bIns="0" rtlCol="0" anchor="ctr">
            <a:normAutofit/>
          </a:bodyPr>
          <a:lstStyle/>
          <a:p>
            <a:pPr marL="0" indent="0" algn="l">
              <a:buNone/>
            </a:pPr>
            <a:r>
              <a:rPr lang="en-US" sz="3200" b="1" dirty="0">
                <a:solidFill>
                  <a:srgbClr val="FFFFFF"/>
                </a:solidFill>
                <a:latin typeface="Aptos" pitchFamily="34" charset="0"/>
                <a:ea typeface="Aptos" pitchFamily="34" charset="-122"/>
                <a:cs typeface="Aptos" pitchFamily="34" charset="-120"/>
              </a:rPr>
              <a:t>Thank you</a:t>
            </a:r>
            <a:endParaRPr lang="en-US" sz="3200" dirty="0"/>
          </a:p>
        </p:txBody>
      </p:sp>
      <p:sp>
        <p:nvSpPr>
          <p:cNvPr id="7" name="Text 4"/>
          <p:cNvSpPr txBox="1"/>
          <p:nvPr/>
        </p:nvSpPr>
        <p:spPr>
          <a:xfrm>
            <a:off x="658368" y="3840480"/>
            <a:ext cx="3977640" cy="96012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IES · GenAI for Engineers</a:t>
            </a:r>
            <a:endParaRPr lang="en-US" sz="1700" dirty="0"/>
          </a:p>
        </p:txBody>
      </p:sp>
      <p:sp>
        <p:nvSpPr>
          <p:cNvPr id="8" name="Shape 5"/>
          <p:cNvSpPr/>
          <p:nvPr/>
        </p:nvSpPr>
        <p:spPr>
          <a:xfrm>
            <a:off x="658368" y="5102352"/>
            <a:ext cx="1234440" cy="0"/>
          </a:xfrm>
          <a:prstGeom prst="line">
            <a:avLst/>
          </a:prstGeom>
          <a:noFill/>
          <a:ln w="50800">
            <a:solidFill>
              <a:srgbClr val="17A9B8"/>
            </a:solidFill>
            <a:prstDash val="solid"/>
          </a:ln>
        </p:spPr>
        <p:txBody>
          <a:bodyPr/>
          <a:lstStyle/>
          <a:p>
            <a:endParaRPr lang="en-US"/>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166</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F05ACD0-FF4A-4F8F-B5C5-6A4EBD0D1B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C9AFA28-B5ED-4346-9AF7-68A157F16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 name="Title 1">
            <a:extLst>
              <a:ext uri="{FF2B5EF4-FFF2-40B4-BE49-F238E27FC236}">
                <a16:creationId xmlns:a16="http://schemas.microsoft.com/office/drawing/2014/main" id="{6AC9DD1D-3813-C019-6323-49578D22EECC}"/>
              </a:ext>
            </a:extLst>
          </p:cNvPr>
          <p:cNvSpPr>
            <a:spLocks noGrp="1"/>
          </p:cNvSpPr>
          <p:nvPr>
            <p:ph type="ctrTitle"/>
          </p:nvPr>
        </p:nvSpPr>
        <p:spPr>
          <a:xfrm>
            <a:off x="1472608" y="1380564"/>
            <a:ext cx="4561369" cy="2346229"/>
          </a:xfrm>
        </p:spPr>
        <p:txBody>
          <a:bodyPr vert="horz" lIns="91440" tIns="45720" rIns="91440" bIns="45720" rtlCol="0" anchor="b">
            <a:normAutofit/>
          </a:bodyPr>
          <a:lstStyle/>
          <a:p>
            <a:r>
              <a:rPr lang="en-US" sz="4000" kern="1200" dirty="0">
                <a:solidFill>
                  <a:srgbClr val="595959"/>
                </a:solidFill>
                <a:latin typeface="+mj-lt"/>
                <a:ea typeface="+mj-ea"/>
                <a:cs typeface="+mj-cs"/>
              </a:rPr>
              <a:t>Thank you for your feedback!</a:t>
            </a:r>
          </a:p>
        </p:txBody>
      </p:sp>
      <p:sp>
        <p:nvSpPr>
          <p:cNvPr id="4" name="Title 1">
            <a:extLst>
              <a:ext uri="{FF2B5EF4-FFF2-40B4-BE49-F238E27FC236}">
                <a16:creationId xmlns:a16="http://schemas.microsoft.com/office/drawing/2014/main" id="{68D9ACAA-C6A9-DDEC-6F1D-BDF1EDAB2A10}"/>
              </a:ext>
            </a:extLst>
          </p:cNvPr>
          <p:cNvSpPr txBox="1">
            <a:spLocks/>
          </p:cNvSpPr>
          <p:nvPr/>
        </p:nvSpPr>
        <p:spPr>
          <a:xfrm>
            <a:off x="1472608" y="4061345"/>
            <a:ext cx="4561369" cy="1416090"/>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1000"/>
              </a:spcBef>
            </a:pPr>
            <a:r>
              <a:rPr lang="en-US" sz="1800" b="1" u="sng" kern="1200" dirty="0">
                <a:solidFill>
                  <a:srgbClr val="595959"/>
                </a:solidFill>
                <a:latin typeface="+mn-lt"/>
                <a:ea typeface="+mn-ea"/>
                <a:cs typeface="+mn-cs"/>
              </a:rPr>
              <a:t xml:space="preserve">Generative AI for Engineers: </a:t>
            </a:r>
          </a:p>
          <a:p>
            <a:pPr>
              <a:spcBef>
                <a:spcPts val="1000"/>
              </a:spcBef>
            </a:pPr>
            <a:r>
              <a:rPr lang="en-US" sz="1800" b="1" u="sng" kern="1200" dirty="0">
                <a:solidFill>
                  <a:srgbClr val="595959"/>
                </a:solidFill>
                <a:latin typeface="+mn-lt"/>
                <a:ea typeface="+mn-ea"/>
                <a:cs typeface="+mn-cs"/>
              </a:rPr>
              <a:t>Boosting Productivity and Efficiency with Copilot and Modern AI Tools</a:t>
            </a:r>
          </a:p>
        </p:txBody>
      </p:sp>
      <p:pic>
        <p:nvPicPr>
          <p:cNvPr id="6" name="Picture 5">
            <a:extLst>
              <a:ext uri="{FF2B5EF4-FFF2-40B4-BE49-F238E27FC236}">
                <a16:creationId xmlns:a16="http://schemas.microsoft.com/office/drawing/2014/main" id="{0C4679F7-DC0F-7E7E-0B79-8AB1810007F2}"/>
              </a:ext>
            </a:extLst>
          </p:cNvPr>
          <p:cNvPicPr>
            <a:picLocks noChangeAspect="1"/>
          </p:cNvPicPr>
          <p:nvPr/>
        </p:nvPicPr>
        <p:blipFill>
          <a:blip r:embed="rId2"/>
          <a:stretch>
            <a:fillRect/>
          </a:stretch>
        </p:blipFill>
        <p:spPr>
          <a:xfrm>
            <a:off x="6253308" y="1301668"/>
            <a:ext cx="4376137" cy="4402446"/>
          </a:xfrm>
          <a:prstGeom prst="rect">
            <a:avLst/>
          </a:prstGeom>
        </p:spPr>
      </p:pic>
    </p:spTree>
    <p:extLst>
      <p:ext uri="{BB962C8B-B14F-4D97-AF65-F5344CB8AC3E}">
        <p14:creationId xmlns:p14="http://schemas.microsoft.com/office/powerpoint/2010/main" val="418941478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3">
    <p:bg>
      <p:bgPr>
        <a:solidFill>
          <a:srgbClr val="102B3E"/>
        </a:solidFill>
        <a:effectLst/>
      </p:bgPr>
    </p:bg>
    <p:spTree>
      <p:nvGrpSpPr>
        <p:cNvPr id="1" name=""/>
        <p:cNvGrpSpPr/>
        <p:nvPr/>
      </p:nvGrpSpPr>
      <p:grpSpPr>
        <a:xfrm>
          <a:off x="0" y="0"/>
          <a:ext cx="0" cy="0"/>
          <a:chOff x="0" y="0"/>
          <a:chExt cx="0" cy="0"/>
        </a:xfrm>
      </p:grpSpPr>
      <p:pic>
        <p:nvPicPr>
          <p:cNvPr id="2" name="Image 0" descr="/Users/alfredang/Documents/Supporting Document/Tertiary Infotech/Client Projects/Client WSQ Projects/Client - IES/GenAI for Engineers/assets/petroleum-facility.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5166360" cy="6858000"/>
          </a:xfrm>
          <a:prstGeom prst="rect">
            <a:avLst/>
          </a:prstGeom>
          <a:solidFill>
            <a:srgbClr val="102B3E">
              <a:alpha val="95000"/>
            </a:srgbClr>
          </a:solidFill>
          <a:ln w="12700">
            <a:solidFill>
              <a:srgbClr val="102B3E">
                <a:alpha val="0"/>
              </a:srgbClr>
            </a:solidFill>
            <a:prstDash val="solid"/>
          </a:ln>
        </p:spPr>
        <p:txBody>
          <a:bodyPr/>
          <a:lstStyle/>
          <a:p>
            <a:endParaRPr lang="en-US"/>
          </a:p>
        </p:txBody>
      </p:sp>
      <p:sp>
        <p:nvSpPr>
          <p:cNvPr id="4" name="Text 1"/>
          <p:cNvSpPr txBox="1"/>
          <p:nvPr/>
        </p:nvSpPr>
        <p:spPr>
          <a:xfrm>
            <a:off x="640080" y="502920"/>
            <a:ext cx="640080" cy="274320"/>
          </a:xfrm>
          <a:prstGeom prst="rect">
            <a:avLst/>
          </a:prstGeom>
          <a:noFill/>
          <a:ln/>
        </p:spPr>
        <p:txBody>
          <a:bodyPr wrap="square" lIns="0" tIns="0" rIns="0" bIns="0" rtlCol="0" anchor="ctr">
            <a:normAutofit/>
          </a:bodyPr>
          <a:lstStyle/>
          <a:p>
            <a:pPr marL="0" indent="0" algn="l">
              <a:buNone/>
            </a:pPr>
            <a:r>
              <a:rPr lang="en-US" sz="1700" b="1" dirty="0">
                <a:solidFill>
                  <a:srgbClr val="17A9B8"/>
                </a:solidFill>
                <a:latin typeface="Aptos" pitchFamily="34" charset="0"/>
                <a:ea typeface="Aptos" pitchFamily="34" charset="-122"/>
                <a:cs typeface="Aptos" pitchFamily="34" charset="-120"/>
              </a:rPr>
              <a:t>IES</a:t>
            </a:r>
            <a:endParaRPr lang="en-US" sz="1700" dirty="0"/>
          </a:p>
        </p:txBody>
      </p:sp>
      <p:sp>
        <p:nvSpPr>
          <p:cNvPr id="5" name="Text 2"/>
          <p:cNvSpPr txBox="1"/>
          <p:nvPr/>
        </p:nvSpPr>
        <p:spPr>
          <a:xfrm>
            <a:off x="658368" y="1554480"/>
            <a:ext cx="3291840" cy="320040"/>
          </a:xfrm>
          <a:prstGeom prst="rect">
            <a:avLst/>
          </a:prstGeom>
          <a:noFill/>
          <a:ln/>
        </p:spPr>
        <p:txBody>
          <a:bodyPr wrap="square" lIns="0" tIns="0" rIns="0" bIns="0" rtlCol="0" anchor="ctr">
            <a:normAutofit/>
          </a:bodyPr>
          <a:lstStyle/>
          <a:p>
            <a:pPr marL="0" indent="0" algn="l">
              <a:buNone/>
            </a:pPr>
            <a:r>
              <a:rPr lang="en-US" sz="1400" b="1" dirty="0">
                <a:solidFill>
                  <a:srgbClr val="17A9B8"/>
                </a:solidFill>
                <a:latin typeface="Aptos" pitchFamily="34" charset="0"/>
                <a:ea typeface="Aptos" pitchFamily="34" charset="-122"/>
                <a:cs typeface="Aptos" pitchFamily="34" charset="-120"/>
              </a:rPr>
              <a:t>MODULE REFERENCE</a:t>
            </a:r>
            <a:endParaRPr lang="en-US" sz="1400" dirty="0"/>
          </a:p>
        </p:txBody>
      </p:sp>
      <p:sp>
        <p:nvSpPr>
          <p:cNvPr id="6" name="Text 3"/>
          <p:cNvSpPr txBox="1"/>
          <p:nvPr/>
        </p:nvSpPr>
        <p:spPr>
          <a:xfrm>
            <a:off x="658368" y="1993392"/>
            <a:ext cx="4069080" cy="1463040"/>
          </a:xfrm>
          <a:prstGeom prst="rect">
            <a:avLst/>
          </a:prstGeom>
          <a:noFill/>
          <a:ln/>
        </p:spPr>
        <p:txBody>
          <a:bodyPr wrap="square" lIns="0" tIns="0" rIns="0" bIns="0" rtlCol="0" anchor="ctr">
            <a:normAutofit/>
          </a:bodyPr>
          <a:lstStyle/>
          <a:p>
            <a:pPr marL="0" indent="0" algn="l">
              <a:buNone/>
            </a:pPr>
            <a:r>
              <a:rPr lang="en-US" sz="3200" b="1" dirty="0">
                <a:solidFill>
                  <a:srgbClr val="FFFFFF"/>
                </a:solidFill>
                <a:latin typeface="Aptos" pitchFamily="34" charset="0"/>
                <a:ea typeface="Aptos" pitchFamily="34" charset="-122"/>
                <a:cs typeface="Aptos" pitchFamily="34" charset="-120"/>
              </a:rPr>
              <a:t>Quick-reference library</a:t>
            </a:r>
            <a:endParaRPr lang="en-US" sz="3200" dirty="0"/>
          </a:p>
        </p:txBody>
      </p:sp>
      <p:sp>
        <p:nvSpPr>
          <p:cNvPr id="7" name="Text 4"/>
          <p:cNvSpPr txBox="1"/>
          <p:nvPr/>
        </p:nvSpPr>
        <p:spPr>
          <a:xfrm>
            <a:off x="658368" y="3840480"/>
            <a:ext cx="3977640" cy="96012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Optional support after class</a:t>
            </a:r>
            <a:endParaRPr lang="en-US" sz="1700" dirty="0"/>
          </a:p>
        </p:txBody>
      </p:sp>
      <p:sp>
        <p:nvSpPr>
          <p:cNvPr id="8" name="Shape 5"/>
          <p:cNvSpPr/>
          <p:nvPr/>
        </p:nvSpPr>
        <p:spPr>
          <a:xfrm>
            <a:off x="658368" y="5102352"/>
            <a:ext cx="1234440" cy="0"/>
          </a:xfrm>
          <a:prstGeom prst="line">
            <a:avLst/>
          </a:prstGeom>
          <a:noFill/>
          <a:ln w="50800">
            <a:solidFill>
              <a:srgbClr val="17A9B8"/>
            </a:solidFill>
            <a:prstDash val="solid"/>
          </a:ln>
        </p:spPr>
        <p:txBody>
          <a:bodyPr/>
          <a:lstStyle/>
          <a:p>
            <a:endParaRPr lang="en-US"/>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168</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FMEA quick reference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Purpose, fields, calculation and action</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Use</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Anticipate potential failures</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Fields</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Function → mode → effect → cause → control</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Priority</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S × O × D = RPN</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Act</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Owner, date, evidence, residual risk</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169</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FMEA rating questions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Check the basis behind each score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Severity</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Consequence under defined conditions</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Occurrence</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Frequency/likelihood from agreed evidence</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Detection</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Poor detectability: higher D means current controls are less likely to detect it.</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Rule</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Document scale and rationale</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170</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FMEA worked check</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Two rows illustrate arithmetic and severity gate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103120"/>
            <a:ext cx="914400" cy="475488"/>
          </a:xfrm>
          <a:prstGeom prst="rect">
            <a:avLst/>
          </a:prstGeom>
          <a:solidFill>
            <a:srgbClr val="078897"/>
          </a:solidFill>
          <a:ln w="12700">
            <a:solidFill>
              <a:srgbClr val="FFFFFF"/>
            </a:solidFill>
            <a:prstDash val="solid"/>
          </a:ln>
        </p:spPr>
        <p:txBody>
          <a:bodyPr/>
          <a:lstStyle/>
          <a:p>
            <a:endParaRPr lang="en-US"/>
          </a:p>
        </p:txBody>
      </p:sp>
      <p:sp>
        <p:nvSpPr>
          <p:cNvPr id="8" name="Text 6"/>
          <p:cNvSpPr txBox="1"/>
          <p:nvPr/>
        </p:nvSpPr>
        <p:spPr>
          <a:xfrm>
            <a:off x="566928" y="2103120"/>
            <a:ext cx="914400" cy="47548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ID</a:t>
            </a:r>
            <a:endParaRPr lang="en-US" sz="1300" dirty="0"/>
          </a:p>
        </p:txBody>
      </p:sp>
      <p:sp>
        <p:nvSpPr>
          <p:cNvPr id="9" name="Shape 7"/>
          <p:cNvSpPr/>
          <p:nvPr/>
        </p:nvSpPr>
        <p:spPr>
          <a:xfrm>
            <a:off x="1481328" y="2103120"/>
            <a:ext cx="2834640" cy="475488"/>
          </a:xfrm>
          <a:prstGeom prst="rect">
            <a:avLst/>
          </a:prstGeom>
          <a:solidFill>
            <a:srgbClr val="078897"/>
          </a:solidFill>
          <a:ln w="12700">
            <a:solidFill>
              <a:srgbClr val="FFFFFF"/>
            </a:solidFill>
            <a:prstDash val="solid"/>
          </a:ln>
        </p:spPr>
        <p:txBody>
          <a:bodyPr/>
          <a:lstStyle/>
          <a:p>
            <a:endParaRPr lang="en-US"/>
          </a:p>
        </p:txBody>
      </p:sp>
      <p:sp>
        <p:nvSpPr>
          <p:cNvPr id="10" name="Text 8"/>
          <p:cNvSpPr txBox="1"/>
          <p:nvPr/>
        </p:nvSpPr>
        <p:spPr>
          <a:xfrm>
            <a:off x="1481328" y="2103120"/>
            <a:ext cx="2834640" cy="47548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Failure mode</a:t>
            </a:r>
            <a:endParaRPr lang="en-US" sz="1300" dirty="0"/>
          </a:p>
        </p:txBody>
      </p:sp>
      <p:sp>
        <p:nvSpPr>
          <p:cNvPr id="11" name="Shape 9"/>
          <p:cNvSpPr/>
          <p:nvPr/>
        </p:nvSpPr>
        <p:spPr>
          <a:xfrm>
            <a:off x="4315968" y="2103120"/>
            <a:ext cx="658368" cy="475488"/>
          </a:xfrm>
          <a:prstGeom prst="rect">
            <a:avLst/>
          </a:prstGeom>
          <a:solidFill>
            <a:srgbClr val="078897"/>
          </a:solidFill>
          <a:ln w="12700">
            <a:solidFill>
              <a:srgbClr val="FFFFFF"/>
            </a:solidFill>
            <a:prstDash val="solid"/>
          </a:ln>
        </p:spPr>
        <p:txBody>
          <a:bodyPr/>
          <a:lstStyle/>
          <a:p>
            <a:endParaRPr lang="en-US"/>
          </a:p>
        </p:txBody>
      </p:sp>
      <p:sp>
        <p:nvSpPr>
          <p:cNvPr id="12" name="Text 10"/>
          <p:cNvSpPr txBox="1"/>
          <p:nvPr/>
        </p:nvSpPr>
        <p:spPr>
          <a:xfrm>
            <a:off x="4315968" y="2103120"/>
            <a:ext cx="658368" cy="47548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S</a:t>
            </a:r>
            <a:endParaRPr lang="en-US" sz="1300" dirty="0"/>
          </a:p>
        </p:txBody>
      </p:sp>
      <p:sp>
        <p:nvSpPr>
          <p:cNvPr id="13" name="Shape 11"/>
          <p:cNvSpPr/>
          <p:nvPr/>
        </p:nvSpPr>
        <p:spPr>
          <a:xfrm>
            <a:off x="4974336" y="2103120"/>
            <a:ext cx="658368" cy="475488"/>
          </a:xfrm>
          <a:prstGeom prst="rect">
            <a:avLst/>
          </a:prstGeom>
          <a:solidFill>
            <a:srgbClr val="078897"/>
          </a:solidFill>
          <a:ln w="12700">
            <a:solidFill>
              <a:srgbClr val="FFFFFF"/>
            </a:solidFill>
            <a:prstDash val="solid"/>
          </a:ln>
        </p:spPr>
        <p:txBody>
          <a:bodyPr/>
          <a:lstStyle/>
          <a:p>
            <a:endParaRPr lang="en-US"/>
          </a:p>
        </p:txBody>
      </p:sp>
      <p:sp>
        <p:nvSpPr>
          <p:cNvPr id="14" name="Text 12"/>
          <p:cNvSpPr txBox="1"/>
          <p:nvPr/>
        </p:nvSpPr>
        <p:spPr>
          <a:xfrm>
            <a:off x="4974336" y="2103120"/>
            <a:ext cx="658368" cy="47548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O</a:t>
            </a:r>
            <a:endParaRPr lang="en-US" sz="1300" dirty="0"/>
          </a:p>
        </p:txBody>
      </p:sp>
      <p:sp>
        <p:nvSpPr>
          <p:cNvPr id="15" name="Shape 13"/>
          <p:cNvSpPr/>
          <p:nvPr/>
        </p:nvSpPr>
        <p:spPr>
          <a:xfrm>
            <a:off x="5632704" y="2103120"/>
            <a:ext cx="658368" cy="475488"/>
          </a:xfrm>
          <a:prstGeom prst="rect">
            <a:avLst/>
          </a:prstGeom>
          <a:solidFill>
            <a:srgbClr val="078897"/>
          </a:solidFill>
          <a:ln w="12700">
            <a:solidFill>
              <a:srgbClr val="FFFFFF"/>
            </a:solidFill>
            <a:prstDash val="solid"/>
          </a:ln>
        </p:spPr>
        <p:txBody>
          <a:bodyPr/>
          <a:lstStyle/>
          <a:p>
            <a:endParaRPr lang="en-US"/>
          </a:p>
        </p:txBody>
      </p:sp>
      <p:sp>
        <p:nvSpPr>
          <p:cNvPr id="16" name="Text 14"/>
          <p:cNvSpPr txBox="1"/>
          <p:nvPr/>
        </p:nvSpPr>
        <p:spPr>
          <a:xfrm>
            <a:off x="5632704" y="2103120"/>
            <a:ext cx="658368" cy="47548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D</a:t>
            </a:r>
            <a:endParaRPr lang="en-US" sz="1300" dirty="0"/>
          </a:p>
        </p:txBody>
      </p:sp>
      <p:sp>
        <p:nvSpPr>
          <p:cNvPr id="17" name="Shape 15"/>
          <p:cNvSpPr/>
          <p:nvPr/>
        </p:nvSpPr>
        <p:spPr>
          <a:xfrm>
            <a:off x="6291072" y="2103120"/>
            <a:ext cx="914400" cy="475488"/>
          </a:xfrm>
          <a:prstGeom prst="rect">
            <a:avLst/>
          </a:prstGeom>
          <a:solidFill>
            <a:srgbClr val="078897"/>
          </a:solidFill>
          <a:ln w="12700">
            <a:solidFill>
              <a:srgbClr val="FFFFFF"/>
            </a:solidFill>
            <a:prstDash val="solid"/>
          </a:ln>
        </p:spPr>
        <p:txBody>
          <a:bodyPr/>
          <a:lstStyle/>
          <a:p>
            <a:endParaRPr lang="en-US"/>
          </a:p>
        </p:txBody>
      </p:sp>
      <p:sp>
        <p:nvSpPr>
          <p:cNvPr id="18" name="Text 16"/>
          <p:cNvSpPr txBox="1"/>
          <p:nvPr/>
        </p:nvSpPr>
        <p:spPr>
          <a:xfrm>
            <a:off x="6291072" y="2103120"/>
            <a:ext cx="914400" cy="47548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RPN</a:t>
            </a:r>
            <a:endParaRPr lang="en-US" sz="1300" dirty="0"/>
          </a:p>
        </p:txBody>
      </p:sp>
      <p:sp>
        <p:nvSpPr>
          <p:cNvPr id="19" name="Shape 17"/>
          <p:cNvSpPr/>
          <p:nvPr/>
        </p:nvSpPr>
        <p:spPr>
          <a:xfrm>
            <a:off x="566928" y="2578608"/>
            <a:ext cx="914400" cy="612648"/>
          </a:xfrm>
          <a:prstGeom prst="rect">
            <a:avLst/>
          </a:prstGeom>
          <a:solidFill>
            <a:srgbClr val="FFFFFF"/>
          </a:solidFill>
          <a:ln w="8890">
            <a:solidFill>
              <a:srgbClr val="C8D9DC"/>
            </a:solidFill>
            <a:prstDash val="solid"/>
          </a:ln>
        </p:spPr>
        <p:txBody>
          <a:bodyPr/>
          <a:lstStyle/>
          <a:p>
            <a:endParaRPr lang="en-US"/>
          </a:p>
        </p:txBody>
      </p:sp>
      <p:sp>
        <p:nvSpPr>
          <p:cNvPr id="20" name="Text 18"/>
          <p:cNvSpPr txBox="1"/>
          <p:nvPr/>
        </p:nvSpPr>
        <p:spPr>
          <a:xfrm>
            <a:off x="612648" y="2624328"/>
            <a:ext cx="822960"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FM01</a:t>
            </a:r>
            <a:endParaRPr lang="en-US" sz="1500" dirty="0"/>
          </a:p>
        </p:txBody>
      </p:sp>
      <p:sp>
        <p:nvSpPr>
          <p:cNvPr id="21" name="Shape 19"/>
          <p:cNvSpPr/>
          <p:nvPr/>
        </p:nvSpPr>
        <p:spPr>
          <a:xfrm>
            <a:off x="1481328" y="2578608"/>
            <a:ext cx="2834640" cy="612648"/>
          </a:xfrm>
          <a:prstGeom prst="rect">
            <a:avLst/>
          </a:prstGeom>
          <a:solidFill>
            <a:srgbClr val="FFFFFF"/>
          </a:solidFill>
          <a:ln w="8890">
            <a:solidFill>
              <a:srgbClr val="C8D9DC"/>
            </a:solidFill>
            <a:prstDash val="solid"/>
          </a:ln>
        </p:spPr>
        <p:txBody>
          <a:bodyPr/>
          <a:lstStyle/>
          <a:p>
            <a:endParaRPr lang="en-US"/>
          </a:p>
        </p:txBody>
      </p:sp>
      <p:sp>
        <p:nvSpPr>
          <p:cNvPr id="22" name="Text 20"/>
          <p:cNvSpPr txBox="1"/>
          <p:nvPr/>
        </p:nvSpPr>
        <p:spPr>
          <a:xfrm>
            <a:off x="1527048" y="2624328"/>
            <a:ext cx="2743200" cy="52120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Low delivery</a:t>
            </a:r>
            <a:endParaRPr lang="en-US" sz="1400" dirty="0"/>
          </a:p>
        </p:txBody>
      </p:sp>
      <p:sp>
        <p:nvSpPr>
          <p:cNvPr id="23" name="Shape 21"/>
          <p:cNvSpPr/>
          <p:nvPr/>
        </p:nvSpPr>
        <p:spPr>
          <a:xfrm>
            <a:off x="4315968" y="2578608"/>
            <a:ext cx="658368" cy="612648"/>
          </a:xfrm>
          <a:prstGeom prst="rect">
            <a:avLst/>
          </a:prstGeom>
          <a:solidFill>
            <a:srgbClr val="FFFFFF"/>
          </a:solidFill>
          <a:ln w="8890">
            <a:solidFill>
              <a:srgbClr val="C8D9DC"/>
            </a:solidFill>
            <a:prstDash val="solid"/>
          </a:ln>
        </p:spPr>
        <p:txBody>
          <a:bodyPr/>
          <a:lstStyle/>
          <a:p>
            <a:endParaRPr lang="en-US"/>
          </a:p>
        </p:txBody>
      </p:sp>
      <p:sp>
        <p:nvSpPr>
          <p:cNvPr id="24" name="Text 22"/>
          <p:cNvSpPr txBox="1"/>
          <p:nvPr/>
        </p:nvSpPr>
        <p:spPr>
          <a:xfrm>
            <a:off x="4361688" y="2624328"/>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7</a:t>
            </a:r>
            <a:endParaRPr lang="en-US" sz="1500" dirty="0"/>
          </a:p>
        </p:txBody>
      </p:sp>
      <p:sp>
        <p:nvSpPr>
          <p:cNvPr id="25" name="Shape 23"/>
          <p:cNvSpPr/>
          <p:nvPr/>
        </p:nvSpPr>
        <p:spPr>
          <a:xfrm>
            <a:off x="4974336" y="2578608"/>
            <a:ext cx="658368" cy="612648"/>
          </a:xfrm>
          <a:prstGeom prst="rect">
            <a:avLst/>
          </a:prstGeom>
          <a:solidFill>
            <a:srgbClr val="FFFFFF"/>
          </a:solidFill>
          <a:ln w="8890">
            <a:solidFill>
              <a:srgbClr val="C8D9DC"/>
            </a:solidFill>
            <a:prstDash val="solid"/>
          </a:ln>
        </p:spPr>
        <p:txBody>
          <a:bodyPr/>
          <a:lstStyle/>
          <a:p>
            <a:endParaRPr lang="en-US"/>
          </a:p>
        </p:txBody>
      </p:sp>
      <p:sp>
        <p:nvSpPr>
          <p:cNvPr id="26" name="Text 24"/>
          <p:cNvSpPr txBox="1"/>
          <p:nvPr/>
        </p:nvSpPr>
        <p:spPr>
          <a:xfrm>
            <a:off x="5020056" y="2624328"/>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5</a:t>
            </a:r>
            <a:endParaRPr lang="en-US" sz="1500" dirty="0"/>
          </a:p>
        </p:txBody>
      </p:sp>
      <p:sp>
        <p:nvSpPr>
          <p:cNvPr id="27" name="Shape 25"/>
          <p:cNvSpPr/>
          <p:nvPr/>
        </p:nvSpPr>
        <p:spPr>
          <a:xfrm>
            <a:off x="5632704" y="2578608"/>
            <a:ext cx="658368" cy="612648"/>
          </a:xfrm>
          <a:prstGeom prst="rect">
            <a:avLst/>
          </a:prstGeom>
          <a:solidFill>
            <a:srgbClr val="FFFFFF"/>
          </a:solidFill>
          <a:ln w="8890">
            <a:solidFill>
              <a:srgbClr val="C8D9DC"/>
            </a:solidFill>
            <a:prstDash val="solid"/>
          </a:ln>
        </p:spPr>
        <p:txBody>
          <a:bodyPr/>
          <a:lstStyle/>
          <a:p>
            <a:endParaRPr lang="en-US"/>
          </a:p>
        </p:txBody>
      </p:sp>
      <p:sp>
        <p:nvSpPr>
          <p:cNvPr id="28" name="Text 26"/>
          <p:cNvSpPr txBox="1"/>
          <p:nvPr/>
        </p:nvSpPr>
        <p:spPr>
          <a:xfrm>
            <a:off x="5678424" y="2624328"/>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4</a:t>
            </a:r>
            <a:endParaRPr lang="en-US" sz="1500" dirty="0"/>
          </a:p>
        </p:txBody>
      </p:sp>
      <p:sp>
        <p:nvSpPr>
          <p:cNvPr id="29" name="Shape 27"/>
          <p:cNvSpPr/>
          <p:nvPr/>
        </p:nvSpPr>
        <p:spPr>
          <a:xfrm>
            <a:off x="6291072" y="2578608"/>
            <a:ext cx="914400" cy="612648"/>
          </a:xfrm>
          <a:prstGeom prst="rect">
            <a:avLst/>
          </a:prstGeom>
          <a:solidFill>
            <a:srgbClr val="FFFFFF"/>
          </a:solidFill>
          <a:ln w="8890">
            <a:solidFill>
              <a:srgbClr val="C8D9DC"/>
            </a:solidFill>
            <a:prstDash val="solid"/>
          </a:ln>
        </p:spPr>
        <p:txBody>
          <a:bodyPr/>
          <a:lstStyle/>
          <a:p>
            <a:endParaRPr lang="en-US"/>
          </a:p>
        </p:txBody>
      </p:sp>
      <p:sp>
        <p:nvSpPr>
          <p:cNvPr id="30" name="Text 28"/>
          <p:cNvSpPr txBox="1"/>
          <p:nvPr/>
        </p:nvSpPr>
        <p:spPr>
          <a:xfrm>
            <a:off x="6336792" y="2624328"/>
            <a:ext cx="822960" cy="521208"/>
          </a:xfrm>
          <a:prstGeom prst="rect">
            <a:avLst/>
          </a:prstGeom>
          <a:noFill/>
          <a:ln/>
        </p:spPr>
        <p:txBody>
          <a:bodyPr wrap="square" lIns="0" tIns="0" rIns="0" bIns="0" rtlCol="0" anchor="ctr">
            <a:normAutofit/>
          </a:bodyPr>
          <a:lstStyle/>
          <a:p>
            <a:pPr marL="0" indent="0" algn="ctr">
              <a:buNone/>
            </a:pPr>
            <a:r>
              <a:rPr lang="en-US" sz="1500" b="1" dirty="0">
                <a:solidFill>
                  <a:srgbClr val="102B3E"/>
                </a:solidFill>
                <a:latin typeface="Aptos" pitchFamily="34" charset="0"/>
                <a:ea typeface="Aptos" pitchFamily="34" charset="-122"/>
                <a:cs typeface="Aptos" pitchFamily="34" charset="-120"/>
              </a:rPr>
              <a:t>140</a:t>
            </a:r>
            <a:endParaRPr lang="en-US" sz="1500" dirty="0"/>
          </a:p>
        </p:txBody>
      </p:sp>
      <p:sp>
        <p:nvSpPr>
          <p:cNvPr id="31" name="Shape 29"/>
          <p:cNvSpPr/>
          <p:nvPr/>
        </p:nvSpPr>
        <p:spPr>
          <a:xfrm>
            <a:off x="566928" y="3191256"/>
            <a:ext cx="914400" cy="612648"/>
          </a:xfrm>
          <a:prstGeom prst="rect">
            <a:avLst/>
          </a:prstGeom>
          <a:solidFill>
            <a:srgbClr val="F5F8F8"/>
          </a:solidFill>
          <a:ln w="8890">
            <a:solidFill>
              <a:srgbClr val="C8D9DC"/>
            </a:solidFill>
            <a:prstDash val="solid"/>
          </a:ln>
        </p:spPr>
        <p:txBody>
          <a:bodyPr/>
          <a:lstStyle/>
          <a:p>
            <a:endParaRPr lang="en-US"/>
          </a:p>
        </p:txBody>
      </p:sp>
      <p:sp>
        <p:nvSpPr>
          <p:cNvPr id="32" name="Text 30"/>
          <p:cNvSpPr txBox="1"/>
          <p:nvPr/>
        </p:nvSpPr>
        <p:spPr>
          <a:xfrm>
            <a:off x="612648" y="3236976"/>
            <a:ext cx="822960"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FM04</a:t>
            </a:r>
            <a:endParaRPr lang="en-US" sz="1500" dirty="0"/>
          </a:p>
        </p:txBody>
      </p:sp>
      <p:sp>
        <p:nvSpPr>
          <p:cNvPr id="33" name="Shape 31"/>
          <p:cNvSpPr/>
          <p:nvPr/>
        </p:nvSpPr>
        <p:spPr>
          <a:xfrm>
            <a:off x="1481328" y="3191256"/>
            <a:ext cx="2834640" cy="612648"/>
          </a:xfrm>
          <a:prstGeom prst="rect">
            <a:avLst/>
          </a:prstGeom>
          <a:solidFill>
            <a:srgbClr val="F5F8F8"/>
          </a:solidFill>
          <a:ln w="8890">
            <a:solidFill>
              <a:srgbClr val="C8D9DC"/>
            </a:solidFill>
            <a:prstDash val="solid"/>
          </a:ln>
        </p:spPr>
        <p:txBody>
          <a:bodyPr/>
          <a:lstStyle/>
          <a:p>
            <a:endParaRPr lang="en-US"/>
          </a:p>
        </p:txBody>
      </p:sp>
      <p:sp>
        <p:nvSpPr>
          <p:cNvPr id="34" name="Text 32"/>
          <p:cNvSpPr txBox="1"/>
          <p:nvPr/>
        </p:nvSpPr>
        <p:spPr>
          <a:xfrm>
            <a:off x="1527048" y="3236976"/>
            <a:ext cx="2743200" cy="521208"/>
          </a:xfrm>
          <a:prstGeom prst="rect">
            <a:avLst/>
          </a:prstGeom>
          <a:noFill/>
          <a:ln/>
        </p:spPr>
        <p:txBody>
          <a:bodyPr wrap="square" lIns="0" tIns="0" rIns="0" bIns="0" rtlCol="0" anchor="ctr">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Leak</a:t>
            </a:r>
            <a:endParaRPr lang="en-US" sz="1400" dirty="0"/>
          </a:p>
        </p:txBody>
      </p:sp>
      <p:sp>
        <p:nvSpPr>
          <p:cNvPr id="35" name="Shape 33"/>
          <p:cNvSpPr/>
          <p:nvPr/>
        </p:nvSpPr>
        <p:spPr>
          <a:xfrm>
            <a:off x="4315968" y="3191256"/>
            <a:ext cx="658368" cy="612648"/>
          </a:xfrm>
          <a:prstGeom prst="rect">
            <a:avLst/>
          </a:prstGeom>
          <a:solidFill>
            <a:srgbClr val="F5F8F8"/>
          </a:solidFill>
          <a:ln w="8890">
            <a:solidFill>
              <a:srgbClr val="C8D9DC"/>
            </a:solidFill>
            <a:prstDash val="solid"/>
          </a:ln>
        </p:spPr>
        <p:txBody>
          <a:bodyPr/>
          <a:lstStyle/>
          <a:p>
            <a:endParaRPr lang="en-US"/>
          </a:p>
        </p:txBody>
      </p:sp>
      <p:sp>
        <p:nvSpPr>
          <p:cNvPr id="36" name="Text 34"/>
          <p:cNvSpPr txBox="1"/>
          <p:nvPr/>
        </p:nvSpPr>
        <p:spPr>
          <a:xfrm>
            <a:off x="4361688" y="3236976"/>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9</a:t>
            </a:r>
            <a:endParaRPr lang="en-US" sz="1500" dirty="0"/>
          </a:p>
        </p:txBody>
      </p:sp>
      <p:sp>
        <p:nvSpPr>
          <p:cNvPr id="37" name="Shape 35"/>
          <p:cNvSpPr/>
          <p:nvPr/>
        </p:nvSpPr>
        <p:spPr>
          <a:xfrm>
            <a:off x="4974336" y="3191256"/>
            <a:ext cx="658368" cy="612648"/>
          </a:xfrm>
          <a:prstGeom prst="rect">
            <a:avLst/>
          </a:prstGeom>
          <a:solidFill>
            <a:srgbClr val="F5F8F8"/>
          </a:solidFill>
          <a:ln w="8890">
            <a:solidFill>
              <a:srgbClr val="C8D9DC"/>
            </a:solidFill>
            <a:prstDash val="solid"/>
          </a:ln>
        </p:spPr>
        <p:txBody>
          <a:bodyPr/>
          <a:lstStyle/>
          <a:p>
            <a:endParaRPr lang="en-US"/>
          </a:p>
        </p:txBody>
      </p:sp>
      <p:sp>
        <p:nvSpPr>
          <p:cNvPr id="38" name="Text 36"/>
          <p:cNvSpPr txBox="1"/>
          <p:nvPr/>
        </p:nvSpPr>
        <p:spPr>
          <a:xfrm>
            <a:off x="5020056" y="3236976"/>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2</a:t>
            </a:r>
            <a:endParaRPr lang="en-US" sz="1500" dirty="0"/>
          </a:p>
        </p:txBody>
      </p:sp>
      <p:sp>
        <p:nvSpPr>
          <p:cNvPr id="39" name="Shape 37"/>
          <p:cNvSpPr/>
          <p:nvPr/>
        </p:nvSpPr>
        <p:spPr>
          <a:xfrm>
            <a:off x="5632704" y="3191256"/>
            <a:ext cx="658368" cy="612648"/>
          </a:xfrm>
          <a:prstGeom prst="rect">
            <a:avLst/>
          </a:prstGeom>
          <a:solidFill>
            <a:srgbClr val="F5F8F8"/>
          </a:solidFill>
          <a:ln w="8890">
            <a:solidFill>
              <a:srgbClr val="C8D9DC"/>
            </a:solidFill>
            <a:prstDash val="solid"/>
          </a:ln>
        </p:spPr>
        <p:txBody>
          <a:bodyPr/>
          <a:lstStyle/>
          <a:p>
            <a:endParaRPr lang="en-US"/>
          </a:p>
        </p:txBody>
      </p:sp>
      <p:sp>
        <p:nvSpPr>
          <p:cNvPr id="40" name="Text 38"/>
          <p:cNvSpPr txBox="1"/>
          <p:nvPr/>
        </p:nvSpPr>
        <p:spPr>
          <a:xfrm>
            <a:off x="5678424" y="3236976"/>
            <a:ext cx="566928" cy="521208"/>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5</a:t>
            </a:r>
            <a:endParaRPr lang="en-US" sz="1500" dirty="0"/>
          </a:p>
        </p:txBody>
      </p:sp>
      <p:sp>
        <p:nvSpPr>
          <p:cNvPr id="41" name="Shape 39"/>
          <p:cNvSpPr/>
          <p:nvPr/>
        </p:nvSpPr>
        <p:spPr>
          <a:xfrm>
            <a:off x="6291072" y="3191256"/>
            <a:ext cx="914400" cy="612648"/>
          </a:xfrm>
          <a:prstGeom prst="rect">
            <a:avLst/>
          </a:prstGeom>
          <a:solidFill>
            <a:srgbClr val="F5F8F8"/>
          </a:solidFill>
          <a:ln w="8890">
            <a:solidFill>
              <a:srgbClr val="C8D9DC"/>
            </a:solidFill>
            <a:prstDash val="solid"/>
          </a:ln>
        </p:spPr>
        <p:txBody>
          <a:bodyPr/>
          <a:lstStyle/>
          <a:p>
            <a:endParaRPr lang="en-US"/>
          </a:p>
        </p:txBody>
      </p:sp>
      <p:sp>
        <p:nvSpPr>
          <p:cNvPr id="42" name="Text 40"/>
          <p:cNvSpPr txBox="1"/>
          <p:nvPr/>
        </p:nvSpPr>
        <p:spPr>
          <a:xfrm>
            <a:off x="6336792" y="3236976"/>
            <a:ext cx="822960" cy="521208"/>
          </a:xfrm>
          <a:prstGeom prst="rect">
            <a:avLst/>
          </a:prstGeom>
          <a:noFill/>
          <a:ln/>
        </p:spPr>
        <p:txBody>
          <a:bodyPr wrap="square" lIns="0" tIns="0" rIns="0" bIns="0" rtlCol="0" anchor="ctr">
            <a:normAutofit/>
          </a:bodyPr>
          <a:lstStyle/>
          <a:p>
            <a:pPr marL="0" indent="0" algn="ctr">
              <a:buNone/>
            </a:pPr>
            <a:r>
              <a:rPr lang="en-US" sz="1500" b="1" dirty="0">
                <a:solidFill>
                  <a:srgbClr val="102B3E"/>
                </a:solidFill>
                <a:latin typeface="Aptos" pitchFamily="34" charset="0"/>
                <a:ea typeface="Aptos" pitchFamily="34" charset="-122"/>
                <a:cs typeface="Aptos" pitchFamily="34" charset="-120"/>
              </a:rPr>
              <a:t>90</a:t>
            </a:r>
            <a:endParaRPr lang="en-US" sz="1500" dirty="0"/>
          </a:p>
        </p:txBody>
      </p:sp>
      <p:sp>
        <p:nvSpPr>
          <p:cNvPr id="43" name="Shape 41"/>
          <p:cNvSpPr/>
          <p:nvPr/>
        </p:nvSpPr>
        <p:spPr>
          <a:xfrm>
            <a:off x="8275320" y="2121408"/>
            <a:ext cx="3182112" cy="3310128"/>
          </a:xfrm>
          <a:prstGeom prst="roundRect">
            <a:avLst>
              <a:gd name="adj" fmla="val 2299"/>
            </a:avLst>
          </a:prstGeom>
          <a:solidFill>
            <a:srgbClr val="FFF7E8"/>
          </a:solidFill>
          <a:ln w="12700">
            <a:solidFill>
              <a:srgbClr val="F2C572"/>
            </a:solidFill>
            <a:prstDash val="solid"/>
          </a:ln>
        </p:spPr>
        <p:txBody>
          <a:bodyPr/>
          <a:lstStyle/>
          <a:p>
            <a:endParaRPr lang="en-US"/>
          </a:p>
        </p:txBody>
      </p:sp>
      <p:sp>
        <p:nvSpPr>
          <p:cNvPr id="44" name="Text 42"/>
          <p:cNvSpPr txBox="1"/>
          <p:nvPr/>
        </p:nvSpPr>
        <p:spPr>
          <a:xfrm>
            <a:off x="8549640" y="2423160"/>
            <a:ext cx="2633472" cy="365760"/>
          </a:xfrm>
          <a:prstGeom prst="rect">
            <a:avLst/>
          </a:prstGeom>
          <a:noFill/>
          <a:ln/>
        </p:spPr>
        <p:txBody>
          <a:bodyPr wrap="square" lIns="0" tIns="0" rIns="0" bIns="0" rtlCol="0" anchor="ctr">
            <a:normAutofit/>
          </a:bodyPr>
          <a:lstStyle/>
          <a:p>
            <a:pPr marL="0" indent="0" algn="l">
              <a:buNone/>
            </a:pPr>
            <a:r>
              <a:rPr lang="en-US" sz="1900" b="1" dirty="0">
                <a:solidFill>
                  <a:srgbClr val="F4A62A"/>
                </a:solidFill>
                <a:latin typeface="Aptos" pitchFamily="34" charset="0"/>
                <a:ea typeface="Aptos" pitchFamily="34" charset="-122"/>
                <a:cs typeface="Aptos" pitchFamily="34" charset="-120"/>
              </a:rPr>
              <a:t>How to act</a:t>
            </a:r>
            <a:endParaRPr lang="en-US" sz="1900" dirty="0"/>
          </a:p>
        </p:txBody>
      </p:sp>
      <p:sp>
        <p:nvSpPr>
          <p:cNvPr id="45" name="Text 43"/>
          <p:cNvSpPr txBox="1"/>
          <p:nvPr/>
        </p:nvSpPr>
        <p:spPr>
          <a:xfrm>
            <a:off x="8549640" y="2999232"/>
            <a:ext cx="2633472" cy="192024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1. Check the rating basis</a:t>
            </a:r>
            <a:endParaRPr lang="en-US" sz="1600" dirty="0"/>
          </a:p>
          <a:p>
            <a:pPr marL="0" indent="0" algn="l">
              <a:buNone/>
            </a:pPr>
            <a:r>
              <a:rPr lang="en-US" sz="1600" dirty="0">
                <a:solidFill>
                  <a:srgbClr val="102B3E"/>
                </a:solidFill>
                <a:latin typeface="Aptos" pitchFamily="34" charset="0"/>
                <a:ea typeface="Aptos" pitchFamily="34" charset="-122"/>
                <a:cs typeface="Aptos" pitchFamily="34" charset="-120"/>
              </a:rPr>
              <a:t>2. Rank RPNs</a:t>
            </a:r>
            <a:endParaRPr lang="en-US" sz="1600" dirty="0"/>
          </a:p>
          <a:p>
            <a:pPr marL="0" indent="0" algn="l">
              <a:buNone/>
            </a:pPr>
            <a:r>
              <a:rPr lang="en-US" sz="1600" dirty="0">
                <a:solidFill>
                  <a:srgbClr val="102B3E"/>
                </a:solidFill>
                <a:latin typeface="Aptos" pitchFamily="34" charset="0"/>
                <a:ea typeface="Aptos" pitchFamily="34" charset="-122"/>
                <a:cs typeface="Aptos" pitchFamily="34" charset="-120"/>
              </a:rPr>
              <a:t>3. Apply severity gate</a:t>
            </a:r>
            <a:endParaRPr lang="en-US" sz="1600" dirty="0"/>
          </a:p>
          <a:p>
            <a:pPr marL="0" indent="0" algn="l">
              <a:buNone/>
            </a:pPr>
            <a:r>
              <a:rPr lang="en-US" sz="1600" dirty="0">
                <a:solidFill>
                  <a:srgbClr val="102B3E"/>
                </a:solidFill>
                <a:latin typeface="Aptos" pitchFamily="34" charset="0"/>
                <a:ea typeface="Aptos" pitchFamily="34" charset="-122"/>
                <a:cs typeface="Aptos" pitchFamily="34" charset="-120"/>
              </a:rPr>
              <a:t>4. Assign action and owner</a:t>
            </a:r>
            <a:endParaRPr lang="en-US" sz="1600" dirty="0"/>
          </a:p>
          <a:p>
            <a:pPr marL="0" indent="0" algn="l">
              <a:buNone/>
            </a:pPr>
            <a:r>
              <a:rPr lang="en-US" sz="1600" dirty="0">
                <a:solidFill>
                  <a:srgbClr val="102B3E"/>
                </a:solidFill>
                <a:latin typeface="Aptos" pitchFamily="34" charset="0"/>
                <a:ea typeface="Aptos" pitchFamily="34" charset="-122"/>
                <a:cs typeface="Aptos" pitchFamily="34" charset="-120"/>
              </a:rPr>
              <a:t>5. Reassess residual risk</a:t>
            </a:r>
            <a:endParaRPr lang="en-US" sz="1600" dirty="0"/>
          </a:p>
        </p:txBody>
      </p:sp>
      <p:sp>
        <p:nvSpPr>
          <p:cNvPr id="46" name="Text 4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4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171</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DMAIC quick reference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Five phases and their outputs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14416" y="1947672"/>
            <a:ext cx="950976" cy="950976"/>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5614416" y="1947672"/>
            <a:ext cx="950976" cy="95097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7"/>
          <p:cNvSpPr txBox="1"/>
          <p:nvPr/>
        </p:nvSpPr>
        <p:spPr>
          <a:xfrm>
            <a:off x="5312664" y="2944368"/>
            <a:ext cx="1554480" cy="320040"/>
          </a:xfrm>
          <a:prstGeom prst="rect">
            <a:avLst/>
          </a:prstGeom>
          <a:noFill/>
          <a:ln/>
        </p:spPr>
        <p:txBody>
          <a:bodyPr wrap="square" lIns="0" tIns="0" rIns="0" bIns="0" rtlCol="0" anchor="ctr">
            <a:normAutofit/>
          </a:bodyPr>
          <a:lstStyle/>
          <a:p>
            <a:pPr marL="0" indent="0" algn="ctr">
              <a:buNone/>
            </a:pPr>
            <a:r>
              <a:rPr lang="en-US" sz="1600" b="1" dirty="0">
                <a:solidFill>
                  <a:srgbClr val="078897"/>
                </a:solidFill>
                <a:latin typeface="Aptos" pitchFamily="34" charset="0"/>
                <a:ea typeface="Aptos" pitchFamily="34" charset="-122"/>
                <a:cs typeface="Aptos" pitchFamily="34" charset="-120"/>
              </a:rPr>
              <a:t>Define</a:t>
            </a:r>
            <a:endParaRPr lang="en-US" sz="1600" dirty="0"/>
          </a:p>
        </p:txBody>
      </p:sp>
      <p:sp>
        <p:nvSpPr>
          <p:cNvPr id="10" name="Text 8"/>
          <p:cNvSpPr txBox="1"/>
          <p:nvPr/>
        </p:nvSpPr>
        <p:spPr>
          <a:xfrm>
            <a:off x="5129784" y="3282696"/>
            <a:ext cx="1920240" cy="594360"/>
          </a:xfrm>
          <a:prstGeom prst="rect">
            <a:avLst/>
          </a:prstGeom>
          <a:noFill/>
          <a:ln/>
        </p:spPr>
        <p:txBody>
          <a:bodyPr wrap="square" lIns="0" tIns="0" rIns="0" bIns="0" rtlCol="0" anchor="ctr">
            <a:normAutofit/>
          </a:bodyPr>
          <a:lstStyle/>
          <a:p>
            <a:pPr marL="0" indent="0" algn="ctr">
              <a:buNone/>
            </a:pPr>
            <a:r>
              <a:rPr lang="en-US" sz="1200" dirty="0">
                <a:solidFill>
                  <a:srgbClr val="102B3E"/>
                </a:solidFill>
                <a:latin typeface="Aptos" pitchFamily="34" charset="0"/>
                <a:ea typeface="Aptos" pitchFamily="34" charset="-122"/>
                <a:cs typeface="Aptos" pitchFamily="34" charset="-120"/>
              </a:rPr>
              <a:t>Charter</a:t>
            </a:r>
            <a:endParaRPr lang="en-US" sz="1200" dirty="0"/>
          </a:p>
        </p:txBody>
      </p:sp>
      <p:sp>
        <p:nvSpPr>
          <p:cNvPr id="11" name="Shape 9"/>
          <p:cNvSpPr/>
          <p:nvPr/>
        </p:nvSpPr>
        <p:spPr>
          <a:xfrm>
            <a:off x="6922984" y="2876724"/>
            <a:ext cx="107494" cy="0"/>
          </a:xfrm>
          <a:prstGeom prst="line">
            <a:avLst/>
          </a:prstGeom>
          <a:noFill/>
          <a:ln w="25400">
            <a:solidFill>
              <a:srgbClr val="C8D9DC"/>
            </a:solidFill>
            <a:prstDash val="solid"/>
            <a:tailEnd type="triangle"/>
          </a:ln>
        </p:spPr>
        <p:txBody>
          <a:bodyPr/>
          <a:lstStyle/>
          <a:p>
            <a:endParaRPr/>
          </a:p>
        </p:txBody>
      </p:sp>
      <p:sp>
        <p:nvSpPr>
          <p:cNvPr id="12" name="Shape 10"/>
          <p:cNvSpPr/>
          <p:nvPr/>
        </p:nvSpPr>
        <p:spPr>
          <a:xfrm>
            <a:off x="7136297" y="3053383"/>
            <a:ext cx="950976" cy="950976"/>
          </a:xfrm>
          <a:prstGeom prst="ellipse">
            <a:avLst/>
          </a:prstGeom>
          <a:solidFill>
            <a:srgbClr val="2477B3"/>
          </a:solidFill>
          <a:ln w="12700">
            <a:solidFill>
              <a:srgbClr val="2477B3"/>
            </a:solidFill>
            <a:prstDash val="solid"/>
          </a:ln>
        </p:spPr>
        <p:txBody>
          <a:bodyPr/>
          <a:lstStyle/>
          <a:p>
            <a:endParaRPr/>
          </a:p>
        </p:txBody>
      </p:sp>
      <p:sp>
        <p:nvSpPr>
          <p:cNvPr id="13" name="Text 11"/>
          <p:cNvSpPr txBox="1"/>
          <p:nvPr/>
        </p:nvSpPr>
        <p:spPr>
          <a:xfrm>
            <a:off x="7136297" y="3053383"/>
            <a:ext cx="950976" cy="95097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4" name="Text 12"/>
          <p:cNvSpPr txBox="1"/>
          <p:nvPr/>
        </p:nvSpPr>
        <p:spPr>
          <a:xfrm>
            <a:off x="6834545" y="4050079"/>
            <a:ext cx="1554480" cy="320040"/>
          </a:xfrm>
          <a:prstGeom prst="rect">
            <a:avLst/>
          </a:prstGeom>
          <a:noFill/>
          <a:ln/>
        </p:spPr>
        <p:txBody>
          <a:bodyPr wrap="square" lIns="0" tIns="0" rIns="0" bIns="0" rtlCol="0" anchor="ctr">
            <a:normAutofit/>
          </a:bodyPr>
          <a:lstStyle/>
          <a:p>
            <a:pPr marL="0" indent="0" algn="ctr">
              <a:buNone/>
            </a:pPr>
            <a:r>
              <a:rPr lang="en-US" sz="1600" b="1" dirty="0">
                <a:solidFill>
                  <a:srgbClr val="2477B3"/>
                </a:solidFill>
                <a:latin typeface="Aptos" pitchFamily="34" charset="0"/>
                <a:ea typeface="Aptos" pitchFamily="34" charset="-122"/>
                <a:cs typeface="Aptos" pitchFamily="34" charset="-120"/>
              </a:rPr>
              <a:t>Measure</a:t>
            </a:r>
            <a:endParaRPr lang="en-US" sz="1600" dirty="0"/>
          </a:p>
        </p:txBody>
      </p:sp>
      <p:sp>
        <p:nvSpPr>
          <p:cNvPr id="15" name="Text 13"/>
          <p:cNvSpPr txBox="1"/>
          <p:nvPr/>
        </p:nvSpPr>
        <p:spPr>
          <a:xfrm>
            <a:off x="6651665" y="4388407"/>
            <a:ext cx="1920240" cy="594360"/>
          </a:xfrm>
          <a:prstGeom prst="rect">
            <a:avLst/>
          </a:prstGeom>
          <a:noFill/>
          <a:ln/>
        </p:spPr>
        <p:txBody>
          <a:bodyPr wrap="square" lIns="0" tIns="0" rIns="0" bIns="0" rtlCol="0" anchor="ctr">
            <a:normAutofit/>
          </a:bodyPr>
          <a:lstStyle/>
          <a:p>
            <a:pPr marL="0" indent="0" algn="ctr">
              <a:buNone/>
            </a:pPr>
            <a:r>
              <a:rPr lang="en-US" sz="1200" dirty="0">
                <a:solidFill>
                  <a:srgbClr val="102B3E"/>
                </a:solidFill>
                <a:latin typeface="Aptos" pitchFamily="34" charset="0"/>
                <a:ea typeface="Aptos" pitchFamily="34" charset="-122"/>
                <a:cs typeface="Aptos" pitchFamily="34" charset="-120"/>
              </a:rPr>
              <a:t>Baseline</a:t>
            </a:r>
            <a:endParaRPr lang="en-US" sz="1200" dirty="0"/>
          </a:p>
        </p:txBody>
      </p:sp>
      <p:sp>
        <p:nvSpPr>
          <p:cNvPr id="16" name="Shape 14"/>
          <p:cNvSpPr/>
          <p:nvPr/>
        </p:nvSpPr>
        <p:spPr>
          <a:xfrm>
            <a:off x="7437855" y="4461336"/>
            <a:ext cx="173929" cy="56513"/>
          </a:xfrm>
          <a:prstGeom prst="line">
            <a:avLst/>
          </a:prstGeom>
          <a:noFill/>
          <a:ln w="25400">
            <a:solidFill>
              <a:srgbClr val="C8D9DC"/>
            </a:solidFill>
            <a:prstDash val="solid"/>
            <a:tailEnd type="triangle"/>
          </a:ln>
        </p:spPr>
        <p:txBody>
          <a:bodyPr/>
          <a:lstStyle/>
          <a:p>
            <a:endParaRPr/>
          </a:p>
        </p:txBody>
      </p:sp>
      <p:sp>
        <p:nvSpPr>
          <p:cNvPr id="17" name="Shape 15"/>
          <p:cNvSpPr/>
          <p:nvPr/>
        </p:nvSpPr>
        <p:spPr>
          <a:xfrm>
            <a:off x="6554990" y="4842461"/>
            <a:ext cx="950976" cy="950976"/>
          </a:xfrm>
          <a:prstGeom prst="ellipse">
            <a:avLst/>
          </a:prstGeom>
          <a:solidFill>
            <a:srgbClr val="F4A62A"/>
          </a:solidFill>
          <a:ln w="12700">
            <a:solidFill>
              <a:srgbClr val="F4A62A"/>
            </a:solidFill>
            <a:prstDash val="solid"/>
          </a:ln>
        </p:spPr>
        <p:txBody>
          <a:bodyPr/>
          <a:lstStyle/>
          <a:p>
            <a:endParaRPr/>
          </a:p>
        </p:txBody>
      </p:sp>
      <p:sp>
        <p:nvSpPr>
          <p:cNvPr id="18" name="Text 16"/>
          <p:cNvSpPr txBox="1"/>
          <p:nvPr/>
        </p:nvSpPr>
        <p:spPr>
          <a:xfrm>
            <a:off x="6554990" y="4842461"/>
            <a:ext cx="950976" cy="95097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19" name="Text 17"/>
          <p:cNvSpPr txBox="1"/>
          <p:nvPr/>
        </p:nvSpPr>
        <p:spPr>
          <a:xfrm>
            <a:off x="6253238" y="5839157"/>
            <a:ext cx="1554480" cy="320040"/>
          </a:xfrm>
          <a:prstGeom prst="rect">
            <a:avLst/>
          </a:prstGeom>
          <a:noFill/>
          <a:ln/>
        </p:spPr>
        <p:txBody>
          <a:bodyPr wrap="square" lIns="0" tIns="0" rIns="0" bIns="0" rtlCol="0" anchor="ctr">
            <a:normAutofit/>
          </a:bodyPr>
          <a:lstStyle/>
          <a:p>
            <a:pPr marL="0" indent="0" algn="ctr">
              <a:buNone/>
            </a:pPr>
            <a:r>
              <a:rPr lang="en-US" sz="1600" b="1" dirty="0">
                <a:solidFill>
                  <a:srgbClr val="F4A62A"/>
                </a:solidFill>
                <a:latin typeface="Aptos" pitchFamily="34" charset="0"/>
                <a:ea typeface="Aptos" pitchFamily="34" charset="-122"/>
                <a:cs typeface="Aptos" pitchFamily="34" charset="-120"/>
              </a:rPr>
              <a:t>Analyse</a:t>
            </a:r>
            <a:endParaRPr lang="en-US" sz="1600" dirty="0"/>
          </a:p>
        </p:txBody>
      </p:sp>
      <p:sp>
        <p:nvSpPr>
          <p:cNvPr id="20" name="Text 18"/>
          <p:cNvSpPr txBox="1"/>
          <p:nvPr/>
        </p:nvSpPr>
        <p:spPr>
          <a:xfrm>
            <a:off x="6070358" y="6177485"/>
            <a:ext cx="1920240" cy="594360"/>
          </a:xfrm>
          <a:prstGeom prst="rect">
            <a:avLst/>
          </a:prstGeom>
          <a:noFill/>
          <a:ln/>
        </p:spPr>
        <p:txBody>
          <a:bodyPr wrap="square" lIns="0" tIns="0" rIns="0" bIns="0" rtlCol="0" anchor="ctr">
            <a:normAutofit/>
          </a:bodyPr>
          <a:lstStyle/>
          <a:p>
            <a:pPr marL="0" indent="0" algn="ctr">
              <a:buNone/>
            </a:pPr>
            <a:r>
              <a:rPr lang="en-US" sz="1200" dirty="0">
                <a:solidFill>
                  <a:srgbClr val="102B3E"/>
                </a:solidFill>
                <a:latin typeface="Aptos" pitchFamily="34" charset="0"/>
                <a:ea typeface="Aptos" pitchFamily="34" charset="-122"/>
                <a:cs typeface="Aptos" pitchFamily="34" charset="-120"/>
              </a:rPr>
              <a:t>Tested causes</a:t>
            </a:r>
            <a:endParaRPr lang="en-US" sz="1200" dirty="0"/>
          </a:p>
        </p:txBody>
      </p:sp>
      <p:sp>
        <p:nvSpPr>
          <p:cNvPr id="21" name="Shape 19"/>
          <p:cNvSpPr/>
          <p:nvPr/>
        </p:nvSpPr>
        <p:spPr>
          <a:xfrm>
            <a:off x="6089904" y="5440680"/>
            <a:ext cx="0" cy="182880"/>
          </a:xfrm>
          <a:prstGeom prst="line">
            <a:avLst/>
          </a:prstGeom>
          <a:noFill/>
          <a:ln w="25400">
            <a:solidFill>
              <a:srgbClr val="C8D9DC"/>
            </a:solidFill>
            <a:prstDash val="solid"/>
            <a:tailEnd type="triangle"/>
          </a:ln>
        </p:spPr>
        <p:txBody>
          <a:bodyPr/>
          <a:lstStyle/>
          <a:p>
            <a:endParaRPr/>
          </a:p>
        </p:txBody>
      </p:sp>
      <p:sp>
        <p:nvSpPr>
          <p:cNvPr id="22" name="Shape 20"/>
          <p:cNvSpPr/>
          <p:nvPr/>
        </p:nvSpPr>
        <p:spPr>
          <a:xfrm>
            <a:off x="4673842" y="4842461"/>
            <a:ext cx="950976" cy="950976"/>
          </a:xfrm>
          <a:prstGeom prst="ellipse">
            <a:avLst/>
          </a:prstGeom>
          <a:solidFill>
            <a:srgbClr val="2E8B72"/>
          </a:solidFill>
          <a:ln w="12700">
            <a:solidFill>
              <a:srgbClr val="2E8B72"/>
            </a:solidFill>
            <a:prstDash val="solid"/>
          </a:ln>
        </p:spPr>
        <p:txBody>
          <a:bodyPr/>
          <a:lstStyle/>
          <a:p>
            <a:endParaRPr/>
          </a:p>
        </p:txBody>
      </p:sp>
      <p:sp>
        <p:nvSpPr>
          <p:cNvPr id="23" name="Text 21"/>
          <p:cNvSpPr txBox="1"/>
          <p:nvPr/>
        </p:nvSpPr>
        <p:spPr>
          <a:xfrm>
            <a:off x="4673842" y="4842461"/>
            <a:ext cx="950976" cy="95097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4" name="Text 22"/>
          <p:cNvSpPr txBox="1"/>
          <p:nvPr/>
        </p:nvSpPr>
        <p:spPr>
          <a:xfrm>
            <a:off x="4372090" y="5839157"/>
            <a:ext cx="1554480" cy="320040"/>
          </a:xfrm>
          <a:prstGeom prst="rect">
            <a:avLst/>
          </a:prstGeom>
          <a:noFill/>
          <a:ln/>
        </p:spPr>
        <p:txBody>
          <a:bodyPr wrap="square" lIns="0" tIns="0" rIns="0" bIns="0" rtlCol="0" anchor="ctr">
            <a:normAutofit/>
          </a:bodyPr>
          <a:lstStyle/>
          <a:p>
            <a:pPr marL="0" indent="0" algn="ctr">
              <a:buNone/>
            </a:pPr>
            <a:r>
              <a:rPr lang="en-US" sz="1600" b="1" dirty="0">
                <a:solidFill>
                  <a:srgbClr val="2E8B72"/>
                </a:solidFill>
                <a:latin typeface="Aptos" pitchFamily="34" charset="0"/>
                <a:ea typeface="Aptos" pitchFamily="34" charset="-122"/>
                <a:cs typeface="Aptos" pitchFamily="34" charset="-120"/>
              </a:rPr>
              <a:t>Improve</a:t>
            </a:r>
            <a:endParaRPr lang="en-US" sz="1600" dirty="0"/>
          </a:p>
        </p:txBody>
      </p:sp>
      <p:sp>
        <p:nvSpPr>
          <p:cNvPr id="25" name="Text 23"/>
          <p:cNvSpPr txBox="1"/>
          <p:nvPr/>
        </p:nvSpPr>
        <p:spPr>
          <a:xfrm>
            <a:off x="4189210" y="6177485"/>
            <a:ext cx="1920240" cy="594360"/>
          </a:xfrm>
          <a:prstGeom prst="rect">
            <a:avLst/>
          </a:prstGeom>
          <a:noFill/>
          <a:ln/>
        </p:spPr>
        <p:txBody>
          <a:bodyPr wrap="square" lIns="0" tIns="0" rIns="0" bIns="0" rtlCol="0" anchor="ctr">
            <a:normAutofit/>
          </a:bodyPr>
          <a:lstStyle/>
          <a:p>
            <a:pPr marL="0" indent="0" algn="ctr">
              <a:buNone/>
            </a:pPr>
            <a:r>
              <a:rPr lang="en-US" sz="1200" dirty="0">
                <a:solidFill>
                  <a:srgbClr val="102B3E"/>
                </a:solidFill>
                <a:latin typeface="Aptos" pitchFamily="34" charset="0"/>
                <a:ea typeface="Aptos" pitchFamily="34" charset="-122"/>
                <a:cs typeface="Aptos" pitchFamily="34" charset="-120"/>
              </a:rPr>
              <a:t>Pilot</a:t>
            </a:r>
            <a:endParaRPr lang="en-US" sz="1200" dirty="0"/>
          </a:p>
        </p:txBody>
      </p:sp>
      <p:sp>
        <p:nvSpPr>
          <p:cNvPr id="26" name="Shape 24"/>
          <p:cNvSpPr/>
          <p:nvPr/>
        </p:nvSpPr>
        <p:spPr>
          <a:xfrm>
            <a:off x="4741953" y="4461336"/>
            <a:ext cx="0" cy="56513"/>
          </a:xfrm>
          <a:prstGeom prst="line">
            <a:avLst/>
          </a:prstGeom>
          <a:noFill/>
          <a:ln w="25400">
            <a:solidFill>
              <a:srgbClr val="C8D9DC"/>
            </a:solidFill>
            <a:prstDash val="solid"/>
            <a:tailEnd type="triangle"/>
          </a:ln>
        </p:spPr>
        <p:txBody>
          <a:bodyPr/>
          <a:lstStyle/>
          <a:p>
            <a:endParaRPr/>
          </a:p>
        </p:txBody>
      </p:sp>
      <p:sp>
        <p:nvSpPr>
          <p:cNvPr id="27" name="Shape 25"/>
          <p:cNvSpPr/>
          <p:nvPr/>
        </p:nvSpPr>
        <p:spPr>
          <a:xfrm>
            <a:off x="4092535" y="3053383"/>
            <a:ext cx="950976" cy="950976"/>
          </a:xfrm>
          <a:prstGeom prst="ellipse">
            <a:avLst/>
          </a:prstGeom>
          <a:solidFill>
            <a:srgbClr val="17A9B8"/>
          </a:solidFill>
          <a:ln w="12700">
            <a:solidFill>
              <a:srgbClr val="17A9B8"/>
            </a:solidFill>
            <a:prstDash val="solid"/>
          </a:ln>
        </p:spPr>
        <p:txBody>
          <a:bodyPr/>
          <a:lstStyle/>
          <a:p>
            <a:endParaRPr/>
          </a:p>
        </p:txBody>
      </p:sp>
      <p:sp>
        <p:nvSpPr>
          <p:cNvPr id="28" name="Text 26"/>
          <p:cNvSpPr txBox="1"/>
          <p:nvPr/>
        </p:nvSpPr>
        <p:spPr>
          <a:xfrm>
            <a:off x="4092535" y="3053383"/>
            <a:ext cx="950976" cy="95097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29" name="Text 27"/>
          <p:cNvSpPr txBox="1"/>
          <p:nvPr/>
        </p:nvSpPr>
        <p:spPr>
          <a:xfrm>
            <a:off x="3790783" y="4050079"/>
            <a:ext cx="1554480" cy="320040"/>
          </a:xfrm>
          <a:prstGeom prst="rect">
            <a:avLst/>
          </a:prstGeom>
          <a:noFill/>
          <a:ln/>
        </p:spPr>
        <p:txBody>
          <a:bodyPr wrap="square" lIns="0" tIns="0" rIns="0" bIns="0" rtlCol="0" anchor="ctr">
            <a:normAutofit/>
          </a:bodyPr>
          <a:lstStyle/>
          <a:p>
            <a:pPr marL="0" indent="0" algn="ctr">
              <a:buNone/>
            </a:pPr>
            <a:r>
              <a:rPr lang="en-US" sz="1600" b="1" dirty="0">
                <a:solidFill>
                  <a:srgbClr val="17A9B8"/>
                </a:solidFill>
                <a:latin typeface="Aptos" pitchFamily="34" charset="0"/>
                <a:ea typeface="Aptos" pitchFamily="34" charset="-122"/>
                <a:cs typeface="Aptos" pitchFamily="34" charset="-120"/>
              </a:rPr>
              <a:t>Control</a:t>
            </a:r>
            <a:endParaRPr lang="en-US" sz="1600" dirty="0"/>
          </a:p>
        </p:txBody>
      </p:sp>
      <p:sp>
        <p:nvSpPr>
          <p:cNvPr id="30" name="Text 28"/>
          <p:cNvSpPr txBox="1"/>
          <p:nvPr/>
        </p:nvSpPr>
        <p:spPr>
          <a:xfrm>
            <a:off x="3607903" y="4388407"/>
            <a:ext cx="1920240" cy="594360"/>
          </a:xfrm>
          <a:prstGeom prst="rect">
            <a:avLst/>
          </a:prstGeom>
          <a:noFill/>
          <a:ln/>
        </p:spPr>
        <p:txBody>
          <a:bodyPr wrap="square" lIns="0" tIns="0" rIns="0" bIns="0" rtlCol="0" anchor="ctr">
            <a:normAutofit/>
          </a:bodyPr>
          <a:lstStyle/>
          <a:p>
            <a:pPr marL="0" indent="0" algn="ctr">
              <a:buNone/>
            </a:pPr>
            <a:r>
              <a:rPr lang="en-US" sz="1200" dirty="0">
                <a:solidFill>
                  <a:srgbClr val="102B3E"/>
                </a:solidFill>
                <a:latin typeface="Aptos" pitchFamily="34" charset="0"/>
                <a:ea typeface="Aptos" pitchFamily="34" charset="-122"/>
                <a:cs typeface="Aptos" pitchFamily="34" charset="-120"/>
              </a:rPr>
              <a:t>Response plan</a:t>
            </a:r>
            <a:endParaRPr lang="en-US" sz="1200" dirty="0"/>
          </a:p>
        </p:txBody>
      </p:sp>
      <p:sp>
        <p:nvSpPr>
          <p:cNvPr id="31" name="Shape 29"/>
          <p:cNvSpPr/>
          <p:nvPr/>
        </p:nvSpPr>
        <p:spPr>
          <a:xfrm>
            <a:off x="5769864" y="3703320"/>
            <a:ext cx="640080" cy="640080"/>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5769864" y="3703320"/>
            <a:ext cx="640080" cy="640080"/>
          </a:xfrm>
          <a:prstGeom prst="rect">
            <a:avLst/>
          </a:prstGeom>
          <a:noFill/>
          <a:ln/>
        </p:spPr>
        <p:txBody>
          <a:bodyPr wrap="square" lIns="0" tIns="0" rIns="0" bIns="0" rtlCol="0" anchor="ctr">
            <a:normAutofit/>
          </a:bodyPr>
          <a:lstStyle/>
          <a:p>
            <a:pPr marL="0" indent="0" algn="ctr">
              <a:buNone/>
            </a:pPr>
            <a:endParaRPr lang="en-US" sz="1800" dirty="0"/>
          </a:p>
        </p:txBody>
      </p:sp>
      <p:sp>
        <p:nvSpPr>
          <p:cNvPr id="33" name="Text 31"/>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34"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172</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Pareto quick reference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Focus on the vital few categories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868680" y="5577840"/>
            <a:ext cx="7406640" cy="0"/>
          </a:xfrm>
          <a:prstGeom prst="line">
            <a:avLst/>
          </a:prstGeom>
          <a:noFill/>
          <a:ln w="12700">
            <a:solidFill>
              <a:srgbClr val="536A78"/>
            </a:solidFill>
            <a:prstDash val="solid"/>
          </a:ln>
        </p:spPr>
        <p:txBody>
          <a:bodyPr/>
          <a:lstStyle/>
          <a:p>
            <a:endParaRPr lang="en-US"/>
          </a:p>
        </p:txBody>
      </p:sp>
      <p:sp>
        <p:nvSpPr>
          <p:cNvPr id="8" name="Shape 6"/>
          <p:cNvSpPr/>
          <p:nvPr/>
        </p:nvSpPr>
        <p:spPr>
          <a:xfrm>
            <a:off x="1097280" y="2331720"/>
            <a:ext cx="918423" cy="3246120"/>
          </a:xfrm>
          <a:prstGeom prst="rect">
            <a:avLst/>
          </a:prstGeom>
          <a:solidFill>
            <a:srgbClr val="078897"/>
          </a:solidFill>
          <a:ln w="12700">
            <a:solidFill>
              <a:srgbClr val="FFFFFF"/>
            </a:solidFill>
            <a:prstDash val="solid"/>
          </a:ln>
        </p:spPr>
        <p:txBody>
          <a:bodyPr/>
          <a:lstStyle/>
          <a:p>
            <a:endParaRPr lang="en-US"/>
          </a:p>
        </p:txBody>
      </p:sp>
      <p:sp>
        <p:nvSpPr>
          <p:cNvPr id="9" name="Text 7"/>
          <p:cNvSpPr txBox="1"/>
          <p:nvPr/>
        </p:nvSpPr>
        <p:spPr>
          <a:xfrm>
            <a:off x="1097280" y="2039112"/>
            <a:ext cx="918423" cy="228600"/>
          </a:xfrm>
          <a:prstGeom prst="rect">
            <a:avLst/>
          </a:prstGeom>
          <a:noFill/>
          <a:ln/>
        </p:spPr>
        <p:txBody>
          <a:bodyPr wrap="square" lIns="0" tIns="0" rIns="0" bIns="0" rtlCol="0" anchor="ctr">
            <a:normAutofit/>
          </a:bodyPr>
          <a:lstStyle/>
          <a:p>
            <a:pPr marL="0" indent="0" algn="ctr">
              <a:buNone/>
            </a:pPr>
            <a:r>
              <a:rPr lang="en-US" sz="1200" b="1" dirty="0">
                <a:solidFill>
                  <a:srgbClr val="102B3E"/>
                </a:solidFill>
                <a:latin typeface="Aptos" pitchFamily="34" charset="0"/>
                <a:ea typeface="Aptos" pitchFamily="34" charset="-122"/>
                <a:cs typeface="Aptos" pitchFamily="34" charset="-120"/>
              </a:rPr>
              <a:t>55</a:t>
            </a:r>
            <a:endParaRPr lang="en-US" sz="1200" dirty="0"/>
          </a:p>
        </p:txBody>
      </p:sp>
      <p:sp>
        <p:nvSpPr>
          <p:cNvPr id="10" name="Text 8"/>
          <p:cNvSpPr txBox="1"/>
          <p:nvPr/>
        </p:nvSpPr>
        <p:spPr>
          <a:xfrm>
            <a:off x="987552" y="5687568"/>
            <a:ext cx="1137879" cy="475488"/>
          </a:xfrm>
          <a:prstGeom prst="rect">
            <a:avLst/>
          </a:prstGeom>
          <a:noFill/>
          <a:ln/>
        </p:spPr>
        <p:txBody>
          <a:bodyPr wrap="square" lIns="0" tIns="0" rIns="0" bIns="0" rtlCol="0" anchor="ctr">
            <a:normAutofit/>
          </a:bodyPr>
          <a:lstStyle/>
          <a:p>
            <a:pPr marL="0" indent="0" algn="ctr">
              <a:buNone/>
            </a:pPr>
            <a:r>
              <a:rPr lang="en-US" sz="1100" dirty="0">
                <a:solidFill>
                  <a:srgbClr val="536A78"/>
                </a:solidFill>
                <a:latin typeface="Aptos" pitchFamily="34" charset="0"/>
                <a:ea typeface="Aptos" pitchFamily="34" charset="-122"/>
                <a:cs typeface="Aptos" pitchFamily="34" charset="-120"/>
              </a:rPr>
              <a:t>Low delivery</a:t>
            </a:r>
            <a:endParaRPr lang="en-US" sz="1100" dirty="0"/>
          </a:p>
        </p:txBody>
      </p:sp>
      <p:sp>
        <p:nvSpPr>
          <p:cNvPr id="11" name="Shape 9"/>
          <p:cNvSpPr/>
          <p:nvPr/>
        </p:nvSpPr>
        <p:spPr>
          <a:xfrm>
            <a:off x="2578608" y="4633514"/>
            <a:ext cx="918423" cy="944326"/>
          </a:xfrm>
          <a:prstGeom prst="rect">
            <a:avLst/>
          </a:prstGeom>
          <a:solidFill>
            <a:srgbClr val="078897"/>
          </a:solidFill>
          <a:ln w="12700">
            <a:solidFill>
              <a:srgbClr val="FFFFFF"/>
            </a:solidFill>
            <a:prstDash val="solid"/>
          </a:ln>
        </p:spPr>
        <p:txBody>
          <a:bodyPr/>
          <a:lstStyle/>
          <a:p>
            <a:endParaRPr lang="en-US"/>
          </a:p>
        </p:txBody>
      </p:sp>
      <p:sp>
        <p:nvSpPr>
          <p:cNvPr id="12" name="Text 10"/>
          <p:cNvSpPr txBox="1"/>
          <p:nvPr/>
        </p:nvSpPr>
        <p:spPr>
          <a:xfrm>
            <a:off x="2578608" y="4340906"/>
            <a:ext cx="918423" cy="228600"/>
          </a:xfrm>
          <a:prstGeom prst="rect">
            <a:avLst/>
          </a:prstGeom>
          <a:noFill/>
          <a:ln/>
        </p:spPr>
        <p:txBody>
          <a:bodyPr wrap="square" lIns="0" tIns="0" rIns="0" bIns="0" rtlCol="0" anchor="ctr">
            <a:normAutofit/>
          </a:bodyPr>
          <a:lstStyle/>
          <a:p>
            <a:pPr marL="0" indent="0" algn="ctr">
              <a:buNone/>
            </a:pPr>
            <a:r>
              <a:rPr lang="en-US" sz="1200" b="1" dirty="0">
                <a:solidFill>
                  <a:srgbClr val="102B3E"/>
                </a:solidFill>
                <a:latin typeface="Aptos" pitchFamily="34" charset="0"/>
                <a:ea typeface="Aptos" pitchFamily="34" charset="-122"/>
                <a:cs typeface="Aptos" pitchFamily="34" charset="-120"/>
              </a:rPr>
              <a:t>16</a:t>
            </a:r>
            <a:endParaRPr lang="en-US" sz="1200" dirty="0"/>
          </a:p>
        </p:txBody>
      </p:sp>
      <p:sp>
        <p:nvSpPr>
          <p:cNvPr id="13" name="Text 11"/>
          <p:cNvSpPr txBox="1"/>
          <p:nvPr/>
        </p:nvSpPr>
        <p:spPr>
          <a:xfrm>
            <a:off x="2468880" y="5687568"/>
            <a:ext cx="1137879" cy="475488"/>
          </a:xfrm>
          <a:prstGeom prst="rect">
            <a:avLst/>
          </a:prstGeom>
          <a:noFill/>
          <a:ln/>
        </p:spPr>
        <p:txBody>
          <a:bodyPr wrap="square" lIns="0" tIns="0" rIns="0" bIns="0" rtlCol="0" anchor="ctr">
            <a:normAutofit/>
          </a:bodyPr>
          <a:lstStyle/>
          <a:p>
            <a:pPr marL="0" indent="0" algn="ctr">
              <a:buNone/>
            </a:pPr>
            <a:r>
              <a:rPr lang="en-US" sz="1100" dirty="0">
                <a:solidFill>
                  <a:srgbClr val="536A78"/>
                </a:solidFill>
                <a:latin typeface="Aptos" pitchFamily="34" charset="0"/>
                <a:ea typeface="Aptos" pitchFamily="34" charset="-122"/>
                <a:cs typeface="Aptos" pitchFamily="34" charset="-120"/>
              </a:rPr>
              <a:t>Test validity</a:t>
            </a:r>
            <a:endParaRPr lang="en-US" sz="1100" dirty="0"/>
          </a:p>
        </p:txBody>
      </p:sp>
      <p:sp>
        <p:nvSpPr>
          <p:cNvPr id="14" name="Shape 12"/>
          <p:cNvSpPr/>
          <p:nvPr/>
        </p:nvSpPr>
        <p:spPr>
          <a:xfrm>
            <a:off x="4059936" y="4869596"/>
            <a:ext cx="918423" cy="708244"/>
          </a:xfrm>
          <a:prstGeom prst="rect">
            <a:avLst/>
          </a:prstGeom>
          <a:solidFill>
            <a:srgbClr val="C8D9DC"/>
          </a:solidFill>
          <a:ln w="12700">
            <a:solidFill>
              <a:srgbClr val="FFFFFF"/>
            </a:solidFill>
            <a:prstDash val="solid"/>
          </a:ln>
        </p:spPr>
        <p:txBody>
          <a:bodyPr/>
          <a:lstStyle/>
          <a:p>
            <a:endParaRPr lang="en-US"/>
          </a:p>
        </p:txBody>
      </p:sp>
      <p:sp>
        <p:nvSpPr>
          <p:cNvPr id="15" name="Text 13"/>
          <p:cNvSpPr txBox="1"/>
          <p:nvPr/>
        </p:nvSpPr>
        <p:spPr>
          <a:xfrm>
            <a:off x="4059936" y="4576988"/>
            <a:ext cx="918423" cy="228600"/>
          </a:xfrm>
          <a:prstGeom prst="rect">
            <a:avLst/>
          </a:prstGeom>
          <a:noFill/>
          <a:ln/>
        </p:spPr>
        <p:txBody>
          <a:bodyPr wrap="square" lIns="0" tIns="0" rIns="0" bIns="0" rtlCol="0" anchor="ctr">
            <a:normAutofit/>
          </a:bodyPr>
          <a:lstStyle/>
          <a:p>
            <a:pPr marL="0" indent="0" algn="ctr">
              <a:buNone/>
            </a:pPr>
            <a:r>
              <a:rPr lang="en-US" sz="1200" b="1" dirty="0">
                <a:solidFill>
                  <a:srgbClr val="102B3E"/>
                </a:solidFill>
                <a:latin typeface="Aptos" pitchFamily="34" charset="0"/>
                <a:ea typeface="Aptos" pitchFamily="34" charset="-122"/>
                <a:cs typeface="Aptos" pitchFamily="34" charset="-120"/>
              </a:rPr>
              <a:t>12</a:t>
            </a:r>
            <a:endParaRPr lang="en-US" sz="1200" dirty="0"/>
          </a:p>
        </p:txBody>
      </p:sp>
      <p:sp>
        <p:nvSpPr>
          <p:cNvPr id="16" name="Text 14"/>
          <p:cNvSpPr txBox="1"/>
          <p:nvPr/>
        </p:nvSpPr>
        <p:spPr>
          <a:xfrm>
            <a:off x="3950208" y="5687568"/>
            <a:ext cx="1137879" cy="475488"/>
          </a:xfrm>
          <a:prstGeom prst="rect">
            <a:avLst/>
          </a:prstGeom>
          <a:noFill/>
          <a:ln/>
        </p:spPr>
        <p:txBody>
          <a:bodyPr wrap="square" lIns="0" tIns="0" rIns="0" bIns="0" rtlCol="0" anchor="ctr">
            <a:normAutofit/>
          </a:bodyPr>
          <a:lstStyle/>
          <a:p>
            <a:pPr marL="0" indent="0" algn="ctr">
              <a:buNone/>
            </a:pPr>
            <a:r>
              <a:rPr lang="en-US" sz="1100" dirty="0">
                <a:solidFill>
                  <a:srgbClr val="536A78"/>
                </a:solidFill>
                <a:latin typeface="Aptos" pitchFamily="34" charset="0"/>
                <a:ea typeface="Aptos" pitchFamily="34" charset="-122"/>
                <a:cs typeface="Aptos" pitchFamily="34" charset="-120"/>
              </a:rPr>
              <a:t>No start</a:t>
            </a:r>
            <a:endParaRPr lang="en-US" sz="1100" dirty="0"/>
          </a:p>
        </p:txBody>
      </p:sp>
      <p:sp>
        <p:nvSpPr>
          <p:cNvPr id="17" name="Shape 15"/>
          <p:cNvSpPr/>
          <p:nvPr/>
        </p:nvSpPr>
        <p:spPr>
          <a:xfrm>
            <a:off x="5541264" y="5223718"/>
            <a:ext cx="918423" cy="354122"/>
          </a:xfrm>
          <a:prstGeom prst="rect">
            <a:avLst/>
          </a:prstGeom>
          <a:solidFill>
            <a:srgbClr val="C8D9DC"/>
          </a:solidFill>
          <a:ln w="12700">
            <a:solidFill>
              <a:srgbClr val="FFFFFF"/>
            </a:solidFill>
            <a:prstDash val="solid"/>
          </a:ln>
        </p:spPr>
        <p:txBody>
          <a:bodyPr/>
          <a:lstStyle/>
          <a:p>
            <a:endParaRPr lang="en-US"/>
          </a:p>
        </p:txBody>
      </p:sp>
      <p:sp>
        <p:nvSpPr>
          <p:cNvPr id="18" name="Text 16"/>
          <p:cNvSpPr txBox="1"/>
          <p:nvPr/>
        </p:nvSpPr>
        <p:spPr>
          <a:xfrm>
            <a:off x="5541264" y="4931110"/>
            <a:ext cx="918423" cy="228600"/>
          </a:xfrm>
          <a:prstGeom prst="rect">
            <a:avLst/>
          </a:prstGeom>
          <a:noFill/>
          <a:ln/>
        </p:spPr>
        <p:txBody>
          <a:bodyPr wrap="square" lIns="0" tIns="0" rIns="0" bIns="0" rtlCol="0" anchor="ctr">
            <a:normAutofit/>
          </a:bodyPr>
          <a:lstStyle/>
          <a:p>
            <a:pPr marL="0" indent="0" algn="ctr">
              <a:buNone/>
            </a:pPr>
            <a:r>
              <a:rPr lang="en-US" sz="1200" b="1" dirty="0">
                <a:solidFill>
                  <a:srgbClr val="102B3E"/>
                </a:solidFill>
                <a:latin typeface="Aptos" pitchFamily="34" charset="0"/>
                <a:ea typeface="Aptos" pitchFamily="34" charset="-122"/>
                <a:cs typeface="Aptos" pitchFamily="34" charset="-120"/>
              </a:rPr>
              <a:t>6</a:t>
            </a:r>
            <a:endParaRPr lang="en-US" sz="1200" dirty="0"/>
          </a:p>
        </p:txBody>
      </p:sp>
      <p:sp>
        <p:nvSpPr>
          <p:cNvPr id="19" name="Text 17"/>
          <p:cNvSpPr txBox="1"/>
          <p:nvPr/>
        </p:nvSpPr>
        <p:spPr>
          <a:xfrm>
            <a:off x="5431536" y="5687568"/>
            <a:ext cx="1137879" cy="475488"/>
          </a:xfrm>
          <a:prstGeom prst="rect">
            <a:avLst/>
          </a:prstGeom>
          <a:noFill/>
          <a:ln/>
        </p:spPr>
        <p:txBody>
          <a:bodyPr wrap="square" lIns="0" tIns="0" rIns="0" bIns="0" rtlCol="0" anchor="ctr">
            <a:normAutofit/>
          </a:bodyPr>
          <a:lstStyle/>
          <a:p>
            <a:pPr marL="0" indent="0" algn="ctr">
              <a:buNone/>
            </a:pPr>
            <a:r>
              <a:rPr lang="en-US" sz="1100" dirty="0">
                <a:solidFill>
                  <a:srgbClr val="536A78"/>
                </a:solidFill>
                <a:latin typeface="Aptos" pitchFamily="34" charset="0"/>
                <a:ea typeface="Aptos" pitchFamily="34" charset="-122"/>
                <a:cs typeface="Aptos" pitchFamily="34" charset="-120"/>
              </a:rPr>
              <a:t>Leak</a:t>
            </a:r>
            <a:endParaRPr lang="en-US" sz="1100" dirty="0"/>
          </a:p>
        </p:txBody>
      </p:sp>
      <p:sp>
        <p:nvSpPr>
          <p:cNvPr id="20" name="Shape 18"/>
          <p:cNvSpPr/>
          <p:nvPr/>
        </p:nvSpPr>
        <p:spPr>
          <a:xfrm>
            <a:off x="7022592" y="5341759"/>
            <a:ext cx="918423" cy="236081"/>
          </a:xfrm>
          <a:prstGeom prst="rect">
            <a:avLst/>
          </a:prstGeom>
          <a:solidFill>
            <a:srgbClr val="C8D9DC"/>
          </a:solidFill>
          <a:ln w="12700">
            <a:solidFill>
              <a:srgbClr val="FFFFFF"/>
            </a:solidFill>
            <a:prstDash val="solid"/>
          </a:ln>
        </p:spPr>
        <p:txBody>
          <a:bodyPr/>
          <a:lstStyle/>
          <a:p>
            <a:endParaRPr lang="en-US"/>
          </a:p>
        </p:txBody>
      </p:sp>
      <p:sp>
        <p:nvSpPr>
          <p:cNvPr id="21" name="Text 19"/>
          <p:cNvSpPr txBox="1"/>
          <p:nvPr/>
        </p:nvSpPr>
        <p:spPr>
          <a:xfrm>
            <a:off x="7022592" y="5049151"/>
            <a:ext cx="918423" cy="228600"/>
          </a:xfrm>
          <a:prstGeom prst="rect">
            <a:avLst/>
          </a:prstGeom>
          <a:noFill/>
          <a:ln/>
        </p:spPr>
        <p:txBody>
          <a:bodyPr wrap="square" lIns="0" tIns="0" rIns="0" bIns="0" rtlCol="0" anchor="ctr">
            <a:normAutofit/>
          </a:bodyPr>
          <a:lstStyle/>
          <a:p>
            <a:pPr marL="0" indent="0" algn="ctr">
              <a:buNone/>
            </a:pPr>
            <a:r>
              <a:rPr lang="en-US" sz="1200" b="1" dirty="0">
                <a:solidFill>
                  <a:srgbClr val="102B3E"/>
                </a:solidFill>
                <a:latin typeface="Aptos" pitchFamily="34" charset="0"/>
                <a:ea typeface="Aptos" pitchFamily="34" charset="-122"/>
                <a:cs typeface="Aptos" pitchFamily="34" charset="-120"/>
              </a:rPr>
              <a:t>4</a:t>
            </a:r>
            <a:endParaRPr lang="en-US" sz="1200" dirty="0"/>
          </a:p>
        </p:txBody>
      </p:sp>
      <p:sp>
        <p:nvSpPr>
          <p:cNvPr id="22" name="Text 20"/>
          <p:cNvSpPr txBox="1"/>
          <p:nvPr/>
        </p:nvSpPr>
        <p:spPr>
          <a:xfrm>
            <a:off x="6912864" y="5687568"/>
            <a:ext cx="1137879" cy="475488"/>
          </a:xfrm>
          <a:prstGeom prst="rect">
            <a:avLst/>
          </a:prstGeom>
          <a:noFill/>
          <a:ln/>
        </p:spPr>
        <p:txBody>
          <a:bodyPr wrap="square" lIns="0" tIns="0" rIns="0" bIns="0" rtlCol="0" anchor="ctr">
            <a:normAutofit/>
          </a:bodyPr>
          <a:lstStyle/>
          <a:p>
            <a:pPr marL="0" indent="0" algn="ctr">
              <a:buNone/>
            </a:pPr>
            <a:r>
              <a:rPr lang="en-US" sz="1100" dirty="0">
                <a:solidFill>
                  <a:srgbClr val="536A78"/>
                </a:solidFill>
                <a:latin typeface="Aptos" pitchFamily="34" charset="0"/>
                <a:ea typeface="Aptos" pitchFamily="34" charset="-122"/>
                <a:cs typeface="Aptos" pitchFamily="34" charset="-120"/>
              </a:rPr>
              <a:t>Other</a:t>
            </a:r>
            <a:endParaRPr lang="en-US" sz="1100" dirty="0"/>
          </a:p>
        </p:txBody>
      </p:sp>
      <p:sp>
        <p:nvSpPr>
          <p:cNvPr id="23" name="Shape 21"/>
          <p:cNvSpPr/>
          <p:nvPr/>
        </p:nvSpPr>
        <p:spPr>
          <a:xfrm>
            <a:off x="8823960" y="2331720"/>
            <a:ext cx="2514600" cy="3246120"/>
          </a:xfrm>
          <a:prstGeom prst="roundRect">
            <a:avLst>
              <a:gd name="adj" fmla="val 2909"/>
            </a:avLst>
          </a:prstGeom>
          <a:solidFill>
            <a:srgbClr val="FFF7E8"/>
          </a:solidFill>
          <a:ln w="12700">
            <a:solidFill>
              <a:srgbClr val="F2C572"/>
            </a:solidFill>
            <a:prstDash val="solid"/>
          </a:ln>
        </p:spPr>
        <p:txBody>
          <a:bodyPr/>
          <a:lstStyle/>
          <a:p>
            <a:endParaRPr lang="en-US"/>
          </a:p>
        </p:txBody>
      </p:sp>
      <p:sp>
        <p:nvSpPr>
          <p:cNvPr id="24" name="Text 22"/>
          <p:cNvSpPr txBox="1"/>
          <p:nvPr/>
        </p:nvSpPr>
        <p:spPr>
          <a:xfrm>
            <a:off x="9098280" y="2606040"/>
            <a:ext cx="1965960" cy="365760"/>
          </a:xfrm>
          <a:prstGeom prst="rect">
            <a:avLst/>
          </a:prstGeom>
          <a:noFill/>
          <a:ln/>
        </p:spPr>
        <p:txBody>
          <a:bodyPr wrap="square" lIns="0" tIns="0" rIns="0" bIns="0" rtlCol="0" anchor="ctr">
            <a:normAutofit/>
          </a:bodyPr>
          <a:lstStyle/>
          <a:p>
            <a:pPr marL="0" indent="0" algn="l">
              <a:buNone/>
            </a:pPr>
            <a:r>
              <a:rPr lang="en-US" sz="1800" b="1" dirty="0">
                <a:solidFill>
                  <a:srgbClr val="F4A62A"/>
                </a:solidFill>
                <a:latin typeface="Aptos" pitchFamily="34" charset="0"/>
                <a:ea typeface="Aptos" pitchFamily="34" charset="-122"/>
                <a:cs typeface="Aptos" pitchFamily="34" charset="-120"/>
              </a:rPr>
              <a:t>Read it correctly</a:t>
            </a:r>
            <a:endParaRPr lang="en-US" sz="1800" dirty="0"/>
          </a:p>
        </p:txBody>
      </p:sp>
      <p:sp>
        <p:nvSpPr>
          <p:cNvPr id="25" name="Text 23"/>
          <p:cNvSpPr txBox="1"/>
          <p:nvPr/>
        </p:nvSpPr>
        <p:spPr>
          <a:xfrm>
            <a:off x="9098280" y="3218688"/>
            <a:ext cx="1965960" cy="1645920"/>
          </a:xfrm>
          <a:prstGeom prst="rect">
            <a:avLst/>
          </a:prstGeom>
          <a:noFill/>
          <a:ln/>
        </p:spPr>
        <p:txBody>
          <a:bodyPr wrap="square" lIns="0" tIns="0" rIns="0" bIns="0" rtlCol="0" anchor="t">
            <a:normAutofit/>
          </a:bodyPr>
          <a:lstStyle/>
          <a:p>
            <a:pPr marL="0" indent="0" algn="l">
              <a:buNone/>
            </a:pPr>
            <a:r>
              <a:rPr lang="en-US" sz="1500" dirty="0">
                <a:solidFill>
                  <a:srgbClr val="102B3E"/>
                </a:solidFill>
                <a:latin typeface="Aptos" pitchFamily="34" charset="0"/>
                <a:ea typeface="Aptos" pitchFamily="34" charset="-122"/>
                <a:cs typeface="Aptos" pitchFamily="34" charset="-120"/>
              </a:rPr>
              <a:t>Largest bars show where recorded problems concentrate.</a:t>
            </a:r>
            <a:endParaRPr lang="en-US" sz="1500" dirty="0"/>
          </a:p>
          <a:p>
            <a:pPr marL="0" indent="0" algn="l">
              <a:buNone/>
            </a:pPr>
            <a:endParaRPr lang="en-US" sz="1500" dirty="0"/>
          </a:p>
          <a:p>
            <a:pPr marL="0" indent="0" algn="l">
              <a:buNone/>
            </a:pPr>
            <a:r>
              <a:rPr lang="en-US" sz="1500" dirty="0">
                <a:solidFill>
                  <a:srgbClr val="102B3E"/>
                </a:solidFill>
                <a:latin typeface="Aptos" pitchFamily="34" charset="0"/>
                <a:ea typeface="Aptos" pitchFamily="34" charset="-122"/>
                <a:cs typeface="Aptos" pitchFamily="34" charset="-120"/>
              </a:rPr>
              <a:t>They do not prove root cause.</a:t>
            </a:r>
            <a:endParaRPr lang="en-US" sz="1500" dirty="0"/>
          </a:p>
        </p:txBody>
      </p:sp>
      <p:sp>
        <p:nvSpPr>
          <p:cNvPr id="26" name="Text 2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173</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Fishbone quick reference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Organise hypotheses; do not present them as facts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960120" y="4069080"/>
            <a:ext cx="8503920" cy="0"/>
          </a:xfrm>
          <a:prstGeom prst="line">
            <a:avLst/>
          </a:prstGeom>
          <a:noFill/>
          <a:ln w="38100">
            <a:solidFill>
              <a:srgbClr val="102B3E"/>
            </a:solidFill>
            <a:prstDash val="solid"/>
            <a:tailEnd type="triangle"/>
          </a:ln>
        </p:spPr>
        <p:txBody>
          <a:bodyPr/>
          <a:lstStyle/>
          <a:p>
            <a:endParaRPr lang="en-US"/>
          </a:p>
        </p:txBody>
      </p:sp>
      <p:sp>
        <p:nvSpPr>
          <p:cNvPr id="8" name="Shape 6"/>
          <p:cNvSpPr/>
          <p:nvPr/>
        </p:nvSpPr>
        <p:spPr>
          <a:xfrm flipV="1">
            <a:off x="1920240" y="2834640"/>
            <a:ext cx="1143000" cy="1234440"/>
          </a:xfrm>
          <a:prstGeom prst="line">
            <a:avLst/>
          </a:prstGeom>
          <a:noFill/>
          <a:ln w="25400">
            <a:solidFill>
              <a:srgbClr val="078897"/>
            </a:solidFill>
            <a:prstDash val="solid"/>
          </a:ln>
        </p:spPr>
        <p:txBody>
          <a:bodyPr/>
          <a:lstStyle/>
          <a:p>
            <a:endParaRPr lang="en-US"/>
          </a:p>
        </p:txBody>
      </p:sp>
      <p:sp>
        <p:nvSpPr>
          <p:cNvPr id="9" name="Text 7"/>
          <p:cNvSpPr txBox="1"/>
          <p:nvPr/>
        </p:nvSpPr>
        <p:spPr>
          <a:xfrm>
            <a:off x="1783080" y="2212848"/>
            <a:ext cx="1645920" cy="29260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Machine</a:t>
            </a:r>
            <a:endParaRPr lang="en-US" sz="1500" dirty="0"/>
          </a:p>
        </p:txBody>
      </p:sp>
      <p:sp>
        <p:nvSpPr>
          <p:cNvPr id="10" name="Text 8"/>
          <p:cNvSpPr txBox="1"/>
          <p:nvPr/>
        </p:nvSpPr>
        <p:spPr>
          <a:xfrm>
            <a:off x="1810512" y="2560320"/>
            <a:ext cx="1600200" cy="566928"/>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Pump</a:t>
            </a:r>
            <a:endParaRPr lang="en-US" sz="1300" dirty="0"/>
          </a:p>
          <a:p>
            <a:pPr marL="0" indent="0" algn="ctr">
              <a:buNone/>
            </a:pPr>
            <a:r>
              <a:rPr lang="en-US" sz="1300" dirty="0">
                <a:solidFill>
                  <a:srgbClr val="102B3E"/>
                </a:solidFill>
                <a:latin typeface="Aptos" pitchFamily="34" charset="0"/>
                <a:ea typeface="Aptos" pitchFamily="34" charset="-122"/>
                <a:cs typeface="Aptos" pitchFamily="34" charset="-120"/>
              </a:rPr>
              <a:t>Valve</a:t>
            </a:r>
            <a:endParaRPr lang="en-US" sz="1300" dirty="0"/>
          </a:p>
        </p:txBody>
      </p:sp>
      <p:sp>
        <p:nvSpPr>
          <p:cNvPr id="11" name="Shape 9"/>
          <p:cNvSpPr/>
          <p:nvPr/>
        </p:nvSpPr>
        <p:spPr>
          <a:xfrm flipV="1">
            <a:off x="4206240" y="2834640"/>
            <a:ext cx="1143000" cy="1234440"/>
          </a:xfrm>
          <a:prstGeom prst="line">
            <a:avLst/>
          </a:prstGeom>
          <a:noFill/>
          <a:ln w="25400">
            <a:solidFill>
              <a:srgbClr val="078897"/>
            </a:solidFill>
            <a:prstDash val="solid"/>
          </a:ln>
        </p:spPr>
        <p:txBody>
          <a:bodyPr/>
          <a:lstStyle/>
          <a:p>
            <a:endParaRPr lang="en-US"/>
          </a:p>
        </p:txBody>
      </p:sp>
      <p:sp>
        <p:nvSpPr>
          <p:cNvPr id="12" name="Text 10"/>
          <p:cNvSpPr txBox="1"/>
          <p:nvPr/>
        </p:nvSpPr>
        <p:spPr>
          <a:xfrm>
            <a:off x="4069080" y="2212848"/>
            <a:ext cx="1645920" cy="29260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Method</a:t>
            </a:r>
            <a:endParaRPr lang="en-US" sz="1500" dirty="0"/>
          </a:p>
        </p:txBody>
      </p:sp>
      <p:sp>
        <p:nvSpPr>
          <p:cNvPr id="13" name="Text 11"/>
          <p:cNvSpPr txBox="1"/>
          <p:nvPr/>
        </p:nvSpPr>
        <p:spPr>
          <a:xfrm>
            <a:off x="4096512" y="2560320"/>
            <a:ext cx="1600200" cy="566928"/>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Setup</a:t>
            </a:r>
            <a:endParaRPr lang="en-US" sz="1300" dirty="0"/>
          </a:p>
          <a:p>
            <a:pPr marL="0" indent="0" algn="ctr">
              <a:buNone/>
            </a:pPr>
            <a:r>
              <a:rPr lang="en-US" sz="1300" dirty="0">
                <a:solidFill>
                  <a:srgbClr val="102B3E"/>
                </a:solidFill>
                <a:latin typeface="Aptos" pitchFamily="34" charset="0"/>
                <a:ea typeface="Aptos" pitchFamily="34" charset="-122"/>
                <a:cs typeface="Aptos" pitchFamily="34" charset="-120"/>
              </a:rPr>
              <a:t>Sequence</a:t>
            </a:r>
            <a:endParaRPr lang="en-US" sz="1300" dirty="0"/>
          </a:p>
        </p:txBody>
      </p:sp>
      <p:sp>
        <p:nvSpPr>
          <p:cNvPr id="14" name="Shape 12"/>
          <p:cNvSpPr/>
          <p:nvPr/>
        </p:nvSpPr>
        <p:spPr>
          <a:xfrm flipV="1">
            <a:off x="6492240" y="2834640"/>
            <a:ext cx="1143000" cy="1234440"/>
          </a:xfrm>
          <a:prstGeom prst="line">
            <a:avLst/>
          </a:prstGeom>
          <a:noFill/>
          <a:ln w="25400">
            <a:solidFill>
              <a:srgbClr val="078897"/>
            </a:solidFill>
            <a:prstDash val="solid"/>
          </a:ln>
        </p:spPr>
        <p:txBody>
          <a:bodyPr/>
          <a:lstStyle/>
          <a:p>
            <a:endParaRPr lang="en-US"/>
          </a:p>
        </p:txBody>
      </p:sp>
      <p:sp>
        <p:nvSpPr>
          <p:cNvPr id="15" name="Text 13"/>
          <p:cNvSpPr txBox="1"/>
          <p:nvPr/>
        </p:nvSpPr>
        <p:spPr>
          <a:xfrm>
            <a:off x="6355080" y="2212848"/>
            <a:ext cx="1645920" cy="29260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Measurement</a:t>
            </a:r>
            <a:endParaRPr lang="en-US" sz="1500" dirty="0"/>
          </a:p>
        </p:txBody>
      </p:sp>
      <p:sp>
        <p:nvSpPr>
          <p:cNvPr id="16" name="Text 14"/>
          <p:cNvSpPr txBox="1"/>
          <p:nvPr/>
        </p:nvSpPr>
        <p:spPr>
          <a:xfrm>
            <a:off x="6382512" y="2560320"/>
            <a:ext cx="1600200" cy="566928"/>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Calibration</a:t>
            </a:r>
            <a:endParaRPr lang="en-US" sz="1300" dirty="0"/>
          </a:p>
          <a:p>
            <a:pPr marL="0" indent="0" algn="ctr">
              <a:buNone/>
            </a:pPr>
            <a:r>
              <a:rPr lang="en-US" sz="1300" dirty="0">
                <a:solidFill>
                  <a:srgbClr val="102B3E"/>
                </a:solidFill>
                <a:latin typeface="Aptos" pitchFamily="34" charset="0"/>
                <a:ea typeface="Aptos" pitchFamily="34" charset="-122"/>
                <a:cs typeface="Aptos" pitchFamily="34" charset="-120"/>
              </a:rPr>
              <a:t>Timing</a:t>
            </a:r>
            <a:endParaRPr lang="en-US" sz="1300" dirty="0"/>
          </a:p>
        </p:txBody>
      </p:sp>
      <p:sp>
        <p:nvSpPr>
          <p:cNvPr id="17" name="Shape 15"/>
          <p:cNvSpPr/>
          <p:nvPr/>
        </p:nvSpPr>
        <p:spPr>
          <a:xfrm>
            <a:off x="1920240" y="4069080"/>
            <a:ext cx="1143000" cy="1234440"/>
          </a:xfrm>
          <a:prstGeom prst="line">
            <a:avLst/>
          </a:prstGeom>
          <a:noFill/>
          <a:ln w="25400">
            <a:solidFill>
              <a:srgbClr val="078897"/>
            </a:solidFill>
            <a:prstDash val="solid"/>
          </a:ln>
        </p:spPr>
        <p:txBody>
          <a:bodyPr/>
          <a:lstStyle/>
          <a:p>
            <a:endParaRPr lang="en-US"/>
          </a:p>
        </p:txBody>
      </p:sp>
      <p:sp>
        <p:nvSpPr>
          <p:cNvPr id="18" name="Text 16"/>
          <p:cNvSpPr txBox="1"/>
          <p:nvPr/>
        </p:nvSpPr>
        <p:spPr>
          <a:xfrm>
            <a:off x="1783080" y="5157216"/>
            <a:ext cx="1645920" cy="29260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People</a:t>
            </a:r>
            <a:endParaRPr lang="en-US" sz="1500" dirty="0"/>
          </a:p>
        </p:txBody>
      </p:sp>
      <p:sp>
        <p:nvSpPr>
          <p:cNvPr id="19" name="Text 17"/>
          <p:cNvSpPr txBox="1"/>
          <p:nvPr/>
        </p:nvSpPr>
        <p:spPr>
          <a:xfrm>
            <a:off x="1810512" y="5468112"/>
            <a:ext cx="1600200" cy="566928"/>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Training</a:t>
            </a:r>
            <a:endParaRPr lang="en-US" sz="1300" dirty="0"/>
          </a:p>
          <a:p>
            <a:pPr marL="0" indent="0" algn="ctr">
              <a:buNone/>
            </a:pPr>
            <a:r>
              <a:rPr lang="en-US" sz="1300" dirty="0">
                <a:solidFill>
                  <a:srgbClr val="102B3E"/>
                </a:solidFill>
                <a:latin typeface="Aptos" pitchFamily="34" charset="0"/>
                <a:ea typeface="Aptos" pitchFamily="34" charset="-122"/>
                <a:cs typeface="Aptos" pitchFamily="34" charset="-120"/>
              </a:rPr>
              <a:t>Handover</a:t>
            </a:r>
            <a:endParaRPr lang="en-US" sz="1300" dirty="0"/>
          </a:p>
        </p:txBody>
      </p:sp>
      <p:sp>
        <p:nvSpPr>
          <p:cNvPr id="20" name="Shape 18"/>
          <p:cNvSpPr/>
          <p:nvPr/>
        </p:nvSpPr>
        <p:spPr>
          <a:xfrm>
            <a:off x="4206240" y="4069080"/>
            <a:ext cx="1143000" cy="1234440"/>
          </a:xfrm>
          <a:prstGeom prst="line">
            <a:avLst/>
          </a:prstGeom>
          <a:noFill/>
          <a:ln w="25400">
            <a:solidFill>
              <a:srgbClr val="078897"/>
            </a:solidFill>
            <a:prstDash val="solid"/>
          </a:ln>
        </p:spPr>
        <p:txBody>
          <a:bodyPr/>
          <a:lstStyle/>
          <a:p>
            <a:endParaRPr lang="en-US"/>
          </a:p>
        </p:txBody>
      </p:sp>
      <p:sp>
        <p:nvSpPr>
          <p:cNvPr id="21" name="Text 19"/>
          <p:cNvSpPr txBox="1"/>
          <p:nvPr/>
        </p:nvSpPr>
        <p:spPr>
          <a:xfrm>
            <a:off x="4069080" y="5157216"/>
            <a:ext cx="1645920" cy="29260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Material</a:t>
            </a:r>
            <a:endParaRPr lang="en-US" sz="1500" dirty="0"/>
          </a:p>
        </p:txBody>
      </p:sp>
      <p:sp>
        <p:nvSpPr>
          <p:cNvPr id="22" name="Text 20"/>
          <p:cNvSpPr txBox="1"/>
          <p:nvPr/>
        </p:nvSpPr>
        <p:spPr>
          <a:xfrm>
            <a:off x="4096512" y="5468112"/>
            <a:ext cx="1600200" cy="566928"/>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Fluid</a:t>
            </a:r>
            <a:endParaRPr lang="en-US" sz="1300" dirty="0"/>
          </a:p>
          <a:p>
            <a:pPr marL="0" indent="0" algn="ctr">
              <a:buNone/>
            </a:pPr>
            <a:r>
              <a:rPr lang="en-US" sz="1300" dirty="0">
                <a:solidFill>
                  <a:srgbClr val="102B3E"/>
                </a:solidFill>
                <a:latin typeface="Aptos" pitchFamily="34" charset="0"/>
                <a:ea typeface="Aptos" pitchFamily="34" charset="-122"/>
                <a:cs typeface="Aptos" pitchFamily="34" charset="-120"/>
              </a:rPr>
              <a:t>Contamination</a:t>
            </a:r>
            <a:endParaRPr lang="en-US" sz="1300" dirty="0"/>
          </a:p>
        </p:txBody>
      </p:sp>
      <p:sp>
        <p:nvSpPr>
          <p:cNvPr id="23" name="Shape 21"/>
          <p:cNvSpPr/>
          <p:nvPr/>
        </p:nvSpPr>
        <p:spPr>
          <a:xfrm>
            <a:off x="6492240" y="4069080"/>
            <a:ext cx="1143000" cy="1234440"/>
          </a:xfrm>
          <a:prstGeom prst="line">
            <a:avLst/>
          </a:prstGeom>
          <a:noFill/>
          <a:ln w="25400">
            <a:solidFill>
              <a:srgbClr val="078897"/>
            </a:solidFill>
            <a:prstDash val="solid"/>
          </a:ln>
        </p:spPr>
        <p:txBody>
          <a:bodyPr/>
          <a:lstStyle/>
          <a:p>
            <a:endParaRPr lang="en-US"/>
          </a:p>
        </p:txBody>
      </p:sp>
      <p:sp>
        <p:nvSpPr>
          <p:cNvPr id="24" name="Text 22"/>
          <p:cNvSpPr txBox="1"/>
          <p:nvPr/>
        </p:nvSpPr>
        <p:spPr>
          <a:xfrm>
            <a:off x="6355080" y="5157216"/>
            <a:ext cx="1645920" cy="292608"/>
          </a:xfrm>
          <a:prstGeom prst="rect">
            <a:avLst/>
          </a:prstGeom>
          <a:noFill/>
          <a:ln/>
        </p:spPr>
        <p:txBody>
          <a:bodyPr wrap="square" lIns="0" tIns="0" rIns="0" bIns="0" rtlCol="0" anchor="ctr">
            <a:normAutofit/>
          </a:bodyPr>
          <a:lstStyle/>
          <a:p>
            <a:pPr marL="0" indent="0" algn="ctr">
              <a:buNone/>
            </a:pPr>
            <a:r>
              <a:rPr lang="en-US" sz="1500" b="1" dirty="0">
                <a:solidFill>
                  <a:srgbClr val="078897"/>
                </a:solidFill>
                <a:latin typeface="Aptos" pitchFamily="34" charset="0"/>
                <a:ea typeface="Aptos" pitchFamily="34" charset="-122"/>
                <a:cs typeface="Aptos" pitchFamily="34" charset="-120"/>
              </a:rPr>
              <a:t>Environment</a:t>
            </a:r>
            <a:endParaRPr lang="en-US" sz="1500" dirty="0"/>
          </a:p>
        </p:txBody>
      </p:sp>
      <p:sp>
        <p:nvSpPr>
          <p:cNvPr id="25" name="Text 23"/>
          <p:cNvSpPr txBox="1"/>
          <p:nvPr/>
        </p:nvSpPr>
        <p:spPr>
          <a:xfrm>
            <a:off x="6382512" y="5468112"/>
            <a:ext cx="1600200" cy="566928"/>
          </a:xfrm>
          <a:prstGeom prst="rect">
            <a:avLst/>
          </a:prstGeom>
          <a:noFill/>
          <a:ln/>
        </p:spPr>
        <p:txBody>
          <a:bodyPr wrap="square" lIns="0" tIns="0" rIns="0" bIns="0" rtlCol="0" anchor="ctr">
            <a:normAutofit/>
          </a:bodyPr>
          <a:lstStyle/>
          <a:p>
            <a:pPr marL="0" indent="0" algn="ctr">
              <a:buNone/>
            </a:pPr>
            <a:r>
              <a:rPr lang="en-US" sz="1300" dirty="0">
                <a:solidFill>
                  <a:srgbClr val="102B3E"/>
                </a:solidFill>
                <a:latin typeface="Aptos" pitchFamily="34" charset="0"/>
                <a:ea typeface="Aptos" pitchFamily="34" charset="-122"/>
                <a:cs typeface="Aptos" pitchFamily="34" charset="-120"/>
              </a:rPr>
              <a:t>Temperature</a:t>
            </a:r>
            <a:endParaRPr lang="en-US" sz="1300" dirty="0"/>
          </a:p>
          <a:p>
            <a:pPr marL="0" indent="0" algn="ctr">
              <a:buNone/>
            </a:pPr>
            <a:r>
              <a:rPr lang="en-US" sz="1300" dirty="0">
                <a:solidFill>
                  <a:srgbClr val="102B3E"/>
                </a:solidFill>
                <a:latin typeface="Aptos" pitchFamily="34" charset="0"/>
                <a:ea typeface="Aptos" pitchFamily="34" charset="-122"/>
                <a:cs typeface="Aptos" pitchFamily="34" charset="-120"/>
              </a:rPr>
              <a:t>Supply</a:t>
            </a:r>
            <a:endParaRPr lang="en-US" sz="1300" dirty="0"/>
          </a:p>
        </p:txBody>
      </p:sp>
      <p:sp>
        <p:nvSpPr>
          <p:cNvPr id="26" name="Shape 24"/>
          <p:cNvSpPr/>
          <p:nvPr/>
        </p:nvSpPr>
        <p:spPr>
          <a:xfrm>
            <a:off x="9464040" y="3401568"/>
            <a:ext cx="1828800" cy="1325880"/>
          </a:xfrm>
          <a:prstGeom prst="roundRect">
            <a:avLst>
              <a:gd name="adj" fmla="val 5517"/>
            </a:avLst>
          </a:prstGeom>
          <a:solidFill>
            <a:srgbClr val="FFF7E8"/>
          </a:solidFill>
          <a:ln w="12700">
            <a:solidFill>
              <a:srgbClr val="F2C572"/>
            </a:solidFill>
            <a:prstDash val="solid"/>
          </a:ln>
        </p:spPr>
        <p:txBody>
          <a:bodyPr/>
          <a:lstStyle/>
          <a:p>
            <a:endParaRPr lang="en-US"/>
          </a:p>
        </p:txBody>
      </p:sp>
      <p:sp>
        <p:nvSpPr>
          <p:cNvPr id="27" name="Text 25"/>
          <p:cNvSpPr txBox="1"/>
          <p:nvPr/>
        </p:nvSpPr>
        <p:spPr>
          <a:xfrm>
            <a:off x="9674352" y="3675888"/>
            <a:ext cx="1417320" cy="713232"/>
          </a:xfrm>
          <a:prstGeom prst="rect">
            <a:avLst/>
          </a:prstGeom>
          <a:noFill/>
          <a:ln/>
        </p:spPr>
        <p:txBody>
          <a:bodyPr wrap="square" lIns="0" tIns="0" rIns="0" bIns="0" rtlCol="0" anchor="ctr">
            <a:normAutofit/>
          </a:bodyPr>
          <a:lstStyle/>
          <a:p>
            <a:pPr marL="0" indent="0" algn="ctr">
              <a:buNone/>
            </a:pPr>
            <a:r>
              <a:rPr lang="en-US" sz="1800" b="1" dirty="0">
                <a:solidFill>
                  <a:srgbClr val="F4A62A"/>
                </a:solidFill>
                <a:latin typeface="Aptos" pitchFamily="34" charset="0"/>
                <a:ea typeface="Aptos" pitchFamily="34" charset="-122"/>
                <a:cs typeface="Aptos" pitchFamily="34" charset="-120"/>
              </a:rPr>
              <a:t>Low delivery</a:t>
            </a:r>
            <a:endParaRPr lang="en-US" sz="1800" dirty="0"/>
          </a:p>
        </p:txBody>
      </p:sp>
      <p:sp>
        <p:nvSpPr>
          <p:cNvPr id="28" name="Text 26"/>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9"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174</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5-Whys quick reference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One chain, explicit evidence gaps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Problem</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State symptom</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Why</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Ask for mechanism</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Evidence</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Check each link</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Stop</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Mark unknown</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Test</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Name next observation</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175</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SPC quick reference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Behaviour over time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804672" y="5715000"/>
            <a:ext cx="7955280" cy="0"/>
          </a:xfrm>
          <a:prstGeom prst="line">
            <a:avLst/>
          </a:prstGeom>
          <a:noFill/>
          <a:ln w="12700">
            <a:solidFill>
              <a:srgbClr val="536A78"/>
            </a:solidFill>
            <a:prstDash val="solid"/>
          </a:ln>
        </p:spPr>
        <p:txBody>
          <a:bodyPr/>
          <a:lstStyle/>
          <a:p>
            <a:endParaRPr/>
          </a:p>
        </p:txBody>
      </p:sp>
      <p:sp>
        <p:nvSpPr>
          <p:cNvPr id="8" name="Shape 6"/>
          <p:cNvSpPr/>
          <p:nvPr/>
        </p:nvSpPr>
        <p:spPr>
          <a:xfrm>
            <a:off x="804672" y="2505456"/>
            <a:ext cx="7955280" cy="0"/>
          </a:xfrm>
          <a:prstGeom prst="line">
            <a:avLst/>
          </a:prstGeom>
          <a:noFill/>
          <a:ln w="19050">
            <a:solidFill>
              <a:srgbClr val="F4A62A"/>
            </a:solidFill>
            <a:prstDash val="dash"/>
          </a:ln>
        </p:spPr>
        <p:txBody>
          <a:bodyPr/>
          <a:lstStyle/>
          <a:p>
            <a:endParaRPr/>
          </a:p>
        </p:txBody>
      </p:sp>
      <p:sp>
        <p:nvSpPr>
          <p:cNvPr id="9" name="Text 7"/>
          <p:cNvSpPr txBox="1"/>
          <p:nvPr/>
        </p:nvSpPr>
        <p:spPr>
          <a:xfrm>
            <a:off x="8833104" y="2386584"/>
            <a:ext cx="502920" cy="228600"/>
          </a:xfrm>
          <a:prstGeom prst="rect">
            <a:avLst/>
          </a:prstGeom>
          <a:noFill/>
          <a:ln/>
        </p:spPr>
        <p:txBody>
          <a:bodyPr wrap="square" lIns="0" tIns="0" rIns="0" bIns="0" rtlCol="0" anchor="ctr">
            <a:normAutofit/>
          </a:bodyPr>
          <a:lstStyle/>
          <a:p>
            <a:pPr marL="0" indent="0" algn="l">
              <a:buNone/>
            </a:pPr>
            <a:r>
              <a:rPr lang="en-US" sz="1100" b="1" dirty="0">
                <a:solidFill>
                  <a:srgbClr val="F4A62A"/>
                </a:solidFill>
                <a:latin typeface="Aptos" pitchFamily="34" charset="0"/>
                <a:ea typeface="Aptos" pitchFamily="34" charset="-122"/>
                <a:cs typeface="Aptos" pitchFamily="34" charset="-120"/>
              </a:rPr>
              <a:t>UCL</a:t>
            </a:r>
            <a:endParaRPr lang="en-US" sz="1100" dirty="0"/>
          </a:p>
        </p:txBody>
      </p:sp>
      <p:sp>
        <p:nvSpPr>
          <p:cNvPr id="10" name="Shape 8"/>
          <p:cNvSpPr/>
          <p:nvPr/>
        </p:nvSpPr>
        <p:spPr>
          <a:xfrm>
            <a:off x="804672" y="3040380"/>
            <a:ext cx="7955280" cy="0"/>
          </a:xfrm>
          <a:prstGeom prst="line">
            <a:avLst/>
          </a:prstGeom>
          <a:noFill/>
          <a:ln w="19050">
            <a:solidFill>
              <a:srgbClr val="078897"/>
            </a:solidFill>
            <a:prstDash val="dash"/>
          </a:ln>
        </p:spPr>
        <p:txBody>
          <a:bodyPr/>
          <a:lstStyle/>
          <a:p>
            <a:endParaRPr/>
          </a:p>
        </p:txBody>
      </p:sp>
      <p:sp>
        <p:nvSpPr>
          <p:cNvPr id="11" name="Text 9"/>
          <p:cNvSpPr txBox="1"/>
          <p:nvPr/>
        </p:nvSpPr>
        <p:spPr>
          <a:xfrm>
            <a:off x="8833104" y="2921508"/>
            <a:ext cx="502920" cy="228600"/>
          </a:xfrm>
          <a:prstGeom prst="rect">
            <a:avLst/>
          </a:prstGeom>
          <a:noFill/>
          <a:ln/>
        </p:spPr>
        <p:txBody>
          <a:bodyPr wrap="square" lIns="0" tIns="0" rIns="0" bIns="0" rtlCol="0" anchor="ctr">
            <a:normAutofit/>
          </a:bodyPr>
          <a:lstStyle/>
          <a:p>
            <a:pPr marL="0" indent="0" algn="l">
              <a:buNone/>
            </a:pPr>
            <a:r>
              <a:rPr lang="en-US" sz="1100" b="1" dirty="0">
                <a:solidFill>
                  <a:srgbClr val="078897"/>
                </a:solidFill>
                <a:latin typeface="Aptos" pitchFamily="34" charset="0"/>
                <a:ea typeface="Aptos" pitchFamily="34" charset="-122"/>
                <a:cs typeface="Aptos" pitchFamily="34" charset="-120"/>
              </a:rPr>
              <a:t>Mean</a:t>
            </a:r>
            <a:endParaRPr lang="en-US" sz="1100" dirty="0"/>
          </a:p>
        </p:txBody>
      </p:sp>
      <p:sp>
        <p:nvSpPr>
          <p:cNvPr id="12" name="Shape 10"/>
          <p:cNvSpPr/>
          <p:nvPr/>
        </p:nvSpPr>
        <p:spPr>
          <a:xfrm>
            <a:off x="804672" y="3575304"/>
            <a:ext cx="7955280" cy="0"/>
          </a:xfrm>
          <a:prstGeom prst="line">
            <a:avLst/>
          </a:prstGeom>
          <a:noFill/>
          <a:ln w="19050">
            <a:solidFill>
              <a:srgbClr val="C94B50"/>
            </a:solidFill>
            <a:prstDash val="dash"/>
          </a:ln>
        </p:spPr>
        <p:txBody>
          <a:bodyPr/>
          <a:lstStyle/>
          <a:p>
            <a:endParaRPr/>
          </a:p>
        </p:txBody>
      </p:sp>
      <p:sp>
        <p:nvSpPr>
          <p:cNvPr id="13" name="Text 11"/>
          <p:cNvSpPr txBox="1"/>
          <p:nvPr/>
        </p:nvSpPr>
        <p:spPr>
          <a:xfrm>
            <a:off x="8833104" y="3456432"/>
            <a:ext cx="502920" cy="228600"/>
          </a:xfrm>
          <a:prstGeom prst="rect">
            <a:avLst/>
          </a:prstGeom>
          <a:noFill/>
          <a:ln/>
        </p:spPr>
        <p:txBody>
          <a:bodyPr wrap="square" lIns="0" tIns="0" rIns="0" bIns="0" rtlCol="0" anchor="ctr">
            <a:normAutofit/>
          </a:bodyPr>
          <a:lstStyle/>
          <a:p>
            <a:pPr marL="0" indent="0" algn="l">
              <a:buNone/>
            </a:pPr>
            <a:r>
              <a:rPr lang="en-US" sz="1100" b="1" dirty="0">
                <a:solidFill>
                  <a:srgbClr val="C94B50"/>
                </a:solidFill>
                <a:latin typeface="Aptos" pitchFamily="34" charset="0"/>
                <a:ea typeface="Aptos" pitchFamily="34" charset="-122"/>
                <a:cs typeface="Aptos" pitchFamily="34" charset="-120"/>
              </a:rPr>
              <a:t>LCL</a:t>
            </a:r>
            <a:endParaRPr lang="en-US" sz="1100" dirty="0"/>
          </a:p>
        </p:txBody>
      </p:sp>
      <p:sp>
        <p:nvSpPr>
          <p:cNvPr id="14" name="Shape 12"/>
          <p:cNvSpPr/>
          <p:nvPr/>
        </p:nvSpPr>
        <p:spPr>
          <a:xfrm>
            <a:off x="804672" y="3218688"/>
            <a:ext cx="723207" cy="0"/>
          </a:xfrm>
          <a:prstGeom prst="line">
            <a:avLst/>
          </a:prstGeom>
          <a:noFill/>
          <a:ln w="25400">
            <a:solidFill>
              <a:srgbClr val="2477B3"/>
            </a:solidFill>
            <a:prstDash val="solid"/>
          </a:ln>
        </p:spPr>
        <p:txBody>
          <a:bodyPr/>
          <a:lstStyle/>
          <a:p>
            <a:endParaRPr/>
          </a:p>
        </p:txBody>
      </p:sp>
      <p:sp>
        <p:nvSpPr>
          <p:cNvPr id="15" name="Shape 13"/>
          <p:cNvSpPr/>
          <p:nvPr/>
        </p:nvSpPr>
        <p:spPr>
          <a:xfrm>
            <a:off x="1527879" y="2951226"/>
            <a:ext cx="723207" cy="178308"/>
          </a:xfrm>
          <a:prstGeom prst="line">
            <a:avLst/>
          </a:prstGeom>
          <a:noFill/>
          <a:ln w="25400">
            <a:solidFill>
              <a:srgbClr val="2477B3"/>
            </a:solidFill>
            <a:prstDash val="solid"/>
          </a:ln>
        </p:spPr>
        <p:txBody>
          <a:bodyPr/>
          <a:lstStyle/>
          <a:p>
            <a:endParaRPr/>
          </a:p>
        </p:txBody>
      </p:sp>
      <p:sp>
        <p:nvSpPr>
          <p:cNvPr id="16" name="Shape 14"/>
          <p:cNvSpPr/>
          <p:nvPr/>
        </p:nvSpPr>
        <p:spPr>
          <a:xfrm>
            <a:off x="2251087" y="3129534"/>
            <a:ext cx="723207" cy="0"/>
          </a:xfrm>
          <a:prstGeom prst="line">
            <a:avLst/>
          </a:prstGeom>
          <a:noFill/>
          <a:ln w="25400">
            <a:solidFill>
              <a:srgbClr val="2477B3"/>
            </a:solidFill>
            <a:prstDash val="solid"/>
          </a:ln>
        </p:spPr>
        <p:txBody>
          <a:bodyPr/>
          <a:lstStyle/>
          <a:p>
            <a:endParaRPr/>
          </a:p>
        </p:txBody>
      </p:sp>
      <p:sp>
        <p:nvSpPr>
          <p:cNvPr id="17" name="Shape 15"/>
          <p:cNvSpPr/>
          <p:nvPr/>
        </p:nvSpPr>
        <p:spPr>
          <a:xfrm>
            <a:off x="2974294" y="2862072"/>
            <a:ext cx="723207" cy="178308"/>
          </a:xfrm>
          <a:prstGeom prst="line">
            <a:avLst/>
          </a:prstGeom>
          <a:noFill/>
          <a:ln w="25400">
            <a:solidFill>
              <a:srgbClr val="2477B3"/>
            </a:solidFill>
            <a:prstDash val="solid"/>
          </a:ln>
        </p:spPr>
        <p:txBody>
          <a:bodyPr/>
          <a:lstStyle/>
          <a:p>
            <a:endParaRPr/>
          </a:p>
        </p:txBody>
      </p:sp>
      <p:sp>
        <p:nvSpPr>
          <p:cNvPr id="18" name="Shape 16"/>
          <p:cNvSpPr/>
          <p:nvPr/>
        </p:nvSpPr>
        <p:spPr>
          <a:xfrm>
            <a:off x="3697501" y="3040380"/>
            <a:ext cx="723207" cy="267462"/>
          </a:xfrm>
          <a:prstGeom prst="line">
            <a:avLst/>
          </a:prstGeom>
          <a:noFill/>
          <a:ln w="25400">
            <a:solidFill>
              <a:srgbClr val="2477B3"/>
            </a:solidFill>
            <a:prstDash val="solid"/>
          </a:ln>
        </p:spPr>
        <p:txBody>
          <a:bodyPr/>
          <a:lstStyle/>
          <a:p>
            <a:endParaRPr/>
          </a:p>
        </p:txBody>
      </p:sp>
      <p:sp>
        <p:nvSpPr>
          <p:cNvPr id="19" name="Shape 17"/>
          <p:cNvSpPr/>
          <p:nvPr/>
        </p:nvSpPr>
        <p:spPr>
          <a:xfrm>
            <a:off x="4420708" y="3307842"/>
            <a:ext cx="723207" cy="0"/>
          </a:xfrm>
          <a:prstGeom prst="line">
            <a:avLst/>
          </a:prstGeom>
          <a:noFill/>
          <a:ln w="25400">
            <a:solidFill>
              <a:srgbClr val="2477B3"/>
            </a:solidFill>
            <a:prstDash val="solid"/>
          </a:ln>
        </p:spPr>
        <p:txBody>
          <a:bodyPr/>
          <a:lstStyle/>
          <a:p>
            <a:endParaRPr/>
          </a:p>
        </p:txBody>
      </p:sp>
      <p:sp>
        <p:nvSpPr>
          <p:cNvPr id="20" name="Shape 18"/>
          <p:cNvSpPr/>
          <p:nvPr/>
        </p:nvSpPr>
        <p:spPr>
          <a:xfrm>
            <a:off x="5143916" y="2772918"/>
            <a:ext cx="723207" cy="267462"/>
          </a:xfrm>
          <a:prstGeom prst="line">
            <a:avLst/>
          </a:prstGeom>
          <a:noFill/>
          <a:ln w="25400">
            <a:solidFill>
              <a:srgbClr val="2477B3"/>
            </a:solidFill>
            <a:prstDash val="solid"/>
          </a:ln>
        </p:spPr>
        <p:txBody>
          <a:bodyPr/>
          <a:lstStyle/>
          <a:p>
            <a:endParaRPr/>
          </a:p>
        </p:txBody>
      </p:sp>
      <p:sp>
        <p:nvSpPr>
          <p:cNvPr id="21" name="Shape 19"/>
          <p:cNvSpPr/>
          <p:nvPr/>
        </p:nvSpPr>
        <p:spPr>
          <a:xfrm>
            <a:off x="5867123" y="3040380"/>
            <a:ext cx="723207" cy="2139696"/>
          </a:xfrm>
          <a:prstGeom prst="line">
            <a:avLst/>
          </a:prstGeom>
          <a:noFill/>
          <a:ln w="25400">
            <a:solidFill>
              <a:srgbClr val="2477B3"/>
            </a:solidFill>
            <a:prstDash val="solid"/>
          </a:ln>
        </p:spPr>
        <p:txBody>
          <a:bodyPr/>
          <a:lstStyle/>
          <a:p>
            <a:endParaRPr/>
          </a:p>
        </p:txBody>
      </p:sp>
      <p:sp>
        <p:nvSpPr>
          <p:cNvPr id="22" name="Shape 20"/>
          <p:cNvSpPr/>
          <p:nvPr/>
        </p:nvSpPr>
        <p:spPr>
          <a:xfrm>
            <a:off x="6590330" y="5180076"/>
            <a:ext cx="723207" cy="178308"/>
          </a:xfrm>
          <a:prstGeom prst="line">
            <a:avLst/>
          </a:prstGeom>
          <a:noFill/>
          <a:ln w="25400">
            <a:solidFill>
              <a:srgbClr val="2477B3"/>
            </a:solidFill>
            <a:prstDash val="solid"/>
          </a:ln>
        </p:spPr>
        <p:txBody>
          <a:bodyPr/>
          <a:lstStyle/>
          <a:p>
            <a:endParaRPr/>
          </a:p>
        </p:txBody>
      </p:sp>
      <p:sp>
        <p:nvSpPr>
          <p:cNvPr id="23" name="Shape 21"/>
          <p:cNvSpPr/>
          <p:nvPr/>
        </p:nvSpPr>
        <p:spPr>
          <a:xfrm>
            <a:off x="7313537" y="5358384"/>
            <a:ext cx="723207" cy="0"/>
          </a:xfrm>
          <a:prstGeom prst="line">
            <a:avLst/>
          </a:prstGeom>
          <a:noFill/>
          <a:ln w="25400">
            <a:solidFill>
              <a:srgbClr val="2477B3"/>
            </a:solidFill>
            <a:prstDash val="solid"/>
          </a:ln>
        </p:spPr>
        <p:txBody>
          <a:bodyPr/>
          <a:lstStyle/>
          <a:p>
            <a:endParaRPr/>
          </a:p>
        </p:txBody>
      </p:sp>
      <p:sp>
        <p:nvSpPr>
          <p:cNvPr id="24" name="Shape 22"/>
          <p:cNvSpPr/>
          <p:nvPr/>
        </p:nvSpPr>
        <p:spPr>
          <a:xfrm>
            <a:off x="8036745" y="2951226"/>
            <a:ext cx="723207" cy="2318004"/>
          </a:xfrm>
          <a:prstGeom prst="line">
            <a:avLst/>
          </a:prstGeom>
          <a:noFill/>
          <a:ln w="25400">
            <a:solidFill>
              <a:srgbClr val="2477B3"/>
            </a:solidFill>
            <a:prstDash val="solid"/>
          </a:ln>
        </p:spPr>
        <p:txBody>
          <a:bodyPr/>
          <a:lstStyle/>
          <a:p>
            <a:endParaRPr/>
          </a:p>
        </p:txBody>
      </p:sp>
      <p:sp>
        <p:nvSpPr>
          <p:cNvPr id="25" name="Shape 23"/>
          <p:cNvSpPr/>
          <p:nvPr/>
        </p:nvSpPr>
        <p:spPr>
          <a:xfrm>
            <a:off x="731520" y="3145536"/>
            <a:ext cx="146304" cy="146304"/>
          </a:xfrm>
          <a:prstGeom prst="ellipse">
            <a:avLst/>
          </a:prstGeom>
          <a:solidFill>
            <a:srgbClr val="2477B3"/>
          </a:solidFill>
          <a:ln w="12700">
            <a:solidFill>
              <a:srgbClr val="2477B3"/>
            </a:solidFill>
            <a:prstDash val="solid"/>
          </a:ln>
        </p:spPr>
        <p:txBody>
          <a:bodyPr/>
          <a:lstStyle/>
          <a:p>
            <a:endParaRPr/>
          </a:p>
        </p:txBody>
      </p:sp>
      <p:sp>
        <p:nvSpPr>
          <p:cNvPr id="26" name="Text 24"/>
          <p:cNvSpPr txBox="1"/>
          <p:nvPr/>
        </p:nvSpPr>
        <p:spPr>
          <a:xfrm>
            <a:off x="640080"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T01</a:t>
            </a:r>
            <a:endParaRPr lang="en-US" sz="900" dirty="0"/>
          </a:p>
        </p:txBody>
      </p:sp>
      <p:sp>
        <p:nvSpPr>
          <p:cNvPr id="27" name="Shape 25"/>
          <p:cNvSpPr/>
          <p:nvPr/>
        </p:nvSpPr>
        <p:spPr>
          <a:xfrm>
            <a:off x="1454727" y="2878074"/>
            <a:ext cx="146304" cy="146304"/>
          </a:xfrm>
          <a:prstGeom prst="ellipse">
            <a:avLst/>
          </a:prstGeom>
          <a:solidFill>
            <a:srgbClr val="2477B3"/>
          </a:solidFill>
          <a:ln w="12700">
            <a:solidFill>
              <a:srgbClr val="2477B3"/>
            </a:solidFill>
            <a:prstDash val="solid"/>
          </a:ln>
        </p:spPr>
        <p:txBody>
          <a:bodyPr/>
          <a:lstStyle/>
          <a:p>
            <a:endParaRPr/>
          </a:p>
        </p:txBody>
      </p:sp>
      <p:sp>
        <p:nvSpPr>
          <p:cNvPr id="28" name="Text 26"/>
          <p:cNvSpPr txBox="1"/>
          <p:nvPr/>
        </p:nvSpPr>
        <p:spPr>
          <a:xfrm>
            <a:off x="1363287"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T02</a:t>
            </a:r>
            <a:endParaRPr lang="en-US" sz="900" dirty="0"/>
          </a:p>
        </p:txBody>
      </p:sp>
      <p:sp>
        <p:nvSpPr>
          <p:cNvPr id="29" name="Shape 27"/>
          <p:cNvSpPr/>
          <p:nvPr/>
        </p:nvSpPr>
        <p:spPr>
          <a:xfrm>
            <a:off x="2177935" y="3056382"/>
            <a:ext cx="146304" cy="146304"/>
          </a:xfrm>
          <a:prstGeom prst="ellipse">
            <a:avLst/>
          </a:prstGeom>
          <a:solidFill>
            <a:srgbClr val="2477B3"/>
          </a:solidFill>
          <a:ln w="12700">
            <a:solidFill>
              <a:srgbClr val="2477B3"/>
            </a:solidFill>
            <a:prstDash val="solid"/>
          </a:ln>
        </p:spPr>
        <p:txBody>
          <a:bodyPr/>
          <a:lstStyle/>
          <a:p>
            <a:endParaRPr/>
          </a:p>
        </p:txBody>
      </p:sp>
      <p:sp>
        <p:nvSpPr>
          <p:cNvPr id="30" name="Text 28"/>
          <p:cNvSpPr txBox="1"/>
          <p:nvPr/>
        </p:nvSpPr>
        <p:spPr>
          <a:xfrm>
            <a:off x="2086495"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T03</a:t>
            </a:r>
            <a:endParaRPr lang="en-US" sz="900" dirty="0"/>
          </a:p>
        </p:txBody>
      </p:sp>
      <p:sp>
        <p:nvSpPr>
          <p:cNvPr id="31" name="Shape 29"/>
          <p:cNvSpPr/>
          <p:nvPr/>
        </p:nvSpPr>
        <p:spPr>
          <a:xfrm>
            <a:off x="2901142" y="2788920"/>
            <a:ext cx="146304" cy="146304"/>
          </a:xfrm>
          <a:prstGeom prst="ellipse">
            <a:avLst/>
          </a:prstGeom>
          <a:solidFill>
            <a:srgbClr val="2477B3"/>
          </a:solidFill>
          <a:ln w="12700">
            <a:solidFill>
              <a:srgbClr val="2477B3"/>
            </a:solidFill>
            <a:prstDash val="solid"/>
          </a:ln>
        </p:spPr>
        <p:txBody>
          <a:bodyPr/>
          <a:lstStyle/>
          <a:p>
            <a:endParaRPr/>
          </a:p>
        </p:txBody>
      </p:sp>
      <p:sp>
        <p:nvSpPr>
          <p:cNvPr id="32" name="Text 30"/>
          <p:cNvSpPr txBox="1"/>
          <p:nvPr/>
        </p:nvSpPr>
        <p:spPr>
          <a:xfrm>
            <a:off x="2809702"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T04</a:t>
            </a:r>
            <a:endParaRPr lang="en-US" sz="900" dirty="0"/>
          </a:p>
        </p:txBody>
      </p:sp>
      <p:sp>
        <p:nvSpPr>
          <p:cNvPr id="33" name="Shape 31"/>
          <p:cNvSpPr/>
          <p:nvPr/>
        </p:nvSpPr>
        <p:spPr>
          <a:xfrm>
            <a:off x="3624349" y="2967228"/>
            <a:ext cx="146304" cy="146304"/>
          </a:xfrm>
          <a:prstGeom prst="ellipse">
            <a:avLst/>
          </a:prstGeom>
          <a:solidFill>
            <a:srgbClr val="2477B3"/>
          </a:solidFill>
          <a:ln w="12700">
            <a:solidFill>
              <a:srgbClr val="2477B3"/>
            </a:solidFill>
            <a:prstDash val="solid"/>
          </a:ln>
        </p:spPr>
        <p:txBody>
          <a:bodyPr/>
          <a:lstStyle/>
          <a:p>
            <a:endParaRPr/>
          </a:p>
        </p:txBody>
      </p:sp>
      <p:sp>
        <p:nvSpPr>
          <p:cNvPr id="34" name="Text 32"/>
          <p:cNvSpPr txBox="1"/>
          <p:nvPr/>
        </p:nvSpPr>
        <p:spPr>
          <a:xfrm>
            <a:off x="3532909"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T05</a:t>
            </a:r>
            <a:endParaRPr lang="en-US" sz="900" dirty="0"/>
          </a:p>
        </p:txBody>
      </p:sp>
      <p:sp>
        <p:nvSpPr>
          <p:cNvPr id="35" name="Shape 33"/>
          <p:cNvSpPr/>
          <p:nvPr/>
        </p:nvSpPr>
        <p:spPr>
          <a:xfrm>
            <a:off x="4347556" y="3234690"/>
            <a:ext cx="146304" cy="146304"/>
          </a:xfrm>
          <a:prstGeom prst="ellipse">
            <a:avLst/>
          </a:prstGeom>
          <a:solidFill>
            <a:srgbClr val="2477B3"/>
          </a:solidFill>
          <a:ln w="12700">
            <a:solidFill>
              <a:srgbClr val="2477B3"/>
            </a:solidFill>
            <a:prstDash val="solid"/>
          </a:ln>
        </p:spPr>
        <p:txBody>
          <a:bodyPr/>
          <a:lstStyle/>
          <a:p>
            <a:endParaRPr/>
          </a:p>
        </p:txBody>
      </p:sp>
      <p:sp>
        <p:nvSpPr>
          <p:cNvPr id="36" name="Text 34"/>
          <p:cNvSpPr txBox="1"/>
          <p:nvPr/>
        </p:nvSpPr>
        <p:spPr>
          <a:xfrm>
            <a:off x="4256116"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T06</a:t>
            </a:r>
            <a:endParaRPr lang="en-US" sz="900" dirty="0"/>
          </a:p>
        </p:txBody>
      </p:sp>
      <p:sp>
        <p:nvSpPr>
          <p:cNvPr id="37" name="Shape 35"/>
          <p:cNvSpPr/>
          <p:nvPr/>
        </p:nvSpPr>
        <p:spPr>
          <a:xfrm>
            <a:off x="5070764" y="2699766"/>
            <a:ext cx="146304" cy="146304"/>
          </a:xfrm>
          <a:prstGeom prst="ellipse">
            <a:avLst/>
          </a:prstGeom>
          <a:solidFill>
            <a:srgbClr val="2477B3"/>
          </a:solidFill>
          <a:ln w="12700">
            <a:solidFill>
              <a:srgbClr val="2477B3"/>
            </a:solidFill>
            <a:prstDash val="solid"/>
          </a:ln>
        </p:spPr>
        <p:txBody>
          <a:bodyPr/>
          <a:lstStyle/>
          <a:p>
            <a:endParaRPr/>
          </a:p>
        </p:txBody>
      </p:sp>
      <p:sp>
        <p:nvSpPr>
          <p:cNvPr id="38" name="Text 36"/>
          <p:cNvSpPr txBox="1"/>
          <p:nvPr/>
        </p:nvSpPr>
        <p:spPr>
          <a:xfrm>
            <a:off x="4979324"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T07</a:t>
            </a:r>
            <a:endParaRPr lang="en-US" sz="900" dirty="0"/>
          </a:p>
        </p:txBody>
      </p:sp>
      <p:sp>
        <p:nvSpPr>
          <p:cNvPr id="39" name="Shape 37"/>
          <p:cNvSpPr/>
          <p:nvPr/>
        </p:nvSpPr>
        <p:spPr>
          <a:xfrm>
            <a:off x="5793971" y="2967228"/>
            <a:ext cx="146304" cy="146304"/>
          </a:xfrm>
          <a:prstGeom prst="ellipse">
            <a:avLst/>
          </a:prstGeom>
          <a:solidFill>
            <a:srgbClr val="2477B3"/>
          </a:solidFill>
          <a:ln w="12700">
            <a:solidFill>
              <a:srgbClr val="2477B3"/>
            </a:solidFill>
            <a:prstDash val="solid"/>
          </a:ln>
        </p:spPr>
        <p:txBody>
          <a:bodyPr/>
          <a:lstStyle/>
          <a:p>
            <a:endParaRPr/>
          </a:p>
        </p:txBody>
      </p:sp>
      <p:sp>
        <p:nvSpPr>
          <p:cNvPr id="40" name="Text 38"/>
          <p:cNvSpPr txBox="1"/>
          <p:nvPr/>
        </p:nvSpPr>
        <p:spPr>
          <a:xfrm>
            <a:off x="5702531"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T08</a:t>
            </a:r>
            <a:endParaRPr lang="en-US" sz="900" dirty="0"/>
          </a:p>
        </p:txBody>
      </p:sp>
      <p:sp>
        <p:nvSpPr>
          <p:cNvPr id="41" name="Shape 39"/>
          <p:cNvSpPr/>
          <p:nvPr/>
        </p:nvSpPr>
        <p:spPr>
          <a:xfrm>
            <a:off x="6517178" y="5106924"/>
            <a:ext cx="146304" cy="146304"/>
          </a:xfrm>
          <a:prstGeom prst="ellipse">
            <a:avLst/>
          </a:prstGeom>
          <a:solidFill>
            <a:srgbClr val="C94B50"/>
          </a:solidFill>
          <a:ln w="12700">
            <a:solidFill>
              <a:srgbClr val="C94B50"/>
            </a:solidFill>
            <a:prstDash val="solid"/>
          </a:ln>
        </p:spPr>
        <p:txBody>
          <a:bodyPr/>
          <a:lstStyle/>
          <a:p>
            <a:endParaRPr/>
          </a:p>
        </p:txBody>
      </p:sp>
      <p:sp>
        <p:nvSpPr>
          <p:cNvPr id="42" name="Text 40"/>
          <p:cNvSpPr txBox="1"/>
          <p:nvPr/>
        </p:nvSpPr>
        <p:spPr>
          <a:xfrm>
            <a:off x="6425738"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T09</a:t>
            </a:r>
            <a:endParaRPr lang="en-US" sz="900" dirty="0"/>
          </a:p>
        </p:txBody>
      </p:sp>
      <p:sp>
        <p:nvSpPr>
          <p:cNvPr id="43" name="Shape 41"/>
          <p:cNvSpPr/>
          <p:nvPr/>
        </p:nvSpPr>
        <p:spPr>
          <a:xfrm>
            <a:off x="7240385" y="5285232"/>
            <a:ext cx="146304" cy="146304"/>
          </a:xfrm>
          <a:prstGeom prst="ellipse">
            <a:avLst/>
          </a:prstGeom>
          <a:solidFill>
            <a:srgbClr val="C94B50"/>
          </a:solidFill>
          <a:ln w="12700">
            <a:solidFill>
              <a:srgbClr val="C94B50"/>
            </a:solidFill>
            <a:prstDash val="solid"/>
          </a:ln>
        </p:spPr>
        <p:txBody>
          <a:bodyPr/>
          <a:lstStyle/>
          <a:p>
            <a:endParaRPr/>
          </a:p>
        </p:txBody>
      </p:sp>
      <p:sp>
        <p:nvSpPr>
          <p:cNvPr id="44" name="Text 42"/>
          <p:cNvSpPr txBox="1"/>
          <p:nvPr/>
        </p:nvSpPr>
        <p:spPr>
          <a:xfrm>
            <a:off x="7148945"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T10</a:t>
            </a:r>
            <a:endParaRPr lang="en-US" sz="900" dirty="0"/>
          </a:p>
        </p:txBody>
      </p:sp>
      <p:sp>
        <p:nvSpPr>
          <p:cNvPr id="45" name="Shape 43"/>
          <p:cNvSpPr/>
          <p:nvPr/>
        </p:nvSpPr>
        <p:spPr>
          <a:xfrm>
            <a:off x="7963593" y="2878074"/>
            <a:ext cx="146304" cy="146304"/>
          </a:xfrm>
          <a:prstGeom prst="ellipse">
            <a:avLst/>
          </a:prstGeom>
          <a:solidFill>
            <a:srgbClr val="2477B3"/>
          </a:solidFill>
          <a:ln w="12700">
            <a:solidFill>
              <a:srgbClr val="2477B3"/>
            </a:solidFill>
            <a:prstDash val="solid"/>
          </a:ln>
        </p:spPr>
        <p:txBody>
          <a:bodyPr/>
          <a:lstStyle/>
          <a:p>
            <a:endParaRPr/>
          </a:p>
        </p:txBody>
      </p:sp>
      <p:sp>
        <p:nvSpPr>
          <p:cNvPr id="46" name="Text 44"/>
          <p:cNvSpPr txBox="1"/>
          <p:nvPr/>
        </p:nvSpPr>
        <p:spPr>
          <a:xfrm>
            <a:off x="7872153"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T11</a:t>
            </a:r>
            <a:endParaRPr lang="en-US" sz="900" dirty="0"/>
          </a:p>
        </p:txBody>
      </p:sp>
      <p:sp>
        <p:nvSpPr>
          <p:cNvPr id="47" name="Shape 45"/>
          <p:cNvSpPr/>
          <p:nvPr/>
        </p:nvSpPr>
        <p:spPr>
          <a:xfrm>
            <a:off x="8686800" y="5196078"/>
            <a:ext cx="146304" cy="146304"/>
          </a:xfrm>
          <a:prstGeom prst="ellipse">
            <a:avLst/>
          </a:prstGeom>
          <a:solidFill>
            <a:srgbClr val="C94B50"/>
          </a:solidFill>
          <a:ln w="12700">
            <a:solidFill>
              <a:srgbClr val="C94B50"/>
            </a:solidFill>
            <a:prstDash val="solid"/>
          </a:ln>
        </p:spPr>
        <p:txBody>
          <a:bodyPr/>
          <a:lstStyle/>
          <a:p>
            <a:endParaRPr/>
          </a:p>
        </p:txBody>
      </p:sp>
      <p:sp>
        <p:nvSpPr>
          <p:cNvPr id="48" name="Text 46"/>
          <p:cNvSpPr txBox="1"/>
          <p:nvPr/>
        </p:nvSpPr>
        <p:spPr>
          <a:xfrm>
            <a:off x="8595360" y="5852160"/>
            <a:ext cx="365760" cy="201168"/>
          </a:xfrm>
          <a:prstGeom prst="rect">
            <a:avLst/>
          </a:prstGeom>
          <a:noFill/>
          <a:ln/>
        </p:spPr>
        <p:txBody>
          <a:bodyPr wrap="square" lIns="0" tIns="0" rIns="0" bIns="0" rtlCol="0" anchor="ctr">
            <a:normAutofit/>
          </a:bodyPr>
          <a:lstStyle/>
          <a:p>
            <a:pPr marL="0" indent="0" algn="ctr">
              <a:buNone/>
            </a:pPr>
            <a:r>
              <a:rPr lang="en-US" sz="900" dirty="0">
                <a:solidFill>
                  <a:srgbClr val="536A78"/>
                </a:solidFill>
                <a:latin typeface="Aptos" pitchFamily="34" charset="0"/>
                <a:ea typeface="Aptos" pitchFamily="34" charset="-122"/>
                <a:cs typeface="Aptos" pitchFamily="34" charset="-120"/>
              </a:rPr>
              <a:t>T12</a:t>
            </a:r>
            <a:endParaRPr lang="en-US" sz="900" dirty="0"/>
          </a:p>
        </p:txBody>
      </p:sp>
      <p:sp>
        <p:nvSpPr>
          <p:cNvPr id="49" name="Shape 47"/>
          <p:cNvSpPr/>
          <p:nvPr/>
        </p:nvSpPr>
        <p:spPr>
          <a:xfrm>
            <a:off x="9372600" y="2240280"/>
            <a:ext cx="1965960" cy="3429000"/>
          </a:xfrm>
          <a:prstGeom prst="roundRect">
            <a:avLst>
              <a:gd name="adj" fmla="val 3721"/>
            </a:avLst>
          </a:prstGeom>
          <a:solidFill>
            <a:srgbClr val="FFFFFF"/>
          </a:solidFill>
          <a:ln w="12700">
            <a:solidFill>
              <a:srgbClr val="C8D9DC"/>
            </a:solidFill>
            <a:prstDash val="solid"/>
          </a:ln>
        </p:spPr>
        <p:txBody>
          <a:bodyPr/>
          <a:lstStyle/>
          <a:p>
            <a:endParaRPr/>
          </a:p>
        </p:txBody>
      </p:sp>
      <p:sp>
        <p:nvSpPr>
          <p:cNvPr id="50" name="Text 48"/>
          <p:cNvSpPr txBox="1"/>
          <p:nvPr/>
        </p:nvSpPr>
        <p:spPr>
          <a:xfrm>
            <a:off x="9601200" y="2514600"/>
            <a:ext cx="1508760" cy="384048"/>
          </a:xfrm>
          <a:prstGeom prst="rect">
            <a:avLst/>
          </a:prstGeom>
          <a:noFill/>
          <a:ln/>
        </p:spPr>
        <p:txBody>
          <a:bodyPr wrap="square" lIns="0" tIns="0" rIns="0" bIns="0" rtlCol="0" anchor="ctr">
            <a:normAutofit/>
          </a:bodyPr>
          <a:lstStyle/>
          <a:p>
            <a:pPr marL="0" indent="0" algn="ctr">
              <a:buNone/>
            </a:pPr>
            <a:r>
              <a:rPr lang="en-US" sz="1700" b="1" dirty="0">
                <a:solidFill>
                  <a:srgbClr val="078897"/>
                </a:solidFill>
                <a:latin typeface="Aptos" pitchFamily="34" charset="0"/>
                <a:ea typeface="Aptos" pitchFamily="34" charset="-122"/>
                <a:cs typeface="Aptos" pitchFamily="34" charset="-120"/>
              </a:rPr>
              <a:t>Read left → right</a:t>
            </a:r>
            <a:endParaRPr lang="en-US" sz="1700" dirty="0"/>
          </a:p>
        </p:txBody>
      </p:sp>
      <p:sp>
        <p:nvSpPr>
          <p:cNvPr id="51" name="Text 49"/>
          <p:cNvSpPr txBox="1"/>
          <p:nvPr/>
        </p:nvSpPr>
        <p:spPr>
          <a:xfrm>
            <a:off x="9628632" y="3108960"/>
            <a:ext cx="1444752" cy="2011680"/>
          </a:xfrm>
          <a:prstGeom prst="rect">
            <a:avLst/>
          </a:prstGeom>
          <a:noFill/>
          <a:ln/>
        </p:spPr>
        <p:txBody>
          <a:bodyPr wrap="square" lIns="0" tIns="0" rIns="0" bIns="0" rtlCol="0" anchor="ctr">
            <a:normAutofit/>
          </a:bodyPr>
          <a:lstStyle/>
          <a:p>
            <a:pPr marL="0" indent="0" algn="ctr">
              <a:buNone/>
            </a:pPr>
            <a:r>
              <a:rPr lang="en-US" sz="1400" dirty="0">
                <a:solidFill>
                  <a:srgbClr val="102B3E"/>
                </a:solidFill>
                <a:latin typeface="Aptos" pitchFamily="34" charset="0"/>
                <a:ea typeface="Aptos" pitchFamily="34" charset="-122"/>
                <a:cs typeface="Aptos" pitchFamily="34" charset="-120"/>
              </a:rPr>
              <a:t>Baseline</a:t>
            </a: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T01–T08</a:t>
            </a:r>
            <a:endParaRPr lang="en-US" sz="1400" dirty="0"/>
          </a:p>
          <a:p>
            <a:pPr marL="0" indent="0" algn="ctr">
              <a:buNone/>
            </a:pP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Monitoring</a:t>
            </a: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T09–T12</a:t>
            </a:r>
            <a:endParaRPr lang="en-US" sz="1400" dirty="0"/>
          </a:p>
          <a:p>
            <a:pPr marL="0" indent="0" algn="ctr">
              <a:buNone/>
            </a:pP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Signals</a:t>
            </a:r>
            <a:endParaRPr lang="en-US" sz="1400" dirty="0"/>
          </a:p>
          <a:p>
            <a:pPr marL="0" indent="0" algn="ctr">
              <a:buNone/>
            </a:pPr>
            <a:r>
              <a:rPr lang="en-US" sz="1400" dirty="0">
                <a:solidFill>
                  <a:srgbClr val="102B3E"/>
                </a:solidFill>
                <a:latin typeface="Aptos" pitchFamily="34" charset="0"/>
                <a:ea typeface="Aptos" pitchFamily="34" charset="-122"/>
                <a:cs typeface="Aptos" pitchFamily="34" charset="-120"/>
              </a:rPr>
              <a:t>T09, T10, T12</a:t>
            </a:r>
            <a:endParaRPr lang="en-US" sz="1400" dirty="0"/>
          </a:p>
        </p:txBody>
      </p:sp>
      <p:sp>
        <p:nvSpPr>
          <p:cNvPr id="52" name="Text 5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5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176</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Control-chart signal rules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Agree the rule set before monitoring</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Beyond limit</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Single-point signal</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Run</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Repeated points one side</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Trend</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Sustained direction</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Pattern</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Cycle or alternation</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177</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Cp and Cpk formulas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only after stability and data checks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lang="en-US"/>
          </a:p>
        </p:txBody>
      </p:sp>
      <p:sp>
        <p:nvSpPr>
          <p:cNvPr id="7" name="Shape 5"/>
          <p:cNvSpPr/>
          <p:nvPr/>
        </p:nvSpPr>
        <p:spPr>
          <a:xfrm>
            <a:off x="566928" y="2331720"/>
            <a:ext cx="2592324" cy="3337560"/>
          </a:xfrm>
          <a:prstGeom prst="roundRect">
            <a:avLst>
              <a:gd name="adj" fmla="val 2822"/>
            </a:avLst>
          </a:prstGeom>
          <a:solidFill>
            <a:srgbClr val="FFFFFF"/>
          </a:solidFill>
          <a:ln w="12700">
            <a:solidFill>
              <a:srgbClr val="C8D9DC"/>
            </a:solidFill>
            <a:prstDash val="solid"/>
          </a:ln>
        </p:spPr>
        <p:txBody>
          <a:bodyPr/>
          <a:lstStyle/>
          <a:p>
            <a:endParaRPr lang="en-US"/>
          </a:p>
        </p:txBody>
      </p:sp>
      <p:sp>
        <p:nvSpPr>
          <p:cNvPr id="8" name="Text 6"/>
          <p:cNvSpPr txBox="1"/>
          <p:nvPr/>
        </p:nvSpPr>
        <p:spPr>
          <a:xfrm>
            <a:off x="749808"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Cp</a:t>
            </a:r>
            <a:endParaRPr lang="en-US" sz="1800" dirty="0"/>
          </a:p>
        </p:txBody>
      </p:sp>
      <p:sp>
        <p:nvSpPr>
          <p:cNvPr id="9" name="Text 7"/>
          <p:cNvSpPr txBox="1"/>
          <p:nvPr/>
        </p:nvSpPr>
        <p:spPr>
          <a:xfrm>
            <a:off x="749808"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(USL − LSL) ÷ 6σ</a:t>
            </a:r>
            <a:endParaRPr lang="en-US" sz="2100" dirty="0"/>
          </a:p>
        </p:txBody>
      </p:sp>
      <p:sp>
        <p:nvSpPr>
          <p:cNvPr id="10" name="Shape 8"/>
          <p:cNvSpPr/>
          <p:nvPr/>
        </p:nvSpPr>
        <p:spPr>
          <a:xfrm>
            <a:off x="3360420" y="2331720"/>
            <a:ext cx="2592324" cy="3337560"/>
          </a:xfrm>
          <a:prstGeom prst="roundRect">
            <a:avLst>
              <a:gd name="adj" fmla="val 2822"/>
            </a:avLst>
          </a:prstGeom>
          <a:solidFill>
            <a:srgbClr val="FFFFFF"/>
          </a:solidFill>
          <a:ln w="12700">
            <a:solidFill>
              <a:srgbClr val="C8D9DC"/>
            </a:solidFill>
            <a:prstDash val="solid"/>
          </a:ln>
        </p:spPr>
        <p:txBody>
          <a:bodyPr/>
          <a:lstStyle/>
          <a:p>
            <a:endParaRPr lang="en-US"/>
          </a:p>
        </p:txBody>
      </p:sp>
      <p:sp>
        <p:nvSpPr>
          <p:cNvPr id="11" name="Text 9"/>
          <p:cNvSpPr txBox="1"/>
          <p:nvPr/>
        </p:nvSpPr>
        <p:spPr>
          <a:xfrm>
            <a:off x="3543300"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Cpk</a:t>
            </a:r>
            <a:endParaRPr lang="en-US" sz="1800" dirty="0"/>
          </a:p>
        </p:txBody>
      </p:sp>
      <p:sp>
        <p:nvSpPr>
          <p:cNvPr id="12" name="Text 10"/>
          <p:cNvSpPr txBox="1"/>
          <p:nvPr/>
        </p:nvSpPr>
        <p:spPr>
          <a:xfrm>
            <a:off x="3543300"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min[(USL − mean), (mean − LSL)] ÷ 3σ</a:t>
            </a:r>
            <a:endParaRPr lang="en-US" sz="2100" dirty="0"/>
          </a:p>
        </p:txBody>
      </p:sp>
      <p:sp>
        <p:nvSpPr>
          <p:cNvPr id="13" name="Shape 11"/>
          <p:cNvSpPr/>
          <p:nvPr/>
        </p:nvSpPr>
        <p:spPr>
          <a:xfrm>
            <a:off x="6153912" y="2331720"/>
            <a:ext cx="2592324" cy="3337560"/>
          </a:xfrm>
          <a:prstGeom prst="roundRect">
            <a:avLst>
              <a:gd name="adj" fmla="val 2822"/>
            </a:avLst>
          </a:prstGeom>
          <a:solidFill>
            <a:srgbClr val="FFFFFF"/>
          </a:solidFill>
          <a:ln w="12700">
            <a:solidFill>
              <a:srgbClr val="C8D9DC"/>
            </a:solidFill>
            <a:prstDash val="solid"/>
          </a:ln>
        </p:spPr>
        <p:txBody>
          <a:bodyPr/>
          <a:lstStyle/>
          <a:p>
            <a:endParaRPr lang="en-US"/>
          </a:p>
        </p:txBody>
      </p:sp>
      <p:sp>
        <p:nvSpPr>
          <p:cNvPr id="14" name="Text 12"/>
          <p:cNvSpPr txBox="1"/>
          <p:nvPr/>
        </p:nvSpPr>
        <p:spPr>
          <a:xfrm>
            <a:off x="6336792"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Interpret</a:t>
            </a:r>
            <a:endParaRPr lang="en-US" sz="1800" dirty="0"/>
          </a:p>
        </p:txBody>
      </p:sp>
      <p:sp>
        <p:nvSpPr>
          <p:cNvPr id="15" name="Text 13"/>
          <p:cNvSpPr txBox="1"/>
          <p:nvPr/>
        </p:nvSpPr>
        <p:spPr>
          <a:xfrm>
            <a:off x="6336792"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2477B3"/>
                </a:solidFill>
                <a:latin typeface="Aptos" pitchFamily="34" charset="0"/>
                <a:ea typeface="Aptos" pitchFamily="34" charset="-122"/>
                <a:cs typeface="Aptos" pitchFamily="34" charset="-120"/>
              </a:rPr>
              <a:t>Spread + centring</a:t>
            </a:r>
            <a:endParaRPr lang="en-US" sz="2100" dirty="0"/>
          </a:p>
        </p:txBody>
      </p:sp>
      <p:sp>
        <p:nvSpPr>
          <p:cNvPr id="16" name="Shape 14"/>
          <p:cNvSpPr/>
          <p:nvPr/>
        </p:nvSpPr>
        <p:spPr>
          <a:xfrm>
            <a:off x="8947404" y="2331720"/>
            <a:ext cx="2592324" cy="3337560"/>
          </a:xfrm>
          <a:prstGeom prst="roundRect">
            <a:avLst>
              <a:gd name="adj" fmla="val 2822"/>
            </a:avLst>
          </a:prstGeom>
          <a:solidFill>
            <a:srgbClr val="E2EEF0"/>
          </a:solidFill>
          <a:ln w="12700">
            <a:solidFill>
              <a:srgbClr val="C8D9DC"/>
            </a:solidFill>
            <a:prstDash val="solid"/>
          </a:ln>
        </p:spPr>
        <p:txBody>
          <a:bodyPr/>
          <a:lstStyle/>
          <a:p>
            <a:endParaRPr lang="en-US"/>
          </a:p>
        </p:txBody>
      </p:sp>
      <p:sp>
        <p:nvSpPr>
          <p:cNvPr id="17" name="Text 15"/>
          <p:cNvSpPr txBox="1"/>
          <p:nvPr/>
        </p:nvSpPr>
        <p:spPr>
          <a:xfrm>
            <a:off x="9130284" y="2651760"/>
            <a:ext cx="2226564" cy="38404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Boundary</a:t>
            </a:r>
            <a:endParaRPr lang="en-US" sz="1800" dirty="0"/>
          </a:p>
        </p:txBody>
      </p:sp>
      <p:sp>
        <p:nvSpPr>
          <p:cNvPr id="18" name="Text 16"/>
          <p:cNvSpPr txBox="1"/>
          <p:nvPr/>
        </p:nvSpPr>
        <p:spPr>
          <a:xfrm>
            <a:off x="9130284" y="3493008"/>
            <a:ext cx="2226564" cy="1051560"/>
          </a:xfrm>
          <a:prstGeom prst="rect">
            <a:avLst/>
          </a:prstGeom>
          <a:noFill/>
          <a:ln/>
        </p:spPr>
        <p:txBody>
          <a:bodyPr wrap="square" lIns="0" tIns="0" rIns="0" bIns="0" rtlCol="0" anchor="ctr">
            <a:normAutofit/>
          </a:bodyPr>
          <a:lstStyle/>
          <a:p>
            <a:pPr marL="0" indent="0" algn="ctr">
              <a:buNone/>
            </a:pPr>
            <a:r>
              <a:rPr lang="en-US" sz="2100" b="1" dirty="0">
                <a:solidFill>
                  <a:srgbClr val="102B3E"/>
                </a:solidFill>
                <a:latin typeface="Aptos" pitchFamily="34" charset="0"/>
                <a:ea typeface="Aptos" pitchFamily="34" charset="-122"/>
                <a:cs typeface="Aptos" pitchFamily="34" charset="-120"/>
              </a:rPr>
              <a:t>Capability is conditional</a:t>
            </a:r>
            <a:endParaRPr lang="en-US" sz="2100" dirty="0"/>
          </a:p>
        </p:txBody>
      </p:sp>
      <p:sp>
        <p:nvSpPr>
          <p:cNvPr id="19" name="Text 17"/>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178</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RISE quick reference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Role · Input · Steps · Expectations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Role</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Perspective</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Input</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Evidence</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Steps</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Ordered work</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Expectations</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Format + checks</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179</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E-MAP quick reference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Engineering · Metrics · Assumptions · Parameters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Engineering</a:t>
            </a:r>
            <a:endParaRPr lang="en-US" sz="1900" dirty="0"/>
          </a:p>
        </p:txBody>
      </p:sp>
      <p:sp>
        <p:nvSpPr>
          <p:cNvPr id="11" name="Text 9"/>
          <p:cNvSpPr txBox="1"/>
          <p:nvPr/>
        </p:nvSpPr>
        <p:spPr>
          <a:xfrm>
            <a:off x="78638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System and decision</a:t>
            </a:r>
            <a:endParaRPr lang="en-US" sz="1600" dirty="0"/>
          </a:p>
        </p:txBody>
      </p:sp>
      <p:sp>
        <p:nvSpPr>
          <p:cNvPr id="12" name="Shape 10"/>
          <p:cNvSpPr/>
          <p:nvPr/>
        </p:nvSpPr>
        <p:spPr>
          <a:xfrm>
            <a:off x="6190488" y="2029968"/>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637336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637336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903720" y="2194560"/>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Metrics</a:t>
            </a:r>
            <a:endParaRPr lang="en-US" sz="1900" dirty="0"/>
          </a:p>
        </p:txBody>
      </p:sp>
      <p:sp>
        <p:nvSpPr>
          <p:cNvPr id="16" name="Text 14"/>
          <p:cNvSpPr txBox="1"/>
          <p:nvPr/>
        </p:nvSpPr>
        <p:spPr>
          <a:xfrm>
            <a:off x="6409944" y="2743200"/>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Formula and units</a:t>
            </a:r>
            <a:endParaRPr lang="en-US" sz="1600" dirty="0"/>
          </a:p>
        </p:txBody>
      </p:sp>
      <p:sp>
        <p:nvSpPr>
          <p:cNvPr id="17" name="Shape 15"/>
          <p:cNvSpPr/>
          <p:nvPr/>
        </p:nvSpPr>
        <p:spPr>
          <a:xfrm>
            <a:off x="56692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749808" y="4347972"/>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28016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Assumptions</a:t>
            </a:r>
            <a:endParaRPr lang="en-US" sz="1900" dirty="0"/>
          </a:p>
        </p:txBody>
      </p:sp>
      <p:sp>
        <p:nvSpPr>
          <p:cNvPr id="21" name="Text 19"/>
          <p:cNvSpPr txBox="1"/>
          <p:nvPr/>
        </p:nvSpPr>
        <p:spPr>
          <a:xfrm>
            <a:off x="78638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Known/unknown</a:t>
            </a:r>
            <a:endParaRPr lang="en-US" sz="1600" dirty="0"/>
          </a:p>
        </p:txBody>
      </p:sp>
      <p:sp>
        <p:nvSpPr>
          <p:cNvPr id="22" name="Shape 20"/>
          <p:cNvSpPr/>
          <p:nvPr/>
        </p:nvSpPr>
        <p:spPr>
          <a:xfrm>
            <a:off x="6190488" y="4174236"/>
            <a:ext cx="536752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637336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637336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6903720" y="4338828"/>
            <a:ext cx="4471416" cy="384048"/>
          </a:xfrm>
          <a:prstGeom prst="rect">
            <a:avLst/>
          </a:prstGeom>
          <a:noFill/>
          <a:ln/>
        </p:spPr>
        <p:txBody>
          <a:bodyPr wrap="square" lIns="0" tIns="0" rIns="0" bIns="0" rtlCol="0" anchor="ctr">
            <a:normAutofit/>
          </a:bodyPr>
          <a:lstStyle/>
          <a:p>
            <a:pPr marL="0" indent="0" algn="l">
              <a:buNone/>
            </a:pPr>
            <a:r>
              <a:rPr lang="en-US" sz="1900" b="1" dirty="0">
                <a:solidFill>
                  <a:srgbClr val="078897"/>
                </a:solidFill>
                <a:latin typeface="Aptos" pitchFamily="34" charset="0"/>
                <a:ea typeface="Aptos" pitchFamily="34" charset="-122"/>
                <a:cs typeface="Aptos" pitchFamily="34" charset="-120"/>
              </a:rPr>
              <a:t>Parameters</a:t>
            </a:r>
            <a:endParaRPr lang="en-US" sz="1900" dirty="0"/>
          </a:p>
        </p:txBody>
      </p:sp>
      <p:sp>
        <p:nvSpPr>
          <p:cNvPr id="26" name="Text 24"/>
          <p:cNvSpPr txBox="1"/>
          <p:nvPr/>
        </p:nvSpPr>
        <p:spPr>
          <a:xfrm>
            <a:off x="6409944" y="4887468"/>
            <a:ext cx="4928616" cy="1028700"/>
          </a:xfrm>
          <a:prstGeom prst="rect">
            <a:avLst/>
          </a:prstGeom>
          <a:noFill/>
          <a:ln/>
        </p:spPr>
        <p:txBody>
          <a:bodyPr wrap="square" lIns="0" tIns="0" rIns="0" bIns="0" rtlCol="0" anchor="t">
            <a:normAutofit/>
          </a:bodyPr>
          <a:lstStyle/>
          <a:p>
            <a:pPr marL="0" indent="0" algn="l">
              <a:buNone/>
            </a:pPr>
            <a:r>
              <a:rPr lang="en-US" sz="1600" dirty="0">
                <a:solidFill>
                  <a:srgbClr val="102B3E"/>
                </a:solidFill>
                <a:latin typeface="Aptos" pitchFamily="34" charset="0"/>
                <a:ea typeface="Aptos" pitchFamily="34" charset="-122"/>
                <a:cs typeface="Aptos" pitchFamily="34" charset="-120"/>
              </a:rPr>
              <a:t>Limits and revision</a:t>
            </a:r>
            <a:endParaRPr lang="en-US" sz="1600" dirty="0"/>
          </a:p>
        </p:txBody>
      </p:sp>
      <p:sp>
        <p:nvSpPr>
          <p:cNvPr id="27" name="Text 25"/>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8"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180</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Prompt pattern · Word</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Create a structured engineering document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Using only the approved requirements, draft the specified document sections. Preserve units and revision. Put assumptions in a separate table. Add a source column for each mandatory statement and mark missing criteria as “not supplied”.</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Input</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Approved requirements</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Output</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Sections + checklist</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Check</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Trace every shall statement</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181</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Prompt pattern · Excel</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Create formulas and a chart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Use only the named table. Audit row count and missing values, show every formula, create the requested chart, and return one independent check. Preserve source rows and state any assumption before interpreting.</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Input</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Named table</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Output</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Formula columns + chart</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Check</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One independent value</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182</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Prompt pattern · PowerPoint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Create a management summary</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Create one management-summary slide from the checked findings. Use one headline, one chart, two evidence values, one limitation and one requested decision. Do not introduce new facts.</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Input</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Checked findings</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Output</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One-slide decision story</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Check</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No unsupported claim</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183</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Prompt pattern · FMEA</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Calculate without changing ratings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Preserve every supplied FMEA row and rating. Calculate RPN, rank rows, apply the severity gate, and propose evidence requests. Do not invent incidents, ratings or residual risk.</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Check</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RPN arithmetic</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Gate</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Severity threshold</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Boundary</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No approval</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184</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Prompt pattern · DMAIC</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Separate evidence from hypotheses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Create a DMAIC summary from the supplied data. Put observations, hypotheses and required tests in separate columns. Show rates and formulas. Do not treat a Pareto category, fishbone branch or 5-Whys chain as proven cause.</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Check</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Rates</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Tools</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Pareto/fishbone/5-Whys</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Boundary</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No causal proof</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185</a:t>
            </a:fld>
            <a:endParaRPr 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Prompt pattern · SPC</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Fix the baseline and preserve limits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Use the stated baseline only to calculate the centre line and control limits. Apply those fixed limits to monitoring points. Show formulas, flag signals and state that the chart does not identify root cause.</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Check</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Mean and LCL</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Chart</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Time order + fixed limits</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Boundary</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Signal ≠ diagnosis</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186</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Researcher quick reference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Cited research still needs passage-level review</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Scope</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Question and criteria</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Sources</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Provided and approved</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Output</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Cited comparison</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Verify</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Open one passage</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Boundary</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Unresolved differences</a:t>
            </a:r>
            <a:endParaRPr lang="en-US" sz="1400" dirty="0"/>
          </a:p>
        </p:txBody>
      </p:sp>
      <p:sp>
        <p:nvSpPr>
          <p:cNvPr id="32" name="Text 3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3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187</a:t>
            </a:fld>
            <a:endParaRPr lang="en-US"/>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Analyst quick reference</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Reproduce important calculations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Attach</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Correct file</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Audit</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Rows and gaps</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Calculate</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Formula and denominator</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Visualise</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Appropriate chart</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Verify</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Four anchor values</a:t>
            </a:r>
            <a:endParaRPr lang="en-US" sz="1400" dirty="0"/>
          </a:p>
        </p:txBody>
      </p:sp>
      <p:sp>
        <p:nvSpPr>
          <p:cNvPr id="32" name="Text 3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3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188</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Agent instruction checklist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Make the reusable workflow testable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Purpose</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One bounded job</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Inputs</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Required fields</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Steps</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Ordered logic</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Stops</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Missing/conflicting data</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Output</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Format + human gate</a:t>
            </a:r>
            <a:endParaRPr lang="en-US" sz="1400" dirty="0"/>
          </a:p>
        </p:txBody>
      </p:sp>
      <p:sp>
        <p:nvSpPr>
          <p:cNvPr id="32" name="Text 3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3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189</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SharePoint agent test prompts</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Run one positive and one negative test</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1975104"/>
            <a:ext cx="7360920" cy="4114800"/>
          </a:xfrm>
          <a:prstGeom prst="roundRect">
            <a:avLst>
              <a:gd name="adj" fmla="val 1778"/>
            </a:avLst>
          </a:prstGeom>
          <a:solidFill>
            <a:srgbClr val="102B3E"/>
          </a:solidFill>
          <a:ln w="12700">
            <a:solidFill>
              <a:srgbClr val="102B3E"/>
            </a:solidFill>
            <a:prstDash val="solid"/>
          </a:ln>
        </p:spPr>
        <p:txBody>
          <a:bodyPr/>
          <a:lstStyle/>
          <a:p>
            <a:endParaRPr/>
          </a:p>
        </p:txBody>
      </p:sp>
      <p:sp>
        <p:nvSpPr>
          <p:cNvPr id="8" name="Text 6"/>
          <p:cNvSpPr txBox="1"/>
          <p:nvPr/>
        </p:nvSpPr>
        <p:spPr>
          <a:xfrm>
            <a:off x="850392" y="2267712"/>
            <a:ext cx="6784848" cy="256032"/>
          </a:xfrm>
          <a:prstGeom prst="rect">
            <a:avLst/>
          </a:prstGeom>
          <a:noFill/>
          <a:ln/>
        </p:spPr>
        <p:txBody>
          <a:bodyPr wrap="square" lIns="0" tIns="0" rIns="0" bIns="0" rtlCol="0" anchor="ctr">
            <a:normAutofit/>
          </a:bodyPr>
          <a:lstStyle/>
          <a:p>
            <a:pPr marL="0" indent="0" algn="l">
              <a:buNone/>
            </a:pPr>
            <a:r>
              <a:rPr lang="en-US" sz="1200" b="1" dirty="0">
                <a:solidFill>
                  <a:srgbClr val="17A9B8"/>
                </a:solidFill>
                <a:latin typeface="Aptos" pitchFamily="34" charset="0"/>
                <a:ea typeface="Aptos" pitchFamily="34" charset="-122"/>
                <a:cs typeface="Aptos" pitchFamily="34" charset="-120"/>
              </a:rPr>
              <a:t>PROMPT TO USE</a:t>
            </a:r>
            <a:endParaRPr lang="en-US" sz="1200" dirty="0"/>
          </a:p>
        </p:txBody>
      </p:sp>
      <p:sp>
        <p:nvSpPr>
          <p:cNvPr id="9" name="Text 7"/>
          <p:cNvSpPr txBox="1"/>
          <p:nvPr/>
        </p:nvSpPr>
        <p:spPr>
          <a:xfrm>
            <a:off x="850392" y="2670048"/>
            <a:ext cx="6784848" cy="297180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Answer using only the Engineering Knowledge Base folder. Cite each factual claim. If the requested value is absent, say “not specified” and identify the needed source.</a:t>
            </a:r>
            <a:endParaRPr lang="en-US" sz="1700" dirty="0"/>
          </a:p>
        </p:txBody>
      </p:sp>
      <p:sp>
        <p:nvSpPr>
          <p:cNvPr id="10" name="Shape 8"/>
          <p:cNvSpPr/>
          <p:nvPr/>
        </p:nvSpPr>
        <p:spPr>
          <a:xfrm>
            <a:off x="8275320" y="2103120"/>
            <a:ext cx="365760" cy="365760"/>
          </a:xfrm>
          <a:prstGeom prst="ellipse">
            <a:avLst/>
          </a:prstGeom>
          <a:solidFill>
            <a:srgbClr val="078897"/>
          </a:solidFill>
          <a:ln w="12700">
            <a:solidFill>
              <a:srgbClr val="078897"/>
            </a:solidFill>
            <a:prstDash val="solid"/>
          </a:ln>
        </p:spPr>
        <p:txBody>
          <a:bodyPr/>
          <a:lstStyle/>
          <a:p>
            <a:endParaRPr/>
          </a:p>
        </p:txBody>
      </p:sp>
      <p:sp>
        <p:nvSpPr>
          <p:cNvPr id="11" name="Text 9"/>
          <p:cNvSpPr txBox="1"/>
          <p:nvPr/>
        </p:nvSpPr>
        <p:spPr>
          <a:xfrm>
            <a:off x="8275320" y="2103120"/>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10"/>
          <p:cNvSpPr txBox="1"/>
          <p:nvPr/>
        </p:nvSpPr>
        <p:spPr>
          <a:xfrm>
            <a:off x="8759952" y="2011680"/>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Positive</a:t>
            </a:r>
            <a:endParaRPr lang="en-US" sz="1400" dirty="0"/>
          </a:p>
        </p:txBody>
      </p:sp>
      <p:sp>
        <p:nvSpPr>
          <p:cNvPr id="13" name="Text 11"/>
          <p:cNvSpPr txBox="1"/>
          <p:nvPr/>
        </p:nvSpPr>
        <p:spPr>
          <a:xfrm>
            <a:off x="8759952" y="2331720"/>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Which fields does TR-401 require?</a:t>
            </a:r>
            <a:endParaRPr lang="en-US" sz="1300" dirty="0"/>
          </a:p>
        </p:txBody>
      </p:sp>
      <p:sp>
        <p:nvSpPr>
          <p:cNvPr id="14" name="Shape 12"/>
          <p:cNvSpPr/>
          <p:nvPr/>
        </p:nvSpPr>
        <p:spPr>
          <a:xfrm>
            <a:off x="8275320" y="3401568"/>
            <a:ext cx="365760" cy="365760"/>
          </a:xfrm>
          <a:prstGeom prst="ellipse">
            <a:avLst/>
          </a:prstGeom>
          <a:solidFill>
            <a:srgbClr val="078897"/>
          </a:solidFill>
          <a:ln w="12700">
            <a:solidFill>
              <a:srgbClr val="078897"/>
            </a:solidFill>
            <a:prstDash val="solid"/>
          </a:ln>
        </p:spPr>
        <p:txBody>
          <a:bodyPr/>
          <a:lstStyle/>
          <a:p>
            <a:endParaRPr/>
          </a:p>
        </p:txBody>
      </p:sp>
      <p:sp>
        <p:nvSpPr>
          <p:cNvPr id="15" name="Text 13"/>
          <p:cNvSpPr txBox="1"/>
          <p:nvPr/>
        </p:nvSpPr>
        <p:spPr>
          <a:xfrm>
            <a:off x="8275320" y="3401568"/>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txBox="1"/>
          <p:nvPr/>
        </p:nvSpPr>
        <p:spPr>
          <a:xfrm>
            <a:off x="8759952" y="3310128"/>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Negative</a:t>
            </a:r>
            <a:endParaRPr lang="en-US" sz="1400" dirty="0"/>
          </a:p>
        </p:txBody>
      </p:sp>
      <p:sp>
        <p:nvSpPr>
          <p:cNvPr id="17" name="Text 15"/>
          <p:cNvSpPr txBox="1"/>
          <p:nvPr/>
        </p:nvSpPr>
        <p:spPr>
          <a:xfrm>
            <a:off x="8759952" y="3630168"/>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What approved limit does it state?</a:t>
            </a:r>
            <a:endParaRPr lang="en-US" sz="1300" dirty="0"/>
          </a:p>
        </p:txBody>
      </p:sp>
      <p:sp>
        <p:nvSpPr>
          <p:cNvPr id="18" name="Shape 16"/>
          <p:cNvSpPr/>
          <p:nvPr/>
        </p:nvSpPr>
        <p:spPr>
          <a:xfrm>
            <a:off x="8275320" y="4700016"/>
            <a:ext cx="365760" cy="365760"/>
          </a:xfrm>
          <a:prstGeom prst="ellipse">
            <a:avLst/>
          </a:prstGeom>
          <a:solidFill>
            <a:srgbClr val="078897"/>
          </a:solidFill>
          <a:ln w="12700">
            <a:solidFill>
              <a:srgbClr val="078897"/>
            </a:solidFill>
            <a:prstDash val="solid"/>
          </a:ln>
        </p:spPr>
        <p:txBody>
          <a:bodyPr/>
          <a:lstStyle/>
          <a:p>
            <a:endParaRPr/>
          </a:p>
        </p:txBody>
      </p:sp>
      <p:sp>
        <p:nvSpPr>
          <p:cNvPr id="19" name="Text 17"/>
          <p:cNvSpPr txBox="1"/>
          <p:nvPr/>
        </p:nvSpPr>
        <p:spPr>
          <a:xfrm>
            <a:off x="8275320" y="4700016"/>
            <a:ext cx="365760" cy="36576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8759952" y="4608576"/>
            <a:ext cx="2761488" cy="292608"/>
          </a:xfrm>
          <a:prstGeom prst="rect">
            <a:avLst/>
          </a:prstGeom>
          <a:noFill/>
          <a:ln/>
        </p:spPr>
        <p:txBody>
          <a:bodyPr wrap="square" lIns="0" tIns="0" rIns="0" bIns="0" rtlCol="0" anchor="ctr">
            <a:normAutofit/>
          </a:bodyPr>
          <a:lstStyle/>
          <a:p>
            <a:pPr marL="0" indent="0" algn="l">
              <a:buNone/>
            </a:pPr>
            <a:r>
              <a:rPr lang="en-US" sz="1400" b="1" dirty="0">
                <a:solidFill>
                  <a:srgbClr val="078897"/>
                </a:solidFill>
                <a:latin typeface="Aptos" pitchFamily="34" charset="0"/>
                <a:ea typeface="Aptos" pitchFamily="34" charset="-122"/>
                <a:cs typeface="Aptos" pitchFamily="34" charset="-120"/>
              </a:rPr>
              <a:t>Check</a:t>
            </a:r>
            <a:endParaRPr lang="en-US" sz="1400" dirty="0"/>
          </a:p>
        </p:txBody>
      </p:sp>
      <p:sp>
        <p:nvSpPr>
          <p:cNvPr id="21" name="Text 19"/>
          <p:cNvSpPr txBox="1"/>
          <p:nvPr/>
        </p:nvSpPr>
        <p:spPr>
          <a:xfrm>
            <a:off x="8759952" y="4928616"/>
            <a:ext cx="2761488" cy="640080"/>
          </a:xfrm>
          <a:prstGeom prst="rect">
            <a:avLst/>
          </a:prstGeom>
          <a:noFill/>
          <a:ln/>
        </p:spPr>
        <p:txBody>
          <a:bodyPr wrap="square" lIns="0" tIns="0" rIns="0" bIns="0" rtlCol="0" anchor="t">
            <a:normAutofit/>
          </a:bodyPr>
          <a:lstStyle/>
          <a:p>
            <a:pPr marL="0" indent="0" algn="l">
              <a:buNone/>
            </a:pPr>
            <a:r>
              <a:rPr lang="en-US" sz="1300" dirty="0">
                <a:solidFill>
                  <a:srgbClr val="102B3E"/>
                </a:solidFill>
                <a:latin typeface="Aptos" pitchFamily="34" charset="0"/>
                <a:ea typeface="Aptos" pitchFamily="34" charset="-122"/>
                <a:cs typeface="Aptos" pitchFamily="34" charset="-120"/>
              </a:rPr>
              <a:t>Open citation</a:t>
            </a:r>
            <a:endParaRPr lang="en-US" sz="1300" dirty="0"/>
          </a:p>
        </p:txBody>
      </p:sp>
      <p:sp>
        <p:nvSpPr>
          <p:cNvPr id="22" name="Text 2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190</a:t>
            </a:fld>
            <a:endParaRPr 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APPENDIX</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Seven-step security checklist</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Use before every release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1</a:t>
            </a:r>
            <a:endParaRPr lang="en-US" sz="1600" dirty="0"/>
          </a:p>
        </p:txBody>
      </p:sp>
      <p:sp>
        <p:nvSpPr>
          <p:cNvPr id="11" name="Text 9"/>
          <p:cNvSpPr txBox="1"/>
          <p:nvPr/>
        </p:nvSpPr>
        <p:spPr>
          <a:xfrm>
            <a:off x="786384" y="2743200"/>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Classify</a:t>
            </a:r>
            <a:endParaRPr lang="en-US" sz="1400" dirty="0"/>
          </a:p>
        </p:txBody>
      </p:sp>
      <p:sp>
        <p:nvSpPr>
          <p:cNvPr id="12" name="Shape 10"/>
          <p:cNvSpPr/>
          <p:nvPr/>
        </p:nvSpPr>
        <p:spPr>
          <a:xfrm>
            <a:off x="4315968" y="2029968"/>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2</a:t>
            </a:r>
            <a:endParaRPr lang="en-US" sz="1600" dirty="0"/>
          </a:p>
        </p:txBody>
      </p:sp>
      <p:sp>
        <p:nvSpPr>
          <p:cNvPr id="16" name="Text 14"/>
          <p:cNvSpPr txBox="1"/>
          <p:nvPr/>
        </p:nvSpPr>
        <p:spPr>
          <a:xfrm>
            <a:off x="4535424" y="2743200"/>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Access</a:t>
            </a:r>
            <a:endParaRPr lang="en-US" sz="1400" dirty="0"/>
          </a:p>
        </p:txBody>
      </p:sp>
      <p:sp>
        <p:nvSpPr>
          <p:cNvPr id="17" name="Shape 15"/>
          <p:cNvSpPr/>
          <p:nvPr/>
        </p:nvSpPr>
        <p:spPr>
          <a:xfrm>
            <a:off x="8065008" y="2029968"/>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3</a:t>
            </a:r>
            <a:endParaRPr lang="en-US" sz="1600" dirty="0"/>
          </a:p>
        </p:txBody>
      </p:sp>
      <p:sp>
        <p:nvSpPr>
          <p:cNvPr id="21" name="Text 19"/>
          <p:cNvSpPr txBox="1"/>
          <p:nvPr/>
        </p:nvSpPr>
        <p:spPr>
          <a:xfrm>
            <a:off x="8284464" y="2743200"/>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Prompt</a:t>
            </a:r>
            <a:endParaRPr lang="en-US" sz="1400" dirty="0"/>
          </a:p>
        </p:txBody>
      </p:sp>
      <p:sp>
        <p:nvSpPr>
          <p:cNvPr id="22" name="Shape 20"/>
          <p:cNvSpPr/>
          <p:nvPr/>
        </p:nvSpPr>
        <p:spPr>
          <a:xfrm>
            <a:off x="566928" y="3459480"/>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3633216"/>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3633216"/>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3624072"/>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4</a:t>
            </a:r>
            <a:endParaRPr lang="en-US" sz="1600" dirty="0"/>
          </a:p>
        </p:txBody>
      </p:sp>
      <p:sp>
        <p:nvSpPr>
          <p:cNvPr id="26" name="Text 24"/>
          <p:cNvSpPr txBox="1"/>
          <p:nvPr/>
        </p:nvSpPr>
        <p:spPr>
          <a:xfrm>
            <a:off x="786384" y="4172712"/>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Verify</a:t>
            </a:r>
            <a:endParaRPr lang="en-US" sz="1400" dirty="0"/>
          </a:p>
        </p:txBody>
      </p:sp>
      <p:sp>
        <p:nvSpPr>
          <p:cNvPr id="27" name="Shape 25"/>
          <p:cNvSpPr/>
          <p:nvPr/>
        </p:nvSpPr>
        <p:spPr>
          <a:xfrm>
            <a:off x="4315968" y="3459480"/>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3633216"/>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3633216"/>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3624072"/>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5</a:t>
            </a:r>
            <a:endParaRPr lang="en-US" sz="1600" dirty="0"/>
          </a:p>
        </p:txBody>
      </p:sp>
      <p:sp>
        <p:nvSpPr>
          <p:cNvPr id="31" name="Text 29"/>
          <p:cNvSpPr txBox="1"/>
          <p:nvPr/>
        </p:nvSpPr>
        <p:spPr>
          <a:xfrm>
            <a:off x="4535424" y="4172712"/>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Sign off</a:t>
            </a:r>
            <a:endParaRPr lang="en-US" sz="1400" dirty="0"/>
          </a:p>
        </p:txBody>
      </p:sp>
      <p:sp>
        <p:nvSpPr>
          <p:cNvPr id="32" name="Shape 30"/>
          <p:cNvSpPr/>
          <p:nvPr/>
        </p:nvSpPr>
        <p:spPr>
          <a:xfrm>
            <a:off x="8065008" y="3459480"/>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33" name="Shape 31"/>
          <p:cNvSpPr/>
          <p:nvPr/>
        </p:nvSpPr>
        <p:spPr>
          <a:xfrm>
            <a:off x="8247888" y="3633216"/>
            <a:ext cx="411480" cy="411480"/>
          </a:xfrm>
          <a:prstGeom prst="ellipse">
            <a:avLst/>
          </a:prstGeom>
          <a:solidFill>
            <a:srgbClr val="C94B50"/>
          </a:solidFill>
          <a:ln w="12700">
            <a:solidFill>
              <a:srgbClr val="C94B50"/>
            </a:solidFill>
            <a:prstDash val="solid"/>
          </a:ln>
        </p:spPr>
        <p:txBody>
          <a:bodyPr/>
          <a:lstStyle/>
          <a:p>
            <a:endParaRPr/>
          </a:p>
        </p:txBody>
      </p:sp>
      <p:sp>
        <p:nvSpPr>
          <p:cNvPr id="34" name="Text 32"/>
          <p:cNvSpPr txBox="1"/>
          <p:nvPr/>
        </p:nvSpPr>
        <p:spPr>
          <a:xfrm>
            <a:off x="8247888" y="3633216"/>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6</a:t>
            </a:r>
            <a:endParaRPr lang="en-US" sz="1500" dirty="0"/>
          </a:p>
        </p:txBody>
      </p:sp>
      <p:sp>
        <p:nvSpPr>
          <p:cNvPr id="35" name="Text 33"/>
          <p:cNvSpPr txBox="1"/>
          <p:nvPr/>
        </p:nvSpPr>
        <p:spPr>
          <a:xfrm>
            <a:off x="8778240" y="3624072"/>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6</a:t>
            </a:r>
            <a:endParaRPr lang="en-US" sz="1600" dirty="0"/>
          </a:p>
        </p:txBody>
      </p:sp>
      <p:sp>
        <p:nvSpPr>
          <p:cNvPr id="36" name="Text 34"/>
          <p:cNvSpPr txBox="1"/>
          <p:nvPr/>
        </p:nvSpPr>
        <p:spPr>
          <a:xfrm>
            <a:off x="8284464" y="4172712"/>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Trace</a:t>
            </a:r>
            <a:endParaRPr lang="en-US" sz="1400" dirty="0"/>
          </a:p>
        </p:txBody>
      </p:sp>
      <p:sp>
        <p:nvSpPr>
          <p:cNvPr id="37" name="Shape 35"/>
          <p:cNvSpPr/>
          <p:nvPr/>
        </p:nvSpPr>
        <p:spPr>
          <a:xfrm>
            <a:off x="566928" y="4888992"/>
            <a:ext cx="3493008" cy="1210056"/>
          </a:xfrm>
          <a:prstGeom prst="roundRect">
            <a:avLst>
              <a:gd name="adj" fmla="val 6045"/>
            </a:avLst>
          </a:prstGeom>
          <a:solidFill>
            <a:srgbClr val="FFFFFF"/>
          </a:solidFill>
          <a:ln w="12700">
            <a:solidFill>
              <a:srgbClr val="C8D9DC"/>
            </a:solidFill>
            <a:prstDash val="solid"/>
          </a:ln>
        </p:spPr>
        <p:txBody>
          <a:bodyPr/>
          <a:lstStyle/>
          <a:p>
            <a:endParaRPr/>
          </a:p>
        </p:txBody>
      </p:sp>
      <p:sp>
        <p:nvSpPr>
          <p:cNvPr id="38" name="Shape 36"/>
          <p:cNvSpPr/>
          <p:nvPr/>
        </p:nvSpPr>
        <p:spPr>
          <a:xfrm>
            <a:off x="749808" y="5062728"/>
            <a:ext cx="411480" cy="411480"/>
          </a:xfrm>
          <a:prstGeom prst="ellipse">
            <a:avLst/>
          </a:prstGeom>
          <a:solidFill>
            <a:srgbClr val="078897"/>
          </a:solidFill>
          <a:ln w="12700">
            <a:solidFill>
              <a:srgbClr val="078897"/>
            </a:solidFill>
            <a:prstDash val="solid"/>
          </a:ln>
        </p:spPr>
        <p:txBody>
          <a:bodyPr/>
          <a:lstStyle/>
          <a:p>
            <a:endParaRPr/>
          </a:p>
        </p:txBody>
      </p:sp>
      <p:sp>
        <p:nvSpPr>
          <p:cNvPr id="39" name="Text 37"/>
          <p:cNvSpPr txBox="1"/>
          <p:nvPr/>
        </p:nvSpPr>
        <p:spPr>
          <a:xfrm>
            <a:off x="749808" y="5062728"/>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7</a:t>
            </a:r>
            <a:endParaRPr lang="en-US" sz="1500" dirty="0"/>
          </a:p>
        </p:txBody>
      </p:sp>
      <p:sp>
        <p:nvSpPr>
          <p:cNvPr id="40" name="Text 38"/>
          <p:cNvSpPr txBox="1"/>
          <p:nvPr/>
        </p:nvSpPr>
        <p:spPr>
          <a:xfrm>
            <a:off x="1280160" y="5053584"/>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7</a:t>
            </a:r>
            <a:endParaRPr lang="en-US" sz="1600" dirty="0"/>
          </a:p>
        </p:txBody>
      </p:sp>
      <p:sp>
        <p:nvSpPr>
          <p:cNvPr id="41" name="Text 39"/>
          <p:cNvSpPr txBox="1"/>
          <p:nvPr/>
        </p:nvSpPr>
        <p:spPr>
          <a:xfrm>
            <a:off x="786384" y="5602224"/>
            <a:ext cx="3054096" cy="313944"/>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Respond</a:t>
            </a:r>
            <a:endParaRPr lang="en-US" sz="1400" dirty="0"/>
          </a:p>
        </p:txBody>
      </p:sp>
      <p:sp>
        <p:nvSpPr>
          <p:cNvPr id="42" name="Text 4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4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191</a:t>
            </a:fld>
            <a:endParaRPr 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IES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CLOSING</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Course summary</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Copilot saves time when the engineering controls stay visible</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56692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8" name="Shape 6"/>
          <p:cNvSpPr/>
          <p:nvPr/>
        </p:nvSpPr>
        <p:spPr>
          <a:xfrm>
            <a:off x="749808" y="2203704"/>
            <a:ext cx="411480" cy="411480"/>
          </a:xfrm>
          <a:prstGeom prst="ellipse">
            <a:avLst/>
          </a:prstGeom>
          <a:solidFill>
            <a:srgbClr val="078897"/>
          </a:solidFill>
          <a:ln w="12700">
            <a:solidFill>
              <a:srgbClr val="078897"/>
            </a:solidFill>
            <a:prstDash val="solid"/>
          </a:ln>
        </p:spPr>
        <p:txBody>
          <a:bodyPr/>
          <a:lstStyle/>
          <a:p>
            <a:endParaRPr/>
          </a:p>
        </p:txBody>
      </p:sp>
      <p:sp>
        <p:nvSpPr>
          <p:cNvPr id="9" name="Text 7"/>
          <p:cNvSpPr txBox="1"/>
          <p:nvPr/>
        </p:nvSpPr>
        <p:spPr>
          <a:xfrm>
            <a:off x="74980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28016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Understand</a:t>
            </a:r>
            <a:endParaRPr lang="en-US" sz="1600" dirty="0"/>
          </a:p>
        </p:txBody>
      </p:sp>
      <p:sp>
        <p:nvSpPr>
          <p:cNvPr id="11" name="Text 9"/>
          <p:cNvSpPr txBox="1"/>
          <p:nvPr/>
        </p:nvSpPr>
        <p:spPr>
          <a:xfrm>
            <a:off x="78638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FMEA → DMAIC → SPC</a:t>
            </a:r>
            <a:endParaRPr lang="en-US" sz="1400" dirty="0"/>
          </a:p>
        </p:txBody>
      </p:sp>
      <p:sp>
        <p:nvSpPr>
          <p:cNvPr id="12" name="Shape 10"/>
          <p:cNvSpPr/>
          <p:nvPr/>
        </p:nvSpPr>
        <p:spPr>
          <a:xfrm>
            <a:off x="431596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3" name="Shape 11"/>
          <p:cNvSpPr/>
          <p:nvPr/>
        </p:nvSpPr>
        <p:spPr>
          <a:xfrm>
            <a:off x="4498848" y="2203704"/>
            <a:ext cx="411480" cy="411480"/>
          </a:xfrm>
          <a:prstGeom prst="ellipse">
            <a:avLst/>
          </a:prstGeom>
          <a:solidFill>
            <a:srgbClr val="2477B3"/>
          </a:solidFill>
          <a:ln w="12700">
            <a:solidFill>
              <a:srgbClr val="2477B3"/>
            </a:solidFill>
            <a:prstDash val="solid"/>
          </a:ln>
        </p:spPr>
        <p:txBody>
          <a:bodyPr/>
          <a:lstStyle/>
          <a:p>
            <a:endParaRPr/>
          </a:p>
        </p:txBody>
      </p:sp>
      <p:sp>
        <p:nvSpPr>
          <p:cNvPr id="14" name="Text 12"/>
          <p:cNvSpPr txBox="1"/>
          <p:nvPr/>
        </p:nvSpPr>
        <p:spPr>
          <a:xfrm>
            <a:off x="449884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02920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Prompt</a:t>
            </a:r>
            <a:endParaRPr lang="en-US" sz="1600" dirty="0"/>
          </a:p>
        </p:txBody>
      </p:sp>
      <p:sp>
        <p:nvSpPr>
          <p:cNvPr id="16" name="Text 14"/>
          <p:cNvSpPr txBox="1"/>
          <p:nvPr/>
        </p:nvSpPr>
        <p:spPr>
          <a:xfrm>
            <a:off x="453542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RISE + E-MAP</a:t>
            </a:r>
            <a:endParaRPr lang="en-US" sz="1400" dirty="0"/>
          </a:p>
        </p:txBody>
      </p:sp>
      <p:sp>
        <p:nvSpPr>
          <p:cNvPr id="17" name="Shape 15"/>
          <p:cNvSpPr/>
          <p:nvPr/>
        </p:nvSpPr>
        <p:spPr>
          <a:xfrm>
            <a:off x="8065008" y="2029968"/>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18" name="Shape 16"/>
          <p:cNvSpPr/>
          <p:nvPr/>
        </p:nvSpPr>
        <p:spPr>
          <a:xfrm>
            <a:off x="8247888" y="2203704"/>
            <a:ext cx="411480" cy="411480"/>
          </a:xfrm>
          <a:prstGeom prst="ellipse">
            <a:avLst/>
          </a:prstGeom>
          <a:solidFill>
            <a:srgbClr val="2E8B72"/>
          </a:solidFill>
          <a:ln w="12700">
            <a:solidFill>
              <a:srgbClr val="2E8B72"/>
            </a:solidFill>
            <a:prstDash val="solid"/>
          </a:ln>
        </p:spPr>
        <p:txBody>
          <a:bodyPr/>
          <a:lstStyle/>
          <a:p>
            <a:endParaRPr/>
          </a:p>
        </p:txBody>
      </p:sp>
      <p:sp>
        <p:nvSpPr>
          <p:cNvPr id="19" name="Text 17"/>
          <p:cNvSpPr txBox="1"/>
          <p:nvPr/>
        </p:nvSpPr>
        <p:spPr>
          <a:xfrm>
            <a:off x="8247888" y="2203704"/>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8778240" y="2194560"/>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Automate</a:t>
            </a:r>
            <a:endParaRPr lang="en-US" sz="1600" dirty="0"/>
          </a:p>
        </p:txBody>
      </p:sp>
      <p:sp>
        <p:nvSpPr>
          <p:cNvPr id="21" name="Text 19"/>
          <p:cNvSpPr txBox="1"/>
          <p:nvPr/>
        </p:nvSpPr>
        <p:spPr>
          <a:xfrm>
            <a:off x="8284464" y="2743200"/>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Copilot apps + agents</a:t>
            </a:r>
            <a:endParaRPr lang="en-US" sz="1400" dirty="0"/>
          </a:p>
        </p:txBody>
      </p:sp>
      <p:sp>
        <p:nvSpPr>
          <p:cNvPr id="22" name="Shape 20"/>
          <p:cNvSpPr/>
          <p:nvPr/>
        </p:nvSpPr>
        <p:spPr>
          <a:xfrm>
            <a:off x="56692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3" name="Shape 21"/>
          <p:cNvSpPr/>
          <p:nvPr/>
        </p:nvSpPr>
        <p:spPr>
          <a:xfrm>
            <a:off x="749808" y="4347972"/>
            <a:ext cx="411480" cy="411480"/>
          </a:xfrm>
          <a:prstGeom prst="ellipse">
            <a:avLst/>
          </a:prstGeom>
          <a:solidFill>
            <a:srgbClr val="F4A62A"/>
          </a:solidFill>
          <a:ln w="12700">
            <a:solidFill>
              <a:srgbClr val="F4A62A"/>
            </a:solidFill>
            <a:prstDash val="solid"/>
          </a:ln>
        </p:spPr>
        <p:txBody>
          <a:bodyPr/>
          <a:lstStyle/>
          <a:p>
            <a:endParaRPr/>
          </a:p>
        </p:txBody>
      </p:sp>
      <p:sp>
        <p:nvSpPr>
          <p:cNvPr id="24" name="Text 22"/>
          <p:cNvSpPr txBox="1"/>
          <p:nvPr/>
        </p:nvSpPr>
        <p:spPr>
          <a:xfrm>
            <a:off x="74980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28016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Ground</a:t>
            </a:r>
            <a:endParaRPr lang="en-US" sz="1600" dirty="0"/>
          </a:p>
        </p:txBody>
      </p:sp>
      <p:sp>
        <p:nvSpPr>
          <p:cNvPr id="26" name="Text 24"/>
          <p:cNvSpPr txBox="1"/>
          <p:nvPr/>
        </p:nvSpPr>
        <p:spPr>
          <a:xfrm>
            <a:off x="78638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SharePoint + citations</a:t>
            </a:r>
            <a:endParaRPr lang="en-US" sz="1400" dirty="0"/>
          </a:p>
        </p:txBody>
      </p:sp>
      <p:sp>
        <p:nvSpPr>
          <p:cNvPr id="27" name="Shape 25"/>
          <p:cNvSpPr/>
          <p:nvPr/>
        </p:nvSpPr>
        <p:spPr>
          <a:xfrm>
            <a:off x="4315968" y="4174236"/>
            <a:ext cx="3493008" cy="1924812"/>
          </a:xfrm>
          <a:prstGeom prst="roundRect">
            <a:avLst>
              <a:gd name="adj" fmla="val 3800"/>
            </a:avLst>
          </a:prstGeom>
          <a:solidFill>
            <a:srgbClr val="FFFFFF"/>
          </a:solidFill>
          <a:ln w="12700">
            <a:solidFill>
              <a:srgbClr val="C8D9DC"/>
            </a:solidFill>
            <a:prstDash val="solid"/>
          </a:ln>
        </p:spPr>
        <p:txBody>
          <a:bodyPr/>
          <a:lstStyle/>
          <a:p>
            <a:endParaRPr/>
          </a:p>
        </p:txBody>
      </p:sp>
      <p:sp>
        <p:nvSpPr>
          <p:cNvPr id="28" name="Shape 26"/>
          <p:cNvSpPr/>
          <p:nvPr/>
        </p:nvSpPr>
        <p:spPr>
          <a:xfrm>
            <a:off x="4498848" y="4347972"/>
            <a:ext cx="411480" cy="411480"/>
          </a:xfrm>
          <a:prstGeom prst="ellipse">
            <a:avLst/>
          </a:prstGeom>
          <a:solidFill>
            <a:srgbClr val="17A9B8"/>
          </a:solidFill>
          <a:ln w="12700">
            <a:solidFill>
              <a:srgbClr val="17A9B8"/>
            </a:solidFill>
            <a:prstDash val="solid"/>
          </a:ln>
        </p:spPr>
        <p:txBody>
          <a:bodyPr/>
          <a:lstStyle/>
          <a:p>
            <a:endParaRPr/>
          </a:p>
        </p:txBody>
      </p:sp>
      <p:sp>
        <p:nvSpPr>
          <p:cNvPr id="29" name="Text 27"/>
          <p:cNvSpPr txBox="1"/>
          <p:nvPr/>
        </p:nvSpPr>
        <p:spPr>
          <a:xfrm>
            <a:off x="4498848" y="4347972"/>
            <a:ext cx="411480" cy="4114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30" name="Text 28"/>
          <p:cNvSpPr txBox="1"/>
          <p:nvPr/>
        </p:nvSpPr>
        <p:spPr>
          <a:xfrm>
            <a:off x="5029200" y="4338828"/>
            <a:ext cx="2596896" cy="384048"/>
          </a:xfrm>
          <a:prstGeom prst="rect">
            <a:avLst/>
          </a:prstGeom>
          <a:noFill/>
          <a:ln/>
        </p:spPr>
        <p:txBody>
          <a:bodyPr wrap="square" lIns="0" tIns="0" rIns="0" bIns="0" rtlCol="0" anchor="ctr">
            <a:normAutofit/>
          </a:bodyPr>
          <a:lstStyle/>
          <a:p>
            <a:pPr marL="0" indent="0" algn="l">
              <a:buNone/>
            </a:pPr>
            <a:r>
              <a:rPr lang="en-US" sz="1600" b="1" dirty="0">
                <a:solidFill>
                  <a:srgbClr val="078897"/>
                </a:solidFill>
                <a:latin typeface="Aptos" pitchFamily="34" charset="0"/>
                <a:ea typeface="Aptos" pitchFamily="34" charset="-122"/>
                <a:cs typeface="Aptos" pitchFamily="34" charset="-120"/>
              </a:rPr>
              <a:t>Secure</a:t>
            </a:r>
            <a:endParaRPr lang="en-US" sz="1600" dirty="0"/>
          </a:p>
        </p:txBody>
      </p:sp>
      <p:sp>
        <p:nvSpPr>
          <p:cNvPr id="31" name="Text 29"/>
          <p:cNvSpPr txBox="1"/>
          <p:nvPr/>
        </p:nvSpPr>
        <p:spPr>
          <a:xfrm>
            <a:off x="4535424" y="4887468"/>
            <a:ext cx="3054096" cy="1028700"/>
          </a:xfrm>
          <a:prstGeom prst="rect">
            <a:avLst/>
          </a:prstGeom>
          <a:noFill/>
          <a:ln/>
        </p:spPr>
        <p:txBody>
          <a:bodyPr wrap="square" lIns="0" tIns="0" rIns="0" bIns="0" rtlCol="0" anchor="t">
            <a:normAutofit/>
          </a:bodyPr>
          <a:lstStyle/>
          <a:p>
            <a:pPr marL="0" indent="0" algn="l">
              <a:buNone/>
            </a:pPr>
            <a:r>
              <a:rPr lang="en-US" sz="1400" dirty="0">
                <a:solidFill>
                  <a:srgbClr val="102B3E"/>
                </a:solidFill>
                <a:latin typeface="Aptos" pitchFamily="34" charset="0"/>
                <a:ea typeface="Aptos" pitchFamily="34" charset="-122"/>
                <a:cs typeface="Aptos" pitchFamily="34" charset="-120"/>
              </a:rPr>
              <a:t>Seven-step review</a:t>
            </a:r>
            <a:endParaRPr lang="en-US" sz="1400" dirty="0"/>
          </a:p>
        </p:txBody>
      </p:sp>
      <p:sp>
        <p:nvSpPr>
          <p:cNvPr id="32" name="Text 30"/>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QUICK REFERENCE</a:t>
            </a:r>
            <a:endParaRPr lang="en-US" sz="800" dirty="0"/>
          </a:p>
        </p:txBody>
      </p:sp>
      <p:sp>
        <p:nvSpPr>
          <p:cNvPr id="33"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192</a:t>
            </a:fld>
            <a:endParaRPr lang="en-US"/>
          </a:p>
        </p:txBody>
      </p:sp>
    </p:spTree>
    <p:extLst>
      <p:ext uri="{BB962C8B-B14F-4D97-AF65-F5344CB8AC3E}">
        <p14:creationId xmlns:p14="http://schemas.microsoft.com/office/powerpoint/2010/main" val="161126769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F05ACD0-FF4A-4F8F-B5C5-6A4EBD0D1B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C9AFA28-B5ED-4346-9AF7-68A157F16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 name="Title 1">
            <a:extLst>
              <a:ext uri="{FF2B5EF4-FFF2-40B4-BE49-F238E27FC236}">
                <a16:creationId xmlns:a16="http://schemas.microsoft.com/office/drawing/2014/main" id="{6AC9DD1D-3813-C019-6323-49578D22EECC}"/>
              </a:ext>
            </a:extLst>
          </p:cNvPr>
          <p:cNvSpPr>
            <a:spLocks noGrp="1"/>
          </p:cNvSpPr>
          <p:nvPr>
            <p:ph type="ctrTitle"/>
          </p:nvPr>
        </p:nvSpPr>
        <p:spPr>
          <a:xfrm>
            <a:off x="1472608" y="1380564"/>
            <a:ext cx="4561369" cy="2346229"/>
          </a:xfrm>
        </p:spPr>
        <p:txBody>
          <a:bodyPr vert="horz" lIns="91440" tIns="45720" rIns="91440" bIns="45720" rtlCol="0" anchor="b">
            <a:normAutofit/>
          </a:bodyPr>
          <a:lstStyle/>
          <a:p>
            <a:r>
              <a:rPr lang="en-US" sz="4000" kern="1200" dirty="0">
                <a:solidFill>
                  <a:srgbClr val="595959"/>
                </a:solidFill>
                <a:latin typeface="+mj-lt"/>
                <a:ea typeface="+mj-ea"/>
                <a:cs typeface="+mj-cs"/>
              </a:rPr>
              <a:t>Thank you for your feedback!</a:t>
            </a:r>
          </a:p>
        </p:txBody>
      </p:sp>
      <p:sp>
        <p:nvSpPr>
          <p:cNvPr id="4" name="Title 1">
            <a:extLst>
              <a:ext uri="{FF2B5EF4-FFF2-40B4-BE49-F238E27FC236}">
                <a16:creationId xmlns:a16="http://schemas.microsoft.com/office/drawing/2014/main" id="{68D9ACAA-C6A9-DDEC-6F1D-BDF1EDAB2A10}"/>
              </a:ext>
            </a:extLst>
          </p:cNvPr>
          <p:cNvSpPr txBox="1">
            <a:spLocks/>
          </p:cNvSpPr>
          <p:nvPr/>
        </p:nvSpPr>
        <p:spPr>
          <a:xfrm>
            <a:off x="1472608" y="4061345"/>
            <a:ext cx="4561369" cy="1416090"/>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1000"/>
              </a:spcBef>
            </a:pPr>
            <a:r>
              <a:rPr lang="en-US" sz="1800" b="1" u="sng" kern="1200" dirty="0">
                <a:solidFill>
                  <a:srgbClr val="595959"/>
                </a:solidFill>
                <a:latin typeface="+mn-lt"/>
                <a:ea typeface="+mn-ea"/>
                <a:cs typeface="+mn-cs"/>
              </a:rPr>
              <a:t xml:space="preserve">Generative AI for Engineers: </a:t>
            </a:r>
          </a:p>
          <a:p>
            <a:pPr>
              <a:spcBef>
                <a:spcPts val="1000"/>
              </a:spcBef>
            </a:pPr>
            <a:r>
              <a:rPr lang="en-US" sz="1800" b="1" u="sng" kern="1200" dirty="0">
                <a:solidFill>
                  <a:srgbClr val="595959"/>
                </a:solidFill>
                <a:latin typeface="+mn-lt"/>
                <a:ea typeface="+mn-ea"/>
                <a:cs typeface="+mn-cs"/>
              </a:rPr>
              <a:t>Boosting Productivity and Efficiency with Copilot and Modern AI Tools</a:t>
            </a:r>
          </a:p>
        </p:txBody>
      </p:sp>
      <p:pic>
        <p:nvPicPr>
          <p:cNvPr id="6" name="Picture 5">
            <a:extLst>
              <a:ext uri="{FF2B5EF4-FFF2-40B4-BE49-F238E27FC236}">
                <a16:creationId xmlns:a16="http://schemas.microsoft.com/office/drawing/2014/main" id="{0C4679F7-DC0F-7E7E-0B79-8AB1810007F2}"/>
              </a:ext>
            </a:extLst>
          </p:cNvPr>
          <p:cNvPicPr>
            <a:picLocks noChangeAspect="1"/>
          </p:cNvPicPr>
          <p:nvPr/>
        </p:nvPicPr>
        <p:blipFill>
          <a:blip r:embed="rId2"/>
          <a:stretch>
            <a:fillRect/>
          </a:stretch>
        </p:blipFill>
        <p:spPr>
          <a:xfrm>
            <a:off x="6253308" y="1301668"/>
            <a:ext cx="4376137" cy="4402446"/>
          </a:xfrm>
          <a:prstGeom prst="rect">
            <a:avLst/>
          </a:prstGeom>
        </p:spPr>
      </p:pic>
    </p:spTree>
    <p:extLst>
      <p:ext uri="{BB962C8B-B14F-4D97-AF65-F5344CB8AC3E}">
        <p14:creationId xmlns:p14="http://schemas.microsoft.com/office/powerpoint/2010/main" val="380710548"/>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62">
    <p:bg>
      <p:bgPr>
        <a:solidFill>
          <a:srgbClr val="102B3E"/>
        </a:solidFill>
        <a:effectLst/>
      </p:bgPr>
    </p:bg>
    <p:spTree>
      <p:nvGrpSpPr>
        <p:cNvPr id="1" name=""/>
        <p:cNvGrpSpPr/>
        <p:nvPr/>
      </p:nvGrpSpPr>
      <p:grpSpPr>
        <a:xfrm>
          <a:off x="0" y="0"/>
          <a:ext cx="0" cy="0"/>
          <a:chOff x="0" y="0"/>
          <a:chExt cx="0" cy="0"/>
        </a:xfrm>
      </p:grpSpPr>
      <p:pic>
        <p:nvPicPr>
          <p:cNvPr id="2" name="Image 0" descr="/Users/alfredang/Documents/Supporting Document/Tertiary Infotech/Client Projects/Client WSQ Projects/Client - IES/GenAI for Engineers/assets/pump-station.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5166360" cy="6858000"/>
          </a:xfrm>
          <a:prstGeom prst="rect">
            <a:avLst/>
          </a:prstGeom>
          <a:solidFill>
            <a:srgbClr val="102B3E">
              <a:alpha val="95000"/>
            </a:srgbClr>
          </a:solidFill>
          <a:ln w="12700">
            <a:solidFill>
              <a:srgbClr val="102B3E">
                <a:alpha val="0"/>
              </a:srgbClr>
            </a:solidFill>
            <a:prstDash val="solid"/>
          </a:ln>
        </p:spPr>
        <p:txBody>
          <a:bodyPr/>
          <a:lstStyle/>
          <a:p>
            <a:endParaRPr lang="en-US"/>
          </a:p>
        </p:txBody>
      </p:sp>
      <p:sp>
        <p:nvSpPr>
          <p:cNvPr id="4" name="Text 1"/>
          <p:cNvSpPr txBox="1"/>
          <p:nvPr/>
        </p:nvSpPr>
        <p:spPr>
          <a:xfrm>
            <a:off x="640080" y="502920"/>
            <a:ext cx="640080" cy="274320"/>
          </a:xfrm>
          <a:prstGeom prst="rect">
            <a:avLst/>
          </a:prstGeom>
          <a:noFill/>
          <a:ln/>
        </p:spPr>
        <p:txBody>
          <a:bodyPr wrap="square" lIns="0" tIns="0" rIns="0" bIns="0" rtlCol="0" anchor="ctr">
            <a:normAutofit/>
          </a:bodyPr>
          <a:lstStyle/>
          <a:p>
            <a:pPr marL="0" indent="0" algn="l">
              <a:buNone/>
            </a:pPr>
            <a:r>
              <a:rPr lang="en-US" sz="1700" b="1" dirty="0">
                <a:solidFill>
                  <a:srgbClr val="17A9B8"/>
                </a:solidFill>
                <a:latin typeface="Aptos" pitchFamily="34" charset="0"/>
                <a:ea typeface="Aptos" pitchFamily="34" charset="-122"/>
                <a:cs typeface="Aptos" pitchFamily="34" charset="-120"/>
              </a:rPr>
              <a:t>IES</a:t>
            </a:r>
            <a:endParaRPr lang="en-US" sz="1700" dirty="0"/>
          </a:p>
        </p:txBody>
      </p:sp>
      <p:sp>
        <p:nvSpPr>
          <p:cNvPr id="5" name="Text 2"/>
          <p:cNvSpPr txBox="1"/>
          <p:nvPr/>
        </p:nvSpPr>
        <p:spPr>
          <a:xfrm>
            <a:off x="658368" y="1554480"/>
            <a:ext cx="3291840" cy="320040"/>
          </a:xfrm>
          <a:prstGeom prst="rect">
            <a:avLst/>
          </a:prstGeom>
          <a:noFill/>
          <a:ln/>
        </p:spPr>
        <p:txBody>
          <a:bodyPr wrap="square" lIns="0" tIns="0" rIns="0" bIns="0" rtlCol="0" anchor="ctr">
            <a:normAutofit/>
          </a:bodyPr>
          <a:lstStyle/>
          <a:p>
            <a:pPr marL="0" indent="0" algn="l">
              <a:buNone/>
            </a:pPr>
            <a:r>
              <a:rPr lang="en-US" sz="1400" b="1" dirty="0">
                <a:solidFill>
                  <a:srgbClr val="17A9B8"/>
                </a:solidFill>
                <a:latin typeface="Aptos" pitchFamily="34" charset="0"/>
                <a:ea typeface="Aptos" pitchFamily="34" charset="-122"/>
                <a:cs typeface="Aptos" pitchFamily="34" charset="-120"/>
              </a:rPr>
              <a:t>MODULE Closing</a:t>
            </a:r>
            <a:endParaRPr lang="en-US" sz="1400" dirty="0"/>
          </a:p>
        </p:txBody>
      </p:sp>
      <p:sp>
        <p:nvSpPr>
          <p:cNvPr id="6" name="Text 3"/>
          <p:cNvSpPr txBox="1"/>
          <p:nvPr/>
        </p:nvSpPr>
        <p:spPr>
          <a:xfrm>
            <a:off x="658368" y="1993392"/>
            <a:ext cx="4069080" cy="1463040"/>
          </a:xfrm>
          <a:prstGeom prst="rect">
            <a:avLst/>
          </a:prstGeom>
          <a:noFill/>
          <a:ln/>
        </p:spPr>
        <p:txBody>
          <a:bodyPr wrap="square" lIns="0" tIns="0" rIns="0" bIns="0" rtlCol="0" anchor="ctr">
            <a:normAutofit/>
          </a:bodyPr>
          <a:lstStyle/>
          <a:p>
            <a:pPr marL="0" indent="0" algn="l">
              <a:buNone/>
            </a:pPr>
            <a:r>
              <a:rPr lang="en-US" sz="3200" b="1" dirty="0">
                <a:solidFill>
                  <a:srgbClr val="FFFFFF"/>
                </a:solidFill>
                <a:latin typeface="Aptos" pitchFamily="34" charset="0"/>
                <a:ea typeface="Aptos" pitchFamily="34" charset="-122"/>
                <a:cs typeface="Aptos" pitchFamily="34" charset="-120"/>
              </a:rPr>
              <a:t>Thank you</a:t>
            </a:r>
            <a:endParaRPr lang="en-US" sz="3200" dirty="0"/>
          </a:p>
        </p:txBody>
      </p:sp>
      <p:sp>
        <p:nvSpPr>
          <p:cNvPr id="7" name="Text 4"/>
          <p:cNvSpPr txBox="1"/>
          <p:nvPr/>
        </p:nvSpPr>
        <p:spPr>
          <a:xfrm>
            <a:off x="658368" y="3840480"/>
            <a:ext cx="3977640" cy="960120"/>
          </a:xfrm>
          <a:prstGeom prst="rect">
            <a:avLst/>
          </a:prstGeom>
          <a:noFill/>
          <a:ln/>
        </p:spPr>
        <p:txBody>
          <a:bodyPr wrap="square" lIns="0" tIns="0" rIns="0" bIns="0" rtlCol="0" anchor="t">
            <a:normAutofit/>
          </a:bodyPr>
          <a:lstStyle/>
          <a:p>
            <a:pPr marL="0" indent="0" algn="l">
              <a:buNone/>
            </a:pPr>
            <a:r>
              <a:rPr lang="en-US" sz="1700" dirty="0">
                <a:solidFill>
                  <a:srgbClr val="FFFFFF"/>
                </a:solidFill>
                <a:latin typeface="Aptos" pitchFamily="34" charset="0"/>
                <a:ea typeface="Aptos" pitchFamily="34" charset="-122"/>
                <a:cs typeface="Aptos" pitchFamily="34" charset="-120"/>
              </a:rPr>
              <a:t>IES · GenAI for Engineers</a:t>
            </a:r>
            <a:endParaRPr lang="en-US" sz="1700" dirty="0"/>
          </a:p>
        </p:txBody>
      </p:sp>
      <p:sp>
        <p:nvSpPr>
          <p:cNvPr id="8" name="Shape 5"/>
          <p:cNvSpPr/>
          <p:nvPr/>
        </p:nvSpPr>
        <p:spPr>
          <a:xfrm>
            <a:off x="658368" y="5102352"/>
            <a:ext cx="1234440" cy="0"/>
          </a:xfrm>
          <a:prstGeom prst="line">
            <a:avLst/>
          </a:prstGeom>
          <a:noFill/>
          <a:ln w="50800">
            <a:solidFill>
              <a:srgbClr val="17A9B8"/>
            </a:solidFill>
            <a:prstDash val="solid"/>
          </a:ln>
        </p:spPr>
        <p:txBody>
          <a:bodyPr/>
          <a:lstStyle/>
          <a:p>
            <a:endParaRPr lang="en-US"/>
          </a:p>
        </p:txBody>
      </p:sp>
      <p:sp>
        <p:nvSpPr>
          <p:cNvPr id="25"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194</a:t>
            </a:fld>
            <a:endParaRPr lang="en-US"/>
          </a:p>
        </p:txBody>
      </p:sp>
    </p:spTree>
    <p:extLst>
      <p:ext uri="{BB962C8B-B14F-4D97-AF65-F5344CB8AC3E}">
        <p14:creationId xmlns:p14="http://schemas.microsoft.com/office/powerpoint/2010/main" val="1290708346"/>
      </p:ext>
    </p:extLst>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PowerPoint · six inspections, one week, five slides</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Lab 2.4 · Weekly update to the supervisor</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PowerPoint · six inspections, one week, five slides</a:t>
            </a:r>
            <a:endParaRPr lang="en-US" sz="1500" dirty="0"/>
          </a:p>
        </p:txBody>
      </p:sp>
      <p:sp>
        <p:nvSpPr>
          <p:cNvPr id="6" name="Shape 4"/>
          <p:cNvSpPr/>
          <p:nvPr/>
        </p:nvSpPr>
        <p:spPr>
          <a:xfrm>
            <a:off x="502920" y="1737360"/>
            <a:ext cx="11109960" cy="0"/>
          </a:xfrm>
          <a:prstGeom prst="line">
            <a:avLst/>
          </a:prstGeom>
          <a:noFill/>
          <a:ln w="12700">
            <a:solidFill>
              <a:srgbClr val="C8D9DC"/>
            </a:solidFill>
            <a:prstDash val="solid"/>
          </a:ln>
        </p:spPr>
        <p:txBody>
          <a:bodyPr/>
          <a:lstStyle/>
          <a:p>
            <a:endParaRPr/>
          </a:p>
        </p:txBody>
      </p:sp>
      <p:sp>
        <p:nvSpPr>
          <p:cNvPr id="7" name="Shape 5"/>
          <p:cNvSpPr/>
          <p:nvPr/>
        </p:nvSpPr>
        <p:spPr>
          <a:xfrm>
            <a:off x="1291133" y="2029968"/>
            <a:ext cx="621792" cy="621792"/>
          </a:xfrm>
          <a:prstGeom prst="ellipse">
            <a:avLst/>
          </a:prstGeom>
          <a:solidFill>
            <a:srgbClr val="078897"/>
          </a:solidFill>
          <a:ln w="12700">
            <a:solidFill>
              <a:srgbClr val="078897"/>
            </a:solidFill>
            <a:prstDash val="solid"/>
          </a:ln>
        </p:spPr>
        <p:txBody>
          <a:bodyPr/>
          <a:lstStyle/>
          <a:p>
            <a:endParaRPr/>
          </a:p>
        </p:txBody>
      </p:sp>
      <p:sp>
        <p:nvSpPr>
          <p:cNvPr id="8" name="Text 6"/>
          <p:cNvSpPr txBox="1"/>
          <p:nvPr/>
        </p:nvSpPr>
        <p:spPr>
          <a:xfrm>
            <a:off x="1291133"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Shape 7"/>
          <p:cNvSpPr/>
          <p:nvPr/>
        </p:nvSpPr>
        <p:spPr>
          <a:xfrm>
            <a:off x="56692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0" name="Text 8"/>
          <p:cNvSpPr txBox="1"/>
          <p:nvPr/>
        </p:nvSpPr>
        <p:spPr>
          <a:xfrm>
            <a:off x="70408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PowerPoint</a:t>
            </a:r>
            <a:endParaRPr lang="en-US" sz="1800" dirty="0"/>
          </a:p>
        </p:txBody>
      </p:sp>
      <p:sp>
        <p:nvSpPr>
          <p:cNvPr id="11" name="Text 9"/>
          <p:cNvSpPr txBox="1"/>
          <p:nvPr/>
        </p:nvSpPr>
        <p:spPr>
          <a:xfrm>
            <a:off x="73152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The deck built from your own register</a:t>
            </a:r>
            <a:endParaRPr lang="en-US" sz="1500" dirty="0"/>
          </a:p>
        </p:txBody>
      </p:sp>
      <p:sp>
        <p:nvSpPr>
          <p:cNvPr id="12" name="Shape 10"/>
          <p:cNvSpPr/>
          <p:nvPr/>
        </p:nvSpPr>
        <p:spPr>
          <a:xfrm>
            <a:off x="2655418" y="4142232"/>
            <a:ext cx="118872" cy="0"/>
          </a:xfrm>
          <a:prstGeom prst="line">
            <a:avLst/>
          </a:prstGeom>
          <a:noFill/>
          <a:ln w="25400">
            <a:solidFill>
              <a:srgbClr val="078897"/>
            </a:solidFill>
            <a:prstDash val="solid"/>
            <a:tailEnd type="triangle"/>
          </a:ln>
        </p:spPr>
        <p:txBody>
          <a:bodyPr/>
          <a:lstStyle/>
          <a:p>
            <a:endParaRPr/>
          </a:p>
        </p:txBody>
      </p:sp>
      <p:sp>
        <p:nvSpPr>
          <p:cNvPr id="13" name="Shape 11"/>
          <p:cNvSpPr/>
          <p:nvPr/>
        </p:nvSpPr>
        <p:spPr>
          <a:xfrm>
            <a:off x="3516782" y="2029968"/>
            <a:ext cx="621792" cy="621792"/>
          </a:xfrm>
          <a:prstGeom prst="ellipse">
            <a:avLst/>
          </a:prstGeom>
          <a:solidFill>
            <a:srgbClr val="078897"/>
          </a:solidFill>
          <a:ln w="12700">
            <a:solidFill>
              <a:srgbClr val="078897"/>
            </a:solidFill>
            <a:prstDash val="solid"/>
          </a:ln>
        </p:spPr>
        <p:txBody>
          <a:bodyPr/>
          <a:lstStyle/>
          <a:p>
            <a:endParaRPr/>
          </a:p>
        </p:txBody>
      </p:sp>
      <p:sp>
        <p:nvSpPr>
          <p:cNvPr id="14" name="Text 12"/>
          <p:cNvSpPr txBox="1"/>
          <p:nvPr/>
        </p:nvSpPr>
        <p:spPr>
          <a:xfrm>
            <a:off x="35167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Shape 13"/>
          <p:cNvSpPr/>
          <p:nvPr/>
        </p:nvSpPr>
        <p:spPr>
          <a:xfrm>
            <a:off x="2792578"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16" name="Text 14"/>
          <p:cNvSpPr txBox="1"/>
          <p:nvPr/>
        </p:nvSpPr>
        <p:spPr>
          <a:xfrm>
            <a:off x="2929738"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The week</a:t>
            </a:r>
            <a:endParaRPr lang="en-US" sz="1800" dirty="0"/>
          </a:p>
        </p:txBody>
      </p:sp>
      <p:sp>
        <p:nvSpPr>
          <p:cNvPr id="17" name="Text 15"/>
          <p:cNvSpPr txBox="1"/>
          <p:nvPr/>
        </p:nvSpPr>
        <p:spPr>
          <a:xfrm>
            <a:off x="2957170"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6 inspections, 3 failed first visit</a:t>
            </a:r>
            <a:endParaRPr lang="en-US" sz="1500" dirty="0"/>
          </a:p>
        </p:txBody>
      </p:sp>
      <p:sp>
        <p:nvSpPr>
          <p:cNvPr id="18" name="Shape 16"/>
          <p:cNvSpPr/>
          <p:nvPr/>
        </p:nvSpPr>
        <p:spPr>
          <a:xfrm>
            <a:off x="4881067" y="4142232"/>
            <a:ext cx="118872" cy="0"/>
          </a:xfrm>
          <a:prstGeom prst="line">
            <a:avLst/>
          </a:prstGeom>
          <a:noFill/>
          <a:ln w="25400">
            <a:solidFill>
              <a:srgbClr val="078897"/>
            </a:solidFill>
            <a:prstDash val="solid"/>
            <a:tailEnd type="triangle"/>
          </a:ln>
        </p:spPr>
        <p:txBody>
          <a:bodyPr/>
          <a:lstStyle/>
          <a:p>
            <a:endParaRPr/>
          </a:p>
        </p:txBody>
      </p:sp>
      <p:sp>
        <p:nvSpPr>
          <p:cNvPr id="19" name="Shape 17"/>
          <p:cNvSpPr/>
          <p:nvPr/>
        </p:nvSpPr>
        <p:spPr>
          <a:xfrm>
            <a:off x="5742432" y="2029968"/>
            <a:ext cx="621792" cy="621792"/>
          </a:xfrm>
          <a:prstGeom prst="ellipse">
            <a:avLst/>
          </a:prstGeom>
          <a:solidFill>
            <a:srgbClr val="078897"/>
          </a:solidFill>
          <a:ln w="12700">
            <a:solidFill>
              <a:srgbClr val="078897"/>
            </a:solidFill>
            <a:prstDash val="solid"/>
          </a:ln>
        </p:spPr>
        <p:txBody>
          <a:bodyPr/>
          <a:lstStyle/>
          <a:p>
            <a:endParaRPr/>
          </a:p>
        </p:txBody>
      </p:sp>
      <p:sp>
        <p:nvSpPr>
          <p:cNvPr id="20" name="Text 18"/>
          <p:cNvSpPr txBox="1"/>
          <p:nvPr/>
        </p:nvSpPr>
        <p:spPr>
          <a:xfrm>
            <a:off x="574243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Shape 19"/>
          <p:cNvSpPr/>
          <p:nvPr/>
        </p:nvSpPr>
        <p:spPr>
          <a:xfrm>
            <a:off x="501822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2" name="Text 20"/>
          <p:cNvSpPr txBox="1"/>
          <p:nvPr/>
        </p:nvSpPr>
        <p:spPr>
          <a:xfrm>
            <a:off x="515538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Pass rate</a:t>
            </a:r>
            <a:endParaRPr lang="en-US" sz="1800" dirty="0"/>
          </a:p>
        </p:txBody>
      </p:sp>
      <p:sp>
        <p:nvSpPr>
          <p:cNvPr id="23" name="Text 21"/>
          <p:cNvSpPr txBox="1"/>
          <p:nvPr/>
        </p:nvSpPr>
        <p:spPr>
          <a:xfrm>
            <a:off x="518281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50.0%, worked out by hand first</a:t>
            </a:r>
            <a:endParaRPr lang="en-US" sz="1500" dirty="0"/>
          </a:p>
        </p:txBody>
      </p:sp>
      <p:sp>
        <p:nvSpPr>
          <p:cNvPr id="24" name="Shape 22"/>
          <p:cNvSpPr/>
          <p:nvPr/>
        </p:nvSpPr>
        <p:spPr>
          <a:xfrm>
            <a:off x="7106717" y="4142232"/>
            <a:ext cx="118872" cy="0"/>
          </a:xfrm>
          <a:prstGeom prst="line">
            <a:avLst/>
          </a:prstGeom>
          <a:noFill/>
          <a:ln w="25400">
            <a:solidFill>
              <a:srgbClr val="078897"/>
            </a:solidFill>
            <a:prstDash val="solid"/>
            <a:tailEnd type="triangle"/>
          </a:ln>
        </p:spPr>
        <p:txBody>
          <a:bodyPr/>
          <a:lstStyle/>
          <a:p>
            <a:endParaRPr/>
          </a:p>
        </p:txBody>
      </p:sp>
      <p:sp>
        <p:nvSpPr>
          <p:cNvPr id="25" name="Shape 23"/>
          <p:cNvSpPr/>
          <p:nvPr/>
        </p:nvSpPr>
        <p:spPr>
          <a:xfrm>
            <a:off x="7968082" y="2029968"/>
            <a:ext cx="621792" cy="621792"/>
          </a:xfrm>
          <a:prstGeom prst="ellipse">
            <a:avLst/>
          </a:prstGeom>
          <a:solidFill>
            <a:srgbClr val="078897"/>
          </a:solidFill>
          <a:ln w="12700">
            <a:solidFill>
              <a:srgbClr val="078897"/>
            </a:solidFill>
            <a:prstDash val="solid"/>
          </a:ln>
        </p:spPr>
        <p:txBody>
          <a:bodyPr/>
          <a:lstStyle/>
          <a:p>
            <a:endParaRPr/>
          </a:p>
        </p:txBody>
      </p:sp>
      <p:sp>
        <p:nvSpPr>
          <p:cNvPr id="26" name="Text 24"/>
          <p:cNvSpPr txBox="1"/>
          <p:nvPr/>
        </p:nvSpPr>
        <p:spPr>
          <a:xfrm>
            <a:off x="7968082"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7" name="Shape 25"/>
          <p:cNvSpPr/>
          <p:nvPr/>
        </p:nvSpPr>
        <p:spPr>
          <a:xfrm>
            <a:off x="7243877" y="2743200"/>
            <a:ext cx="2070202" cy="2926080"/>
          </a:xfrm>
          <a:prstGeom prst="roundRect">
            <a:avLst>
              <a:gd name="adj" fmla="val 3534"/>
            </a:avLst>
          </a:prstGeom>
          <a:solidFill>
            <a:srgbClr val="FFFFFF"/>
          </a:solidFill>
          <a:ln w="12700">
            <a:solidFill>
              <a:srgbClr val="C8D9DC"/>
            </a:solidFill>
            <a:prstDash val="solid"/>
          </a:ln>
        </p:spPr>
        <p:txBody>
          <a:bodyPr/>
          <a:lstStyle/>
          <a:p>
            <a:endParaRPr/>
          </a:p>
        </p:txBody>
      </p:sp>
      <p:sp>
        <p:nvSpPr>
          <p:cNvPr id="28" name="Text 26"/>
          <p:cNvSpPr txBox="1"/>
          <p:nvPr/>
        </p:nvSpPr>
        <p:spPr>
          <a:xfrm>
            <a:off x="7381037"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Still open</a:t>
            </a:r>
            <a:endParaRPr lang="en-US" sz="1800" dirty="0"/>
          </a:p>
        </p:txBody>
      </p:sp>
      <p:sp>
        <p:nvSpPr>
          <p:cNvPr id="29" name="Text 27"/>
          <p:cNvSpPr txBox="1"/>
          <p:nvPr/>
        </p:nvSpPr>
        <p:spPr>
          <a:xfrm>
            <a:off x="7408469"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WO-024 at DR-38, 88 mm, not rectified</a:t>
            </a:r>
            <a:endParaRPr lang="en-US" sz="1500" dirty="0"/>
          </a:p>
        </p:txBody>
      </p:sp>
      <p:sp>
        <p:nvSpPr>
          <p:cNvPr id="30" name="Shape 28"/>
          <p:cNvSpPr/>
          <p:nvPr/>
        </p:nvSpPr>
        <p:spPr>
          <a:xfrm>
            <a:off x="9332366" y="4142232"/>
            <a:ext cx="118872" cy="0"/>
          </a:xfrm>
          <a:prstGeom prst="line">
            <a:avLst/>
          </a:prstGeom>
          <a:noFill/>
          <a:ln w="25400">
            <a:solidFill>
              <a:srgbClr val="078897"/>
            </a:solidFill>
            <a:prstDash val="solid"/>
            <a:tailEnd type="triangle"/>
          </a:ln>
        </p:spPr>
        <p:txBody>
          <a:bodyPr/>
          <a:lstStyle/>
          <a:p>
            <a:endParaRPr/>
          </a:p>
        </p:txBody>
      </p:sp>
      <p:sp>
        <p:nvSpPr>
          <p:cNvPr id="31" name="Shape 29"/>
          <p:cNvSpPr/>
          <p:nvPr/>
        </p:nvSpPr>
        <p:spPr>
          <a:xfrm>
            <a:off x="10193731" y="2029968"/>
            <a:ext cx="621792" cy="621792"/>
          </a:xfrm>
          <a:prstGeom prst="ellipse">
            <a:avLst/>
          </a:prstGeom>
          <a:solidFill>
            <a:srgbClr val="102B3E"/>
          </a:solidFill>
          <a:ln w="12700">
            <a:solidFill>
              <a:srgbClr val="102B3E"/>
            </a:solidFill>
            <a:prstDash val="solid"/>
          </a:ln>
        </p:spPr>
        <p:txBody>
          <a:bodyPr/>
          <a:lstStyle/>
          <a:p>
            <a:endParaRPr/>
          </a:p>
        </p:txBody>
      </p:sp>
      <p:sp>
        <p:nvSpPr>
          <p:cNvPr id="32" name="Text 30"/>
          <p:cNvSpPr txBox="1"/>
          <p:nvPr/>
        </p:nvSpPr>
        <p:spPr>
          <a:xfrm>
            <a:off x="10193731" y="2029968"/>
            <a:ext cx="621792" cy="621792"/>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3" name="Shape 31"/>
          <p:cNvSpPr/>
          <p:nvPr/>
        </p:nvSpPr>
        <p:spPr>
          <a:xfrm>
            <a:off x="9469526" y="2743200"/>
            <a:ext cx="2070202" cy="2926080"/>
          </a:xfrm>
          <a:prstGeom prst="roundRect">
            <a:avLst>
              <a:gd name="adj" fmla="val 3534"/>
            </a:avLst>
          </a:prstGeom>
          <a:solidFill>
            <a:srgbClr val="E2EEF0"/>
          </a:solidFill>
          <a:ln w="12700">
            <a:solidFill>
              <a:srgbClr val="C8D9DC"/>
            </a:solidFill>
            <a:prstDash val="solid"/>
          </a:ln>
        </p:spPr>
        <p:txBody>
          <a:bodyPr/>
          <a:lstStyle/>
          <a:p>
            <a:endParaRPr lang="en-US"/>
          </a:p>
        </p:txBody>
      </p:sp>
      <p:sp>
        <p:nvSpPr>
          <p:cNvPr id="34" name="Text 32"/>
          <p:cNvSpPr txBox="1"/>
          <p:nvPr/>
        </p:nvSpPr>
        <p:spPr>
          <a:xfrm>
            <a:off x="9606686" y="3063240"/>
            <a:ext cx="1795882" cy="475488"/>
          </a:xfrm>
          <a:prstGeom prst="rect">
            <a:avLst/>
          </a:prstGeom>
          <a:noFill/>
          <a:ln/>
        </p:spPr>
        <p:txBody>
          <a:bodyPr wrap="square" lIns="0" tIns="0" rIns="0" bIns="0" rtlCol="0" anchor="ctr">
            <a:normAutofit/>
          </a:bodyPr>
          <a:lstStyle/>
          <a:p>
            <a:pPr marL="0" indent="0" algn="ctr">
              <a:buNone/>
            </a:pPr>
            <a:r>
              <a:rPr lang="en-US" sz="1800" b="1" dirty="0">
                <a:solidFill>
                  <a:srgbClr val="078897"/>
                </a:solidFill>
                <a:latin typeface="Aptos" pitchFamily="34" charset="0"/>
                <a:ea typeface="Aptos" pitchFamily="34" charset="-122"/>
                <a:cs typeface="Aptos" pitchFamily="34" charset="-120"/>
              </a:rPr>
              <a:t>Review</a:t>
            </a:r>
            <a:endParaRPr lang="en-US" sz="1800" dirty="0"/>
          </a:p>
        </p:txBody>
      </p:sp>
      <p:sp>
        <p:nvSpPr>
          <p:cNvPr id="35" name="Text 33"/>
          <p:cNvSpPr txBox="1"/>
          <p:nvPr/>
        </p:nvSpPr>
        <p:spPr>
          <a:xfrm>
            <a:off x="9634118" y="3767328"/>
            <a:ext cx="1741018" cy="1353312"/>
          </a:xfrm>
          <a:prstGeom prst="rect">
            <a:avLst/>
          </a:prstGeom>
          <a:noFill/>
          <a:ln/>
        </p:spPr>
        <p:txBody>
          <a:bodyPr wrap="square" lIns="0" tIns="0" rIns="0" bIns="0" rtlCol="0" anchor="ctr">
            <a:normAutofit/>
          </a:bodyPr>
          <a:lstStyle/>
          <a:p>
            <a:pPr marL="0" indent="0" algn="ctr">
              <a:buNone/>
            </a:pPr>
            <a:r>
              <a:rPr lang="en-US" sz="1500" dirty="0">
                <a:solidFill>
                  <a:srgbClr val="102B3E"/>
                </a:solidFill>
                <a:latin typeface="Aptos" pitchFamily="34" charset="0"/>
                <a:ea typeface="Aptos" pitchFamily="34" charset="-122"/>
                <a:cs typeface="Aptos" pitchFamily="34" charset="-120"/>
              </a:rPr>
              <a:t>Every figure traced back to the source</a:t>
            </a:r>
            <a:endParaRPr lang="en-US" sz="1500" dirty="0"/>
          </a:p>
        </p:txBody>
      </p:sp>
      <p:sp>
        <p:nvSpPr>
          <p:cNvPr id="36" name="Text 34"/>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7" name="Slide Number Placeholder 0"/>
          <p:cNvSpPr>
            <a:spLocks noGrp="1"/>
          </p:cNvSpPr>
          <p:nvPr>
            <p:ph type="sldNum" sz="quarter" idx="4294967295"/>
          </p:nvPr>
        </p:nvSpPr>
        <p:spPr>
          <a:xfrm>
            <a:off x="11201400" y="6428232"/>
            <a:ext cx="475488"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87F8C"/>
                </a:solidFill>
                <a:latin typeface="Aptos"/>
                <a:ea typeface="Aptos"/>
                <a:cs typeface="Aptos"/>
              </a:defRPr>
            </a:lvl1pPr>
          </a:lstStyle>
          <a:p>
            <a:pPr algn="r"/>
            <a:fld id="{F7021451-1387-4CA6-816F-3879F97B5CBC}" type="slidenum">
              <a:rPr lang="en-US" b="1"/>
              <a:t>57</a:t>
            </a:fld>
            <a:endParaRPr lang="en-US"/>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502920" y="201168"/>
            <a:ext cx="502920" cy="228600"/>
          </a:xfrm>
          <a:prstGeom prst="rect">
            <a:avLst/>
          </a:prstGeom>
          <a:noFill/>
          <a:ln/>
        </p:spPr>
        <p:txBody>
          <a:bodyPr wrap="square" lIns="0" tIns="0" rIns="0" bIns="0" rtlCol="0" anchor="ctr">
            <a:normAutofit/>
          </a:bodyPr>
          <a:lstStyle/>
          <a:p>
            <a:pPr marL="0" indent="0" algn="l">
              <a:buNone/>
            </a:pPr>
            <a:r>
              <a:rPr lang="en-US" sz="1500" b="1" dirty="0">
                <a:solidFill>
                  <a:srgbClr val="078897"/>
                </a:solidFill>
                <a:latin typeface="Aptos" pitchFamily="34" charset="0"/>
                <a:ea typeface="Aptos" pitchFamily="34" charset="-122"/>
                <a:cs typeface="Aptos" pitchFamily="34" charset="-120"/>
              </a:rPr>
              <a:t>Every lab in Module 2 sits somewhere on this path</a:t>
            </a:r>
            <a:endParaRPr lang="en-US" sz="1500" dirty="0"/>
          </a:p>
        </p:txBody>
      </p:sp>
      <p:sp>
        <p:nvSpPr>
          <p:cNvPr id="3" name="Text 1"/>
          <p:cNvSpPr txBox="1"/>
          <p:nvPr/>
        </p:nvSpPr>
        <p:spPr>
          <a:xfrm>
            <a:off x="1207008" y="201168"/>
            <a:ext cx="5943600" cy="228600"/>
          </a:xfrm>
          <a:prstGeom prst="rect">
            <a:avLst/>
          </a:prstGeom>
          <a:noFill/>
          <a:ln/>
        </p:spPr>
        <p:txBody>
          <a:bodyPr wrap="square" lIns="0" tIns="0" rIns="0" bIns="0" rtlCol="0" anchor="ctr">
            <a:normAutofit/>
          </a:bodyPr>
          <a:lstStyle/>
          <a:p>
            <a:pPr marL="0" indent="0" algn="l">
              <a:buNone/>
            </a:pPr>
            <a:r>
              <a:rPr lang="en-US" sz="900" dirty="0">
                <a:solidFill>
                  <a:srgbClr val="536A78"/>
                </a:solidFill>
                <a:latin typeface="Aptos" pitchFamily="34" charset="0"/>
                <a:ea typeface="Aptos" pitchFamily="34" charset="-122"/>
                <a:cs typeface="Aptos" pitchFamily="34" charset="-120"/>
              </a:rPr>
              <a:t>GENAI FOR ENGINEERS  /  MODULE 2</a:t>
            </a:r>
            <a:endParaRPr lang="en-US" sz="900" dirty="0"/>
          </a:p>
        </p:txBody>
      </p:sp>
      <p:sp>
        <p:nvSpPr>
          <p:cNvPr id="4" name="Text 2"/>
          <p:cNvSpPr txBox="1"/>
          <p:nvPr/>
        </p:nvSpPr>
        <p:spPr>
          <a:xfrm>
            <a:off x="502920" y="640080"/>
            <a:ext cx="11109960" cy="512064"/>
          </a:xfrm>
          <a:prstGeom prst="rect">
            <a:avLst/>
          </a:prstGeom>
          <a:noFill/>
          <a:ln/>
        </p:spPr>
        <p:txBody>
          <a:bodyPr wrap="square" lIns="0" tIns="0" rIns="0" bIns="0" rtlCol="0" anchor="ctr">
            <a:normAutofit/>
          </a:bodyPr>
          <a:lstStyle/>
          <a:p>
            <a:pPr marL="0" indent="0" algn="l">
              <a:buNone/>
            </a:pPr>
            <a:r>
              <a:rPr lang="en-US" sz="2900" b="1" dirty="0">
                <a:solidFill>
                  <a:srgbClr val="102B3E"/>
                </a:solidFill>
                <a:latin typeface="Aptos" pitchFamily="34" charset="0"/>
                <a:ea typeface="Aptos" pitchFamily="34" charset="-122"/>
                <a:cs typeface="Aptos" pitchFamily="34" charset="-120"/>
              </a:rPr>
              <a:t>The work order workflow</a:t>
            </a:r>
            <a:endParaRPr lang="en-US" sz="2900" dirty="0"/>
          </a:p>
        </p:txBody>
      </p:sp>
      <p:sp>
        <p:nvSpPr>
          <p:cNvPr id="5" name="Text 3"/>
          <p:cNvSpPr txBox="1"/>
          <p:nvPr/>
        </p:nvSpPr>
        <p:spPr>
          <a:xfrm>
            <a:off x="502920" y="1225296"/>
            <a:ext cx="11018520" cy="384048"/>
          </a:xfrm>
          <a:prstGeom prst="rect">
            <a:avLst/>
          </a:prstGeom>
          <a:noFill/>
          <a:ln/>
        </p:spPr>
        <p:txBody>
          <a:bodyPr wrap="square" lIns="0" tIns="0" rIns="0" bIns="0" rtlCol="0" anchor="ctr">
            <a:normAutofit/>
          </a:bodyPr>
          <a:lstStyle/>
          <a:p>
            <a:pPr marL="0" indent="0" algn="l">
              <a:buNone/>
            </a:pPr>
            <a:r>
              <a:rPr lang="en-US" sz="1500" dirty="0">
                <a:solidFill>
                  <a:srgbClr val="536A78"/>
                </a:solidFill>
                <a:latin typeface="Aptos" pitchFamily="34" charset="0"/>
                <a:ea typeface="Aptos" pitchFamily="34" charset="-122"/>
                <a:cs typeface="Aptos" pitchFamily="34" charset="-120"/>
              </a:rPr>
              <a:t>Every lab in Module 2 sits somewhere on this path</a:t>
            </a:r>
            <a:endParaRPr lang="en-US" sz="1500" dirty="0"/>
          </a:p>
        </p:txBody>
      </p:sp>
      <p:sp>
        <p:nvSpPr>
          <p:cNvPr id="30" name="Text 28"/>
          <p:cNvSpPr txBox="1"/>
          <p:nvPr/>
        </p:nvSpPr>
        <p:spPr>
          <a:xfrm>
            <a:off x="502920" y="6446520"/>
            <a:ext cx="6400800" cy="164592"/>
          </a:xfrm>
          <a:prstGeom prst="rect">
            <a:avLst/>
          </a:prstGeom>
          <a:noFill/>
          <a:ln/>
        </p:spPr>
        <p:txBody>
          <a:bodyPr wrap="square" lIns="0" tIns="0" rIns="0" bIns="0" rtlCol="0" anchor="ctr">
            <a:normAutofit/>
          </a:bodyPr>
          <a:lstStyle/>
          <a:p>
            <a:pPr marL="0" indent="0" algn="l">
              <a:buNone/>
            </a:pPr>
            <a:r>
              <a:rPr lang="en-US" sz="800" dirty="0">
                <a:solidFill>
                  <a:srgbClr val="536A78"/>
                </a:solidFill>
                <a:latin typeface="Aptos" pitchFamily="34" charset="0"/>
                <a:ea typeface="Aptos" pitchFamily="34" charset="-122"/>
                <a:cs typeface="Aptos" pitchFamily="34" charset="-120"/>
              </a:rPr>
              <a:t>IES  |  ONE-DAY TEACHING ROUTE</a:t>
            </a:r>
            <a:endParaRPr lang="en-US" sz="800" dirty="0"/>
          </a:p>
        </p:txBody>
      </p:sp>
      <p:sp>
        <p:nvSpPr>
          <p:cNvPr id="31" name="TextBox 30"/>
          <p:cNvSpPr txBox="1"/>
          <p:nvPr/>
        </p:nvSpPr>
        <p:spPr>
          <a:xfrm>
            <a:off x="566928" y="2148840"/>
            <a:ext cx="960120" cy="566928"/>
          </a:xfrm>
          <a:prstGeom prst="rect">
            <a:avLst/>
          </a:prstGeom>
          <a:noFill/>
        </p:spPr>
        <p:txBody>
          <a:bodyPr wrap="square" anchor="ctr">
            <a:spAutoFit/>
          </a:bodyPr>
          <a:lstStyle/>
          <a:p>
            <a:r>
              <a:rPr sz="1100" b="1">
                <a:solidFill>
                  <a:srgbClr val="102B3E"/>
                </a:solidFill>
              </a:rPr>
              <a:t>Shared</a:t>
            </a:r>
          </a:p>
        </p:txBody>
      </p:sp>
      <p:sp>
        <p:nvSpPr>
          <p:cNvPr id="32" name="Rounded Rectangle 31"/>
          <p:cNvSpPr/>
          <p:nvPr/>
        </p:nvSpPr>
        <p:spPr>
          <a:xfrm>
            <a:off x="1709928" y="2148840"/>
            <a:ext cx="2382012" cy="566928"/>
          </a:xfrm>
          <a:prstGeom prst="roundRect">
            <a:avLst/>
          </a:prstGeom>
          <a:solidFill>
            <a:srgbClr val="DCE9F2"/>
          </a:solidFill>
          <a:ln w="12700">
            <a:solidFill>
              <a:srgbClr val="102B3E"/>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102B3E"/>
                </a:solidFill>
              </a:rPr>
              <a:t>New Work Order</a:t>
            </a:r>
          </a:p>
        </p:txBody>
      </p:sp>
      <p:sp>
        <p:nvSpPr>
          <p:cNvPr id="33" name="Right Arrow 32"/>
          <p:cNvSpPr/>
          <p:nvPr/>
        </p:nvSpPr>
        <p:spPr>
          <a:xfrm>
            <a:off x="4109940" y="2387304"/>
            <a:ext cx="110304" cy="90000"/>
          </a:xfrm>
          <a:prstGeom prst="rightArrow">
            <a:avLst/>
          </a:prstGeom>
          <a:solidFill>
            <a:srgbClr val="C8D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238244" y="2148840"/>
            <a:ext cx="2382012" cy="566928"/>
          </a:xfrm>
          <a:prstGeom prst="roundRect">
            <a:avLst/>
          </a:prstGeom>
          <a:solidFill>
            <a:srgbClr val="DCE9F2"/>
          </a:solidFill>
          <a:ln w="12700">
            <a:solidFill>
              <a:srgbClr val="102B3E"/>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102B3E"/>
                </a:solidFill>
              </a:rPr>
              <a:t>Assigned</a:t>
            </a:r>
          </a:p>
        </p:txBody>
      </p:sp>
      <p:sp>
        <p:nvSpPr>
          <p:cNvPr id="35" name="Right Arrow 34"/>
          <p:cNvSpPr/>
          <p:nvPr/>
        </p:nvSpPr>
        <p:spPr>
          <a:xfrm>
            <a:off x="6638256" y="2387304"/>
            <a:ext cx="110304" cy="90000"/>
          </a:xfrm>
          <a:prstGeom prst="rightArrow">
            <a:avLst/>
          </a:prstGeom>
          <a:solidFill>
            <a:srgbClr val="C8D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766560" y="2148840"/>
            <a:ext cx="2382012" cy="566928"/>
          </a:xfrm>
          <a:prstGeom prst="roundRect">
            <a:avLst/>
          </a:prstGeom>
          <a:solidFill>
            <a:srgbClr val="DCE9F2"/>
          </a:solidFill>
          <a:ln w="12700">
            <a:solidFill>
              <a:srgbClr val="102B3E"/>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102B3E"/>
                </a:solidFill>
              </a:rPr>
              <a:t>On-Site Inspection</a:t>
            </a:r>
          </a:p>
        </p:txBody>
      </p:sp>
      <p:sp>
        <p:nvSpPr>
          <p:cNvPr id="37" name="Right Arrow 36"/>
          <p:cNvSpPr/>
          <p:nvPr/>
        </p:nvSpPr>
        <p:spPr>
          <a:xfrm>
            <a:off x="9166572" y="2387304"/>
            <a:ext cx="110304" cy="90000"/>
          </a:xfrm>
          <a:prstGeom prst="rightArrow">
            <a:avLst/>
          </a:prstGeom>
          <a:solidFill>
            <a:srgbClr val="C8D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9294876" y="2148840"/>
            <a:ext cx="2382012" cy="566928"/>
          </a:xfrm>
          <a:prstGeom prst="roundRect">
            <a:avLst/>
          </a:prstGeom>
          <a:solidFill>
            <a:srgbClr val="DCE9F2"/>
          </a:solidFill>
          <a:ln w="12700">
            <a:solidFill>
              <a:srgbClr val="102B3E"/>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102B3E"/>
                </a:solidFill>
              </a:rPr>
              <a:t>Evidence Captured</a:t>
            </a:r>
          </a:p>
        </p:txBody>
      </p:sp>
      <p:sp>
        <p:nvSpPr>
          <p:cNvPr id="39" name="TextBox 38"/>
          <p:cNvSpPr txBox="1"/>
          <p:nvPr/>
        </p:nvSpPr>
        <p:spPr>
          <a:xfrm>
            <a:off x="566928" y="3099816"/>
            <a:ext cx="960120" cy="566928"/>
          </a:xfrm>
          <a:prstGeom prst="rect">
            <a:avLst/>
          </a:prstGeom>
          <a:noFill/>
        </p:spPr>
        <p:txBody>
          <a:bodyPr wrap="square" anchor="ctr">
            <a:spAutoFit/>
          </a:bodyPr>
          <a:lstStyle/>
          <a:p>
            <a:r>
              <a:rPr sz="1100" b="1">
                <a:solidFill>
                  <a:srgbClr val="102B3E"/>
                </a:solidFill>
              </a:rPr>
              <a:t>If pass</a:t>
            </a:r>
          </a:p>
        </p:txBody>
      </p:sp>
      <p:sp>
        <p:nvSpPr>
          <p:cNvPr id="40" name="Rounded Rectangle 39"/>
          <p:cNvSpPr/>
          <p:nvPr/>
        </p:nvSpPr>
        <p:spPr>
          <a:xfrm>
            <a:off x="1709928" y="3099816"/>
            <a:ext cx="2382012" cy="566928"/>
          </a:xfrm>
          <a:prstGeom prst="roundRect">
            <a:avLst/>
          </a:prstGeom>
          <a:solidFill>
            <a:srgbClr val="E3F4EC"/>
          </a:solidFill>
          <a:ln w="12700">
            <a:solidFill>
              <a:srgbClr val="1B7F5A"/>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1B7F5A"/>
                </a:solidFill>
              </a:rPr>
              <a:t>Pass</a:t>
            </a:r>
          </a:p>
        </p:txBody>
      </p:sp>
      <p:sp>
        <p:nvSpPr>
          <p:cNvPr id="41" name="Right Arrow 40"/>
          <p:cNvSpPr/>
          <p:nvPr/>
        </p:nvSpPr>
        <p:spPr>
          <a:xfrm>
            <a:off x="4109940" y="3338280"/>
            <a:ext cx="110304" cy="90000"/>
          </a:xfrm>
          <a:prstGeom prst="rightArrow">
            <a:avLst/>
          </a:prstGeom>
          <a:solidFill>
            <a:srgbClr val="C8D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238244" y="3099816"/>
            <a:ext cx="2382012" cy="566928"/>
          </a:xfrm>
          <a:prstGeom prst="roundRect">
            <a:avLst/>
          </a:prstGeom>
          <a:solidFill>
            <a:srgbClr val="E3F4EC"/>
          </a:solidFill>
          <a:ln w="12700">
            <a:solidFill>
              <a:srgbClr val="1B7F5A"/>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1B7F5A"/>
                </a:solidFill>
              </a:rPr>
              <a:t>Generate Report</a:t>
            </a:r>
          </a:p>
        </p:txBody>
      </p:sp>
      <p:sp>
        <p:nvSpPr>
          <p:cNvPr id="43" name="Right Arrow 42"/>
          <p:cNvSpPr/>
          <p:nvPr/>
        </p:nvSpPr>
        <p:spPr>
          <a:xfrm>
            <a:off x="6638256" y="3338280"/>
            <a:ext cx="110304" cy="90000"/>
          </a:xfrm>
          <a:prstGeom prst="rightArrow">
            <a:avLst/>
          </a:prstGeom>
          <a:solidFill>
            <a:srgbClr val="C8D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766560" y="3099816"/>
            <a:ext cx="2382012" cy="566928"/>
          </a:xfrm>
          <a:prstGeom prst="roundRect">
            <a:avLst/>
          </a:prstGeom>
          <a:solidFill>
            <a:srgbClr val="E3F4EC"/>
          </a:solidFill>
          <a:ln w="12700">
            <a:solidFill>
              <a:srgbClr val="1B7F5A"/>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1B7F5A"/>
                </a:solidFill>
              </a:rPr>
              <a:t>Approval</a:t>
            </a:r>
          </a:p>
        </p:txBody>
      </p:sp>
      <p:sp>
        <p:nvSpPr>
          <p:cNvPr id="45" name="Right Arrow 44"/>
          <p:cNvSpPr/>
          <p:nvPr/>
        </p:nvSpPr>
        <p:spPr>
          <a:xfrm>
            <a:off x="9166572" y="3338280"/>
            <a:ext cx="110304" cy="90000"/>
          </a:xfrm>
          <a:prstGeom prst="rightArrow">
            <a:avLst/>
          </a:prstGeom>
          <a:solidFill>
            <a:srgbClr val="C8D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294876" y="3099816"/>
            <a:ext cx="2382012" cy="566928"/>
          </a:xfrm>
          <a:prstGeom prst="roundRect">
            <a:avLst/>
          </a:prstGeom>
          <a:solidFill>
            <a:srgbClr val="E3F4EC"/>
          </a:solidFill>
          <a:ln w="12700">
            <a:solidFill>
              <a:srgbClr val="1B7F5A"/>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1B7F5A"/>
                </a:solidFill>
              </a:rPr>
              <a:t>Closed</a:t>
            </a:r>
          </a:p>
        </p:txBody>
      </p:sp>
      <p:sp>
        <p:nvSpPr>
          <p:cNvPr id="47" name="TextBox 46"/>
          <p:cNvSpPr txBox="1"/>
          <p:nvPr/>
        </p:nvSpPr>
        <p:spPr>
          <a:xfrm>
            <a:off x="566928" y="4050792"/>
            <a:ext cx="960120" cy="566928"/>
          </a:xfrm>
          <a:prstGeom prst="rect">
            <a:avLst/>
          </a:prstGeom>
          <a:noFill/>
        </p:spPr>
        <p:txBody>
          <a:bodyPr wrap="square" anchor="ctr">
            <a:spAutoFit/>
          </a:bodyPr>
          <a:lstStyle/>
          <a:p>
            <a:r>
              <a:rPr sz="1100" b="1">
                <a:solidFill>
                  <a:srgbClr val="102B3E"/>
                </a:solidFill>
              </a:rPr>
              <a:t>If fail</a:t>
            </a:r>
          </a:p>
        </p:txBody>
      </p:sp>
      <p:sp>
        <p:nvSpPr>
          <p:cNvPr id="48" name="Rounded Rectangle 47"/>
          <p:cNvSpPr/>
          <p:nvPr/>
        </p:nvSpPr>
        <p:spPr>
          <a:xfrm>
            <a:off x="1709928" y="4050792"/>
            <a:ext cx="1539240" cy="566928"/>
          </a:xfrm>
          <a:prstGeom prst="roundRect">
            <a:avLst/>
          </a:prstGeom>
          <a:solidFill>
            <a:srgbClr val="FBEFE0"/>
          </a:solidFill>
          <a:ln w="12700">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B26A00"/>
                </a:solidFill>
              </a:rPr>
              <a:t>Fail</a:t>
            </a:r>
          </a:p>
        </p:txBody>
      </p:sp>
      <p:sp>
        <p:nvSpPr>
          <p:cNvPr id="49" name="Right Arrow 48"/>
          <p:cNvSpPr/>
          <p:nvPr/>
        </p:nvSpPr>
        <p:spPr>
          <a:xfrm>
            <a:off x="3267168" y="4289256"/>
            <a:ext cx="110304" cy="90000"/>
          </a:xfrm>
          <a:prstGeom prst="rightArrow">
            <a:avLst/>
          </a:prstGeom>
          <a:solidFill>
            <a:srgbClr val="C8D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3395472" y="4050792"/>
            <a:ext cx="1539240" cy="566928"/>
          </a:xfrm>
          <a:prstGeom prst="roundRect">
            <a:avLst/>
          </a:prstGeom>
          <a:solidFill>
            <a:srgbClr val="FBEFE0"/>
          </a:solidFill>
          <a:ln w="12700">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B26A00"/>
                </a:solidFill>
              </a:rPr>
              <a:t>Generate Report</a:t>
            </a:r>
          </a:p>
        </p:txBody>
      </p:sp>
      <p:sp>
        <p:nvSpPr>
          <p:cNvPr id="51" name="Right Arrow 50"/>
          <p:cNvSpPr/>
          <p:nvPr/>
        </p:nvSpPr>
        <p:spPr>
          <a:xfrm>
            <a:off x="4952712" y="4289256"/>
            <a:ext cx="110304" cy="90000"/>
          </a:xfrm>
          <a:prstGeom prst="rightArrow">
            <a:avLst/>
          </a:prstGeom>
          <a:solidFill>
            <a:srgbClr val="C8D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5081016" y="4050792"/>
            <a:ext cx="1539240" cy="566928"/>
          </a:xfrm>
          <a:prstGeom prst="roundRect">
            <a:avLst/>
          </a:prstGeom>
          <a:solidFill>
            <a:srgbClr val="FBEFE0"/>
          </a:solidFill>
          <a:ln w="12700">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B26A00"/>
                </a:solidFill>
              </a:rPr>
              <a:t>Desilt</a:t>
            </a:r>
          </a:p>
        </p:txBody>
      </p:sp>
      <p:sp>
        <p:nvSpPr>
          <p:cNvPr id="53" name="Right Arrow 52"/>
          <p:cNvSpPr/>
          <p:nvPr/>
        </p:nvSpPr>
        <p:spPr>
          <a:xfrm>
            <a:off x="6638256" y="4289256"/>
            <a:ext cx="110304" cy="90000"/>
          </a:xfrm>
          <a:prstGeom prst="rightArrow">
            <a:avLst/>
          </a:prstGeom>
          <a:solidFill>
            <a:srgbClr val="C8D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6766560" y="4050792"/>
            <a:ext cx="1539240" cy="566928"/>
          </a:xfrm>
          <a:prstGeom prst="roundRect">
            <a:avLst/>
          </a:prstGeom>
          <a:solidFill>
            <a:srgbClr val="FBEFE0"/>
          </a:solidFill>
          <a:ln w="12700">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B26A00"/>
                </a:solidFill>
              </a:rPr>
              <a:t>Reinspection</a:t>
            </a:r>
          </a:p>
        </p:txBody>
      </p:sp>
      <p:sp>
        <p:nvSpPr>
          <p:cNvPr id="55" name="Right Arrow 54"/>
          <p:cNvSpPr/>
          <p:nvPr/>
        </p:nvSpPr>
        <p:spPr>
          <a:xfrm>
            <a:off x="8323800" y="4289256"/>
            <a:ext cx="110304" cy="90000"/>
          </a:xfrm>
          <a:prstGeom prst="rightArrow">
            <a:avLst/>
          </a:prstGeom>
          <a:solidFill>
            <a:srgbClr val="C8D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452104" y="4050792"/>
            <a:ext cx="1539240" cy="566928"/>
          </a:xfrm>
          <a:prstGeom prst="roundRect">
            <a:avLst/>
          </a:prstGeom>
          <a:solidFill>
            <a:srgbClr val="FBEFE0"/>
          </a:solidFill>
          <a:ln w="12700">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B26A00"/>
                </a:solidFill>
              </a:rPr>
              <a:t>Pass</a:t>
            </a:r>
          </a:p>
        </p:txBody>
      </p:sp>
      <p:sp>
        <p:nvSpPr>
          <p:cNvPr id="57" name="Right Arrow 56"/>
          <p:cNvSpPr/>
          <p:nvPr/>
        </p:nvSpPr>
        <p:spPr>
          <a:xfrm>
            <a:off x="10009344" y="4289256"/>
            <a:ext cx="110304" cy="90000"/>
          </a:xfrm>
          <a:prstGeom prst="rightArrow">
            <a:avLst/>
          </a:prstGeom>
          <a:solidFill>
            <a:srgbClr val="C8D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10137648" y="4050792"/>
            <a:ext cx="1539240" cy="566928"/>
          </a:xfrm>
          <a:prstGeom prst="roundRect">
            <a:avLst/>
          </a:prstGeom>
          <a:solidFill>
            <a:srgbClr val="FBEFE0"/>
          </a:solidFill>
          <a:ln w="12700">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a:lstStyle/>
          <a:p>
            <a:pPr algn="ctr"/>
            <a:r>
              <a:rPr sz="1000" b="1">
                <a:solidFill>
                  <a:srgbClr val="B26A00"/>
                </a:solidFill>
              </a:rPr>
              <a:t>Closed</a:t>
            </a:r>
          </a:p>
        </p:txBody>
      </p:sp>
      <p:sp>
        <p:nvSpPr>
          <p:cNvPr id="59" name="TextBox 58"/>
          <p:cNvSpPr txBox="1"/>
          <p:nvPr/>
        </p:nvSpPr>
        <p:spPr>
          <a:xfrm>
            <a:off x="566928" y="5138928"/>
            <a:ext cx="11109960" cy="457200"/>
          </a:xfrm>
          <a:prstGeom prst="rect">
            <a:avLst/>
          </a:prstGeom>
          <a:noFill/>
        </p:spPr>
        <p:txBody>
          <a:bodyPr wrap="square">
            <a:spAutoFit/>
          </a:bodyPr>
          <a:lstStyle/>
          <a:p>
            <a:r>
              <a:rPr sz="1200">
                <a:solidFill>
                  <a:srgbClr val="102B3E"/>
                </a:solidFill>
              </a:rPr>
              <a:t>WO-021 takes the green path and WO-022 the amber one. Labs 2.1 and 2.2 build the path; Lab 2.3 requests the approval; Lab 2.4 reports the week.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14918</Words>
  <Application>Microsoft Office PowerPoint</Application>
  <PresentationFormat>Widescreen</PresentationFormat>
  <Paragraphs>3762</Paragraphs>
  <Slides>194</Slides>
  <Notes>188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194</vt:i4>
      </vt:variant>
    </vt:vector>
  </HeadingPairs>
  <TitlesOfParts>
    <vt:vector size="199" baseType="lpstr">
      <vt:lpstr>Aptos</vt:lpstr>
      <vt:lpstr>Aptos Display</vt:lpstr>
      <vt:lpstr>Arial</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feedback!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feedback!</vt:lpstr>
      <vt:lpstr>PowerPoint Presentation</vt:lpstr>
    </vt:vector>
  </TitlesOfParts>
  <Company>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 for Engineers</dc:title>
  <dc:subject>GenAI for Engineers — lesson-plan aligned courseware</dc:subject>
  <dc:creator>IES</dc:creator>
  <cp:lastModifiedBy>TIA Training 1</cp:lastModifiedBy>
  <cp:revision>4</cp:revision>
  <dcterms:created xsi:type="dcterms:W3CDTF">2026-09-06T04:39:07Z</dcterms:created>
  <dcterms:modified xsi:type="dcterms:W3CDTF">2026-09-10T05:19:39Z</dcterms:modified>
</cp:coreProperties>
</file>