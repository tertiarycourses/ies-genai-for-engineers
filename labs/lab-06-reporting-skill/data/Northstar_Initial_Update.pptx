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Backlog work orders by site</c:v>
                </c:pt>
              </c:strCache>
            </c:strRef>
          </c:tx>
          <c:spPr>
            <a:solidFill>
              <a:srgbClr val="13A89E"/>
            </a:solidFill>
          </c:spPr>
          <c:cat>
            <c:strRef>
              <c:f>Sheet1!$A$2:$A$6</c:f>
              <c:strCache>
                <c:ptCount val="5"/>
                <c:pt idx="0">
                  <c:v>Woodlands Hub</c:v>
                </c:pt>
                <c:pt idx="1">
                  <c:v>Jurong Depot</c:v>
                </c:pt>
                <c:pt idx="2">
                  <c:v>Tampines Centre</c:v>
                </c:pt>
                <c:pt idx="3">
                  <c:v>Changi Workshop</c:v>
                </c:pt>
                <c:pt idx="4">
                  <c:v>Paya Lebar Office</c:v>
                </c:pt>
              </c:strCache>
            </c:strRef>
          </c:cat>
          <c:val>
            <c:numRef>
              <c:f>Sheet1!$B$2:$B$6</c:f>
              <c:numCache>
                <c:formatCode>General</c:formatCode>
                <c:ptCount val="5"/>
                <c:pt idx="0">
                  <c:v>8</c:v>
                </c:pt>
                <c:pt idx="1">
                  <c:v>12</c:v>
                </c:pt>
                <c:pt idx="2">
                  <c:v>16</c:v>
                </c:pt>
                <c:pt idx="3">
                  <c:v>20</c:v>
                </c:pt>
                <c:pt idx="4">
                  <c:v>4</c:v>
                </c:pt>
              </c:numCache>
            </c:numRef>
          </c:val>
        </c:ser>
        <c:dLbls>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200"/>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200"/>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partition the selected source table exactly; recorded cost includes all statuses. Do not infer a budget or savings.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Closed on/before Due_Date is on time. Numerator 30 and denominator 48 are both source-derived. A different scope must be recalculated.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blank current owners are in backlog. Technicians table contains planning inputs, not approval or comprehensive safety/capacity evidence.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for a decision without claiming one was made. The PowerPoint is a static snapshot; retain the interactive workbook and evidence register.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none">
            <a:spAutoFit/>
          </a:bodyPr>
          <a:lstStyle/>
          <a:p>
            <a:pPr>
              <a:defRPr sz="3000" b="1">
                <a:solidFill>
                  <a:srgbClr val="0B3060"/>
                </a:solidFill>
              </a:defRPr>
            </a:pPr>
            <a:r>
              <a:t>Northstar maintenance portfolio - 30 September</a:t>
            </a:r>
          </a:p>
        </p:txBody>
      </p:sp>
      <p:sp>
        <p:nvSpPr>
          <p:cNvPr id="3" name="TextBox 2"/>
          <p:cNvSpPr txBox="1"/>
          <p:nvPr/>
        </p:nvSpPr>
        <p:spPr>
          <a:xfrm>
            <a:off x="731520" y="1508760"/>
            <a:ext cx="10698480" cy="1371600"/>
          </a:xfrm>
          <a:prstGeom prst="rect">
            <a:avLst/>
          </a:prstGeom>
          <a:noFill/>
        </p:spPr>
        <p:txBody>
          <a:bodyPr wrap="square">
            <a:spAutoFit/>
          </a:bodyPr>
          <a:lstStyle/>
          <a:p>
            <a:pPr>
              <a:defRPr sz="2000"/>
            </a:pPr>
            <a:r>
              <a:t>Closed 48 + Cancelled 12 + Backlog 60 = 120. Recorded cost S$35,827.50; this is not a budget or saving.</a:t>
            </a:r>
          </a:p>
        </p:txBody>
      </p:sp>
      <p:sp>
        <p:nvSpPr>
          <p:cNvPr id="4" name="TextBox 3"/>
          <p:cNvSpPr txBox="1"/>
          <p:nvPr/>
        </p:nvSpPr>
        <p:spPr>
          <a:xfrm>
            <a:off x="731520" y="3291840"/>
            <a:ext cx="10698480" cy="1828800"/>
          </a:xfrm>
          <a:prstGeom prst="rect">
            <a:avLst/>
          </a:prstGeom>
          <a:noFill/>
        </p:spPr>
        <p:txBody>
          <a:bodyPr wrap="none">
            <a:spAutoFit/>
          </a:bodyPr>
          <a:lstStyle/>
          <a:p>
            <a:pPr>
              <a:defRPr sz="2700" b="1">
                <a:solidFill>
                  <a:srgbClr val="1F6FEB"/>
                </a:solidFill>
              </a:defRPr>
            </a:pPr>
            <a:r>
              <a:t>Observation -&gt; evidence -&gt; proposed action -&gt; decision</a:t>
            </a:r>
          </a:p>
        </p:txBody>
      </p:sp>
      <p:sp>
        <p:nvSpPr>
          <p:cNvPr id="5" name="TextBox 4"/>
          <p:cNvSpPr txBox="1"/>
          <p:nvPr/>
        </p:nvSpPr>
        <p:spPr>
          <a:xfrm>
            <a:off x="731520" y="6217920"/>
            <a:ext cx="10698480" cy="320040"/>
          </a:xfrm>
          <a:prstGeom prst="rect">
            <a:avLst/>
          </a:prstGeom>
          <a:noFill/>
        </p:spPr>
        <p:txBody>
          <a:bodyPr wrap="none">
            <a:spAutoFit/>
          </a:bodyPr>
          <a:lstStyle/>
          <a:p>
            <a:pPr>
              <a:defRPr sz="1000"/>
            </a:pPr>
            <a:r>
              <a:t>GenAI for Engineers v2.4 | Synthetic Northstar example | 2026-09-30 | All filters All | Slide1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none">
            <a:spAutoFit/>
          </a:bodyPr>
          <a:lstStyle/>
          <a:p>
            <a:pPr>
              <a:defRPr sz="3000" b="1">
                <a:solidFill>
                  <a:srgbClr val="0B3060"/>
                </a:solidFill>
              </a:defRPr>
            </a:pPr>
            <a:r>
              <a:t>50 of 60 backlog orders are overdue</a:t>
            </a:r>
          </a:p>
        </p:txBody>
      </p:sp>
      <p:sp>
        <p:nvSpPr>
          <p:cNvPr id="3" name="TextBox 2"/>
          <p:cNvSpPr txBox="1"/>
          <p:nvPr/>
        </p:nvSpPr>
        <p:spPr>
          <a:xfrm>
            <a:off x="731520" y="1508760"/>
            <a:ext cx="10698480" cy="1371600"/>
          </a:xfrm>
          <a:prstGeom prst="rect">
            <a:avLst/>
          </a:prstGeom>
          <a:noFill/>
        </p:spPr>
        <p:txBody>
          <a:bodyPr wrap="square">
            <a:spAutoFit/>
          </a:bodyPr>
          <a:lstStyle/>
          <a:p>
            <a:pPr>
              <a:defRPr sz="2000"/>
            </a:pPr>
            <a:r>
              <a:t>On-time closure rate = 30/48 = 62.5%. Overdue backlog: 50, using Due_Date &lt; 30 September 2026. Closed-only denominator, not all 120 orders.</a:t>
            </a:r>
          </a:p>
        </p:txBody>
      </p:sp>
      <p:graphicFrame>
        <p:nvGraphicFramePr>
          <p:cNvPr id="4" name="Chart 3"/>
          <p:cNvGraphicFramePr>
            <a:graphicFrameLocks noGrp="1"/>
          </p:cNvGraphicFramePr>
          <p:nvPr/>
        </p:nvGraphicFramePr>
        <p:xfrm>
          <a:off x="914400" y="3017520"/>
          <a:ext cx="10058400" cy="2926080"/>
        </p:xfrm>
        <a:graphic>
          <a:graphicData uri="http://schemas.openxmlformats.org/drawingml/2006/chart">
            <c:chart xmlns:c="http://schemas.openxmlformats.org/drawingml/2006/chart" r:id="rId2"/>
          </a:graphicData>
        </a:graphic>
      </p:graphicFrame>
      <p:sp>
        <p:nvSpPr>
          <p:cNvPr id="5" name="TextBox 4"/>
          <p:cNvSpPr txBox="1"/>
          <p:nvPr/>
        </p:nvSpPr>
        <p:spPr>
          <a:xfrm>
            <a:off x="731520" y="6217920"/>
            <a:ext cx="10698480" cy="320040"/>
          </a:xfrm>
          <a:prstGeom prst="rect">
            <a:avLst/>
          </a:prstGeom>
          <a:noFill/>
        </p:spPr>
        <p:txBody>
          <a:bodyPr wrap="none">
            <a:spAutoFit/>
          </a:bodyPr>
          <a:lstStyle/>
          <a:p>
            <a:pPr>
              <a:defRPr sz="1000"/>
            </a:pPr>
            <a:r>
              <a:t>GenAI for Engineers v2.4 | Synthetic Northstar example | 2026-09-30 | All filters All | Slide2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none">
            <a:spAutoFit/>
          </a:bodyPr>
          <a:lstStyle/>
          <a:p>
            <a:pPr>
              <a:defRPr sz="3000" b="1">
                <a:solidFill>
                  <a:srgbClr val="0B3060"/>
                </a:solidFill>
              </a:defRPr>
            </a:pPr>
            <a:r>
              <a:t>6 backlog orders need an assignment proposal</a:t>
            </a:r>
          </a:p>
        </p:txBody>
      </p:sp>
      <p:sp>
        <p:nvSpPr>
          <p:cNvPr id="3" name="TextBox 2"/>
          <p:cNvSpPr txBox="1"/>
          <p:nvPr/>
        </p:nvSpPr>
        <p:spPr>
          <a:xfrm>
            <a:off x="731520" y="1508760"/>
            <a:ext cx="10698480" cy="1371600"/>
          </a:xfrm>
          <a:prstGeom prst="rect">
            <a:avLst/>
          </a:prstGeom>
          <a:noFill/>
        </p:spPr>
        <p:txBody>
          <a:bodyPr wrap="square">
            <a:spAutoFit/>
          </a:bodyPr>
          <a:lstStyle/>
          <a:p>
            <a:pPr>
              <a:defRPr sz="2000"/>
            </a:pPr>
            <a:r>
              <a:t>Unassigned backlog: 6. Compare primary category and available hours across 8 synthetic technicians. Current owners remain unchanged; specific suitable/approved allocations UNKNOWN.</a:t>
            </a:r>
          </a:p>
        </p:txBody>
      </p:sp>
      <p:sp>
        <p:nvSpPr>
          <p:cNvPr id="4" name="TextBox 3"/>
          <p:cNvSpPr txBox="1"/>
          <p:nvPr/>
        </p:nvSpPr>
        <p:spPr>
          <a:xfrm>
            <a:off x="731520" y="3291840"/>
            <a:ext cx="10698480" cy="1828800"/>
          </a:xfrm>
          <a:prstGeom prst="rect">
            <a:avLst/>
          </a:prstGeom>
          <a:noFill/>
        </p:spPr>
        <p:txBody>
          <a:bodyPr wrap="none">
            <a:spAutoFit/>
          </a:bodyPr>
          <a:lstStyle/>
          <a:p>
            <a:pPr>
              <a:defRPr sz="2700" b="1">
                <a:solidFill>
                  <a:srgbClr val="1F6FEB"/>
                </a:solidFill>
              </a:defRPr>
            </a:pPr>
            <a:r>
              <a:t>Validate constraints before confirming an operational change.</a:t>
            </a:r>
          </a:p>
        </p:txBody>
      </p:sp>
      <p:sp>
        <p:nvSpPr>
          <p:cNvPr id="5" name="TextBox 4"/>
          <p:cNvSpPr txBox="1"/>
          <p:nvPr/>
        </p:nvSpPr>
        <p:spPr>
          <a:xfrm>
            <a:off x="731520" y="6217920"/>
            <a:ext cx="10698480" cy="320040"/>
          </a:xfrm>
          <a:prstGeom prst="rect">
            <a:avLst/>
          </a:prstGeom>
          <a:noFill/>
        </p:spPr>
        <p:txBody>
          <a:bodyPr wrap="none">
            <a:spAutoFit/>
          </a:bodyPr>
          <a:lstStyle/>
          <a:p>
            <a:pPr>
              <a:defRPr sz="1000"/>
            </a:pPr>
            <a:r>
              <a:t>GenAI for Engineers v2.4 | Synthetic Northstar example | 2026-09-30 | All filters All | Slide3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none">
            <a:spAutoFit/>
          </a:bodyPr>
          <a:lstStyle/>
          <a:p>
            <a:pPr>
              <a:defRPr sz="3000" b="1">
                <a:solidFill>
                  <a:srgbClr val="0B3060"/>
                </a:solidFill>
              </a:defRPr>
            </a:pPr>
            <a:r>
              <a:t>Decision requested: review the proposed priorities</a:t>
            </a:r>
          </a:p>
        </p:txBody>
      </p:sp>
      <p:sp>
        <p:nvSpPr>
          <p:cNvPr id="3" name="TextBox 2"/>
          <p:cNvSpPr txBox="1"/>
          <p:nvPr/>
        </p:nvSpPr>
        <p:spPr>
          <a:xfrm>
            <a:off x="731520" y="1508760"/>
            <a:ext cx="10698480" cy="1371600"/>
          </a:xfrm>
          <a:prstGeom prst="rect">
            <a:avLst/>
          </a:prstGeom>
          <a:noFill/>
        </p:spPr>
        <p:txBody>
          <a:bodyPr wrap="square">
            <a:spAutoFit/>
          </a:bodyPr>
          <a:lstStyle/>
          <a:p>
            <a:pPr>
              <a:defRPr sz="2000"/>
            </a:pPr>
            <a:r>
              <a:t>Requested decision: review and approve or revise the proposed recovery priorities and assignment checks. Decision owner, approval outcome and next review date UNKNOWN until supplied. No email sent and no source assignment changed.</a:t>
            </a:r>
          </a:p>
        </p:txBody>
      </p:sp>
      <p:sp>
        <p:nvSpPr>
          <p:cNvPr id="4" name="TextBox 3"/>
          <p:cNvSpPr txBox="1"/>
          <p:nvPr/>
        </p:nvSpPr>
        <p:spPr>
          <a:xfrm>
            <a:off x="731520" y="3291840"/>
            <a:ext cx="10698480" cy="1828800"/>
          </a:xfrm>
          <a:prstGeom prst="rect">
            <a:avLst/>
          </a:prstGeom>
          <a:noFill/>
        </p:spPr>
        <p:txBody>
          <a:bodyPr wrap="none">
            <a:spAutoFit/>
          </a:bodyPr>
          <a:lstStyle/>
          <a:p>
            <a:pPr>
              <a:defRPr sz="2700" b="1">
                <a:solidFill>
                  <a:srgbClr val="1F6FEB"/>
                </a:solidFill>
              </a:defRPr>
            </a:pPr>
            <a:r>
              <a:t>Static presentation: verified snapshot, not an automatic live link.</a:t>
            </a:r>
          </a:p>
        </p:txBody>
      </p:sp>
      <p:sp>
        <p:nvSpPr>
          <p:cNvPr id="5" name="TextBox 4"/>
          <p:cNvSpPr txBox="1"/>
          <p:nvPr/>
        </p:nvSpPr>
        <p:spPr>
          <a:xfrm>
            <a:off x="731520" y="6217920"/>
            <a:ext cx="10698480" cy="320040"/>
          </a:xfrm>
          <a:prstGeom prst="rect">
            <a:avLst/>
          </a:prstGeom>
          <a:noFill/>
        </p:spPr>
        <p:txBody>
          <a:bodyPr wrap="none">
            <a:spAutoFit/>
          </a:bodyPr>
          <a:lstStyle/>
          <a:p>
            <a:pPr>
              <a:defRPr sz="1000"/>
            </a:pPr>
            <a:r>
              <a:t>GenAI for Engineers v2.4 | Synthetic Northstar example | 2026-09-30 | All filters All | Slide4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