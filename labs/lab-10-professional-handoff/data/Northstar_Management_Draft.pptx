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Backlog work orders by site</c:v>
                </c:pt>
              </c:strCache>
            </c:strRef>
          </c:tx>
          <c:spPr>
            <a:solidFill>
              <a:srgbClr val="13A89E"/>
            </a:solidFill>
          </c:spPr>
          <c:cat>
            <c:strRef>
              <c:f>Sheet1!$A$2:$A$6</c:f>
              <c:strCache>
                <c:ptCount val="5"/>
                <c:pt idx="0">
                  <c:v>Woodlands Hub</c:v>
                </c:pt>
                <c:pt idx="1">
                  <c:v>Jurong Depot</c:v>
                </c:pt>
                <c:pt idx="2">
                  <c:v>Tampines Centre</c:v>
                </c:pt>
                <c:pt idx="3">
                  <c:v>Changi Workshop</c:v>
                </c:pt>
                <c:pt idx="4">
                  <c:v>Paya Lebar Office</c:v>
                </c:pt>
              </c:strCache>
            </c:strRef>
          </c:cat>
          <c:val>
            <c:numRef>
              <c:f>Sheet1!$B$2:$B$6</c:f>
              <c:numCache>
                <c:formatCode>General</c:formatCode>
                <c:ptCount val="5"/>
                <c:pt idx="0">
                  <c:v>8</c:v>
                </c:pt>
                <c:pt idx="1">
                  <c:v>12</c:v>
                </c:pt>
                <c:pt idx="2">
                  <c:v>16</c:v>
                </c:pt>
                <c:pt idx="3">
                  <c:v>20</c:v>
                </c:pt>
                <c:pt idx="4">
                  <c:v>4</c:v>
                </c:pt>
              </c:numCache>
            </c:numRef>
          </c:val>
        </c:ser>
        <c:dLbls>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txPr>
          <a:bodyPr/>
          <a:lstStyle/>
          <a:p>
            <a:pPr>
              <a:defRPr sz="1200"/>
            </a:pPr>
          </a:p>
        </c:txPr>
        <c:crossAx val="-2113994440"/>
        <c:crosses val="autoZero"/>
        <c:auto val="1"/>
        <c:lblAlgn val="ctr"/>
        <c:lblOffset val="100"/>
        <c:noMultiLvlLbl val="0"/>
      </c:catAx>
      <c:valAx>
        <c:axId val="-2113994440"/>
        <c:scaling/>
        <c:delete val="0"/>
        <c:axPos val="b"/>
        <c:majorGridlines/>
        <c:majorTickMark val="out"/>
        <c:minorTickMark val="none"/>
        <c:tickLblPos val="nextTo"/>
        <c:txPr>
          <a:bodyPr/>
          <a:lstStyle/>
          <a:p>
            <a:pPr>
              <a:defRPr sz="1200"/>
            </a:pPr>
          </a:p>
        </c:txPr>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All work orders by status</c:v>
                </c:pt>
              </c:strCache>
            </c:strRef>
          </c:tx>
          <c:spPr>
            <a:solidFill>
              <a:srgbClr val="13A89E"/>
            </a:solidFill>
          </c:spPr>
          <c:cat>
            <c:strRef>
              <c:f>Sheet1!$A$2:$A$7</c:f>
              <c:strCache>
                <c:ptCount val="6"/>
                <c:pt idx="0">
                  <c:v>Closed</c:v>
                </c:pt>
                <c:pt idx="1">
                  <c:v>In Progress</c:v>
                </c:pt>
                <c:pt idx="2">
                  <c:v>On Hold</c:v>
                </c:pt>
                <c:pt idx="3">
                  <c:v>New</c:v>
                </c:pt>
                <c:pt idx="4">
                  <c:v>Cancelled</c:v>
                </c:pt>
                <c:pt idx="5">
                  <c:v>Assigned</c:v>
                </c:pt>
              </c:strCache>
            </c:strRef>
          </c:cat>
          <c:val>
            <c:numRef>
              <c:f>Sheet1!$B$2:$B$7</c:f>
              <c:numCache>
                <c:formatCode>General</c:formatCode>
                <c:ptCount val="6"/>
                <c:pt idx="0">
                  <c:v>48</c:v>
                </c:pt>
                <c:pt idx="1">
                  <c:v>18</c:v>
                </c:pt>
                <c:pt idx="2">
                  <c:v>12</c:v>
                </c:pt>
                <c:pt idx="3">
                  <c:v>18</c:v>
                </c:pt>
                <c:pt idx="4">
                  <c:v>12</c:v>
                </c:pt>
                <c:pt idx="5">
                  <c:v>12</c:v>
                </c:pt>
              </c:numCache>
            </c:numRef>
          </c:val>
        </c:ser>
        <c:dLbls>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txPr>
          <a:bodyPr/>
          <a:lstStyle/>
          <a:p>
            <a:pPr>
              <a:defRPr sz="1200"/>
            </a:pPr>
          </a:p>
        </c:txPr>
        <c:crossAx val="-2113994440"/>
        <c:crosses val="autoZero"/>
        <c:auto val="1"/>
        <c:lblAlgn val="ctr"/>
        <c:lblOffset val="100"/>
        <c:noMultiLvlLbl val="0"/>
      </c:catAx>
      <c:valAx>
        <c:axId val="-2113994440"/>
        <c:scaling/>
        <c:delete val="0"/>
        <c:axPos val="b"/>
        <c:majorGridlines/>
        <c:majorTickMark val="out"/>
        <c:minorTickMark val="none"/>
        <c:tickLblPos val="nextTo"/>
        <c:txPr>
          <a:bodyPr/>
          <a:lstStyle/>
          <a:p>
            <a:pPr>
              <a:defRPr sz="1200"/>
            </a:pPr>
          </a:p>
        </c:txPr>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tblWorkOrders, all filters All, as at 2026-09-30. State scope before interpretation. Ready-made example deck for this lab.</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Counts partition the selected source table exactly; recorded cost includes all statuses. Do not infer a budget or savings.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Backlog chart counts Status neither Closed nor Cancelled. Site totals are source-derived and reconcile to 60. Counts alone do not explain causes.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Status chart uses all 120 source rows; category comparison is nominal. Check units and avoid claims of causation.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Closed on/before Due_Date is on time. Numerator 30 and denominator 48 are both source-derived. A different scope must be recalculated.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blank current owners are in backlog. Technicians table contains planning inputs, not approval or comprehensive safety/capacity evidence.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Actions are proposals linked to observed overdue/unassigned work. They need operational review; no promised saving or productivity gain.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for a decision without claiming one was made. The PowerPoint is a static snapshot; retain the interactive workbook and evidence register.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72800" cy="914400"/>
          </a:xfrm>
          <a:prstGeom prst="rect">
            <a:avLst/>
          </a:prstGeom>
          <a:noFill/>
        </p:spPr>
        <p:txBody>
          <a:bodyPr wrap="none">
            <a:spAutoFit/>
          </a:bodyPr>
          <a:lstStyle/>
          <a:p>
            <a:pPr>
              <a:defRPr sz="3000" b="1">
                <a:solidFill>
                  <a:srgbClr val="0B3060"/>
                </a:solidFill>
              </a:defRPr>
            </a:pPr>
            <a:r>
              <a:t>Q3 maintenance: prioritise the overdue backlog</a:t>
            </a:r>
          </a:p>
        </p:txBody>
      </p:sp>
      <p:sp>
        <p:nvSpPr>
          <p:cNvPr id="3" name="TextBox 2"/>
          <p:cNvSpPr txBox="1"/>
          <p:nvPr/>
        </p:nvSpPr>
        <p:spPr>
          <a:xfrm>
            <a:off x="731520" y="1508760"/>
            <a:ext cx="10698480" cy="1371600"/>
          </a:xfrm>
          <a:prstGeom prst="rect">
            <a:avLst/>
          </a:prstGeom>
          <a:noFill/>
        </p:spPr>
        <p:txBody>
          <a:bodyPr wrap="square">
            <a:spAutoFit/>
          </a:bodyPr>
          <a:lstStyle/>
          <a:p>
            <a:pPr>
              <a:defRPr sz="2000"/>
            </a:pPr>
            <a:r>
              <a:t>Reporting date:30 September 2026. All sites/categories/statuses/owners. Synthetic training snapshot. Findings describe recorded work; actions below are proposed.</a:t>
            </a:r>
          </a:p>
        </p:txBody>
      </p:sp>
      <p:sp>
        <p:nvSpPr>
          <p:cNvPr id="4" name="TextBox 3"/>
          <p:cNvSpPr txBox="1"/>
          <p:nvPr/>
        </p:nvSpPr>
        <p:spPr>
          <a:xfrm>
            <a:off x="731520" y="3291840"/>
            <a:ext cx="10698480" cy="1828800"/>
          </a:xfrm>
          <a:prstGeom prst="rect">
            <a:avLst/>
          </a:prstGeom>
          <a:noFill/>
        </p:spPr>
        <p:txBody>
          <a:bodyPr wrap="none">
            <a:spAutoFit/>
          </a:bodyPr>
          <a:lstStyle/>
          <a:p>
            <a:pPr>
              <a:defRPr sz="2700" b="1">
                <a:solidFill>
                  <a:srgbClr val="1F6FEB"/>
                </a:solidFill>
              </a:defRPr>
            </a:pPr>
            <a:r>
              <a:t>Observation -&gt; evidence -&gt; proposed action -&gt; decision</a:t>
            </a:r>
          </a:p>
        </p:txBody>
      </p:sp>
      <p:sp>
        <p:nvSpPr>
          <p:cNvPr id="5" name="TextBox 4"/>
          <p:cNvSpPr txBox="1"/>
          <p:nvPr/>
        </p:nvSpPr>
        <p:spPr>
          <a:xfrm>
            <a:off x="731520" y="6217920"/>
            <a:ext cx="10698480" cy="320040"/>
          </a:xfrm>
          <a:prstGeom prst="rect">
            <a:avLst/>
          </a:prstGeom>
          <a:noFill/>
        </p:spPr>
        <p:txBody>
          <a:bodyPr wrap="none">
            <a:spAutoFit/>
          </a:bodyPr>
          <a:lstStyle/>
          <a:p>
            <a:pPr>
              <a:defRPr sz="1000"/>
            </a:pPr>
            <a:r>
              <a:t>GenAI for Engineers v2.4 | Synthetic Northstar example | 2026-09-30 | All filters All | Slide1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72800" cy="914400"/>
          </a:xfrm>
          <a:prstGeom prst="rect">
            <a:avLst/>
          </a:prstGeom>
          <a:noFill/>
        </p:spPr>
        <p:txBody>
          <a:bodyPr wrap="none">
            <a:spAutoFit/>
          </a:bodyPr>
          <a:lstStyle/>
          <a:p>
            <a:pPr>
              <a:defRPr sz="3000" b="1">
                <a:solidFill>
                  <a:srgbClr val="0B3060"/>
                </a:solidFill>
              </a:defRPr>
            </a:pPr>
            <a:r>
              <a:t>120 orders: reconcile the portfolio</a:t>
            </a:r>
          </a:p>
        </p:txBody>
      </p:sp>
      <p:sp>
        <p:nvSpPr>
          <p:cNvPr id="3" name="TextBox 2"/>
          <p:cNvSpPr txBox="1"/>
          <p:nvPr/>
        </p:nvSpPr>
        <p:spPr>
          <a:xfrm>
            <a:off x="731520" y="1508760"/>
            <a:ext cx="10698480" cy="1371600"/>
          </a:xfrm>
          <a:prstGeom prst="rect">
            <a:avLst/>
          </a:prstGeom>
          <a:noFill/>
        </p:spPr>
        <p:txBody>
          <a:bodyPr wrap="square">
            <a:spAutoFit/>
          </a:bodyPr>
          <a:lstStyle/>
          <a:p>
            <a:pPr>
              <a:defRPr sz="2000"/>
            </a:pPr>
            <a:r>
              <a:t>Closed 48 + Cancelled 12 + Backlog 60 = 120. Recorded cost S$35,827.50; this is not a budget or saving.</a:t>
            </a:r>
          </a:p>
        </p:txBody>
      </p:sp>
      <p:sp>
        <p:nvSpPr>
          <p:cNvPr id="4" name="TextBox 3"/>
          <p:cNvSpPr txBox="1"/>
          <p:nvPr/>
        </p:nvSpPr>
        <p:spPr>
          <a:xfrm>
            <a:off x="731520" y="3291840"/>
            <a:ext cx="10698480" cy="1828800"/>
          </a:xfrm>
          <a:prstGeom prst="rect">
            <a:avLst/>
          </a:prstGeom>
          <a:noFill/>
        </p:spPr>
        <p:txBody>
          <a:bodyPr wrap="none">
            <a:spAutoFit/>
          </a:bodyPr>
          <a:lstStyle/>
          <a:p>
            <a:pPr>
              <a:defRPr sz="2700" b="1">
                <a:solidFill>
                  <a:srgbClr val="1F6FEB"/>
                </a:solidFill>
              </a:defRPr>
            </a:pPr>
            <a:r>
              <a:t>Keep status, site, category and owner scope consistent.</a:t>
            </a:r>
          </a:p>
        </p:txBody>
      </p:sp>
      <p:sp>
        <p:nvSpPr>
          <p:cNvPr id="5" name="TextBox 4"/>
          <p:cNvSpPr txBox="1"/>
          <p:nvPr/>
        </p:nvSpPr>
        <p:spPr>
          <a:xfrm>
            <a:off x="731520" y="6217920"/>
            <a:ext cx="10698480" cy="320040"/>
          </a:xfrm>
          <a:prstGeom prst="rect">
            <a:avLst/>
          </a:prstGeom>
          <a:noFill/>
        </p:spPr>
        <p:txBody>
          <a:bodyPr wrap="none">
            <a:spAutoFit/>
          </a:bodyPr>
          <a:lstStyle/>
          <a:p>
            <a:pPr>
              <a:defRPr sz="1000"/>
            </a:pPr>
            <a:r>
              <a:t>GenAI for Engineers v2.4 | Synthetic Northstar example | 2026-09-30 | All filters All | Slide2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72800" cy="914400"/>
          </a:xfrm>
          <a:prstGeom prst="rect">
            <a:avLst/>
          </a:prstGeom>
          <a:noFill/>
        </p:spPr>
        <p:txBody>
          <a:bodyPr wrap="none">
            <a:spAutoFit/>
          </a:bodyPr>
          <a:lstStyle/>
          <a:p>
            <a:pPr>
              <a:defRPr sz="3000" b="1">
                <a:solidFill>
                  <a:srgbClr val="0B3060"/>
                </a:solidFill>
              </a:defRPr>
            </a:pPr>
            <a:r>
              <a:t>Site backlog: compare open work</a:t>
            </a:r>
          </a:p>
        </p:txBody>
      </p:sp>
      <p:sp>
        <p:nvSpPr>
          <p:cNvPr id="3" name="TextBox 2"/>
          <p:cNvSpPr txBox="1"/>
          <p:nvPr/>
        </p:nvSpPr>
        <p:spPr>
          <a:xfrm>
            <a:off x="731520" y="1508760"/>
            <a:ext cx="10698480" cy="1371600"/>
          </a:xfrm>
          <a:prstGeom prst="rect">
            <a:avLst/>
          </a:prstGeom>
          <a:noFill/>
        </p:spPr>
        <p:txBody>
          <a:bodyPr wrap="square">
            <a:spAutoFit/>
          </a:bodyPr>
          <a:lstStyle/>
          <a:p>
            <a:pPr>
              <a:defRPr sz="2000"/>
            </a:pPr>
            <a:r>
              <a:t>Backlog excludes Closed and Cancelled. Compare counts across five sites before choosing recovery priorities. Frequency alone does not establish the cause.</a:t>
            </a:r>
          </a:p>
        </p:txBody>
      </p:sp>
      <p:graphicFrame>
        <p:nvGraphicFramePr>
          <p:cNvPr id="4" name="Chart 3"/>
          <p:cNvGraphicFramePr>
            <a:graphicFrameLocks noGrp="1"/>
          </p:cNvGraphicFramePr>
          <p:nvPr/>
        </p:nvGraphicFramePr>
        <p:xfrm>
          <a:off x="914400" y="3017520"/>
          <a:ext cx="10058400" cy="2926080"/>
        </p:xfrm>
        <a:graphic>
          <a:graphicData uri="http://schemas.openxmlformats.org/drawingml/2006/chart">
            <c:chart xmlns:c="http://schemas.openxmlformats.org/drawingml/2006/chart" r:id="rId2"/>
          </a:graphicData>
        </a:graphic>
      </p:graphicFrame>
      <p:sp>
        <p:nvSpPr>
          <p:cNvPr id="5" name="TextBox 4"/>
          <p:cNvSpPr txBox="1"/>
          <p:nvPr/>
        </p:nvSpPr>
        <p:spPr>
          <a:xfrm>
            <a:off x="731520" y="6217920"/>
            <a:ext cx="10698480" cy="320040"/>
          </a:xfrm>
          <a:prstGeom prst="rect">
            <a:avLst/>
          </a:prstGeom>
          <a:noFill/>
        </p:spPr>
        <p:txBody>
          <a:bodyPr wrap="none">
            <a:spAutoFit/>
          </a:bodyPr>
          <a:lstStyle/>
          <a:p>
            <a:pPr>
              <a:defRPr sz="1000"/>
            </a:pPr>
            <a:r>
              <a:t>GenAI for Engineers v2.4 | Synthetic Northstar example | 2026-09-30 | All filters All | Slide3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72800" cy="914400"/>
          </a:xfrm>
          <a:prstGeom prst="rect">
            <a:avLst/>
          </a:prstGeom>
          <a:noFill/>
        </p:spPr>
        <p:txBody>
          <a:bodyPr wrap="none">
            <a:spAutoFit/>
          </a:bodyPr>
          <a:lstStyle/>
          <a:p>
            <a:pPr>
              <a:defRPr sz="3000" b="1">
                <a:solidFill>
                  <a:srgbClr val="0B3060"/>
                </a:solidFill>
              </a:defRPr>
            </a:pPr>
            <a:r>
              <a:t>Status and category mix</a:t>
            </a:r>
          </a:p>
        </p:txBody>
      </p:sp>
      <p:sp>
        <p:nvSpPr>
          <p:cNvPr id="3" name="TextBox 2"/>
          <p:cNvSpPr txBox="1"/>
          <p:nvPr/>
        </p:nvSpPr>
        <p:spPr>
          <a:xfrm>
            <a:off x="731520" y="1508760"/>
            <a:ext cx="10698480" cy="1371600"/>
          </a:xfrm>
          <a:prstGeom prst="rect">
            <a:avLst/>
          </a:prstGeom>
          <a:noFill/>
        </p:spPr>
        <p:txBody>
          <a:bodyPr wrap="square">
            <a:spAutoFit/>
          </a:bodyPr>
          <a:lstStyle/>
          <a:p>
            <a:pPr>
              <a:defRPr sz="2000"/>
            </a:pPr>
            <a:r>
              <a:t>Status describes current workflow state; category describes job type. All-category counts sum to 120; category frequency is not a root-cause diagnosis.</a:t>
            </a:r>
          </a:p>
        </p:txBody>
      </p:sp>
      <p:graphicFrame>
        <p:nvGraphicFramePr>
          <p:cNvPr id="4" name="Chart 3"/>
          <p:cNvGraphicFramePr>
            <a:graphicFrameLocks noGrp="1"/>
          </p:cNvGraphicFramePr>
          <p:nvPr/>
        </p:nvGraphicFramePr>
        <p:xfrm>
          <a:off x="914400" y="3017520"/>
          <a:ext cx="10058400" cy="2926080"/>
        </p:xfrm>
        <a:graphic>
          <a:graphicData uri="http://schemas.openxmlformats.org/drawingml/2006/chart">
            <c:chart xmlns:c="http://schemas.openxmlformats.org/drawingml/2006/chart" r:id="rId2"/>
          </a:graphicData>
        </a:graphic>
      </p:graphicFrame>
      <p:sp>
        <p:nvSpPr>
          <p:cNvPr id="5" name="TextBox 4"/>
          <p:cNvSpPr txBox="1"/>
          <p:nvPr/>
        </p:nvSpPr>
        <p:spPr>
          <a:xfrm>
            <a:off x="731520" y="6217920"/>
            <a:ext cx="10698480" cy="320040"/>
          </a:xfrm>
          <a:prstGeom prst="rect">
            <a:avLst/>
          </a:prstGeom>
          <a:noFill/>
        </p:spPr>
        <p:txBody>
          <a:bodyPr wrap="none">
            <a:spAutoFit/>
          </a:bodyPr>
          <a:lstStyle/>
          <a:p>
            <a:pPr>
              <a:defRPr sz="1000"/>
            </a:pPr>
            <a:r>
              <a:t>GenAI for Engineers v2.4 | Synthetic Northstar example | 2026-09-30 | All filters All | Slide4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72800" cy="914400"/>
          </a:xfrm>
          <a:prstGeom prst="rect">
            <a:avLst/>
          </a:prstGeom>
          <a:noFill/>
        </p:spPr>
        <p:txBody>
          <a:bodyPr wrap="none">
            <a:spAutoFit/>
          </a:bodyPr>
          <a:lstStyle/>
          <a:p>
            <a:pPr>
              <a:defRPr sz="3000" b="1">
                <a:solidFill>
                  <a:srgbClr val="0B3060"/>
                </a:solidFill>
              </a:defRPr>
            </a:pPr>
            <a:r>
              <a:t>30 of 48 closures were on time</a:t>
            </a:r>
          </a:p>
        </p:txBody>
      </p:sp>
      <p:sp>
        <p:nvSpPr>
          <p:cNvPr id="3" name="TextBox 2"/>
          <p:cNvSpPr txBox="1"/>
          <p:nvPr/>
        </p:nvSpPr>
        <p:spPr>
          <a:xfrm>
            <a:off x="731520" y="1508760"/>
            <a:ext cx="10698480" cy="1371600"/>
          </a:xfrm>
          <a:prstGeom prst="rect">
            <a:avLst/>
          </a:prstGeom>
          <a:noFill/>
        </p:spPr>
        <p:txBody>
          <a:bodyPr wrap="square">
            <a:spAutoFit/>
          </a:bodyPr>
          <a:lstStyle/>
          <a:p>
            <a:pPr>
              <a:defRPr sz="2000"/>
            </a:pPr>
            <a:r>
              <a:t>On-time closure rate = 30/48 = 62.5%. Overdue backlog: 50, using Due_Date &lt; 30 September 2026. Closed-only denominator, not all 120 orders.</a:t>
            </a:r>
          </a:p>
        </p:txBody>
      </p:sp>
      <p:sp>
        <p:nvSpPr>
          <p:cNvPr id="4" name="TextBox 3"/>
          <p:cNvSpPr txBox="1"/>
          <p:nvPr/>
        </p:nvSpPr>
        <p:spPr>
          <a:xfrm>
            <a:off x="731520" y="3291840"/>
            <a:ext cx="10698480" cy="1828800"/>
          </a:xfrm>
          <a:prstGeom prst="rect">
            <a:avLst/>
          </a:prstGeom>
          <a:noFill/>
        </p:spPr>
        <p:txBody>
          <a:bodyPr wrap="none">
            <a:spAutoFit/>
          </a:bodyPr>
          <a:lstStyle/>
          <a:p>
            <a:pPr>
              <a:defRPr sz="2700" b="1">
                <a:solidFill>
                  <a:srgbClr val="1F6FEB"/>
                </a:solidFill>
              </a:defRPr>
            </a:pPr>
            <a:r>
              <a:t>Observation -&gt; evidence -&gt; proposed action -&gt; decision</a:t>
            </a:r>
          </a:p>
        </p:txBody>
      </p:sp>
      <p:sp>
        <p:nvSpPr>
          <p:cNvPr id="5" name="TextBox 4"/>
          <p:cNvSpPr txBox="1"/>
          <p:nvPr/>
        </p:nvSpPr>
        <p:spPr>
          <a:xfrm>
            <a:off x="731520" y="6217920"/>
            <a:ext cx="10698480" cy="320040"/>
          </a:xfrm>
          <a:prstGeom prst="rect">
            <a:avLst/>
          </a:prstGeom>
          <a:noFill/>
        </p:spPr>
        <p:txBody>
          <a:bodyPr wrap="none">
            <a:spAutoFit/>
          </a:bodyPr>
          <a:lstStyle/>
          <a:p>
            <a:pPr>
              <a:defRPr sz="1000"/>
            </a:pPr>
            <a:r>
              <a:t>GenAI for Engineers v2.4 | Synthetic Northstar example | 2026-09-30 | All filters All | Slide5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72800" cy="914400"/>
          </a:xfrm>
          <a:prstGeom prst="rect">
            <a:avLst/>
          </a:prstGeom>
          <a:noFill/>
        </p:spPr>
        <p:txBody>
          <a:bodyPr wrap="none">
            <a:spAutoFit/>
          </a:bodyPr>
          <a:lstStyle/>
          <a:p>
            <a:pPr>
              <a:defRPr sz="3000" b="1">
                <a:solidFill>
                  <a:srgbClr val="0B3060"/>
                </a:solidFill>
              </a:defRPr>
            </a:pPr>
            <a:r>
              <a:t>6 backlog orders have no current owner</a:t>
            </a:r>
          </a:p>
        </p:txBody>
      </p:sp>
      <p:sp>
        <p:nvSpPr>
          <p:cNvPr id="3" name="TextBox 2"/>
          <p:cNvSpPr txBox="1"/>
          <p:nvPr/>
        </p:nvSpPr>
        <p:spPr>
          <a:xfrm>
            <a:off x="731520" y="1508760"/>
            <a:ext cx="10698480" cy="1371600"/>
          </a:xfrm>
          <a:prstGeom prst="rect">
            <a:avLst/>
          </a:prstGeom>
          <a:noFill/>
        </p:spPr>
        <p:txBody>
          <a:bodyPr wrap="square">
            <a:spAutoFit/>
          </a:bodyPr>
          <a:lstStyle/>
          <a:p>
            <a:pPr>
              <a:defRPr sz="2000"/>
            </a:pPr>
            <a:r>
              <a:t>Unassigned backlog: 6. Compare primary category and available hours across 8 synthetic technicians. Current owners remain unchanged; specific suitable/approved allocations UNKNOWN.</a:t>
            </a:r>
          </a:p>
        </p:txBody>
      </p:sp>
      <p:sp>
        <p:nvSpPr>
          <p:cNvPr id="4" name="TextBox 3"/>
          <p:cNvSpPr txBox="1"/>
          <p:nvPr/>
        </p:nvSpPr>
        <p:spPr>
          <a:xfrm>
            <a:off x="731520" y="3291840"/>
            <a:ext cx="10698480" cy="1828800"/>
          </a:xfrm>
          <a:prstGeom prst="rect">
            <a:avLst/>
          </a:prstGeom>
          <a:noFill/>
        </p:spPr>
        <p:txBody>
          <a:bodyPr wrap="none">
            <a:spAutoFit/>
          </a:bodyPr>
          <a:lstStyle/>
          <a:p>
            <a:pPr>
              <a:defRPr sz="2700" b="1">
                <a:solidFill>
                  <a:srgbClr val="1F6FEB"/>
                </a:solidFill>
              </a:defRPr>
            </a:pPr>
            <a:r>
              <a:t>Keep status, site, category and owner scope consistent.</a:t>
            </a:r>
          </a:p>
        </p:txBody>
      </p:sp>
      <p:sp>
        <p:nvSpPr>
          <p:cNvPr id="5" name="TextBox 4"/>
          <p:cNvSpPr txBox="1"/>
          <p:nvPr/>
        </p:nvSpPr>
        <p:spPr>
          <a:xfrm>
            <a:off x="731520" y="6217920"/>
            <a:ext cx="10698480" cy="320040"/>
          </a:xfrm>
          <a:prstGeom prst="rect">
            <a:avLst/>
          </a:prstGeom>
          <a:noFill/>
        </p:spPr>
        <p:txBody>
          <a:bodyPr wrap="none">
            <a:spAutoFit/>
          </a:bodyPr>
          <a:lstStyle/>
          <a:p>
            <a:pPr>
              <a:defRPr sz="1000"/>
            </a:pPr>
            <a:r>
              <a:t>GenAI for Engineers v2.4 | Synthetic Northstar example | 2026-09-30 | All filters All | Slide6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72800" cy="914400"/>
          </a:xfrm>
          <a:prstGeom prst="rect">
            <a:avLst/>
          </a:prstGeom>
          <a:noFill/>
        </p:spPr>
        <p:txBody>
          <a:bodyPr wrap="none">
            <a:spAutoFit/>
          </a:bodyPr>
          <a:lstStyle/>
          <a:p>
            <a:pPr>
              <a:defRPr sz="3000" b="1">
                <a:solidFill>
                  <a:srgbClr val="0B3060"/>
                </a:solidFill>
              </a:defRPr>
            </a:pPr>
            <a:r>
              <a:t>Proposed recovery actions and trade-offs</a:t>
            </a:r>
          </a:p>
        </p:txBody>
      </p:sp>
      <p:sp>
        <p:nvSpPr>
          <p:cNvPr id="3" name="TextBox 2"/>
          <p:cNvSpPr txBox="1"/>
          <p:nvPr/>
        </p:nvSpPr>
        <p:spPr>
          <a:xfrm>
            <a:off x="731520" y="1508760"/>
            <a:ext cx="10698480" cy="1371600"/>
          </a:xfrm>
          <a:prstGeom prst="rect">
            <a:avLst/>
          </a:prstGeom>
          <a:noFill/>
        </p:spPr>
        <p:txBody>
          <a:bodyPr wrap="square">
            <a:spAutoFit/>
          </a:bodyPr>
          <a:lstStyle/>
          <a:p>
            <a:pPr>
              <a:defRPr sz="2000"/>
            </a:pPr>
            <a:r>
              <a:t>Proposed: review the overdue queue by priority/site; validate constraints before suggesting owners; keep category/capacity evidence beside each proposal. Trade-off: backlog recovery may compete with newly opened work. Savings and approvals UNKNOWN.</a:t>
            </a:r>
          </a:p>
        </p:txBody>
      </p:sp>
      <p:sp>
        <p:nvSpPr>
          <p:cNvPr id="4" name="TextBox 3"/>
          <p:cNvSpPr txBox="1"/>
          <p:nvPr/>
        </p:nvSpPr>
        <p:spPr>
          <a:xfrm>
            <a:off x="731520" y="3291840"/>
            <a:ext cx="10698480" cy="1828800"/>
          </a:xfrm>
          <a:prstGeom prst="rect">
            <a:avLst/>
          </a:prstGeom>
          <a:noFill/>
        </p:spPr>
        <p:txBody>
          <a:bodyPr wrap="none">
            <a:spAutoFit/>
          </a:bodyPr>
          <a:lstStyle/>
          <a:p>
            <a:pPr>
              <a:defRPr sz="2700" b="1">
                <a:solidFill>
                  <a:srgbClr val="1F6FEB"/>
                </a:solidFill>
              </a:defRPr>
            </a:pPr>
            <a:r>
              <a:t>Validate constraints before confirming an operational change.</a:t>
            </a:r>
          </a:p>
        </p:txBody>
      </p:sp>
      <p:sp>
        <p:nvSpPr>
          <p:cNvPr id="5" name="TextBox 4"/>
          <p:cNvSpPr txBox="1"/>
          <p:nvPr/>
        </p:nvSpPr>
        <p:spPr>
          <a:xfrm>
            <a:off x="731520" y="6217920"/>
            <a:ext cx="10698480" cy="320040"/>
          </a:xfrm>
          <a:prstGeom prst="rect">
            <a:avLst/>
          </a:prstGeom>
          <a:noFill/>
        </p:spPr>
        <p:txBody>
          <a:bodyPr wrap="none">
            <a:spAutoFit/>
          </a:bodyPr>
          <a:lstStyle/>
          <a:p>
            <a:pPr>
              <a:defRPr sz="1000"/>
            </a:pPr>
            <a:r>
              <a:t>GenAI for Engineers v2.4 | Synthetic Northstar example | 2026-09-30 | All filters All | Slide7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72800" cy="914400"/>
          </a:xfrm>
          <a:prstGeom prst="rect">
            <a:avLst/>
          </a:prstGeom>
          <a:noFill/>
        </p:spPr>
        <p:txBody>
          <a:bodyPr wrap="none">
            <a:spAutoFit/>
          </a:bodyPr>
          <a:lstStyle/>
          <a:p>
            <a:pPr>
              <a:defRPr sz="3000" b="1">
                <a:solidFill>
                  <a:srgbClr val="0B3060"/>
                </a:solidFill>
              </a:defRPr>
            </a:pPr>
            <a:r>
              <a:t>Decision requested: review the recovery proposal</a:t>
            </a:r>
          </a:p>
        </p:txBody>
      </p:sp>
      <p:sp>
        <p:nvSpPr>
          <p:cNvPr id="3" name="TextBox 2"/>
          <p:cNvSpPr txBox="1"/>
          <p:nvPr/>
        </p:nvSpPr>
        <p:spPr>
          <a:xfrm>
            <a:off x="731520" y="1508760"/>
            <a:ext cx="10698480" cy="1371600"/>
          </a:xfrm>
          <a:prstGeom prst="rect">
            <a:avLst/>
          </a:prstGeom>
          <a:noFill/>
        </p:spPr>
        <p:txBody>
          <a:bodyPr wrap="square">
            <a:spAutoFit/>
          </a:bodyPr>
          <a:lstStyle/>
          <a:p>
            <a:pPr>
              <a:defRPr sz="2000"/>
            </a:pPr>
            <a:r>
              <a:t>Requested decision: review and approve or revise the proposed recovery priorities and assignment checks. Decision owner, approval outcome and next review date UNKNOWN until supplied. No email sent and no source assignment changed.</a:t>
            </a:r>
          </a:p>
        </p:txBody>
      </p:sp>
      <p:sp>
        <p:nvSpPr>
          <p:cNvPr id="4" name="TextBox 3"/>
          <p:cNvSpPr txBox="1"/>
          <p:nvPr/>
        </p:nvSpPr>
        <p:spPr>
          <a:xfrm>
            <a:off x="731520" y="3291840"/>
            <a:ext cx="10698480" cy="1828800"/>
          </a:xfrm>
          <a:prstGeom prst="rect">
            <a:avLst/>
          </a:prstGeom>
          <a:noFill/>
        </p:spPr>
        <p:txBody>
          <a:bodyPr wrap="none">
            <a:spAutoFit/>
          </a:bodyPr>
          <a:lstStyle/>
          <a:p>
            <a:pPr>
              <a:defRPr sz="2700" b="1">
                <a:solidFill>
                  <a:srgbClr val="1F6FEB"/>
                </a:solidFill>
              </a:defRPr>
            </a:pPr>
            <a:r>
              <a:t>Static presentation: verified snapshot, not an automatic live link.</a:t>
            </a:r>
          </a:p>
        </p:txBody>
      </p:sp>
      <p:sp>
        <p:nvSpPr>
          <p:cNvPr id="5" name="TextBox 4"/>
          <p:cNvSpPr txBox="1"/>
          <p:nvPr/>
        </p:nvSpPr>
        <p:spPr>
          <a:xfrm>
            <a:off x="731520" y="6217920"/>
            <a:ext cx="10698480" cy="320040"/>
          </a:xfrm>
          <a:prstGeom prst="rect">
            <a:avLst/>
          </a:prstGeom>
          <a:noFill/>
        </p:spPr>
        <p:txBody>
          <a:bodyPr wrap="none">
            <a:spAutoFit/>
          </a:bodyPr>
          <a:lstStyle/>
          <a:p>
            <a:pPr>
              <a:defRPr sz="1000"/>
            </a:pPr>
            <a:r>
              <a:t>GenAI for Engineers v2.4 | Synthetic Northstar example | 2026-09-30 | All filters All | Slide8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